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0"/>
  </p:normalViewPr>
  <p:slideViewPr>
    <p:cSldViewPr snapToGrid="0" snapToObjects="1">
      <p:cViewPr varScale="1">
        <p:scale>
          <a:sx n="111" d="100"/>
          <a:sy n="111" d="100"/>
        </p:scale>
        <p:origin x="65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4867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e08_factor:</a:t>
            </a:r>
          </a:p>
          <a:p>
            <a:r>
              <a:t>P\big(\{X_\mu:\mu\in\mathcal{V}\}\big)=\prod_{\mu\in\mathcal{V}}P\big(X_\mu\mid \vec X_{\mathrm{pa}(\mu)}\big)</a:t>
            </a:r>
          </a:p>
          <a:p>
            <a:endParaRPr/>
          </a:p>
          <a:p>
            <a:r>
              <a:t>e08_markov:</a:t>
            </a:r>
          </a:p>
          <a:p>
            <a:r>
              <a:t>P\big(X_\mu\mid \vec X_{/\mu}\big)=P\big(X_\mu\mid \vec X_{\mathrm{pa}(\mu)}\big)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e06_bayes:</a:t>
            </a:r>
          </a:p>
          <a:p>
            <a:r>
              <a:t>P(S\mid C)=\frac{P(C\mid S)\,P(S)}{P(C)}\,,\qquad S^{*}=\arg\max_{S}\;P(C\mid S)\,P(S)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e10_gauss:</a:t>
            </a:r>
          </a:p>
          <a:p>
            <a:r>
              <a:t>P(C_1\mid S)=\frac{1}{Z_1}\exp\Big\{-\frac{|C_1-S|^{2}}{2\sigma_1^{2}}\Big\}\,,\qquad P(C_2\mid S)=\frac{1}{Z_2}\exp\Big\{-\frac{|C_2-S|^{2}}{2\sigma_2^{2}}\Big\}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e11_joint:</a:t>
            </a:r>
          </a:p>
          <a:p>
            <a:r>
              <a:t>S^{*}=\arg\max_{S}P(C_1\mid S)P(C_2\mid S)=\frac{\sigma_2^{2}}{\sigma_1^{2}+\sigma_2^{2}}\,C_1+\frac{\sigma_1^{2}}{\sigma_1^{2}+\sigma_2^{2}}\,C_2</a:t>
            </a:r>
          </a:p>
          <a:p>
            <a:endParaRPr/>
          </a:p>
          <a:p>
            <a:r>
              <a:t>e11_ml:</a:t>
            </a:r>
          </a:p>
          <a:p>
            <a:r>
              <a:t>S_1^{*}=\arg\max_{S}P(C_1\mid S)=C_1\,,\qquad S_2^{*}=\arg\max_{S}P(C_2\mid S)=C_2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e12_w:</a:t>
            </a:r>
          </a:p>
          <a:p>
            <a:r>
              <a:t>w_1=\frac{\sigma_2^{2}}{\sigma_1^{2}+\sigma_2^{2}}\,,\qquad w_2=\frac{\sigma_1^{2}}{\sigma_1^{2}+\sigma_2^{2}}\,,\qquad S^{*}=w_1S_1^{*}+w_2S_2^{*}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e14_landy:</a:t>
            </a:r>
          </a:p>
          <a:p>
            <a:r>
              <a:t>S^{*}=\omega_1 S_1^{*}+\omega_2 S_2^{*}\,,\qquad \omega_1+\omega_2=1\,,\qquad \omega_1,\omega_2&gt;0</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e15_post:</a:t>
            </a:r>
          </a:p>
          <a:p>
            <a:r>
              <a:t>P(S\mid C_1)=\frac{P(C_1\mid S)\,P(S)}{P(C_1)}\,,\qquad P(S\mid C_2)=\frac{P(C_2\mid S)\,P(S)}{P(C_2)}</a:t>
            </a:r>
          </a:p>
          <a:p>
            <a:endParaRPr/>
          </a:p>
          <a:p>
            <a:r>
              <a:t>e15_est:</a:t>
            </a:r>
          </a:p>
          <a:p>
            <a:r>
              <a:t>S_1^{*}=\arg\max_{S}P(S\mid C_1)\,,\qquad S_2^{*}=\arg\max_{S}P(S\mid C_2)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e16_joint:</a:t>
            </a:r>
          </a:p>
          <a:p>
            <a:r>
              <a:t>P(S\mid C_1,C_2)=\frac{P(C_1,C_2\mid S)\,P(S)}{P(C_1,C_2)}</a:t>
            </a:r>
          </a:p>
          <a:p>
            <a:endParaRPr/>
          </a:p>
          <a:p>
            <a:r>
              <a:t>e16_ci:</a:t>
            </a:r>
          </a:p>
          <a:p>
            <a:r>
              <a:t>P(S\mid C_1,C_2)=\frac{\underbrace{P(C_1\mid S)\,P(C_2\mid S)}_{\textrm{\fontsize{12}{14}\selectfont one factor for each cue}}\;\underbrace{{\color{prior}P(S)}}_{{\color{prior}\textrm{\fontsize{12}{14}\selectfont the prior, once}}}}{P(C_1,C_2)}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prior is Gaussian, centred on the flat surface S_p with variance sigma_p squared. A larger t means a more reliable source. The prior term appears once in the joint estimate and once in each single-cue estimate, which is why averaging the two counts it twice.</a:t>
            </a:r>
          </a:p>
          <a:p>
            <a:endParaRPr/>
          </a:p>
          <a:p>
            <a:r>
              <a:t>e19_gauss:</a:t>
            </a:r>
          </a:p>
          <a:p>
            <a:r>
              <a:t>P(S)=\frac{1}{Z_p}\exp\Big\{-\frac{|S-S_p|^{2}}{2\sigma_p^{2}}\Big\}\,,\qquad t_1=\frac{1}{\sigma_1^{2}}\,,\quad t_2=\frac{1}{\sigma_2^{2}}\,,\quad t_p=\frac{1}{\sigma_p^{2}}</a:t>
            </a:r>
          </a:p>
          <a:p>
            <a:endParaRPr/>
          </a:p>
          <a:p>
            <a:r>
              <a:t>e19_prior:</a:t>
            </a:r>
          </a:p>
          <a:p>
            <a:r>
              <a:t>S^{*}=\frac{t_1C_1+t_2C_2+t_pS_p}{t_1+t_2+t_p}\,,\qquad S_1^{*}=\frac{t_1C_1+t_pS_p}{t_1+t_p}\,,\qquad S_2^{*}=\frac{t_2C_2+t_pS_p}{t_2+t_p}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P(two-headed coin) = 0.20, P(psychic) = 0.001 and a fair coin otherwise, observing heads</a:t>
            </a:r>
          </a:p>
          <a:p>
            <a:r>
              <a:t>gives P(two-headed coin | heads) = 0.33 and P(psychic | heads) = 0.002.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model, with P(pencil | psychic) = 0.99 and P(pencil | not psychic) = 0.0001.</a:t>
            </a:r>
          </a:p>
          <a:p>
            <a:r>
              <a:t>P(two-headed coin) falls from 0.33 to 0.21; P(psychic) rises from 0.002 to 0.94.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Pearl's alarm table with P(burglary) = 0.001. In California, P(earthquake) = 0.01:</a:t>
            </a:r>
          </a:p>
          <a:p>
            <a:r>
              <a:t>P(burglary | alarm) = 0.19, falling to 0.004 once the radio reports an earthquake.</a:t>
            </a:r>
          </a:p>
          <a:p>
            <a:r>
              <a:t>In Baltimore, P(earthquake) = 0.00005: P(burglary | alarm) = 0.48.</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node carries one small table; inference sums out the variables of no interest.</a:t>
            </a:r>
          </a:p>
          <a:p>
            <a:endParaRPr/>
          </a:p>
          <a:p>
            <a:r>
              <a:t>e29_fact:</a:t>
            </a:r>
          </a:p>
          <a:p>
            <a:r>
              <a:t>P(X_A,X_B,X_E,X_R)=P(X_A\mid X_B,X_E)\,P(X_R\mid X_E)\,P(X_B)\,P(X_E)</a:t>
            </a:r>
          </a:p>
          <a:p>
            <a:endParaRPr/>
          </a:p>
          <a:p>
            <a:r>
              <a:t>e29_sum:</a:t>
            </a:r>
          </a:p>
          <a:p>
            <a:r>
              <a:t>P(X_B\mid X_A,X_R)=\sum_{X_E}P(X_B,X_E\mid X_A,X_R)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 is the meta-variable: C = 1 means one common cause, C = 2 means two separate causes.</a:t>
            </a:r>
          </a:p>
          <a:p>
            <a:endParaRPr/>
          </a:p>
          <a:p>
            <a:r>
              <a:t>e37_m1:</a:t>
            </a:r>
          </a:p>
          <a:p>
            <a:r>
              <a:t>P(x_A,x_V\mid C\!=\!1)=\int\! dS\;P(x_A\mid S)\,P(x_V\mid S)\,P(S)</a:t>
            </a:r>
          </a:p>
          <a:p>
            <a:endParaRPr/>
          </a:p>
          <a:p>
            <a:r>
              <a:t>e37_m2:</a:t>
            </a:r>
          </a:p>
          <a:p>
            <a:r>
              <a:t>P(x_A,x_V\mid C\!=\!2)=\iint\! dS_A\,dS_V\;P(x_A\mid S_A)\,P(x_V\mid S_V)\,P(S_A)\,P(S_V)</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e39_avg:</a:t>
            </a:r>
          </a:p>
          <a:p>
            <a:r>
              <a:t>P(s_A,s_V\mid x_A,x_V)=\sum_{C}P(s_A,s_V\mid x_A,x_V,C)\,P(C\mid x_A,x_V)</a:t>
            </a:r>
          </a:p>
          <a:p>
            <a:endParaRPr/>
          </a:p>
          <a:p>
            <a:r>
              <a:t>e39_sel:</a:t>
            </a:r>
          </a:p>
          <a:p>
            <a:r>
              <a:t>C^{*}=\arg\max_{C}P(C\mid x_A,x_V)\,,\qquad P(s_A,s_V)\approx P(s_A,s_V\mid x_A,x_V,C^{*})</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e42_asia:</a:t>
            </a:r>
          </a:p>
          <a:p>
            <a:r>
              <a:t>\begin{aligned}P(\alpha,\sigma,\tau,\lambda,\beta,\varepsilon,\xi,\delta)=\;&amp;P(\alpha)\,P(\sigma)\,P(\tau\mid\alpha)\,P(\lambda\mid\sigma)\,P(\beta\mid\sigma)\\[2pt]&amp;\times\,P(\varepsilon\mid\tau,\lambda)\,P(\xi\mid\varepsilon)\,P(\delta\mid\varepsilon,\beta)\end{align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 eight terms, one for each setting of the three summed variables. On the graph: the pencil variable is summed out once, its sum is one, and four terms remain. The source slide leaves the x4 to x1 edge without an arrowhead, though its own factorisation writes P(x1 | x4, x3); the head was drawn in.</a:t>
            </a:r>
          </a:p>
          <a:p>
            <a:endParaRPr/>
          </a:p>
          <a:p>
            <a:r>
              <a:t>e44_marg:</a:t>
            </a:r>
          </a:p>
          <a:p>
            <a:r>
              <a:t>\begin{aligned}P(x_1\!=\!1)&amp;=\sum_{x_2}\sum_{x_3}\sum_{x_4}P(x_1\!=\!1\mid x_3,x_4)\,P(x_2\mid x_3)\,P(x_3)\,P(x_4)\\[3pt]&amp;=\sum_{x_3}\sum_{x_4}P(x_1\!=\!1\mid x_3,x_4)\,P(x_3)\,P(x_4)\;\underbrace{\sum_{x_2}P(x_2\mid x_3)}_{{\color{joint}\textrm{\fontsize{12}{14}\selectfont this sum is one}}}\end{aligned}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XZO8-Df3mxA" TargetMode="External"/><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554480" y="-2103120"/>
            <a:ext cx="6766560" cy="6766560"/>
          </a:xfrm>
          <a:prstGeom prst="ellipse">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78240" y="3931920"/>
            <a:ext cx="4754880" cy="4754880"/>
          </a:xfrm>
          <a:prstGeom prst="ellipse">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1481328"/>
            <a:ext cx="10058400" cy="1051560"/>
          </a:xfrm>
          <a:prstGeom prst="rect">
            <a:avLst/>
          </a:prstGeom>
          <a:noFill/>
        </p:spPr>
        <p:txBody>
          <a:bodyPr wrap="square" lIns="0" tIns="0" rIns="0" bIns="0" anchor="t">
            <a:spAutoFit/>
          </a:bodyPr>
          <a:lstStyle/>
          <a:p>
            <a:pPr marL="0" indent="0">
              <a:buNone/>
            </a:pPr>
            <a:r>
              <a:rPr sz="6200" b="1" i="0">
                <a:solidFill>
                  <a:srgbClr val="1A1A2E"/>
                </a:solidFill>
                <a:latin typeface="Cambria"/>
                <a:ea typeface="Cambria"/>
                <a:cs typeface="Cambria"/>
              </a:rPr>
              <a:t>Probabilities on Graphs</a:t>
            </a:r>
          </a:p>
        </p:txBody>
      </p:sp>
      <p:sp>
        <p:nvSpPr>
          <p:cNvPr id="5" name="TextBox 4"/>
          <p:cNvSpPr txBox="1"/>
          <p:nvPr/>
        </p:nvSpPr>
        <p:spPr>
          <a:xfrm>
            <a:off x="1051560" y="2487168"/>
            <a:ext cx="10058400" cy="1051560"/>
          </a:xfrm>
          <a:prstGeom prst="rect">
            <a:avLst/>
          </a:prstGeom>
          <a:noFill/>
        </p:spPr>
        <p:txBody>
          <a:bodyPr wrap="square" lIns="0" tIns="0" rIns="0" bIns="0" anchor="t">
            <a:spAutoFit/>
          </a:bodyPr>
          <a:lstStyle/>
          <a:p>
            <a:pPr marL="0" indent="0">
              <a:buNone/>
            </a:pPr>
            <a:r>
              <a:rPr sz="6200" b="1" i="0">
                <a:solidFill>
                  <a:srgbClr val="1A1A2E"/>
                </a:solidFill>
                <a:latin typeface="Cambria"/>
                <a:ea typeface="Cambria"/>
                <a:cs typeface="Cambria"/>
              </a:rPr>
              <a:t>Directed Models</a:t>
            </a:r>
          </a:p>
        </p:txBody>
      </p:sp>
      <p:sp>
        <p:nvSpPr>
          <p:cNvPr id="6" name="TextBox 5"/>
          <p:cNvSpPr txBox="1"/>
          <p:nvPr/>
        </p:nvSpPr>
        <p:spPr>
          <a:xfrm>
            <a:off x="1078992" y="3773728"/>
            <a:ext cx="10058400" cy="646480"/>
          </a:xfrm>
          <a:prstGeom prst="rect">
            <a:avLst/>
          </a:prstGeom>
          <a:noFill/>
        </p:spPr>
        <p:txBody>
          <a:bodyPr wrap="square" lIns="0" tIns="0" rIns="0" bIns="0" anchor="t">
            <a:spAutoFit/>
          </a:bodyPr>
          <a:lstStyle/>
          <a:p>
            <a:pPr marL="0" indent="0">
              <a:buNone/>
            </a:pPr>
            <a:r>
              <a:rPr sz="2100" b="0" i="0">
                <a:solidFill>
                  <a:srgbClr val="7C7C8C"/>
                </a:solidFill>
                <a:latin typeface="Calibri"/>
                <a:ea typeface="Calibri"/>
                <a:cs typeface="Calibri"/>
              </a:rPr>
              <a:t>15 September, 2026</a:t>
            </a:r>
          </a:p>
          <a:p>
            <a:pPr marL="0" indent="0">
              <a:buNone/>
            </a:pPr>
            <a:r>
              <a:rPr sz="2100" b="0" i="0">
                <a:solidFill>
                  <a:srgbClr val="7C7C8C"/>
                </a:solidFill>
                <a:latin typeface="Calibri"/>
                <a:ea typeface="Calibri"/>
                <a:cs typeface="Calibri"/>
              </a:rPr>
              <a:t>Alan Yuille   ·   Probabilistic Models of the Visual Cortex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a:t>
            </a:r>
          </a:p>
        </p:txBody>
      </p:sp>
      <p:sp>
        <p:nvSpPr>
          <p:cNvPr id="4" name="TextBox 3"/>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What this lecture covers</a:t>
            </a:r>
          </a:p>
        </p:txBody>
      </p:sp>
      <p:sp>
        <p:nvSpPr>
          <p:cNvPr id="5" name="Rounded Rectangle 4"/>
          <p:cNvSpPr/>
          <p:nvPr/>
        </p:nvSpPr>
        <p:spPr>
          <a:xfrm>
            <a:off x="640080" y="1481328"/>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1764792"/>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847088"/>
            <a:ext cx="512064" cy="347472"/>
          </a:xfrm>
          <a:prstGeom prst="rect">
            <a:avLst/>
          </a:prstGeom>
          <a:noFill/>
        </p:spPr>
        <p:txBody>
          <a:bodyPr wrap="square" lIns="0" tIns="0" rIns="0" bIns="0" anchor="t">
            <a:spAutoFit/>
          </a:bodyPr>
          <a:lstStyle/>
          <a:p>
            <a:pPr marL="0" indent="0" algn="ctr">
              <a:buNone/>
            </a:pPr>
            <a:r>
              <a:rPr sz="2100" b="1" i="0">
                <a:solidFill>
                  <a:srgbClr val="1A1A2E"/>
                </a:solidFill>
                <a:latin typeface="Cambria"/>
                <a:ea typeface="Cambria"/>
                <a:cs typeface="Cambria"/>
              </a:rPr>
              <a:t>1</a:t>
            </a:r>
          </a:p>
        </p:txBody>
      </p:sp>
      <p:sp>
        <p:nvSpPr>
          <p:cNvPr id="8" name="TextBox 7"/>
          <p:cNvSpPr txBox="1"/>
          <p:nvPr/>
        </p:nvSpPr>
        <p:spPr>
          <a:xfrm>
            <a:off x="1572768" y="1714500"/>
            <a:ext cx="4206240" cy="322783"/>
          </a:xfrm>
          <a:prstGeom prst="rect">
            <a:avLst/>
          </a:prstGeom>
          <a:noFill/>
        </p:spPr>
        <p:txBody>
          <a:bodyPr wrap="square" lIns="0" tIns="0" rIns="0" bIns="0" anchor="t">
            <a:spAutoFit/>
          </a:bodyPr>
          <a:lstStyle/>
          <a:p>
            <a:pPr marL="0" indent="0">
              <a:buNone/>
            </a:pPr>
            <a:r>
              <a:rPr sz="2100" b="1" i="0">
                <a:solidFill>
                  <a:srgbClr val="1A1A2E"/>
                </a:solidFill>
                <a:latin typeface="Calibri"/>
                <a:ea typeface="Calibri"/>
                <a:cs typeface="Calibri"/>
              </a:rPr>
              <a:t>Graphs and weak coupling</a:t>
            </a:r>
          </a:p>
        </p:txBody>
      </p:sp>
      <p:sp>
        <p:nvSpPr>
          <p:cNvPr id="9" name="TextBox 8"/>
          <p:cNvSpPr txBox="1"/>
          <p:nvPr/>
        </p:nvSpPr>
        <p:spPr>
          <a:xfrm>
            <a:off x="1572768" y="2112264"/>
            <a:ext cx="4206240" cy="310896"/>
          </a:xfrm>
          <a:prstGeom prst="rect">
            <a:avLst/>
          </a:prstGeom>
          <a:noFill/>
        </p:spPr>
        <p:txBody>
          <a:bodyPr wrap="square" lIns="0" tIns="0" rIns="0" bIns="0" anchor="t">
            <a:spAutoFit/>
          </a:bodyPr>
          <a:lstStyle/>
          <a:p>
            <a:pPr marL="0" indent="0">
              <a:buNone/>
            </a:pPr>
            <a:r>
              <a:rPr sz="1600" b="0" i="0">
                <a:solidFill>
                  <a:srgbClr val="55555F"/>
                </a:solidFill>
                <a:latin typeface="Calibri"/>
                <a:ea typeface="Calibri"/>
                <a:cs typeface="Calibri"/>
              </a:rPr>
              <a:t>Nodes, edges, and the inverse-variance rule</a:t>
            </a:r>
          </a:p>
        </p:txBody>
      </p:sp>
      <p:sp>
        <p:nvSpPr>
          <p:cNvPr id="10" name="Rounded Rectangle 9"/>
          <p:cNvSpPr/>
          <p:nvPr/>
        </p:nvSpPr>
        <p:spPr>
          <a:xfrm>
            <a:off x="6236208" y="1481328"/>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92240" y="1764792"/>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847088"/>
            <a:ext cx="512064" cy="347472"/>
          </a:xfrm>
          <a:prstGeom prst="rect">
            <a:avLst/>
          </a:prstGeom>
          <a:noFill/>
        </p:spPr>
        <p:txBody>
          <a:bodyPr wrap="square" lIns="0" tIns="0" rIns="0" bIns="0" anchor="t">
            <a:spAutoFit/>
          </a:bodyPr>
          <a:lstStyle/>
          <a:p>
            <a:pPr marL="0" indent="0" algn="ctr">
              <a:buNone/>
            </a:pPr>
            <a:r>
              <a:rPr sz="2100" b="1" i="0">
                <a:solidFill>
                  <a:srgbClr val="1A1A2E"/>
                </a:solidFill>
                <a:latin typeface="Cambria"/>
                <a:ea typeface="Cambria"/>
                <a:cs typeface="Cambria"/>
              </a:rPr>
              <a:t>2</a:t>
            </a:r>
          </a:p>
        </p:txBody>
      </p:sp>
      <p:sp>
        <p:nvSpPr>
          <p:cNvPr id="13" name="TextBox 12"/>
          <p:cNvSpPr txBox="1"/>
          <p:nvPr/>
        </p:nvSpPr>
        <p:spPr>
          <a:xfrm>
            <a:off x="7168896" y="1714500"/>
            <a:ext cx="4206240" cy="322783"/>
          </a:xfrm>
          <a:prstGeom prst="rect">
            <a:avLst/>
          </a:prstGeom>
          <a:noFill/>
        </p:spPr>
        <p:txBody>
          <a:bodyPr wrap="square" lIns="0" tIns="0" rIns="0" bIns="0" anchor="t">
            <a:spAutoFit/>
          </a:bodyPr>
          <a:lstStyle/>
          <a:p>
            <a:pPr marL="0" indent="0">
              <a:buNone/>
            </a:pPr>
            <a:r>
              <a:rPr sz="2100" b="1" i="0">
                <a:solidFill>
                  <a:srgbClr val="1A1A2E"/>
                </a:solidFill>
                <a:latin typeface="Calibri"/>
                <a:ea typeface="Calibri"/>
                <a:cs typeface="Calibri"/>
              </a:rPr>
              <a:t>Priors and double counting</a:t>
            </a:r>
          </a:p>
        </p:txBody>
      </p:sp>
      <p:sp>
        <p:nvSpPr>
          <p:cNvPr id="14" name="TextBox 13"/>
          <p:cNvSpPr txBox="1"/>
          <p:nvPr/>
        </p:nvSpPr>
        <p:spPr>
          <a:xfrm>
            <a:off x="7168896" y="2112264"/>
            <a:ext cx="4206240" cy="310896"/>
          </a:xfrm>
          <a:prstGeom prst="rect">
            <a:avLst/>
          </a:prstGeom>
          <a:noFill/>
        </p:spPr>
        <p:txBody>
          <a:bodyPr wrap="square" lIns="0" tIns="0" rIns="0" bIns="0" anchor="t">
            <a:spAutoFit/>
          </a:bodyPr>
          <a:lstStyle/>
          <a:p>
            <a:pPr marL="0" indent="0">
              <a:buNone/>
            </a:pPr>
            <a:r>
              <a:rPr sz="1600" b="0" i="0">
                <a:solidFill>
                  <a:srgbClr val="55555F"/>
                </a:solidFill>
                <a:latin typeface="Calibri"/>
                <a:ea typeface="Calibri"/>
                <a:cs typeface="Calibri"/>
              </a:rPr>
              <a:t>A shared prior must be applied only once</a:t>
            </a:r>
          </a:p>
        </p:txBody>
      </p:sp>
      <p:sp>
        <p:nvSpPr>
          <p:cNvPr id="15" name="Rounded Rectangle 14"/>
          <p:cNvSpPr/>
          <p:nvPr/>
        </p:nvSpPr>
        <p:spPr>
          <a:xfrm>
            <a:off x="640080" y="2679192"/>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6112" y="2962656"/>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3044952"/>
            <a:ext cx="512064" cy="347472"/>
          </a:xfrm>
          <a:prstGeom prst="rect">
            <a:avLst/>
          </a:prstGeom>
          <a:noFill/>
        </p:spPr>
        <p:txBody>
          <a:bodyPr wrap="square" lIns="0" tIns="0" rIns="0" bIns="0" anchor="t">
            <a:spAutoFit/>
          </a:bodyPr>
          <a:lstStyle/>
          <a:p>
            <a:pPr marL="0" indent="0" algn="ctr">
              <a:buNone/>
            </a:pPr>
            <a:r>
              <a:rPr sz="2100" b="1" i="0">
                <a:solidFill>
                  <a:srgbClr val="1A1A2E"/>
                </a:solidFill>
                <a:latin typeface="Cambria"/>
                <a:ea typeface="Cambria"/>
                <a:cs typeface="Cambria"/>
              </a:rPr>
              <a:t>3</a:t>
            </a:r>
          </a:p>
        </p:txBody>
      </p:sp>
      <p:sp>
        <p:nvSpPr>
          <p:cNvPr id="18" name="TextBox 17"/>
          <p:cNvSpPr txBox="1"/>
          <p:nvPr/>
        </p:nvSpPr>
        <p:spPr>
          <a:xfrm>
            <a:off x="1572768" y="2912364"/>
            <a:ext cx="4206240" cy="322783"/>
          </a:xfrm>
          <a:prstGeom prst="rect">
            <a:avLst/>
          </a:prstGeom>
          <a:noFill/>
        </p:spPr>
        <p:txBody>
          <a:bodyPr wrap="square" lIns="0" tIns="0" rIns="0" bIns="0" anchor="t">
            <a:spAutoFit/>
          </a:bodyPr>
          <a:lstStyle/>
          <a:p>
            <a:pPr marL="0" indent="0">
              <a:buNone/>
            </a:pPr>
            <a:r>
              <a:rPr sz="2100" b="1" i="0">
                <a:solidFill>
                  <a:srgbClr val="1A1A2E"/>
                </a:solidFill>
                <a:latin typeface="Calibri"/>
                <a:ea typeface="Calibri"/>
                <a:cs typeface="Calibri"/>
              </a:rPr>
              <a:t>Strong coupling</a:t>
            </a:r>
          </a:p>
        </p:txBody>
      </p:sp>
      <p:sp>
        <p:nvSpPr>
          <p:cNvPr id="19" name="TextBox 18"/>
          <p:cNvSpPr txBox="1"/>
          <p:nvPr/>
        </p:nvSpPr>
        <p:spPr>
          <a:xfrm>
            <a:off x="1572768" y="3310128"/>
            <a:ext cx="4206240" cy="310896"/>
          </a:xfrm>
          <a:prstGeom prst="rect">
            <a:avLst/>
          </a:prstGeom>
          <a:noFill/>
        </p:spPr>
        <p:txBody>
          <a:bodyPr wrap="square" lIns="0" tIns="0" rIns="0" bIns="0" anchor="t">
            <a:spAutoFit/>
          </a:bodyPr>
          <a:lstStyle/>
          <a:p>
            <a:pPr marL="0" indent="0">
              <a:buNone/>
            </a:pPr>
            <a:r>
              <a:rPr sz="1600" b="0" i="0">
                <a:solidFill>
                  <a:srgbClr val="55555F"/>
                </a:solidFill>
                <a:latin typeface="Calibri"/>
                <a:ea typeface="Calibri"/>
                <a:cs typeface="Calibri"/>
              </a:rPr>
              <a:t>Dependent cues need the joint model</a:t>
            </a:r>
          </a:p>
        </p:txBody>
      </p:sp>
      <p:sp>
        <p:nvSpPr>
          <p:cNvPr id="20" name="Rounded Rectangle 19"/>
          <p:cNvSpPr/>
          <p:nvPr/>
        </p:nvSpPr>
        <p:spPr>
          <a:xfrm>
            <a:off x="6236208" y="2679192"/>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2962656"/>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3044952"/>
            <a:ext cx="512064" cy="347472"/>
          </a:xfrm>
          <a:prstGeom prst="rect">
            <a:avLst/>
          </a:prstGeom>
          <a:noFill/>
        </p:spPr>
        <p:txBody>
          <a:bodyPr wrap="square" lIns="0" tIns="0" rIns="0" bIns="0" anchor="t">
            <a:spAutoFit/>
          </a:bodyPr>
          <a:lstStyle/>
          <a:p>
            <a:pPr marL="0" indent="0" algn="ctr">
              <a:buNone/>
            </a:pPr>
            <a:r>
              <a:rPr sz="2100" b="1" i="0">
                <a:solidFill>
                  <a:srgbClr val="1A1A2E"/>
                </a:solidFill>
                <a:latin typeface="Cambria"/>
                <a:ea typeface="Cambria"/>
                <a:cs typeface="Cambria"/>
              </a:rPr>
              <a:t>4</a:t>
            </a:r>
          </a:p>
        </p:txBody>
      </p:sp>
      <p:sp>
        <p:nvSpPr>
          <p:cNvPr id="23" name="TextBox 22"/>
          <p:cNvSpPr txBox="1"/>
          <p:nvPr/>
        </p:nvSpPr>
        <p:spPr>
          <a:xfrm>
            <a:off x="7168896" y="2912364"/>
            <a:ext cx="4206240" cy="322783"/>
          </a:xfrm>
          <a:prstGeom prst="rect">
            <a:avLst/>
          </a:prstGeom>
          <a:noFill/>
        </p:spPr>
        <p:txBody>
          <a:bodyPr wrap="square" lIns="0" tIns="0" rIns="0" bIns="0" anchor="t">
            <a:spAutoFit/>
          </a:bodyPr>
          <a:lstStyle/>
          <a:p>
            <a:pPr marL="0" indent="0">
              <a:buNone/>
            </a:pPr>
            <a:r>
              <a:rPr sz="2100" b="1" i="0">
                <a:solidFill>
                  <a:srgbClr val="1A1A2E"/>
                </a:solidFill>
                <a:latin typeface="Calibri"/>
                <a:ea typeface="Calibri"/>
                <a:cs typeface="Calibri"/>
              </a:rPr>
              <a:t>Explaining away</a:t>
            </a:r>
          </a:p>
        </p:txBody>
      </p:sp>
      <p:sp>
        <p:nvSpPr>
          <p:cNvPr id="24" name="TextBox 23"/>
          <p:cNvSpPr txBox="1"/>
          <p:nvPr/>
        </p:nvSpPr>
        <p:spPr>
          <a:xfrm>
            <a:off x="7168896" y="3310128"/>
            <a:ext cx="4206240" cy="310896"/>
          </a:xfrm>
          <a:prstGeom prst="rect">
            <a:avLst/>
          </a:prstGeom>
          <a:noFill/>
        </p:spPr>
        <p:txBody>
          <a:bodyPr wrap="square" lIns="0" tIns="0" rIns="0" bIns="0" anchor="t">
            <a:spAutoFit/>
          </a:bodyPr>
          <a:lstStyle/>
          <a:p>
            <a:pPr marL="0" indent="0">
              <a:buNone/>
            </a:pPr>
            <a:r>
              <a:rPr sz="1600" b="0" i="0">
                <a:solidFill>
                  <a:srgbClr val="55555F"/>
                </a:solidFill>
                <a:latin typeface="Calibri"/>
                <a:ea typeface="Calibri"/>
                <a:cs typeface="Calibri"/>
              </a:rPr>
              <a:t>One cause explains the evidence away</a:t>
            </a:r>
          </a:p>
        </p:txBody>
      </p:sp>
      <p:sp>
        <p:nvSpPr>
          <p:cNvPr id="25" name="Rounded Rectangle 24"/>
          <p:cNvSpPr/>
          <p:nvPr/>
        </p:nvSpPr>
        <p:spPr>
          <a:xfrm>
            <a:off x="640080" y="3877056"/>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96112" y="4160520"/>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242816"/>
            <a:ext cx="512064" cy="347472"/>
          </a:xfrm>
          <a:prstGeom prst="rect">
            <a:avLst/>
          </a:prstGeom>
          <a:noFill/>
        </p:spPr>
        <p:txBody>
          <a:bodyPr wrap="square" lIns="0" tIns="0" rIns="0" bIns="0" anchor="t">
            <a:spAutoFit/>
          </a:bodyPr>
          <a:lstStyle/>
          <a:p>
            <a:pPr marL="0" indent="0" algn="ctr">
              <a:buNone/>
            </a:pPr>
            <a:r>
              <a:rPr sz="2100" b="1" i="0">
                <a:solidFill>
                  <a:srgbClr val="1A1A2E"/>
                </a:solidFill>
                <a:latin typeface="Cambria"/>
                <a:ea typeface="Cambria"/>
                <a:cs typeface="Cambria"/>
              </a:rPr>
              <a:t>5</a:t>
            </a:r>
          </a:p>
        </p:txBody>
      </p:sp>
      <p:sp>
        <p:nvSpPr>
          <p:cNvPr id="28" name="TextBox 27"/>
          <p:cNvSpPr txBox="1"/>
          <p:nvPr/>
        </p:nvSpPr>
        <p:spPr>
          <a:xfrm>
            <a:off x="1572768" y="4110228"/>
            <a:ext cx="4206240" cy="322783"/>
          </a:xfrm>
          <a:prstGeom prst="rect">
            <a:avLst/>
          </a:prstGeom>
          <a:noFill/>
        </p:spPr>
        <p:txBody>
          <a:bodyPr wrap="square" lIns="0" tIns="0" rIns="0" bIns="0" anchor="t">
            <a:spAutoFit/>
          </a:bodyPr>
          <a:lstStyle/>
          <a:p>
            <a:pPr marL="0" indent="0">
              <a:buNone/>
            </a:pPr>
            <a:r>
              <a:rPr sz="2100" b="1" i="0">
                <a:solidFill>
                  <a:srgbClr val="1A1A2E"/>
                </a:solidFill>
                <a:latin typeface="Calibri"/>
                <a:ea typeface="Calibri"/>
                <a:cs typeface="Calibri"/>
              </a:rPr>
              <a:t>Model selection</a:t>
            </a:r>
          </a:p>
        </p:txBody>
      </p:sp>
      <p:sp>
        <p:nvSpPr>
          <p:cNvPr id="29" name="TextBox 28"/>
          <p:cNvSpPr txBox="1"/>
          <p:nvPr/>
        </p:nvSpPr>
        <p:spPr>
          <a:xfrm>
            <a:off x="1572768" y="4507992"/>
            <a:ext cx="4206240" cy="310896"/>
          </a:xfrm>
          <a:prstGeom prst="rect">
            <a:avLst/>
          </a:prstGeom>
          <a:noFill/>
        </p:spPr>
        <p:txBody>
          <a:bodyPr wrap="square" lIns="0" tIns="0" rIns="0" bIns="0" anchor="t">
            <a:spAutoFit/>
          </a:bodyPr>
          <a:lstStyle/>
          <a:p>
            <a:pPr marL="0" indent="0">
              <a:buNone/>
            </a:pPr>
            <a:r>
              <a:rPr sz="1600" b="0" i="0">
                <a:solidFill>
                  <a:srgbClr val="55555F"/>
                </a:solidFill>
                <a:latin typeface="Calibri"/>
                <a:ea typeface="Calibri"/>
                <a:cs typeface="Calibri"/>
              </a:rPr>
              <a:t>Choose the model, then estimate</a:t>
            </a:r>
          </a:p>
        </p:txBody>
      </p:sp>
      <p:sp>
        <p:nvSpPr>
          <p:cNvPr id="30" name="Rounded Rectangle 29"/>
          <p:cNvSpPr/>
          <p:nvPr/>
        </p:nvSpPr>
        <p:spPr>
          <a:xfrm>
            <a:off x="6236208" y="3877056"/>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492240" y="4160520"/>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242816"/>
            <a:ext cx="512064" cy="347472"/>
          </a:xfrm>
          <a:prstGeom prst="rect">
            <a:avLst/>
          </a:prstGeom>
          <a:noFill/>
        </p:spPr>
        <p:txBody>
          <a:bodyPr wrap="square" lIns="0" tIns="0" rIns="0" bIns="0" anchor="t">
            <a:spAutoFit/>
          </a:bodyPr>
          <a:lstStyle/>
          <a:p>
            <a:pPr marL="0" indent="0" algn="ctr">
              <a:buNone/>
            </a:pPr>
            <a:r>
              <a:rPr sz="2100" b="1" i="0">
                <a:solidFill>
                  <a:srgbClr val="1A1A2E"/>
                </a:solidFill>
                <a:latin typeface="Cambria"/>
                <a:ea typeface="Cambria"/>
                <a:cs typeface="Cambria"/>
              </a:rPr>
              <a:t>6</a:t>
            </a:r>
          </a:p>
        </p:txBody>
      </p:sp>
      <p:sp>
        <p:nvSpPr>
          <p:cNvPr id="33" name="TextBox 32"/>
          <p:cNvSpPr txBox="1"/>
          <p:nvPr/>
        </p:nvSpPr>
        <p:spPr>
          <a:xfrm>
            <a:off x="7168896" y="4110228"/>
            <a:ext cx="4206240" cy="322783"/>
          </a:xfrm>
          <a:prstGeom prst="rect">
            <a:avLst/>
          </a:prstGeom>
          <a:noFill/>
        </p:spPr>
        <p:txBody>
          <a:bodyPr wrap="square" lIns="0" tIns="0" rIns="0" bIns="0" anchor="t">
            <a:spAutoFit/>
          </a:bodyPr>
          <a:lstStyle/>
          <a:p>
            <a:pPr marL="0" indent="0">
              <a:buNone/>
            </a:pPr>
            <a:r>
              <a:rPr sz="2100" b="1" i="0">
                <a:solidFill>
                  <a:srgbClr val="1A1A2E"/>
                </a:solidFill>
                <a:latin typeface="Calibri"/>
                <a:ea typeface="Calibri"/>
                <a:cs typeface="Calibri"/>
              </a:rPr>
              <a:t>A network for diagnosis</a:t>
            </a:r>
          </a:p>
        </p:txBody>
      </p:sp>
      <p:sp>
        <p:nvSpPr>
          <p:cNvPr id="34" name="TextBox 33"/>
          <p:cNvSpPr txBox="1"/>
          <p:nvPr/>
        </p:nvSpPr>
        <p:spPr>
          <a:xfrm>
            <a:off x="7168896" y="4507992"/>
            <a:ext cx="4206240" cy="310896"/>
          </a:xfrm>
          <a:prstGeom prst="rect">
            <a:avLst/>
          </a:prstGeom>
          <a:noFill/>
        </p:spPr>
        <p:txBody>
          <a:bodyPr wrap="square" lIns="0" tIns="0" rIns="0" bIns="0" anchor="t">
            <a:spAutoFit/>
          </a:bodyPr>
          <a:lstStyle/>
          <a:p>
            <a:pPr marL="0" indent="0">
              <a:buNone/>
            </a:pPr>
            <a:r>
              <a:rPr sz="1600" b="0" i="0">
                <a:solidFill>
                  <a:srgbClr val="55555F"/>
                </a:solidFill>
                <a:latin typeface="Calibri"/>
                <a:ea typeface="Calibri"/>
                <a:cs typeface="Calibri"/>
              </a:rPr>
              <a:t>Eight variables, eight small tables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a:t>
            </a:r>
          </a:p>
        </p:txBody>
      </p:sp>
      <p:sp>
        <p:nvSpPr>
          <p:cNvPr id="4" name="TextBox 3"/>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From Bayes decision theory to probabilities on graphs</a:t>
            </a:r>
          </a:p>
        </p:txBody>
      </p:sp>
      <p:pic>
        <p:nvPicPr>
          <p:cNvPr id="5" name="Picture 4" descr="f03_recap.png"/>
          <p:cNvPicPr>
            <a:picLocks noChangeAspect="1"/>
          </p:cNvPicPr>
          <p:nvPr/>
        </p:nvPicPr>
        <p:blipFill>
          <a:blip r:embed="rId2"/>
          <a:stretch>
            <a:fillRect/>
          </a:stretch>
        </p:blipFill>
        <p:spPr>
          <a:xfrm>
            <a:off x="1251154" y="1417320"/>
            <a:ext cx="9689690" cy="2236838"/>
          </a:xfrm>
          <a:prstGeom prst="rect">
            <a:avLst/>
          </a:prstGeom>
        </p:spPr>
      </p:pic>
      <p:sp>
        <p:nvSpPr>
          <p:cNvPr id="6" name="Rounded Rectangle 5"/>
          <p:cNvSpPr/>
          <p:nvPr/>
        </p:nvSpPr>
        <p:spPr>
          <a:xfrm>
            <a:off x="640080" y="3950208"/>
            <a:ext cx="10911535" cy="932688"/>
          </a:xfrm>
          <a:prstGeom prst="roundRect">
            <a:avLst>
              <a:gd name="adj" fmla="val 8462"/>
            </a:avLst>
          </a:prstGeom>
          <a:solidFill>
            <a:srgbClr val="FBF1EC"/>
          </a:solidFill>
          <a:ln w="16510">
            <a:solidFill>
              <a:srgbClr val="F0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3950208"/>
            <a:ext cx="10088575" cy="932688"/>
          </a:xfrm>
          <a:prstGeom prst="rect">
            <a:avLst/>
          </a:prstGeom>
          <a:noFill/>
        </p:spPr>
        <p:txBody>
          <a:bodyPr wrap="square" lIns="0" tIns="0" rIns="0" bIns="0" anchor="ctr">
            <a:spAutoFit/>
          </a:bodyPr>
          <a:lstStyle/>
          <a:p>
            <a:pPr marL="0" indent="0" algn="ctr">
              <a:buNone/>
            </a:pPr>
            <a:r>
              <a:rPr sz="1750" b="0" i="0">
                <a:solidFill>
                  <a:srgbClr val="1A1A2E"/>
                </a:solidFill>
                <a:latin typeface="Calibri"/>
                <a:ea typeface="Calibri"/>
                <a:cs typeface="Calibri"/>
              </a:rPr>
              <a:t>The new question is: how do several variables that influence each other combine into one distribution?</a:t>
            </a:r>
          </a:p>
        </p:txBody>
      </p:sp>
      <p:sp>
        <p:nvSpPr>
          <p:cNvPr id="8" name="TextBox 7"/>
          <p:cNvSpPr txBox="1"/>
          <p:nvPr/>
        </p:nvSpPr>
        <p:spPr>
          <a:xfrm>
            <a:off x="640080" y="519379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nodes specify the variables and the edges indicate which influence which.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4</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Two general directed model - edges are directed</a:t>
            </a:r>
          </a:p>
        </p:txBody>
      </p:sp>
      <p:pic>
        <p:nvPicPr>
          <p:cNvPr id="6" name="Picture 5" descr="f08_general.png"/>
          <p:cNvPicPr>
            <a:picLocks noChangeAspect="1"/>
          </p:cNvPicPr>
          <p:nvPr/>
        </p:nvPicPr>
        <p:blipFill>
          <a:blip r:embed="rId3"/>
          <a:stretch>
            <a:fillRect/>
          </a:stretch>
        </p:blipFill>
        <p:spPr>
          <a:xfrm>
            <a:off x="642850" y="1261872"/>
            <a:ext cx="10906298" cy="3059083"/>
          </a:xfrm>
          <a:prstGeom prst="rect">
            <a:avLst/>
          </a:prstGeom>
        </p:spPr>
      </p:pic>
      <p:sp>
        <p:nvSpPr>
          <p:cNvPr id="7" name="Rounded Rectangle 6"/>
          <p:cNvSpPr/>
          <p:nvPr/>
        </p:nvSpPr>
        <p:spPr>
          <a:xfrm>
            <a:off x="640080" y="4434840"/>
            <a:ext cx="10911535" cy="95672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8_factor.png"/>
          <p:cNvPicPr>
            <a:picLocks noChangeAspect="1"/>
          </p:cNvPicPr>
          <p:nvPr/>
        </p:nvPicPr>
        <p:blipFill>
          <a:blip r:embed="rId4"/>
          <a:stretch>
            <a:fillRect/>
          </a:stretch>
        </p:blipFill>
        <p:spPr>
          <a:xfrm>
            <a:off x="4061716" y="4654296"/>
            <a:ext cx="4068566" cy="517817"/>
          </a:xfrm>
          <a:prstGeom prst="rect">
            <a:avLst/>
          </a:prstGeom>
        </p:spPr>
      </p:pic>
      <p:sp>
        <p:nvSpPr>
          <p:cNvPr id="9" name="TextBox 8"/>
          <p:cNvSpPr txBox="1"/>
          <p:nvPr/>
        </p:nvSpPr>
        <p:spPr>
          <a:xfrm>
            <a:off x="640080" y="553212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Each variable depends on the rest of the graph only through its parents.</a:t>
            </a:r>
          </a:p>
        </p:txBody>
      </p:sp>
      <p:sp>
        <p:nvSpPr>
          <p:cNvPr id="10" name="TextBox 9"/>
          <p:cNvSpPr txBox="1"/>
          <p:nvPr/>
        </p:nvSpPr>
        <p:spPr>
          <a:xfrm>
            <a:off x="640080" y="598932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 chain of states in time gives the Bayes-Kalman filter and the hidden Markov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5</a:t>
            </a:r>
          </a:p>
        </p:txBody>
      </p:sp>
      <p:sp>
        <p:nvSpPr>
          <p:cNvPr id="4" name="TextBox 3"/>
          <p:cNvSpPr txBox="1"/>
          <p:nvPr/>
        </p:nvSpPr>
        <p:spPr>
          <a:xfrm>
            <a:off x="640080" y="1874519"/>
            <a:ext cx="2286000" cy="2011680"/>
          </a:xfrm>
          <a:prstGeom prst="rect">
            <a:avLst/>
          </a:prstGeom>
          <a:noFill/>
        </p:spPr>
        <p:txBody>
          <a:bodyPr wrap="square" lIns="0" tIns="0" rIns="0" bIns="0" anchor="t">
            <a:spAutoFit/>
          </a:bodyPr>
          <a:lstStyle/>
          <a:p>
            <a:pPr marL="0" indent="0">
              <a:buNone/>
            </a:pPr>
            <a:r>
              <a:rPr sz="11000" b="1" i="0">
                <a:solidFill>
                  <a:srgbClr val="1A1A2E"/>
                </a:solidFill>
                <a:latin typeface="Cambria"/>
                <a:ea typeface="Cambria"/>
                <a:cs typeface="Cambria"/>
              </a:rPr>
              <a:t>1</a:t>
            </a:r>
          </a:p>
        </p:txBody>
      </p:sp>
      <p:sp>
        <p:nvSpPr>
          <p:cNvPr id="5" name="TextBox 4"/>
          <p:cNvSpPr txBox="1"/>
          <p:nvPr/>
        </p:nvSpPr>
        <p:spPr>
          <a:xfrm>
            <a:off x="2880360" y="2377440"/>
            <a:ext cx="8595360" cy="1005840"/>
          </a:xfrm>
          <a:prstGeom prst="rect">
            <a:avLst/>
          </a:prstGeom>
          <a:noFill/>
        </p:spPr>
        <p:txBody>
          <a:bodyPr wrap="square" lIns="0" tIns="0" rIns="0" bIns="0" anchor="t">
            <a:spAutoFit/>
          </a:bodyPr>
          <a:lstStyle/>
          <a:p>
            <a:pPr marL="0" indent="0">
              <a:buNone/>
            </a:pPr>
            <a:r>
              <a:rPr sz="4400" b="1" i="0">
                <a:solidFill>
                  <a:srgbClr val="1A1A2E"/>
                </a:solidFill>
                <a:latin typeface="Cambria"/>
                <a:ea typeface="Cambria"/>
                <a:cs typeface="Cambria"/>
              </a:rPr>
              <a:t>Graphs and weak coupling</a:t>
            </a:r>
          </a:p>
        </p:txBody>
      </p:sp>
      <p:sp>
        <p:nvSpPr>
          <p:cNvPr id="6" name="TextBox 5"/>
          <p:cNvSpPr txBox="1"/>
          <p:nvPr/>
        </p:nvSpPr>
        <p:spPr>
          <a:xfrm>
            <a:off x="2944368" y="3401568"/>
            <a:ext cx="8595360" cy="640080"/>
          </a:xfrm>
          <a:prstGeom prst="rect">
            <a:avLst/>
          </a:prstGeom>
          <a:noFill/>
        </p:spPr>
        <p:txBody>
          <a:bodyPr wrap="square" lIns="0" tIns="0" rIns="0" bIns="0" anchor="t">
            <a:spAutoFit/>
          </a:bodyPr>
          <a:lstStyle/>
          <a:p>
            <a:pPr marL="0" indent="0">
              <a:buNone/>
            </a:pPr>
            <a:r>
              <a:rPr sz="1900" b="0" i="0">
                <a:solidFill>
                  <a:srgbClr val="55555F"/>
                </a:solidFill>
                <a:latin typeface="Calibri"/>
                <a:ea typeface="Calibri"/>
                <a:cs typeface="Calibri"/>
              </a:rPr>
              <a:t>Nodes are the variables, and edges say which variable directly influences which.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6</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One cue: a two-node graph</a:t>
            </a:r>
          </a:p>
        </p:txBody>
      </p:sp>
      <p:pic>
        <p:nvPicPr>
          <p:cNvPr id="6" name="Picture 5" descr="f06_onecue.png"/>
          <p:cNvPicPr>
            <a:picLocks noChangeAspect="1"/>
          </p:cNvPicPr>
          <p:nvPr/>
        </p:nvPicPr>
        <p:blipFill>
          <a:blip r:embed="rId3"/>
          <a:stretch>
            <a:fillRect/>
          </a:stretch>
        </p:blipFill>
        <p:spPr>
          <a:xfrm>
            <a:off x="930946" y="1298448"/>
            <a:ext cx="10330107" cy="2743200"/>
          </a:xfrm>
          <a:prstGeom prst="rect">
            <a:avLst/>
          </a:prstGeom>
        </p:spPr>
      </p:pic>
      <p:sp>
        <p:nvSpPr>
          <p:cNvPr id="7" name="Rounded Rectangle 6"/>
          <p:cNvSpPr/>
          <p:nvPr/>
        </p:nvSpPr>
        <p:spPr>
          <a:xfrm>
            <a:off x="640080" y="4224528"/>
            <a:ext cx="10911535" cy="98951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6_bayes.png"/>
          <p:cNvPicPr>
            <a:picLocks noChangeAspect="1"/>
          </p:cNvPicPr>
          <p:nvPr/>
        </p:nvPicPr>
        <p:blipFill>
          <a:blip r:embed="rId4"/>
          <a:stretch>
            <a:fillRect/>
          </a:stretch>
        </p:blipFill>
        <p:spPr>
          <a:xfrm>
            <a:off x="2861187" y="4443984"/>
            <a:ext cx="6469625" cy="550606"/>
          </a:xfrm>
          <a:prstGeom prst="rect">
            <a:avLst/>
          </a:prstGeom>
        </p:spPr>
      </p:pic>
      <p:sp>
        <p:nvSpPr>
          <p:cNvPr id="9" name="TextBox 8"/>
          <p:cNvSpPr txBox="1"/>
          <p:nvPr/>
        </p:nvSpPr>
        <p:spPr>
          <a:xfrm>
            <a:off x="640080" y="54406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Estimating S from C inverts the edge, and the prior P(S) enters through Bayes’ rule.</a:t>
            </a:r>
          </a:p>
        </p:txBody>
      </p:sp>
      <p:sp>
        <p:nvSpPr>
          <p:cNvPr id="10" name="TextBox 9"/>
          <p:cNvSpPr txBox="1"/>
          <p:nvPr/>
        </p:nvSpPr>
        <p:spPr>
          <a:xfrm>
            <a:off x="640080" y="58978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Slant from texture is one instance: S is the slant, C is the measured element-size gradient.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7</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Two cues: conditional independence</a:t>
            </a:r>
          </a:p>
        </p:txBody>
      </p:sp>
      <p:pic>
        <p:nvPicPr>
          <p:cNvPr id="6" name="Picture 5" descr="f07_twocues.png"/>
          <p:cNvPicPr>
            <a:picLocks noChangeAspect="1"/>
          </p:cNvPicPr>
          <p:nvPr/>
        </p:nvPicPr>
        <p:blipFill>
          <a:blip r:embed="rId2"/>
          <a:stretch>
            <a:fillRect/>
          </a:stretch>
        </p:blipFill>
        <p:spPr>
          <a:xfrm>
            <a:off x="930946" y="1298448"/>
            <a:ext cx="10330107" cy="2967881"/>
          </a:xfrm>
          <a:prstGeom prst="rect">
            <a:avLst/>
          </a:prstGeom>
        </p:spPr>
      </p:pic>
      <p:sp>
        <p:nvSpPr>
          <p:cNvPr id="7" name="Rounded Rectangle 6"/>
          <p:cNvSpPr/>
          <p:nvPr/>
        </p:nvSpPr>
        <p:spPr>
          <a:xfrm>
            <a:off x="640080" y="4389120"/>
            <a:ext cx="10911535" cy="74980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389120"/>
            <a:ext cx="10088575" cy="749808"/>
          </a:xfrm>
          <a:prstGeom prst="rect">
            <a:avLst/>
          </a:prstGeom>
          <a:noFill/>
        </p:spPr>
        <p:txBody>
          <a:bodyPr wrap="square" lIns="0" tIns="0" rIns="0" bIns="0" anchor="ctr">
            <a:spAutoFit/>
          </a:bodyPr>
          <a:lstStyle/>
          <a:p>
            <a:pPr marL="0" indent="0" algn="ctr">
              <a:buNone/>
            </a:pPr>
            <a:r>
              <a:rPr sz="1750" b="0" i="0">
                <a:solidFill>
                  <a:srgbClr val="1A1A2E"/>
                </a:solidFill>
                <a:latin typeface="Calibri"/>
                <a:ea typeface="Calibri"/>
                <a:cs typeface="Calibri"/>
              </a:rPr>
              <a:t>Weak coupling: the two cues are conditionally independent given S, and the prior on S is uniform.</a:t>
            </a:r>
          </a:p>
        </p:txBody>
      </p:sp>
      <p:sp>
        <p:nvSpPr>
          <p:cNvPr id="9" name="TextBox 8"/>
          <p:cNvSpPr txBox="1"/>
          <p:nvPr/>
        </p:nvSpPr>
        <p:spPr>
          <a:xfrm>
            <a:off x="640080" y="530352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graph makes the assumption visible as a missing edge between the two cues.</a:t>
            </a:r>
          </a:p>
        </p:txBody>
      </p:sp>
      <p:sp>
        <p:nvSpPr>
          <p:cNvPr id="10" name="TextBox 9"/>
          <p:cNvSpPr txBox="1"/>
          <p:nvPr/>
        </p:nvSpPr>
        <p:spPr>
          <a:xfrm>
            <a:off x="640080" y="576072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Each cue then contributes its own likelihood evidence, and the two likelihoods multiply.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8</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dirty="0">
                <a:solidFill>
                  <a:srgbClr val="1A1A2E"/>
                </a:solidFill>
                <a:latin typeface="Cambria"/>
                <a:ea typeface="Cambria"/>
                <a:cs typeface="Cambria"/>
              </a:rPr>
              <a:t>Conditions for the linear rule</a:t>
            </a:r>
          </a:p>
        </p:txBody>
      </p:sp>
      <p:pic>
        <p:nvPicPr>
          <p:cNvPr id="6" name="Picture 5" descr="f10_conditions.png"/>
          <p:cNvPicPr>
            <a:picLocks noChangeAspect="1"/>
          </p:cNvPicPr>
          <p:nvPr/>
        </p:nvPicPr>
        <p:blipFill>
          <a:blip r:embed="rId3"/>
          <a:stretch>
            <a:fillRect/>
          </a:stretch>
        </p:blipFill>
        <p:spPr>
          <a:xfrm>
            <a:off x="642850" y="1280160"/>
            <a:ext cx="10906298" cy="2926080"/>
          </a:xfrm>
          <a:prstGeom prst="rect">
            <a:avLst/>
          </a:prstGeom>
        </p:spPr>
      </p:pic>
      <p:sp>
        <p:nvSpPr>
          <p:cNvPr id="7" name="Rounded Rectangle 6"/>
          <p:cNvSpPr/>
          <p:nvPr/>
        </p:nvSpPr>
        <p:spPr>
          <a:xfrm>
            <a:off x="640080" y="4370832"/>
            <a:ext cx="10911535" cy="930231"/>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0_gauss.png"/>
          <p:cNvPicPr>
            <a:picLocks noChangeAspect="1"/>
          </p:cNvPicPr>
          <p:nvPr/>
        </p:nvPicPr>
        <p:blipFill>
          <a:blip r:embed="rId4"/>
          <a:stretch>
            <a:fillRect/>
          </a:stretch>
        </p:blipFill>
        <p:spPr>
          <a:xfrm>
            <a:off x="2718179" y="4590288"/>
            <a:ext cx="6755641" cy="491319"/>
          </a:xfrm>
          <a:prstGeom prst="rect">
            <a:avLst/>
          </a:prstGeom>
        </p:spPr>
      </p:pic>
      <p:sp>
        <p:nvSpPr>
          <p:cNvPr id="9" name="TextBox 8"/>
          <p:cNvSpPr txBox="1"/>
          <p:nvPr/>
        </p:nvSpPr>
        <p:spPr>
          <a:xfrm>
            <a:off x="640080" y="5449824"/>
            <a:ext cx="10911535" cy="296876"/>
          </a:xfrm>
          <a:prstGeom prst="rect">
            <a:avLst/>
          </a:prstGeom>
          <a:noFill/>
        </p:spPr>
        <p:txBody>
          <a:bodyPr wrap="square" lIns="0" tIns="0" rIns="0" bIns="0" anchor="t">
            <a:spAutoFit/>
          </a:bodyPr>
          <a:lstStyle/>
          <a:p>
            <a:pPr marL="254203" indent="-254203">
              <a:lnSpc>
                <a:spcPct val="106000"/>
              </a:lnSpc>
              <a:buSzPct val="100000"/>
              <a:buChar char="•"/>
            </a:pPr>
            <a:r>
              <a:rPr sz="1900" b="0" i="0" dirty="0">
                <a:solidFill>
                  <a:srgbClr val="1A1A2E"/>
                </a:solidFill>
                <a:latin typeface="Calibri"/>
                <a:ea typeface="Calibri"/>
                <a:cs typeface="Calibri"/>
              </a:rPr>
              <a:t>The </a:t>
            </a:r>
            <a:r>
              <a:rPr sz="1900" b="1" i="0" dirty="0">
                <a:solidFill>
                  <a:srgbClr val="1A1A2E"/>
                </a:solidFill>
                <a:latin typeface="Calibri"/>
                <a:ea typeface="Calibri"/>
                <a:cs typeface="Calibri"/>
              </a:rPr>
              <a:t>linear rule </a:t>
            </a:r>
            <a:r>
              <a:rPr sz="1900" b="0" i="0" dirty="0">
                <a:solidFill>
                  <a:srgbClr val="1A1A2E"/>
                </a:solidFill>
                <a:latin typeface="Calibri"/>
                <a:ea typeface="Calibri"/>
                <a:cs typeface="Calibri"/>
              </a:rPr>
              <a:t>takes the estimate to be a weighted sum of the two single-cue estimates.</a:t>
            </a:r>
          </a:p>
        </p:txBody>
      </p:sp>
      <p:sp>
        <p:nvSpPr>
          <p:cNvPr id="10" name="TextBox 9"/>
          <p:cNvSpPr txBox="1"/>
          <p:nvPr/>
        </p:nvSpPr>
        <p:spPr>
          <a:xfrm>
            <a:off x="640080" y="587044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dirty="0">
                <a:solidFill>
                  <a:srgbClr val="1A1A2E"/>
                </a:solidFill>
                <a:latin typeface="Calibri"/>
                <a:ea typeface="Calibri"/>
                <a:cs typeface="Calibri"/>
              </a:rPr>
              <a:t>These three conditions are the special case in which that rule is the optimal 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9</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optimal estimate from both cues</a:t>
            </a:r>
          </a:p>
        </p:txBody>
      </p:sp>
      <p:pic>
        <p:nvPicPr>
          <p:cNvPr id="6" name="Picture 5" descr="f11_product.png"/>
          <p:cNvPicPr>
            <a:picLocks noChangeAspect="1"/>
          </p:cNvPicPr>
          <p:nvPr/>
        </p:nvPicPr>
        <p:blipFill>
          <a:blip r:embed="rId3"/>
          <a:stretch>
            <a:fillRect/>
          </a:stretch>
        </p:blipFill>
        <p:spPr>
          <a:xfrm>
            <a:off x="975879" y="1243584"/>
            <a:ext cx="10240240" cy="2784763"/>
          </a:xfrm>
          <a:prstGeom prst="rect">
            <a:avLst/>
          </a:prstGeom>
        </p:spPr>
      </p:pic>
      <p:sp>
        <p:nvSpPr>
          <p:cNvPr id="7" name="Rounded Rectangle 6"/>
          <p:cNvSpPr/>
          <p:nvPr/>
        </p:nvSpPr>
        <p:spPr>
          <a:xfrm>
            <a:off x="640080" y="4096512"/>
            <a:ext cx="10911535" cy="152045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1_ml.png"/>
          <p:cNvPicPr>
            <a:picLocks noChangeAspect="1"/>
          </p:cNvPicPr>
          <p:nvPr/>
        </p:nvPicPr>
        <p:blipFill>
          <a:blip r:embed="rId4"/>
          <a:stretch>
            <a:fillRect/>
          </a:stretch>
        </p:blipFill>
        <p:spPr>
          <a:xfrm>
            <a:off x="2725002" y="4315968"/>
            <a:ext cx="6741994" cy="310486"/>
          </a:xfrm>
          <a:prstGeom prst="rect">
            <a:avLst/>
          </a:prstGeom>
        </p:spPr>
      </p:pic>
      <p:pic>
        <p:nvPicPr>
          <p:cNvPr id="9" name="Picture 8" descr="e11_joint.png"/>
          <p:cNvPicPr>
            <a:picLocks noChangeAspect="1"/>
          </p:cNvPicPr>
          <p:nvPr/>
        </p:nvPicPr>
        <p:blipFill>
          <a:blip r:embed="rId5"/>
          <a:stretch>
            <a:fillRect/>
          </a:stretch>
        </p:blipFill>
        <p:spPr>
          <a:xfrm>
            <a:off x="2910088" y="4827622"/>
            <a:ext cx="6371822" cy="569890"/>
          </a:xfrm>
          <a:prstGeom prst="rect">
            <a:avLst/>
          </a:prstGeom>
        </p:spPr>
      </p:pic>
      <p:sp>
        <p:nvSpPr>
          <p:cNvPr id="10" name="TextBox 9"/>
          <p:cNvSpPr txBox="1"/>
          <p:nvPr/>
        </p:nvSpPr>
        <p:spPr>
          <a:xfrm>
            <a:off x="640080" y="574243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Each cue alone points at its own measurement, and the product of the two Gaussians lands between them.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10</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weights are the inverse variances</a:t>
            </a:r>
          </a:p>
        </p:txBody>
      </p:sp>
      <p:pic>
        <p:nvPicPr>
          <p:cNvPr id="6" name="Picture 5" descr="f12_weights.png"/>
          <p:cNvPicPr>
            <a:picLocks noChangeAspect="1"/>
          </p:cNvPicPr>
          <p:nvPr/>
        </p:nvPicPr>
        <p:blipFill>
          <a:blip r:embed="rId3"/>
          <a:stretch>
            <a:fillRect/>
          </a:stretch>
        </p:blipFill>
        <p:spPr>
          <a:xfrm>
            <a:off x="642850" y="1280160"/>
            <a:ext cx="10906298" cy="2876203"/>
          </a:xfrm>
          <a:prstGeom prst="rect">
            <a:avLst/>
          </a:prstGeom>
        </p:spPr>
      </p:pic>
      <p:sp>
        <p:nvSpPr>
          <p:cNvPr id="7" name="Rounded Rectangle 6"/>
          <p:cNvSpPr/>
          <p:nvPr/>
        </p:nvSpPr>
        <p:spPr>
          <a:xfrm>
            <a:off x="640080" y="4315968"/>
            <a:ext cx="10911535" cy="1005540"/>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2_w.png"/>
          <p:cNvPicPr>
            <a:picLocks noChangeAspect="1"/>
          </p:cNvPicPr>
          <p:nvPr/>
        </p:nvPicPr>
        <p:blipFill>
          <a:blip r:embed="rId4"/>
          <a:stretch>
            <a:fillRect/>
          </a:stretch>
        </p:blipFill>
        <p:spPr>
          <a:xfrm>
            <a:off x="3127947" y="4535424"/>
            <a:ext cx="5936104" cy="566628"/>
          </a:xfrm>
          <a:prstGeom prst="rect">
            <a:avLst/>
          </a:prstGeom>
        </p:spPr>
      </p:pic>
      <p:sp>
        <p:nvSpPr>
          <p:cNvPr id="9" name="TextBox 8"/>
          <p:cNvSpPr txBox="1"/>
          <p:nvPr/>
        </p:nvSpPr>
        <p:spPr>
          <a:xfrm>
            <a:off x="640080" y="54864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cue with the smaller variance gets the larger weight.</a:t>
            </a:r>
          </a:p>
        </p:txBody>
      </p:sp>
      <p:sp>
        <p:nvSpPr>
          <p:cNvPr id="10" name="TextBox 9"/>
          <p:cNvSpPr txBox="1"/>
          <p:nvPr/>
        </p:nvSpPr>
        <p:spPr>
          <a:xfrm>
            <a:off x="640080" y="59436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two cues together are more precise than either one, because the precisions add.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11</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Landy et al.: the general weighted rule - an empirical finding</a:t>
            </a:r>
          </a:p>
        </p:txBody>
      </p:sp>
      <p:pic>
        <p:nvPicPr>
          <p:cNvPr id="6" name="Picture 5" descr="f14_landy.png"/>
          <p:cNvPicPr>
            <a:picLocks noChangeAspect="1"/>
          </p:cNvPicPr>
          <p:nvPr/>
        </p:nvPicPr>
        <p:blipFill>
          <a:blip r:embed="rId3"/>
          <a:stretch>
            <a:fillRect/>
          </a:stretch>
        </p:blipFill>
        <p:spPr>
          <a:xfrm>
            <a:off x="642850" y="1243584"/>
            <a:ext cx="10906298" cy="2831869"/>
          </a:xfrm>
          <a:prstGeom prst="rect">
            <a:avLst/>
          </a:prstGeom>
        </p:spPr>
      </p:pic>
      <p:sp>
        <p:nvSpPr>
          <p:cNvPr id="7" name="Rounded Rectangle 6"/>
          <p:cNvSpPr/>
          <p:nvPr/>
        </p:nvSpPr>
        <p:spPr>
          <a:xfrm>
            <a:off x="640080" y="4206240"/>
            <a:ext cx="10911535" cy="67088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4_landy.png"/>
          <p:cNvPicPr>
            <a:picLocks noChangeAspect="1"/>
          </p:cNvPicPr>
          <p:nvPr/>
        </p:nvPicPr>
        <p:blipFill>
          <a:blip r:embed="rId4"/>
          <a:stretch>
            <a:fillRect/>
          </a:stretch>
        </p:blipFill>
        <p:spPr>
          <a:xfrm>
            <a:off x="3429674" y="4425696"/>
            <a:ext cx="5332651" cy="231971"/>
          </a:xfrm>
          <a:prstGeom prst="rect">
            <a:avLst/>
          </a:prstGeom>
        </p:spPr>
      </p:pic>
      <p:sp>
        <p:nvSpPr>
          <p:cNvPr id="9" name="TextBox 8"/>
          <p:cNvSpPr txBox="1"/>
          <p:nvPr/>
        </p:nvSpPr>
        <p:spPr>
          <a:xfrm>
            <a:off x="640080" y="50292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Any positive weights that sum to one define a combination rule.</a:t>
            </a:r>
          </a:p>
        </p:txBody>
      </p:sp>
      <p:sp>
        <p:nvSpPr>
          <p:cNvPr id="10" name="TextBox 9"/>
          <p:cNvSpPr txBox="1"/>
          <p:nvPr/>
        </p:nvSpPr>
        <p:spPr>
          <a:xfrm>
            <a:off x="640080" y="5449824"/>
            <a:ext cx="10911535" cy="296813"/>
          </a:xfrm>
          <a:prstGeom prst="rect">
            <a:avLst/>
          </a:prstGeom>
          <a:noFill/>
        </p:spPr>
        <p:txBody>
          <a:bodyPr wrap="square" lIns="0" tIns="0" rIns="0" bIns="0" anchor="t">
            <a:spAutoFit/>
          </a:bodyPr>
          <a:lstStyle/>
          <a:p>
            <a:pPr marL="254203" indent="-254203">
              <a:lnSpc>
                <a:spcPct val="106000"/>
              </a:lnSpc>
              <a:buSzPct val="100000"/>
              <a:buChar char="•"/>
            </a:pPr>
            <a:r>
              <a:rPr sz="1900" b="0" i="0" dirty="0">
                <a:solidFill>
                  <a:srgbClr val="1A1A2E"/>
                </a:solidFill>
                <a:latin typeface="Calibri"/>
                <a:ea typeface="Calibri"/>
                <a:cs typeface="Calibri"/>
              </a:rPr>
              <a:t>Landy et al. also described gating, </a:t>
            </a:r>
            <a:r>
              <a:rPr lang="en-US" sz="1900" b="0" i="0" dirty="0">
                <a:solidFill>
                  <a:srgbClr val="1A1A2E"/>
                </a:solidFill>
                <a:latin typeface="Calibri"/>
                <a:ea typeface="Calibri"/>
                <a:cs typeface="Calibri"/>
              </a:rPr>
              <a:t>and </a:t>
            </a:r>
            <a:r>
              <a:rPr lang="en-US" sz="1900" b="0" i="0" dirty="0" err="1">
                <a:solidFill>
                  <a:srgbClr val="1A1A2E"/>
                </a:solidFill>
                <a:latin typeface="Calibri"/>
                <a:ea typeface="Calibri"/>
                <a:cs typeface="Calibri"/>
              </a:rPr>
              <a:t>Clard</a:t>
            </a:r>
            <a:r>
              <a:rPr lang="en-US" sz="1900" b="0" i="0" dirty="0">
                <a:solidFill>
                  <a:srgbClr val="1A1A2E"/>
                </a:solidFill>
                <a:latin typeface="Calibri"/>
                <a:ea typeface="Calibri"/>
                <a:cs typeface="Calibri"/>
              </a:rPr>
              <a:t> and Yuille described from the Bayesian perspective</a:t>
            </a:r>
            <a:r>
              <a:rPr sz="1900" b="0" i="0" dirty="0">
                <a:solidFill>
                  <a:srgbClr val="1A1A2E"/>
                </a:solidFill>
                <a:latin typeface="Calibri"/>
                <a:ea typeface="Calibri"/>
                <a:cs typeface="Calibri"/>
              </a:rPr>
              <a:t>.</a:t>
            </a:r>
          </a:p>
        </p:txBody>
      </p:sp>
      <p:sp>
        <p:nvSpPr>
          <p:cNvPr id="11" name="TextBox 10"/>
          <p:cNvSpPr txBox="1"/>
          <p:nvPr/>
        </p:nvSpPr>
        <p:spPr>
          <a:xfrm>
            <a:off x="640080" y="5833872"/>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M. S. Landy, L. T. Maloney, E. B. Johnston and M. Young, “Measurement and modeling of depth cue combination: in defense of weak fusion,” Vision Research, 35(3):389–412, 1995.   ·   J. J. Clark and A. L. Yuille, Data Fusion for Sensory Information Processing Systems. Kluwer Academic Publishers, 1990.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12</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Graphs and weak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Ernst and Banks: vision and touch</a:t>
            </a:r>
          </a:p>
        </p:txBody>
      </p:sp>
      <p:pic>
        <p:nvPicPr>
          <p:cNvPr id="6" name="Picture 5" descr="o11_ernstbanks.png"/>
          <p:cNvPicPr>
            <a:picLocks noChangeAspect="1"/>
          </p:cNvPicPr>
          <p:nvPr/>
        </p:nvPicPr>
        <p:blipFill>
          <a:blip r:embed="rId2"/>
          <a:stretch>
            <a:fillRect/>
          </a:stretch>
        </p:blipFill>
        <p:spPr>
          <a:xfrm>
            <a:off x="3169919" y="1170432"/>
            <a:ext cx="5852160" cy="3406140"/>
          </a:xfrm>
          <a:prstGeom prst="rect">
            <a:avLst/>
          </a:prstGeom>
        </p:spPr>
      </p:pic>
      <p:sp>
        <p:nvSpPr>
          <p:cNvPr id="7" name="TextBox 6"/>
          <p:cNvSpPr txBox="1"/>
          <p:nvPr/>
        </p:nvSpPr>
        <p:spPr>
          <a:xfrm>
            <a:off x="640080" y="470001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Subjects judged the height of a ridge seen in a stereo display and felt through force feedback.</a:t>
            </a:r>
          </a:p>
        </p:txBody>
      </p:sp>
      <p:sp>
        <p:nvSpPr>
          <p:cNvPr id="8" name="TextBox 7"/>
          <p:cNvSpPr txBox="1"/>
          <p:nvPr/>
        </p:nvSpPr>
        <p:spPr>
          <a:xfrm>
            <a:off x="640080" y="510235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Noise added to the display raises the visual variance, and the visual weight falls with it.</a:t>
            </a:r>
          </a:p>
        </p:txBody>
      </p:sp>
      <p:sp>
        <p:nvSpPr>
          <p:cNvPr id="9" name="TextBox 8"/>
          <p:cNvSpPr txBox="1"/>
          <p:nvPr/>
        </p:nvSpPr>
        <p:spPr>
          <a:xfrm>
            <a:off x="640080" y="550468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measured weights follow the inverse-variance prediction.</a:t>
            </a:r>
          </a:p>
        </p:txBody>
      </p:sp>
      <p:sp>
        <p:nvSpPr>
          <p:cNvPr id="10" name="TextBox 9"/>
          <p:cNvSpPr txBox="1"/>
          <p:nvPr/>
        </p:nvSpPr>
        <p:spPr>
          <a:xfrm>
            <a:off x="640080" y="5961888"/>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M. O. Ernst and M. S. Banks, “Humans integrate visual and haptic information in a statistically optimal fashion,” Nature, 415:429–433, 2002.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13</a:t>
            </a:r>
          </a:p>
        </p:txBody>
      </p:sp>
      <p:sp>
        <p:nvSpPr>
          <p:cNvPr id="4" name="TextBox 3"/>
          <p:cNvSpPr txBox="1"/>
          <p:nvPr/>
        </p:nvSpPr>
        <p:spPr>
          <a:xfrm>
            <a:off x="640080" y="1874519"/>
            <a:ext cx="2286000" cy="2011680"/>
          </a:xfrm>
          <a:prstGeom prst="rect">
            <a:avLst/>
          </a:prstGeom>
          <a:noFill/>
        </p:spPr>
        <p:txBody>
          <a:bodyPr wrap="square" lIns="0" tIns="0" rIns="0" bIns="0" anchor="t">
            <a:spAutoFit/>
          </a:bodyPr>
          <a:lstStyle/>
          <a:p>
            <a:pPr marL="0" indent="0">
              <a:buNone/>
            </a:pPr>
            <a:r>
              <a:rPr sz="11000" b="1" i="0">
                <a:solidFill>
                  <a:srgbClr val="1A1A2E"/>
                </a:solidFill>
                <a:latin typeface="Cambria"/>
                <a:ea typeface="Cambria"/>
                <a:cs typeface="Cambria"/>
              </a:rPr>
              <a:t>2</a:t>
            </a:r>
          </a:p>
        </p:txBody>
      </p:sp>
      <p:sp>
        <p:nvSpPr>
          <p:cNvPr id="5" name="TextBox 4"/>
          <p:cNvSpPr txBox="1"/>
          <p:nvPr/>
        </p:nvSpPr>
        <p:spPr>
          <a:xfrm>
            <a:off x="2880360" y="2377440"/>
            <a:ext cx="8595360" cy="1005840"/>
          </a:xfrm>
          <a:prstGeom prst="rect">
            <a:avLst/>
          </a:prstGeom>
          <a:noFill/>
        </p:spPr>
        <p:txBody>
          <a:bodyPr wrap="square" lIns="0" tIns="0" rIns="0" bIns="0" anchor="t">
            <a:spAutoFit/>
          </a:bodyPr>
          <a:lstStyle/>
          <a:p>
            <a:pPr marL="0" indent="0">
              <a:buNone/>
            </a:pPr>
            <a:r>
              <a:rPr sz="4400" b="1" i="0">
                <a:solidFill>
                  <a:srgbClr val="1A1A2E"/>
                </a:solidFill>
                <a:latin typeface="Cambria"/>
                <a:ea typeface="Cambria"/>
                <a:cs typeface="Cambria"/>
              </a:rPr>
              <a:t>Priors and double counting</a:t>
            </a:r>
          </a:p>
        </p:txBody>
      </p:sp>
      <p:sp>
        <p:nvSpPr>
          <p:cNvPr id="6" name="TextBox 5"/>
          <p:cNvSpPr txBox="1"/>
          <p:nvPr/>
        </p:nvSpPr>
        <p:spPr>
          <a:xfrm>
            <a:off x="2944368" y="3401568"/>
            <a:ext cx="8595360" cy="640080"/>
          </a:xfrm>
          <a:prstGeom prst="rect">
            <a:avLst/>
          </a:prstGeom>
          <a:noFill/>
        </p:spPr>
        <p:txBody>
          <a:bodyPr wrap="square" lIns="0" tIns="0" rIns="0" bIns="0" anchor="t">
            <a:spAutoFit/>
          </a:bodyPr>
          <a:lstStyle/>
          <a:p>
            <a:pPr marL="0" indent="0">
              <a:buNone/>
            </a:pPr>
            <a:r>
              <a:rPr sz="1900" b="0" i="0">
                <a:solidFill>
                  <a:srgbClr val="55555F"/>
                </a:solidFill>
                <a:latin typeface="Calibri"/>
                <a:ea typeface="Calibri"/>
                <a:cs typeface="Calibri"/>
              </a:rPr>
              <a:t>Two cues that use the same prior must not apply it twice.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14</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Priors and double counting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posterior for one cue</a:t>
            </a:r>
          </a:p>
        </p:txBody>
      </p:sp>
      <p:pic>
        <p:nvPicPr>
          <p:cNvPr id="6" name="Picture 5" descr="g15_two_models.png"/>
          <p:cNvPicPr>
            <a:picLocks noChangeAspect="1"/>
          </p:cNvPicPr>
          <p:nvPr/>
        </p:nvPicPr>
        <p:blipFill>
          <a:blip r:embed="rId3"/>
          <a:stretch>
            <a:fillRect/>
          </a:stretch>
        </p:blipFill>
        <p:spPr>
          <a:xfrm>
            <a:off x="1066799" y="1325880"/>
            <a:ext cx="10058400" cy="2098040"/>
          </a:xfrm>
          <a:prstGeom prst="rect">
            <a:avLst/>
          </a:prstGeom>
        </p:spPr>
      </p:pic>
      <p:sp>
        <p:nvSpPr>
          <p:cNvPr id="7" name="Rounded Rectangle 6"/>
          <p:cNvSpPr/>
          <p:nvPr/>
        </p:nvSpPr>
        <p:spPr>
          <a:xfrm>
            <a:off x="640080" y="3520440"/>
            <a:ext cx="10911535" cy="150175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5_post.png"/>
          <p:cNvPicPr>
            <a:picLocks noChangeAspect="1"/>
          </p:cNvPicPr>
          <p:nvPr/>
        </p:nvPicPr>
        <p:blipFill>
          <a:blip r:embed="rId4"/>
          <a:stretch>
            <a:fillRect/>
          </a:stretch>
        </p:blipFill>
        <p:spPr>
          <a:xfrm>
            <a:off x="2829578" y="3739896"/>
            <a:ext cx="6532843" cy="551280"/>
          </a:xfrm>
          <a:prstGeom prst="rect">
            <a:avLst/>
          </a:prstGeom>
        </p:spPr>
      </p:pic>
      <p:pic>
        <p:nvPicPr>
          <p:cNvPr id="9" name="Picture 8" descr="e15_est.png"/>
          <p:cNvPicPr>
            <a:picLocks noChangeAspect="1"/>
          </p:cNvPicPr>
          <p:nvPr/>
        </p:nvPicPr>
        <p:blipFill>
          <a:blip r:embed="rId5"/>
          <a:stretch>
            <a:fillRect/>
          </a:stretch>
        </p:blipFill>
        <p:spPr>
          <a:xfrm>
            <a:off x="3331827" y="4492344"/>
            <a:ext cx="5528344" cy="310392"/>
          </a:xfrm>
          <a:prstGeom prst="rect">
            <a:avLst/>
          </a:prstGeom>
        </p:spPr>
      </p:pic>
      <p:sp>
        <p:nvSpPr>
          <p:cNvPr id="10" name="TextBox 9"/>
          <p:cNvSpPr txBox="1"/>
          <p:nvPr/>
        </p:nvSpPr>
        <p:spPr>
          <a:xfrm>
            <a:off x="640080" y="52120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Each cue is modelled by its own likelihood, and both models use the same prior on S.</a:t>
            </a:r>
          </a:p>
        </p:txBody>
      </p:sp>
      <p:sp>
        <p:nvSpPr>
          <p:cNvPr id="11" name="TextBox 10"/>
          <p:cNvSpPr txBox="1"/>
          <p:nvPr/>
        </p:nvSpPr>
        <p:spPr>
          <a:xfrm>
            <a:off x="640080" y="565099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Taking the two estimates and averaging them would use that prior twice.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15</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Priors and double counting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posterior for both cues</a:t>
            </a:r>
          </a:p>
        </p:txBody>
      </p:sp>
      <p:pic>
        <p:nvPicPr>
          <p:cNvPr id="6" name="Picture 5" descr="g16_one_model.png"/>
          <p:cNvPicPr>
            <a:picLocks noChangeAspect="1"/>
          </p:cNvPicPr>
          <p:nvPr/>
        </p:nvPicPr>
        <p:blipFill>
          <a:blip r:embed="rId3"/>
          <a:stretch>
            <a:fillRect/>
          </a:stretch>
        </p:blipFill>
        <p:spPr>
          <a:xfrm>
            <a:off x="1066799" y="1298448"/>
            <a:ext cx="10058400" cy="2098040"/>
          </a:xfrm>
          <a:prstGeom prst="rect">
            <a:avLst/>
          </a:prstGeom>
        </p:spPr>
      </p:pic>
      <p:sp>
        <p:nvSpPr>
          <p:cNvPr id="7" name="Rounded Rectangle 6"/>
          <p:cNvSpPr/>
          <p:nvPr/>
        </p:nvSpPr>
        <p:spPr>
          <a:xfrm>
            <a:off x="640080" y="3456432"/>
            <a:ext cx="10911535" cy="1999701"/>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6_joint.png"/>
          <p:cNvPicPr>
            <a:picLocks noChangeAspect="1"/>
          </p:cNvPicPr>
          <p:nvPr/>
        </p:nvPicPr>
        <p:blipFill>
          <a:blip r:embed="rId4"/>
          <a:stretch>
            <a:fillRect/>
          </a:stretch>
        </p:blipFill>
        <p:spPr>
          <a:xfrm>
            <a:off x="4222710" y="3675887"/>
            <a:ext cx="3746578" cy="549018"/>
          </a:xfrm>
          <a:prstGeom prst="rect">
            <a:avLst/>
          </a:prstGeom>
        </p:spPr>
      </p:pic>
      <p:pic>
        <p:nvPicPr>
          <p:cNvPr id="9" name="Picture 8" descr="e16_ci.png"/>
          <p:cNvPicPr>
            <a:picLocks noChangeAspect="1"/>
          </p:cNvPicPr>
          <p:nvPr/>
        </p:nvPicPr>
        <p:blipFill>
          <a:blip r:embed="rId5"/>
          <a:stretch>
            <a:fillRect/>
          </a:stretch>
        </p:blipFill>
        <p:spPr>
          <a:xfrm>
            <a:off x="3654304" y="4426074"/>
            <a:ext cx="4883390" cy="810603"/>
          </a:xfrm>
          <a:prstGeom prst="rect">
            <a:avLst/>
          </a:prstGeom>
        </p:spPr>
      </p:pic>
      <p:sp>
        <p:nvSpPr>
          <p:cNvPr id="10" name="TextBox 9"/>
          <p:cNvSpPr txBox="1"/>
          <p:nvPr/>
        </p:nvSpPr>
        <p:spPr>
          <a:xfrm>
            <a:off x="640080" y="557784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Conditional independence turns the joint likelihood into one factor for each cue.</a:t>
            </a:r>
          </a:p>
        </p:txBody>
      </p:sp>
      <p:sp>
        <p:nvSpPr>
          <p:cNvPr id="11" name="TextBox 10"/>
          <p:cNvSpPr txBox="1"/>
          <p:nvPr/>
        </p:nvSpPr>
        <p:spPr>
          <a:xfrm>
            <a:off x="640080" y="599846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prior multiplies in once, however many cues there are.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16</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Priors and double counting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A Gaussian prior enters only once</a:t>
            </a:r>
          </a:p>
        </p:txBody>
      </p:sp>
      <p:pic>
        <p:nvPicPr>
          <p:cNvPr id="6" name="Picture 5" descr="f19_gaussian_prior.png"/>
          <p:cNvPicPr>
            <a:picLocks noChangeAspect="1"/>
          </p:cNvPicPr>
          <p:nvPr/>
        </p:nvPicPr>
        <p:blipFill>
          <a:blip r:embed="rId3"/>
          <a:stretch>
            <a:fillRect/>
          </a:stretch>
        </p:blipFill>
        <p:spPr>
          <a:xfrm>
            <a:off x="642850" y="1225296"/>
            <a:ext cx="10906298" cy="2648989"/>
          </a:xfrm>
          <a:prstGeom prst="rect">
            <a:avLst/>
          </a:prstGeom>
        </p:spPr>
      </p:pic>
      <p:sp>
        <p:nvSpPr>
          <p:cNvPr id="7" name="Rounded Rectangle 6"/>
          <p:cNvSpPr/>
          <p:nvPr/>
        </p:nvSpPr>
        <p:spPr>
          <a:xfrm>
            <a:off x="640080" y="3950208"/>
            <a:ext cx="10911535" cy="170289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9_gauss.png"/>
          <p:cNvPicPr>
            <a:picLocks noChangeAspect="1"/>
          </p:cNvPicPr>
          <p:nvPr/>
        </p:nvPicPr>
        <p:blipFill>
          <a:blip r:embed="rId4"/>
          <a:stretch>
            <a:fillRect/>
          </a:stretch>
        </p:blipFill>
        <p:spPr>
          <a:xfrm>
            <a:off x="3173766" y="4169664"/>
            <a:ext cx="5844466" cy="514904"/>
          </a:xfrm>
          <a:prstGeom prst="rect">
            <a:avLst/>
          </a:prstGeom>
        </p:spPr>
      </p:pic>
      <p:pic>
        <p:nvPicPr>
          <p:cNvPr id="9" name="Picture 8" descr="e19_prior.png"/>
          <p:cNvPicPr>
            <a:picLocks noChangeAspect="1"/>
          </p:cNvPicPr>
          <p:nvPr/>
        </p:nvPicPr>
        <p:blipFill>
          <a:blip r:embed="rId5"/>
          <a:stretch>
            <a:fillRect/>
          </a:stretch>
        </p:blipFill>
        <p:spPr>
          <a:xfrm>
            <a:off x="2507342" y="4885736"/>
            <a:ext cx="7177314" cy="547914"/>
          </a:xfrm>
          <a:prstGeom prst="rect">
            <a:avLst/>
          </a:prstGeom>
        </p:spPr>
      </p:pic>
      <p:sp>
        <p:nvSpPr>
          <p:cNvPr id="10" name="TextBox 9"/>
          <p:cNvSpPr txBox="1"/>
          <p:nvPr/>
        </p:nvSpPr>
        <p:spPr>
          <a:xfrm>
            <a:off x="640080" y="583387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Subscript p marks the prior, whose mean is the flat surface, and each t is one over a variance.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17</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Priors and double counting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prior biases each single-cue estimate</a:t>
            </a:r>
          </a:p>
        </p:txBody>
      </p:sp>
      <p:pic>
        <p:nvPicPr>
          <p:cNvPr id="6" name="Picture 5" descr="f17_average.png"/>
          <p:cNvPicPr>
            <a:picLocks noChangeAspect="1"/>
          </p:cNvPicPr>
          <p:nvPr/>
        </p:nvPicPr>
        <p:blipFill>
          <a:blip r:embed="rId2"/>
          <a:stretch>
            <a:fillRect/>
          </a:stretch>
        </p:blipFill>
        <p:spPr>
          <a:xfrm>
            <a:off x="642850" y="1280160"/>
            <a:ext cx="10906298" cy="3291840"/>
          </a:xfrm>
          <a:prstGeom prst="rect">
            <a:avLst/>
          </a:prstGeom>
        </p:spPr>
      </p:pic>
      <p:sp>
        <p:nvSpPr>
          <p:cNvPr id="7" name="TextBox 6"/>
          <p:cNvSpPr txBox="1"/>
          <p:nvPr/>
        </p:nvSpPr>
        <p:spPr>
          <a:xfrm>
            <a:off x="640080" y="48006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Shape from shading and shape from texture both assume the surface is smooth.</a:t>
            </a:r>
          </a:p>
        </p:txBody>
      </p:sp>
      <p:sp>
        <p:nvSpPr>
          <p:cNvPr id="8" name="TextBox 7"/>
          <p:cNvSpPr txBox="1"/>
          <p:nvPr/>
        </p:nvSpPr>
        <p:spPr>
          <a:xfrm>
            <a:off x="640080" y="522122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 smoothness prior pulls each single-cue estimate towards a flatter surface.</a:t>
            </a:r>
          </a:p>
        </p:txBody>
      </p:sp>
      <p:sp>
        <p:nvSpPr>
          <p:cNvPr id="9" name="TextBox 8"/>
          <p:cNvSpPr txBox="1"/>
          <p:nvPr/>
        </p:nvSpPr>
        <p:spPr>
          <a:xfrm>
            <a:off x="640080" y="564184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Any weighted average of two flattened estimates is still flat.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18</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Priors and double counting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Shading and texture: the experiment</a:t>
            </a:r>
          </a:p>
        </p:txBody>
      </p:sp>
      <p:pic>
        <p:nvPicPr>
          <p:cNvPr id="6" name="Picture 5" descr="c14_bulthoff.png"/>
          <p:cNvPicPr>
            <a:picLocks noChangeAspect="1"/>
          </p:cNvPicPr>
          <p:nvPr/>
        </p:nvPicPr>
        <p:blipFill>
          <a:blip r:embed="rId2"/>
          <a:stretch>
            <a:fillRect/>
          </a:stretch>
        </p:blipFill>
        <p:spPr>
          <a:xfrm>
            <a:off x="2621279" y="1133856"/>
            <a:ext cx="6949440" cy="3991356"/>
          </a:xfrm>
          <a:prstGeom prst="rect">
            <a:avLst/>
          </a:prstGeom>
        </p:spPr>
      </p:pic>
      <p:sp>
        <p:nvSpPr>
          <p:cNvPr id="7" name="TextBox 6"/>
          <p:cNvSpPr txBox="1"/>
          <p:nvPr/>
        </p:nvSpPr>
        <p:spPr>
          <a:xfrm>
            <a:off x="640080" y="523036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Subjects judged the elongation of an ellipsoid from shading only, texture only, or both.</a:t>
            </a:r>
          </a:p>
        </p:txBody>
      </p:sp>
      <p:sp>
        <p:nvSpPr>
          <p:cNvPr id="8" name="TextBox 7"/>
          <p:cNvSpPr txBox="1"/>
          <p:nvPr/>
        </p:nvSpPr>
        <p:spPr>
          <a:xfrm>
            <a:off x="640080" y="563270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Each cue alone was seen as too flat, and the two together were close to correct.</a:t>
            </a:r>
          </a:p>
        </p:txBody>
      </p:sp>
      <p:sp>
        <p:nvSpPr>
          <p:cNvPr id="9" name="TextBox 8"/>
          <p:cNvSpPr txBox="1"/>
          <p:nvPr/>
        </p:nvSpPr>
        <p:spPr>
          <a:xfrm>
            <a:off x="640080" y="6016752"/>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H. H. Bülthoff and H. A. Mallot, “Integration of depth modules: stereo and shading,” Journal of the Optical Society of America A, 5(10):1749–1758, 1988.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19</a:t>
            </a:r>
          </a:p>
        </p:txBody>
      </p:sp>
      <p:sp>
        <p:nvSpPr>
          <p:cNvPr id="4" name="TextBox 3"/>
          <p:cNvSpPr txBox="1"/>
          <p:nvPr/>
        </p:nvSpPr>
        <p:spPr>
          <a:xfrm>
            <a:off x="640080" y="1874519"/>
            <a:ext cx="2286000" cy="2011680"/>
          </a:xfrm>
          <a:prstGeom prst="rect">
            <a:avLst/>
          </a:prstGeom>
          <a:noFill/>
        </p:spPr>
        <p:txBody>
          <a:bodyPr wrap="square" lIns="0" tIns="0" rIns="0" bIns="0" anchor="t">
            <a:spAutoFit/>
          </a:bodyPr>
          <a:lstStyle/>
          <a:p>
            <a:pPr marL="0" indent="0">
              <a:buNone/>
            </a:pPr>
            <a:r>
              <a:rPr sz="11000" b="1" i="0">
                <a:solidFill>
                  <a:srgbClr val="1A1A2E"/>
                </a:solidFill>
                <a:latin typeface="Cambria"/>
                <a:ea typeface="Cambria"/>
                <a:cs typeface="Cambria"/>
              </a:rPr>
              <a:t>3</a:t>
            </a:r>
          </a:p>
        </p:txBody>
      </p:sp>
      <p:sp>
        <p:nvSpPr>
          <p:cNvPr id="5" name="TextBox 4"/>
          <p:cNvSpPr txBox="1"/>
          <p:nvPr/>
        </p:nvSpPr>
        <p:spPr>
          <a:xfrm>
            <a:off x="2880360" y="2377440"/>
            <a:ext cx="8595360" cy="1005840"/>
          </a:xfrm>
          <a:prstGeom prst="rect">
            <a:avLst/>
          </a:prstGeom>
          <a:noFill/>
        </p:spPr>
        <p:txBody>
          <a:bodyPr wrap="square" lIns="0" tIns="0" rIns="0" bIns="0" anchor="t">
            <a:spAutoFit/>
          </a:bodyPr>
          <a:lstStyle/>
          <a:p>
            <a:pPr marL="0" indent="0">
              <a:buNone/>
            </a:pPr>
            <a:r>
              <a:rPr sz="4400" b="1" i="0">
                <a:solidFill>
                  <a:srgbClr val="1A1A2E"/>
                </a:solidFill>
                <a:latin typeface="Cambria"/>
                <a:ea typeface="Cambria"/>
                <a:cs typeface="Cambria"/>
              </a:rPr>
              <a:t>Strong coupling</a:t>
            </a:r>
          </a:p>
        </p:txBody>
      </p:sp>
      <p:sp>
        <p:nvSpPr>
          <p:cNvPr id="6" name="TextBox 5"/>
          <p:cNvSpPr txBox="1"/>
          <p:nvPr/>
        </p:nvSpPr>
        <p:spPr>
          <a:xfrm>
            <a:off x="2944368" y="3401568"/>
            <a:ext cx="8595360" cy="640080"/>
          </a:xfrm>
          <a:prstGeom prst="rect">
            <a:avLst/>
          </a:prstGeom>
          <a:noFill/>
        </p:spPr>
        <p:txBody>
          <a:bodyPr wrap="square" lIns="0" tIns="0" rIns="0" bIns="0" anchor="t">
            <a:spAutoFit/>
          </a:bodyPr>
          <a:lstStyle/>
          <a:p>
            <a:pPr marL="0" indent="0">
              <a:buNone/>
            </a:pPr>
            <a:r>
              <a:rPr sz="1900" b="0" i="0">
                <a:solidFill>
                  <a:srgbClr val="55555F"/>
                </a:solidFill>
                <a:latin typeface="Calibri"/>
                <a:ea typeface="Calibri"/>
                <a:cs typeface="Calibri"/>
              </a:rPr>
              <a:t>When the cues depend on each other, the estimate comes from the joint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20</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Strong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Weak and strong coupling</a:t>
            </a:r>
          </a:p>
        </p:txBody>
      </p:sp>
      <p:pic>
        <p:nvPicPr>
          <p:cNvPr id="6" name="Picture 5" descr="f22_weakstrong.png"/>
          <p:cNvPicPr>
            <a:picLocks noChangeAspect="1"/>
          </p:cNvPicPr>
          <p:nvPr/>
        </p:nvPicPr>
        <p:blipFill>
          <a:blip r:embed="rId2"/>
          <a:stretch>
            <a:fillRect/>
          </a:stretch>
        </p:blipFill>
        <p:spPr>
          <a:xfrm>
            <a:off x="642850" y="1280160"/>
            <a:ext cx="10906298" cy="3014749"/>
          </a:xfrm>
          <a:prstGeom prst="rect">
            <a:avLst/>
          </a:prstGeom>
        </p:spPr>
      </p:pic>
      <p:sp>
        <p:nvSpPr>
          <p:cNvPr id="7" name="TextBox 6"/>
          <p:cNvSpPr txBox="1"/>
          <p:nvPr/>
        </p:nvSpPr>
        <p:spPr>
          <a:xfrm>
            <a:off x="640080" y="45262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Weak coupling means conditionally independent cues, Gaussian likelihoods and a uniform prior.</a:t>
            </a:r>
          </a:p>
        </p:txBody>
      </p:sp>
      <p:sp>
        <p:nvSpPr>
          <p:cNvPr id="8" name="TextBox 7"/>
          <p:cNvSpPr txBox="1"/>
          <p:nvPr/>
        </p:nvSpPr>
        <p:spPr>
          <a:xfrm>
            <a:off x="640080" y="49834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Strong coupling covers shared priors, dependent cues, and a choice between models.</a:t>
            </a:r>
          </a:p>
        </p:txBody>
      </p:sp>
      <p:sp>
        <p:nvSpPr>
          <p:cNvPr id="9" name="TextBox 8"/>
          <p:cNvSpPr txBox="1"/>
          <p:nvPr/>
        </p:nvSpPr>
        <p:spPr>
          <a:xfrm>
            <a:off x="640080" y="54406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Under strong coupling the estimate has to come from the joint model.</a:t>
            </a:r>
          </a:p>
        </p:txBody>
      </p:sp>
      <p:sp>
        <p:nvSpPr>
          <p:cNvPr id="10" name="TextBox 9"/>
          <p:cNvSpPr txBox="1"/>
          <p:nvPr/>
        </p:nvSpPr>
        <p:spPr>
          <a:xfrm>
            <a:off x="640080" y="5943600"/>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J. J. Clark and A. L. Yuille, Data Fusion for Sensory Information Processing Systems. Kluwer Academic Publishers, Boston, 1990.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21</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Strong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A taxonomy of cue interactions</a:t>
            </a:r>
          </a:p>
        </p:txBody>
      </p:sp>
      <p:pic>
        <p:nvPicPr>
          <p:cNvPr id="6" name="Picture 5" descr="o25_taxonomy.png"/>
          <p:cNvPicPr>
            <a:picLocks noChangeAspect="1"/>
          </p:cNvPicPr>
          <p:nvPr/>
        </p:nvPicPr>
        <p:blipFill>
          <a:blip r:embed="rId2"/>
          <a:stretch>
            <a:fillRect/>
          </a:stretch>
        </p:blipFill>
        <p:spPr>
          <a:xfrm>
            <a:off x="884448" y="1463040"/>
            <a:ext cx="10423102" cy="2420781"/>
          </a:xfrm>
          <a:prstGeom prst="rect">
            <a:avLst/>
          </a:prstGeom>
        </p:spPr>
      </p:pic>
      <p:sp>
        <p:nvSpPr>
          <p:cNvPr id="7" name="TextBox 6"/>
          <p:cNvSpPr txBox="1"/>
          <p:nvPr/>
        </p:nvSpPr>
        <p:spPr>
          <a:xfrm>
            <a:off x="640080" y="431596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Common cause: one scene event produces two cues, and the evidence from them combines.</a:t>
            </a:r>
          </a:p>
        </p:txBody>
      </p:sp>
      <p:sp>
        <p:nvSpPr>
          <p:cNvPr id="8" name="TextBox 7"/>
          <p:cNvSpPr txBox="1"/>
          <p:nvPr/>
        </p:nvSpPr>
        <p:spPr>
          <a:xfrm>
            <a:off x="640080" y="477316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Common effect: several scene variables produce one image, and they have to be separated.</a:t>
            </a:r>
          </a:p>
        </p:txBody>
      </p:sp>
      <p:sp>
        <p:nvSpPr>
          <p:cNvPr id="9" name="TextBox 8"/>
          <p:cNvSpPr txBox="1"/>
          <p:nvPr/>
        </p:nvSpPr>
        <p:spPr>
          <a:xfrm>
            <a:off x="640080" y="523036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pattern in the graph decides how the cues must be treated.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22</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Strong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Visual cues depend on one another</a:t>
            </a:r>
          </a:p>
        </p:txBody>
      </p:sp>
      <p:pic>
        <p:nvPicPr>
          <p:cNvPr id="6" name="Picture 5" descr="f21_flyingcarpet.png"/>
          <p:cNvPicPr>
            <a:picLocks noChangeAspect="1"/>
          </p:cNvPicPr>
          <p:nvPr/>
        </p:nvPicPr>
        <p:blipFill>
          <a:blip r:embed="rId2"/>
          <a:stretch>
            <a:fillRect/>
          </a:stretch>
        </p:blipFill>
        <p:spPr>
          <a:xfrm>
            <a:off x="642850" y="1280160"/>
            <a:ext cx="10906298" cy="3424843"/>
          </a:xfrm>
          <a:prstGeom prst="rect">
            <a:avLst/>
          </a:prstGeom>
        </p:spPr>
      </p:pic>
      <p:sp>
        <p:nvSpPr>
          <p:cNvPr id="7" name="TextBox 6"/>
          <p:cNvSpPr txBox="1"/>
          <p:nvPr/>
        </p:nvSpPr>
        <p:spPr>
          <a:xfrm>
            <a:off x="640080" y="491947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flying carpet needs the ground plane, the segmentation, the shadow and the lighting at once.</a:t>
            </a:r>
          </a:p>
        </p:txBody>
      </p:sp>
      <p:sp>
        <p:nvSpPr>
          <p:cNvPr id="8" name="TextBox 7"/>
          <p:cNvSpPr txBox="1"/>
          <p:nvPr/>
        </p:nvSpPr>
        <p:spPr>
          <a:xfrm>
            <a:off x="640080" y="532180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These cues are computed from the same image regions, so they constrain one another.</a:t>
            </a:r>
          </a:p>
        </p:txBody>
      </p:sp>
      <p:sp>
        <p:nvSpPr>
          <p:cNvPr id="9" name="TextBox 8"/>
          <p:cNvSpPr txBox="1"/>
          <p:nvPr/>
        </p:nvSpPr>
        <p:spPr>
          <a:xfrm>
            <a:off x="640080" y="572414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Splitting a natural image into a texture part and a shading part is itself an open problem.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23</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Strong coupling</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A cast shadow decides the perceived motion</a:t>
            </a:r>
          </a:p>
        </p:txBody>
      </p:sp>
      <p:pic>
        <p:nvPicPr>
          <p:cNvPr id="6" name="Picture 5" descr="o21_ballinbox.png"/>
          <p:cNvPicPr>
            <a:picLocks noChangeAspect="1"/>
          </p:cNvPicPr>
          <p:nvPr/>
        </p:nvPicPr>
        <p:blipFill>
          <a:blip r:embed="rId2"/>
          <a:stretch>
            <a:fillRect/>
          </a:stretch>
        </p:blipFill>
        <p:spPr>
          <a:xfrm>
            <a:off x="975879" y="1280160"/>
            <a:ext cx="10240240" cy="3262745"/>
          </a:xfrm>
          <a:prstGeom prst="rect">
            <a:avLst/>
          </a:prstGeom>
        </p:spPr>
      </p:pic>
      <p:sp>
        <p:nvSpPr>
          <p:cNvPr id="7" name="TextBox 6"/>
          <p:cNvSpPr txBox="1"/>
          <p:nvPr/>
        </p:nvSpPr>
        <p:spPr>
          <a:xfrm>
            <a:off x="640080" y="470001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image trajectory of the ball is identical in the two movies, and only the shadow differs.</a:t>
            </a:r>
          </a:p>
        </p:txBody>
      </p:sp>
      <p:sp>
        <p:nvSpPr>
          <p:cNvPr id="8" name="TextBox 7"/>
          <p:cNvSpPr txBox="1"/>
          <p:nvPr/>
        </p:nvSpPr>
        <p:spPr>
          <a:xfrm>
            <a:off x="640080" y="512064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visual system finds the floor, the ball and the light, then attaches the shadow to the ball.</a:t>
            </a:r>
          </a:p>
        </p:txBody>
      </p:sp>
      <p:sp>
        <p:nvSpPr>
          <p:cNvPr id="9" name="TextBox 8"/>
          <p:cNvSpPr txBox="1"/>
          <p:nvPr/>
        </p:nvSpPr>
        <p:spPr>
          <a:xfrm>
            <a:off x="640080" y="5559552"/>
            <a:ext cx="10911535" cy="584775"/>
          </a:xfrm>
          <a:prstGeom prst="rect">
            <a:avLst/>
          </a:prstGeom>
          <a:noFill/>
        </p:spPr>
        <p:txBody>
          <a:bodyPr wrap="square" lIns="0" tIns="0" rIns="0" bIns="0" anchor="t">
            <a:spAutoFit/>
          </a:bodyPr>
          <a:lstStyle/>
          <a:p>
            <a:pPr marL="0" indent="0">
              <a:buNone/>
            </a:pPr>
            <a:r>
              <a:rPr sz="1900" b="0" i="0" dirty="0">
                <a:solidFill>
                  <a:srgbClr val="1A1A2E"/>
                </a:solidFill>
                <a:latin typeface="Calibri"/>
                <a:ea typeface="Calibri"/>
                <a:cs typeface="Calibri"/>
                <a:hlinkClick r:id="rId3"/>
              </a:rPr>
              <a:t>https://www.youtube.com/watch?v=XZO8-Df3mxA</a:t>
            </a:r>
            <a:endParaRPr lang="en-US" sz="1900" b="0" i="0" dirty="0">
              <a:solidFill>
                <a:srgbClr val="1A1A2E"/>
              </a:solidFill>
              <a:latin typeface="Calibri"/>
              <a:ea typeface="Calibri"/>
              <a:cs typeface="Calibri"/>
            </a:endParaRPr>
          </a:p>
          <a:p>
            <a:pPr marL="0" indent="0">
              <a:buNone/>
            </a:pPr>
            <a:endParaRPr sz="1900" b="0" i="0" dirty="0">
              <a:solidFill>
                <a:srgbClr val="1A1A2E"/>
              </a:solidFill>
              <a:latin typeface="Calibri"/>
              <a:ea typeface="Calibri"/>
              <a:cs typeface="Calibri"/>
            </a:endParaRPr>
          </a:p>
        </p:txBody>
      </p:sp>
      <p:sp>
        <p:nvSpPr>
          <p:cNvPr id="10" name="TextBox 9"/>
          <p:cNvSpPr txBox="1"/>
          <p:nvPr/>
        </p:nvSpPr>
        <p:spPr>
          <a:xfrm>
            <a:off x="640080" y="5961888"/>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D. Kersten, P. Mamassian and D. C. Knill, “Moving cast shadows induce apparent motion in depth,” Perception, 26(2):171–192, 1997.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24</a:t>
            </a:r>
          </a:p>
        </p:txBody>
      </p:sp>
      <p:sp>
        <p:nvSpPr>
          <p:cNvPr id="4" name="TextBox 3"/>
          <p:cNvSpPr txBox="1"/>
          <p:nvPr/>
        </p:nvSpPr>
        <p:spPr>
          <a:xfrm>
            <a:off x="640080" y="1874519"/>
            <a:ext cx="2286000" cy="2011680"/>
          </a:xfrm>
          <a:prstGeom prst="rect">
            <a:avLst/>
          </a:prstGeom>
          <a:noFill/>
        </p:spPr>
        <p:txBody>
          <a:bodyPr wrap="square" lIns="0" tIns="0" rIns="0" bIns="0" anchor="t">
            <a:spAutoFit/>
          </a:bodyPr>
          <a:lstStyle/>
          <a:p>
            <a:pPr marL="0" indent="0">
              <a:buNone/>
            </a:pPr>
            <a:r>
              <a:rPr sz="11000" b="1" i="0">
                <a:solidFill>
                  <a:srgbClr val="1A1A2E"/>
                </a:solidFill>
                <a:latin typeface="Cambria"/>
                <a:ea typeface="Cambria"/>
                <a:cs typeface="Cambria"/>
              </a:rPr>
              <a:t>4</a:t>
            </a:r>
          </a:p>
        </p:txBody>
      </p:sp>
      <p:sp>
        <p:nvSpPr>
          <p:cNvPr id="5" name="TextBox 4"/>
          <p:cNvSpPr txBox="1"/>
          <p:nvPr/>
        </p:nvSpPr>
        <p:spPr>
          <a:xfrm>
            <a:off x="2880360" y="2377440"/>
            <a:ext cx="8595360" cy="1005840"/>
          </a:xfrm>
          <a:prstGeom prst="rect">
            <a:avLst/>
          </a:prstGeom>
          <a:noFill/>
        </p:spPr>
        <p:txBody>
          <a:bodyPr wrap="square" lIns="0" tIns="0" rIns="0" bIns="0" anchor="t">
            <a:spAutoFit/>
          </a:bodyPr>
          <a:lstStyle/>
          <a:p>
            <a:pPr marL="0" indent="0">
              <a:buNone/>
            </a:pPr>
            <a:r>
              <a:rPr sz="4400" b="1" i="0">
                <a:solidFill>
                  <a:srgbClr val="1A1A2E"/>
                </a:solidFill>
                <a:latin typeface="Cambria"/>
                <a:ea typeface="Cambria"/>
                <a:cs typeface="Cambria"/>
              </a:rPr>
              <a:t>Explaining away</a:t>
            </a:r>
          </a:p>
        </p:txBody>
      </p:sp>
      <p:sp>
        <p:nvSpPr>
          <p:cNvPr id="6" name="TextBox 5"/>
          <p:cNvSpPr txBox="1"/>
          <p:nvPr/>
        </p:nvSpPr>
        <p:spPr>
          <a:xfrm>
            <a:off x="2944368" y="3401568"/>
            <a:ext cx="8595360" cy="640080"/>
          </a:xfrm>
          <a:prstGeom prst="rect">
            <a:avLst/>
          </a:prstGeom>
          <a:noFill/>
        </p:spPr>
        <p:txBody>
          <a:bodyPr wrap="square" lIns="0" tIns="0" rIns="0" bIns="0" anchor="t">
            <a:spAutoFit/>
          </a:bodyPr>
          <a:lstStyle/>
          <a:p>
            <a:pPr marL="0" indent="0">
              <a:buNone/>
            </a:pPr>
            <a:r>
              <a:rPr sz="1900" b="0" i="0">
                <a:solidFill>
                  <a:srgbClr val="55555F"/>
                </a:solidFill>
                <a:latin typeface="Calibri"/>
                <a:ea typeface="Calibri"/>
                <a:cs typeface="Calibri"/>
              </a:rPr>
              <a:t>Evidence for one cause of an event lowers the probability of the other cause.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25</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Explaining away</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Two causes and one effect</a:t>
            </a:r>
          </a:p>
        </p:txBody>
      </p:sp>
      <p:pic>
        <p:nvPicPr>
          <p:cNvPr id="6" name="Picture 5" descr="f26_twocauses.png"/>
          <p:cNvPicPr>
            <a:picLocks noChangeAspect="1"/>
          </p:cNvPicPr>
          <p:nvPr/>
        </p:nvPicPr>
        <p:blipFill>
          <a:blip r:embed="rId3"/>
          <a:stretch>
            <a:fillRect/>
          </a:stretch>
        </p:blipFill>
        <p:spPr>
          <a:xfrm>
            <a:off x="642850" y="1280160"/>
            <a:ext cx="10906298" cy="3014749"/>
          </a:xfrm>
          <a:prstGeom prst="rect">
            <a:avLst/>
          </a:prstGeom>
        </p:spPr>
      </p:pic>
      <p:sp>
        <p:nvSpPr>
          <p:cNvPr id="7" name="TextBox 6"/>
          <p:cNvSpPr txBox="1"/>
          <p:nvPr/>
        </p:nvSpPr>
        <p:spPr>
          <a:xfrm>
            <a:off x="640080" y="464515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Your friend says he is psychic and predicts that a coin toss will come up heads, and it does.</a:t>
            </a:r>
          </a:p>
        </p:txBody>
      </p:sp>
      <p:sp>
        <p:nvSpPr>
          <p:cNvPr id="8" name="TextBox 7"/>
          <p:cNvSpPr txBox="1"/>
          <p:nvPr/>
        </p:nvSpPr>
        <p:spPr>
          <a:xfrm>
            <a:off x="640080" y="506577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Either he is psychic or the coin is two-headed, and a two-headed coin is far more common.</a:t>
            </a:r>
          </a:p>
        </p:txBody>
      </p:sp>
      <p:sp>
        <p:nvSpPr>
          <p:cNvPr id="9" name="TextBox 8"/>
          <p:cNvSpPr txBox="1"/>
          <p:nvPr/>
        </p:nvSpPr>
        <p:spPr>
          <a:xfrm>
            <a:off x="640080" y="54864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two causes are independent a priori, and observing the shared effect makes them dependent.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26</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Explaining away</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A second effect explains the first away</a:t>
            </a:r>
          </a:p>
        </p:txBody>
      </p:sp>
      <p:pic>
        <p:nvPicPr>
          <p:cNvPr id="6" name="Picture 5" descr="f27_pencil.png"/>
          <p:cNvPicPr>
            <a:picLocks noChangeAspect="1"/>
          </p:cNvPicPr>
          <p:nvPr/>
        </p:nvPicPr>
        <p:blipFill>
          <a:blip r:embed="rId3"/>
          <a:stretch>
            <a:fillRect/>
          </a:stretch>
        </p:blipFill>
        <p:spPr>
          <a:xfrm>
            <a:off x="642850" y="1280160"/>
            <a:ext cx="10906298" cy="3197629"/>
          </a:xfrm>
          <a:prstGeom prst="rect">
            <a:avLst/>
          </a:prstGeom>
        </p:spPr>
      </p:pic>
      <p:sp>
        <p:nvSpPr>
          <p:cNvPr id="7" name="TextBox 6"/>
          <p:cNvSpPr txBox="1"/>
          <p:nvPr/>
        </p:nvSpPr>
        <p:spPr>
          <a:xfrm>
            <a:off x="640080" y="486460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He is challenged to levitate a pencil, which is easy for a psychic and hard otherwise.</a:t>
            </a:r>
          </a:p>
        </p:txBody>
      </p:sp>
      <p:sp>
        <p:nvSpPr>
          <p:cNvPr id="8" name="TextBox 7"/>
          <p:cNvSpPr txBox="1"/>
          <p:nvPr/>
        </p:nvSpPr>
        <p:spPr>
          <a:xfrm>
            <a:off x="640080" y="526694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If the pencil levitates, the psychic hypothesis becomes probable and takes over the coin result.</a:t>
            </a:r>
          </a:p>
        </p:txBody>
      </p:sp>
      <p:sp>
        <p:nvSpPr>
          <p:cNvPr id="9" name="TextBox 8"/>
          <p:cNvSpPr txBox="1"/>
          <p:nvPr/>
        </p:nvSpPr>
        <p:spPr>
          <a:xfrm>
            <a:off x="640080" y="56692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Explaining away: evidence for one cause of an event lowers the probability of the other cause.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27</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Explaining away</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Burglary, earthquake and where you live</a:t>
            </a:r>
          </a:p>
        </p:txBody>
      </p:sp>
      <p:pic>
        <p:nvPicPr>
          <p:cNvPr id="6" name="Picture 5" descr="f28_burglary.png"/>
          <p:cNvPicPr>
            <a:picLocks noChangeAspect="1"/>
          </p:cNvPicPr>
          <p:nvPr/>
        </p:nvPicPr>
        <p:blipFill>
          <a:blip r:embed="rId3"/>
          <a:stretch>
            <a:fillRect/>
          </a:stretch>
        </p:blipFill>
        <p:spPr>
          <a:xfrm>
            <a:off x="642850" y="1280160"/>
            <a:ext cx="10906298" cy="3291840"/>
          </a:xfrm>
          <a:prstGeom prst="rect">
            <a:avLst/>
          </a:prstGeom>
        </p:spPr>
      </p:pic>
      <p:sp>
        <p:nvSpPr>
          <p:cNvPr id="7" name="TextBox 6"/>
          <p:cNvSpPr txBox="1"/>
          <p:nvPr/>
        </p:nvSpPr>
        <p:spPr>
          <a:xfrm>
            <a:off x="640080" y="486460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An alarm can be set off by a burglary or by an earthquake, and burglaries are much more common.</a:t>
            </a:r>
          </a:p>
        </p:txBody>
      </p:sp>
      <p:sp>
        <p:nvSpPr>
          <p:cNvPr id="8" name="TextBox 7"/>
          <p:cNvSpPr txBox="1"/>
          <p:nvPr/>
        </p:nvSpPr>
        <p:spPr>
          <a:xfrm>
            <a:off x="640080" y="528523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Radio news of an earthquake explains the alarm away, and the location sets how often that happens.</a:t>
            </a:r>
          </a:p>
        </p:txBody>
      </p:sp>
      <p:sp>
        <p:nvSpPr>
          <p:cNvPr id="9" name="TextBox 8"/>
          <p:cNvSpPr txBox="1"/>
          <p:nvPr/>
        </p:nvSpPr>
        <p:spPr>
          <a:xfrm>
            <a:off x="640080" y="5797296"/>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J. Pearl, Probabilistic Reasoning in Intelligent Systems: Networks of Plausible Inference. Morgan Kaufmann, San Mateo, 1988.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28</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Explaining away</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factorisation reduces the numbers to learn</a:t>
            </a:r>
          </a:p>
        </p:txBody>
      </p:sp>
      <p:pic>
        <p:nvPicPr>
          <p:cNvPr id="6" name="Picture 5" descr="f29_factorization.png"/>
          <p:cNvPicPr>
            <a:picLocks noChangeAspect="1"/>
          </p:cNvPicPr>
          <p:nvPr/>
        </p:nvPicPr>
        <p:blipFill>
          <a:blip r:embed="rId3"/>
          <a:stretch>
            <a:fillRect/>
          </a:stretch>
        </p:blipFill>
        <p:spPr>
          <a:xfrm>
            <a:off x="642850" y="1298448"/>
            <a:ext cx="10906298" cy="2926080"/>
          </a:xfrm>
          <a:prstGeom prst="rect">
            <a:avLst/>
          </a:prstGeom>
        </p:spPr>
      </p:pic>
      <p:sp>
        <p:nvSpPr>
          <p:cNvPr id="7" name="Rounded Rectangle 6"/>
          <p:cNvSpPr/>
          <p:nvPr/>
        </p:nvSpPr>
        <p:spPr>
          <a:xfrm>
            <a:off x="640080" y="4389120"/>
            <a:ext cx="10911535" cy="137049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9_fact.png"/>
          <p:cNvPicPr>
            <a:picLocks noChangeAspect="1"/>
          </p:cNvPicPr>
          <p:nvPr/>
        </p:nvPicPr>
        <p:blipFill>
          <a:blip r:embed="rId4"/>
          <a:stretch>
            <a:fillRect/>
          </a:stretch>
        </p:blipFill>
        <p:spPr>
          <a:xfrm>
            <a:off x="2578940" y="4608576"/>
            <a:ext cx="7034119" cy="220594"/>
          </a:xfrm>
          <a:prstGeom prst="rect">
            <a:avLst/>
          </a:prstGeom>
        </p:spPr>
      </p:pic>
      <p:pic>
        <p:nvPicPr>
          <p:cNvPr id="9" name="Picture 8" descr="e29_sum.png"/>
          <p:cNvPicPr>
            <a:picLocks noChangeAspect="1"/>
          </p:cNvPicPr>
          <p:nvPr/>
        </p:nvPicPr>
        <p:blipFill>
          <a:blip r:embed="rId5"/>
          <a:stretch>
            <a:fillRect/>
          </a:stretch>
        </p:blipFill>
        <p:spPr>
          <a:xfrm>
            <a:off x="3781936" y="5030338"/>
            <a:ext cx="4628126" cy="509818"/>
          </a:xfrm>
          <a:prstGeom prst="rect">
            <a:avLst/>
          </a:prstGeom>
        </p:spPr>
      </p:pic>
      <p:sp>
        <p:nvSpPr>
          <p:cNvPr id="10" name="TextBox 9"/>
          <p:cNvSpPr txBox="1"/>
          <p:nvPr/>
        </p:nvSpPr>
        <p:spPr>
          <a:xfrm>
            <a:off x="640080" y="583387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One general table over the four variables would need fifteen numbers instead of eight.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29</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Explaining away</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Explaining away in vision</a:t>
            </a:r>
          </a:p>
        </p:txBody>
      </p:sp>
      <p:pic>
        <p:nvPicPr>
          <p:cNvPr id="6" name="Picture 5" descr="f30_vision_ea.png"/>
          <p:cNvPicPr>
            <a:picLocks noChangeAspect="1"/>
          </p:cNvPicPr>
          <p:nvPr/>
        </p:nvPicPr>
        <p:blipFill>
          <a:blip r:embed="rId2"/>
          <a:stretch>
            <a:fillRect/>
          </a:stretch>
        </p:blipFill>
        <p:spPr>
          <a:xfrm>
            <a:off x="642850" y="1207008"/>
            <a:ext cx="10906298" cy="3308465"/>
          </a:xfrm>
          <a:prstGeom prst="rect">
            <a:avLst/>
          </a:prstGeom>
        </p:spPr>
      </p:pic>
      <p:sp>
        <p:nvSpPr>
          <p:cNvPr id="7" name="TextBox 6"/>
          <p:cNvSpPr txBox="1"/>
          <p:nvPr/>
        </p:nvSpPr>
        <p:spPr>
          <a:xfrm>
            <a:off x="640080" y="468172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With part of the T missing, observers see two separate strokes.</a:t>
            </a:r>
          </a:p>
        </p:txBody>
      </p:sp>
      <p:sp>
        <p:nvSpPr>
          <p:cNvPr id="8" name="TextBox 7"/>
          <p:cNvSpPr txBox="1"/>
          <p:nvPr/>
        </p:nvSpPr>
        <p:spPr>
          <a:xfrm>
            <a:off x="640080" y="508406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 grey smudge over the gap explains why part of the T is hidden, and the T is seen.</a:t>
            </a:r>
          </a:p>
        </p:txBody>
      </p:sp>
      <p:sp>
        <p:nvSpPr>
          <p:cNvPr id="9" name="TextBox 8"/>
          <p:cNvSpPr txBox="1"/>
          <p:nvPr/>
        </p:nvSpPr>
        <p:spPr>
          <a:xfrm>
            <a:off x="640080" y="54864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Kanizsa triangle works the same way: the triangle explains the gaps in the three discs.</a:t>
            </a:r>
          </a:p>
        </p:txBody>
      </p:sp>
      <p:sp>
        <p:nvSpPr>
          <p:cNvPr id="10" name="TextBox 9"/>
          <p:cNvSpPr txBox="1"/>
          <p:nvPr/>
        </p:nvSpPr>
        <p:spPr>
          <a:xfrm>
            <a:off x="640080" y="5907024"/>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G. Kanizsa, “Subjective contours,” Scientific American, 234(4):48–52, 1976.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30</a:t>
            </a:r>
          </a:p>
        </p:txBody>
      </p:sp>
      <p:sp>
        <p:nvSpPr>
          <p:cNvPr id="4" name="TextBox 3"/>
          <p:cNvSpPr txBox="1"/>
          <p:nvPr/>
        </p:nvSpPr>
        <p:spPr>
          <a:xfrm>
            <a:off x="640080" y="1874519"/>
            <a:ext cx="2286000" cy="2011680"/>
          </a:xfrm>
          <a:prstGeom prst="rect">
            <a:avLst/>
          </a:prstGeom>
          <a:noFill/>
        </p:spPr>
        <p:txBody>
          <a:bodyPr wrap="square" lIns="0" tIns="0" rIns="0" bIns="0" anchor="t">
            <a:spAutoFit/>
          </a:bodyPr>
          <a:lstStyle/>
          <a:p>
            <a:pPr marL="0" indent="0">
              <a:buNone/>
            </a:pPr>
            <a:r>
              <a:rPr sz="11000" b="1" i="0">
                <a:solidFill>
                  <a:srgbClr val="1A1A2E"/>
                </a:solidFill>
                <a:latin typeface="Cambria"/>
                <a:ea typeface="Cambria"/>
                <a:cs typeface="Cambria"/>
              </a:rPr>
              <a:t>5</a:t>
            </a:r>
          </a:p>
        </p:txBody>
      </p:sp>
      <p:sp>
        <p:nvSpPr>
          <p:cNvPr id="5" name="TextBox 4"/>
          <p:cNvSpPr txBox="1"/>
          <p:nvPr/>
        </p:nvSpPr>
        <p:spPr>
          <a:xfrm>
            <a:off x="2880360" y="2377440"/>
            <a:ext cx="8595360" cy="1005840"/>
          </a:xfrm>
          <a:prstGeom prst="rect">
            <a:avLst/>
          </a:prstGeom>
          <a:noFill/>
        </p:spPr>
        <p:txBody>
          <a:bodyPr wrap="square" lIns="0" tIns="0" rIns="0" bIns="0" anchor="t">
            <a:spAutoFit/>
          </a:bodyPr>
          <a:lstStyle/>
          <a:p>
            <a:pPr marL="0" indent="0">
              <a:buNone/>
            </a:pPr>
            <a:r>
              <a:rPr sz="4400" b="1" i="0">
                <a:solidFill>
                  <a:srgbClr val="1A1A2E"/>
                </a:solidFill>
                <a:latin typeface="Cambria"/>
                <a:ea typeface="Cambria"/>
                <a:cs typeface="Cambria"/>
              </a:rPr>
              <a:t>Model selection</a:t>
            </a:r>
          </a:p>
        </p:txBody>
      </p:sp>
      <p:sp>
        <p:nvSpPr>
          <p:cNvPr id="6" name="TextBox 5"/>
          <p:cNvSpPr txBox="1"/>
          <p:nvPr/>
        </p:nvSpPr>
        <p:spPr>
          <a:xfrm>
            <a:off x="2944368" y="3401568"/>
            <a:ext cx="8595360" cy="640080"/>
          </a:xfrm>
          <a:prstGeom prst="rect">
            <a:avLst/>
          </a:prstGeom>
          <a:noFill/>
        </p:spPr>
        <p:txBody>
          <a:bodyPr wrap="square" lIns="0" tIns="0" rIns="0" bIns="0" anchor="t">
            <a:spAutoFit/>
          </a:bodyPr>
          <a:lstStyle/>
          <a:p>
            <a:pPr marL="0" indent="0">
              <a:buNone/>
            </a:pPr>
            <a:r>
              <a:rPr sz="1900" b="0" i="0">
                <a:solidFill>
                  <a:srgbClr val="55555F"/>
                </a:solidFill>
                <a:latin typeface="Calibri"/>
                <a:ea typeface="Calibri"/>
                <a:cs typeface="Calibri"/>
              </a:rPr>
              <a:t>Decide which model generated the image, then estimate with that model.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31</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Competing explanations of one image</a:t>
            </a:r>
          </a:p>
        </p:txBody>
      </p:sp>
      <p:pic>
        <p:nvPicPr>
          <p:cNvPr id="6" name="Picture 5" descr="o38_competing.png"/>
          <p:cNvPicPr>
            <a:picLocks noChangeAspect="1"/>
          </p:cNvPicPr>
          <p:nvPr/>
        </p:nvPicPr>
        <p:blipFill>
          <a:blip r:embed="rId2"/>
          <a:stretch>
            <a:fillRect/>
          </a:stretch>
        </p:blipFill>
        <p:spPr>
          <a:xfrm>
            <a:off x="2072639" y="1261872"/>
            <a:ext cx="8046720" cy="3433572"/>
          </a:xfrm>
          <a:prstGeom prst="rect">
            <a:avLst/>
          </a:prstGeom>
        </p:spPr>
      </p:pic>
      <p:sp>
        <p:nvSpPr>
          <p:cNvPr id="7" name="TextBox 6"/>
          <p:cNvSpPr txBox="1"/>
          <p:nvPr/>
        </p:nvSpPr>
        <p:spPr>
          <a:xfrm>
            <a:off x="640080" y="482803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 Lambertian sphere is viewed binocularly, and the highlight is placed at three different depths.</a:t>
            </a:r>
          </a:p>
        </p:txBody>
      </p:sp>
      <p:sp>
        <p:nvSpPr>
          <p:cNvPr id="8" name="TextBox 7"/>
          <p:cNvSpPr txBox="1"/>
          <p:nvPr/>
        </p:nvSpPr>
        <p:spPr>
          <a:xfrm>
            <a:off x="640080" y="524865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Small changes switch the percept between models, as they do for two rotating transparent planes.</a:t>
            </a:r>
          </a:p>
        </p:txBody>
      </p:sp>
      <p:sp>
        <p:nvSpPr>
          <p:cNvPr id="9" name="TextBox 8"/>
          <p:cNvSpPr txBox="1"/>
          <p:nvPr/>
        </p:nvSpPr>
        <p:spPr>
          <a:xfrm>
            <a:off x="640080" y="5687568"/>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A. Blake and H. Bülthoff, “Does the brain know the physics of specular reflection?” Nature, 343:165–168, 1990.   ·   D. Kersten, H. H. Bülthoff, B. L. Schwartz and K. J. Kurtz, “Interaction between transparency and structure from motion,” Neural Computation, 4(4):573–589, 1992.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32</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Model selection and explaining away</a:t>
            </a:r>
          </a:p>
        </p:txBody>
      </p:sp>
      <p:pic>
        <p:nvPicPr>
          <p:cNvPr id="6" name="Picture 5" descr="f34_modelsel_ea.png"/>
          <p:cNvPicPr>
            <a:picLocks noChangeAspect="1"/>
          </p:cNvPicPr>
          <p:nvPr/>
        </p:nvPicPr>
        <p:blipFill>
          <a:blip r:embed="rId2"/>
          <a:stretch>
            <a:fillRect/>
          </a:stretch>
        </p:blipFill>
        <p:spPr>
          <a:xfrm>
            <a:off x="642850" y="1207008"/>
            <a:ext cx="10906298" cy="3607723"/>
          </a:xfrm>
          <a:prstGeom prst="rect">
            <a:avLst/>
          </a:prstGeom>
        </p:spPr>
      </p:pic>
      <p:sp>
        <p:nvSpPr>
          <p:cNvPr id="7" name="TextBox 6"/>
          <p:cNvSpPr txBox="1"/>
          <p:nvPr/>
        </p:nvSpPr>
        <p:spPr>
          <a:xfrm>
            <a:off x="640080" y="499262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occluded T has two models: two strokes plus a blob, or a whole T hidden behind the blob.</a:t>
            </a:r>
          </a:p>
        </p:txBody>
      </p:sp>
      <p:sp>
        <p:nvSpPr>
          <p:cNvPr id="8" name="TextBox 7"/>
          <p:cNvSpPr txBox="1"/>
          <p:nvPr/>
        </p:nvSpPr>
        <p:spPr>
          <a:xfrm>
            <a:off x="640080" y="539496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first needs the blob to land exactly in the gap, which would be an accident of viewpoint.</a:t>
            </a:r>
          </a:p>
        </p:txBody>
      </p:sp>
      <p:sp>
        <p:nvSpPr>
          <p:cNvPr id="9" name="TextBox 8"/>
          <p:cNvSpPr txBox="1"/>
          <p:nvPr/>
        </p:nvSpPr>
        <p:spPr>
          <a:xfrm>
            <a:off x="640080" y="579729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Kanizsa triangle follows the same argument.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33</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flying carpet revisited</a:t>
            </a:r>
          </a:p>
        </p:txBody>
      </p:sp>
      <p:pic>
        <p:nvPicPr>
          <p:cNvPr id="6" name="Picture 5" descr="f35_carpet2.png"/>
          <p:cNvPicPr>
            <a:picLocks noChangeAspect="1"/>
          </p:cNvPicPr>
          <p:nvPr/>
        </p:nvPicPr>
        <p:blipFill>
          <a:blip r:embed="rId2"/>
          <a:stretch>
            <a:fillRect/>
          </a:stretch>
        </p:blipFill>
        <p:spPr>
          <a:xfrm>
            <a:off x="642850" y="1207008"/>
            <a:ext cx="10906298" cy="3341716"/>
          </a:xfrm>
          <a:prstGeom prst="rect">
            <a:avLst/>
          </a:prstGeom>
        </p:spPr>
      </p:pic>
      <p:sp>
        <p:nvSpPr>
          <p:cNvPr id="7" name="TextBox 6"/>
          <p:cNvSpPr txBox="1"/>
          <p:nvPr/>
        </p:nvSpPr>
        <p:spPr>
          <a:xfrm>
            <a:off x="640080" y="470001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percept needs the ground plane, the segmentation of the woman and towel, and the shadow.</a:t>
            </a:r>
          </a:p>
        </p:txBody>
      </p:sp>
      <p:sp>
        <p:nvSpPr>
          <p:cNvPr id="8" name="TextBox 7"/>
          <p:cNvSpPr txBox="1"/>
          <p:nvPr/>
        </p:nvSpPr>
        <p:spPr>
          <a:xfrm>
            <a:off x="640080" y="510235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generic viewpoint assumption says a shadow of that shape there would be an accident.</a:t>
            </a:r>
          </a:p>
        </p:txBody>
      </p:sp>
      <p:sp>
        <p:nvSpPr>
          <p:cNvPr id="9" name="TextBox 8"/>
          <p:cNvSpPr txBox="1"/>
          <p:nvPr/>
        </p:nvSpPr>
        <p:spPr>
          <a:xfrm>
            <a:off x="640080" y="550468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object that cast it lies outside the image, so the shadow is attached to the towel.</a:t>
            </a:r>
          </a:p>
        </p:txBody>
      </p:sp>
      <p:sp>
        <p:nvSpPr>
          <p:cNvPr id="10" name="TextBox 9"/>
          <p:cNvSpPr txBox="1"/>
          <p:nvPr/>
        </p:nvSpPr>
        <p:spPr>
          <a:xfrm>
            <a:off x="640080" y="5925312"/>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W. T. Freeman, “The generic viewpoint assumption in a framework for visual perception,” Nature, 368:542–545, 1994.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34</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Each cue is valid only in part of the image</a:t>
            </a:r>
          </a:p>
        </p:txBody>
      </p:sp>
      <p:pic>
        <p:nvPicPr>
          <p:cNvPr id="6" name="Picture 5" descr="o35_cuevalid.png"/>
          <p:cNvPicPr>
            <a:picLocks noChangeAspect="1"/>
          </p:cNvPicPr>
          <p:nvPr/>
        </p:nvPicPr>
        <p:blipFill>
          <a:blip r:embed="rId2"/>
          <a:stretch>
            <a:fillRect/>
          </a:stretch>
        </p:blipFill>
        <p:spPr>
          <a:xfrm>
            <a:off x="1706879" y="1325880"/>
            <a:ext cx="8778240" cy="2720340"/>
          </a:xfrm>
          <a:prstGeom prst="rect">
            <a:avLst/>
          </a:prstGeom>
        </p:spPr>
      </p:pic>
      <p:sp>
        <p:nvSpPr>
          <p:cNvPr id="7" name="TextBox 6"/>
          <p:cNvSpPr txBox="1"/>
          <p:nvPr/>
        </p:nvSpPr>
        <p:spPr>
          <a:xfrm>
            <a:off x="640080" y="431596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Shape from shading works in (a), where one source lights a smooth convex surface.</a:t>
            </a:r>
          </a:p>
        </p:txBody>
      </p:sp>
      <p:sp>
        <p:nvSpPr>
          <p:cNvPr id="8" name="TextBox 7"/>
          <p:cNvSpPr txBox="1"/>
          <p:nvPr/>
        </p:nvSpPr>
        <p:spPr>
          <a:xfrm>
            <a:off x="640080" y="4754879"/>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It fails in (b), where the two surfaces reflect light onto each other.</a:t>
            </a:r>
          </a:p>
        </p:txBody>
      </p:sp>
      <p:sp>
        <p:nvSpPr>
          <p:cNvPr id="9" name="TextBox 8"/>
          <p:cNvSpPr txBox="1"/>
          <p:nvPr/>
        </p:nvSpPr>
        <p:spPr>
          <a:xfrm>
            <a:off x="640080" y="519379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Shape from texture works for the regular texture in (c) and fails for the irregular one in (d).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35</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ventriloquism effect - audio and vision</a:t>
            </a:r>
          </a:p>
        </p:txBody>
      </p:sp>
      <p:pic>
        <p:nvPicPr>
          <p:cNvPr id="6" name="Picture 5" descr="f36_ventriloquism.png"/>
          <p:cNvPicPr>
            <a:picLocks noChangeAspect="1"/>
          </p:cNvPicPr>
          <p:nvPr/>
        </p:nvPicPr>
        <p:blipFill>
          <a:blip r:embed="rId2"/>
          <a:stretch>
            <a:fillRect/>
          </a:stretch>
        </p:blipFill>
        <p:spPr>
          <a:xfrm>
            <a:off x="975879" y="1298448"/>
            <a:ext cx="10240240" cy="3013363"/>
          </a:xfrm>
          <a:prstGeom prst="rect">
            <a:avLst/>
          </a:prstGeom>
        </p:spPr>
      </p:pic>
      <p:sp>
        <p:nvSpPr>
          <p:cNvPr id="7" name="TextBox 6"/>
          <p:cNvSpPr txBox="1"/>
          <p:nvPr/>
        </p:nvSpPr>
        <p:spPr>
          <a:xfrm>
            <a:off x="640080" y="455371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Sight and sound sometimes have one cause, such as a barking dog, and sometimes two.</a:t>
            </a:r>
          </a:p>
        </p:txBody>
      </p:sp>
      <p:sp>
        <p:nvSpPr>
          <p:cNvPr id="8" name="TextBox 7"/>
          <p:cNvSpPr txBox="1"/>
          <p:nvPr/>
        </p:nvSpPr>
        <p:spPr>
          <a:xfrm>
            <a:off x="640080" y="499262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 ventriloquist makes the audience treat two causes as one.</a:t>
            </a:r>
          </a:p>
        </p:txBody>
      </p:sp>
      <p:sp>
        <p:nvSpPr>
          <p:cNvPr id="9" name="TextBox 8"/>
          <p:cNvSpPr txBox="1"/>
          <p:nvPr/>
        </p:nvSpPr>
        <p:spPr>
          <a:xfrm>
            <a:off x="640080" y="543153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voice is then heard at the puppet, because vision is the more precise cue for position.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36</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A meta-variable for the number of causes</a:t>
            </a:r>
          </a:p>
        </p:txBody>
      </p:sp>
      <p:pic>
        <p:nvPicPr>
          <p:cNvPr id="6" name="Picture 5" descr="h37_causalmodel.png"/>
          <p:cNvPicPr>
            <a:picLocks noChangeAspect="1"/>
          </p:cNvPicPr>
          <p:nvPr/>
        </p:nvPicPr>
        <p:blipFill>
          <a:blip r:embed="rId3"/>
          <a:stretch>
            <a:fillRect/>
          </a:stretch>
        </p:blipFill>
        <p:spPr>
          <a:xfrm>
            <a:off x="642850" y="1225296"/>
            <a:ext cx="10906298" cy="2693323"/>
          </a:xfrm>
          <a:prstGeom prst="rect">
            <a:avLst/>
          </a:prstGeom>
        </p:spPr>
      </p:pic>
      <p:sp>
        <p:nvSpPr>
          <p:cNvPr id="7" name="Rounded Rectangle 6"/>
          <p:cNvSpPr/>
          <p:nvPr/>
        </p:nvSpPr>
        <p:spPr>
          <a:xfrm>
            <a:off x="640080" y="4059936"/>
            <a:ext cx="10911535" cy="165926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7_m1.png"/>
          <p:cNvPicPr>
            <a:picLocks noChangeAspect="1"/>
          </p:cNvPicPr>
          <p:nvPr/>
        </p:nvPicPr>
        <p:blipFill>
          <a:blip r:embed="rId4"/>
          <a:stretch>
            <a:fillRect/>
          </a:stretch>
        </p:blipFill>
        <p:spPr>
          <a:xfrm>
            <a:off x="3366612" y="4279392"/>
            <a:ext cx="5458774" cy="508306"/>
          </a:xfrm>
          <a:prstGeom prst="rect">
            <a:avLst/>
          </a:prstGeom>
        </p:spPr>
      </p:pic>
      <p:pic>
        <p:nvPicPr>
          <p:cNvPr id="9" name="Picture 8" descr="e37_m2.png"/>
          <p:cNvPicPr>
            <a:picLocks noChangeAspect="1"/>
          </p:cNvPicPr>
          <p:nvPr/>
        </p:nvPicPr>
        <p:blipFill>
          <a:blip r:embed="rId5"/>
          <a:stretch>
            <a:fillRect/>
          </a:stretch>
        </p:blipFill>
        <p:spPr>
          <a:xfrm>
            <a:off x="2436548" y="4988866"/>
            <a:ext cx="7318902" cy="510879"/>
          </a:xfrm>
          <a:prstGeom prst="rect">
            <a:avLst/>
          </a:prstGeom>
        </p:spPr>
      </p:pic>
      <p:sp>
        <p:nvSpPr>
          <p:cNvPr id="10" name="TextBox 9"/>
          <p:cNvSpPr txBox="1"/>
          <p:nvPr/>
        </p:nvSpPr>
        <p:spPr>
          <a:xfrm>
            <a:off x="640080" y="5870448"/>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K. P. Körding, U. Beierholm, W. J. Ma, S. Quartz, J. B. Tenenbaum and L. Shams, “Causal inference in multisensory perception,” PLoS ONE, 2(9):e943, 2007.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37</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Nearby cues are judged to have one cause</a:t>
            </a:r>
          </a:p>
        </p:txBody>
      </p:sp>
      <p:pic>
        <p:nvPicPr>
          <p:cNvPr id="6" name="Picture 5" descr="o48_results.png"/>
          <p:cNvPicPr>
            <a:picLocks noChangeAspect="1"/>
          </p:cNvPicPr>
          <p:nvPr/>
        </p:nvPicPr>
        <p:blipFill>
          <a:blip r:embed="rId2"/>
          <a:stretch>
            <a:fillRect/>
          </a:stretch>
        </p:blipFill>
        <p:spPr>
          <a:xfrm>
            <a:off x="2072639" y="1325880"/>
            <a:ext cx="8046720" cy="2555748"/>
          </a:xfrm>
          <a:prstGeom prst="rect">
            <a:avLst/>
          </a:prstGeom>
        </p:spPr>
      </p:pic>
      <p:sp>
        <p:nvSpPr>
          <p:cNvPr id="7" name="TextBox 6"/>
          <p:cNvSpPr txBox="1"/>
          <p:nvPr/>
        </p:nvSpPr>
        <p:spPr>
          <a:xfrm>
            <a:off x="640080" y="41148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Subjects report one cause most often when the two stimuli are close together.</a:t>
            </a:r>
          </a:p>
        </p:txBody>
      </p:sp>
      <p:sp>
        <p:nvSpPr>
          <p:cNvPr id="8" name="TextBox 7"/>
          <p:cNvSpPr txBox="1"/>
          <p:nvPr/>
        </p:nvSpPr>
        <p:spPr>
          <a:xfrm>
            <a:off x="640080" y="451713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On trials judged to have one cause, vision captures the heard position almost completely.</a:t>
            </a:r>
          </a:p>
        </p:txBody>
      </p:sp>
      <p:sp>
        <p:nvSpPr>
          <p:cNvPr id="9" name="TextBox 8"/>
          <p:cNvSpPr txBox="1"/>
          <p:nvPr/>
        </p:nvSpPr>
        <p:spPr>
          <a:xfrm>
            <a:off x="640080" y="4919472"/>
            <a:ext cx="10911535" cy="296876"/>
          </a:xfrm>
          <a:prstGeom prst="rect">
            <a:avLst/>
          </a:prstGeom>
          <a:noFill/>
        </p:spPr>
        <p:txBody>
          <a:bodyPr wrap="square" lIns="0" tIns="0" rIns="0" bIns="0" anchor="t">
            <a:spAutoFit/>
          </a:bodyPr>
          <a:lstStyle/>
          <a:p>
            <a:pPr marL="254203" indent="-254203">
              <a:lnSpc>
                <a:spcPct val="106000"/>
              </a:lnSpc>
              <a:buSzPct val="100000"/>
              <a:buChar char="•"/>
            </a:pPr>
            <a:r>
              <a:rPr sz="1900" b="0" i="0" dirty="0">
                <a:solidFill>
                  <a:srgbClr val="1A1A2E"/>
                </a:solidFill>
                <a:latin typeface="Calibri"/>
                <a:ea typeface="Calibri"/>
                <a:cs typeface="Calibri"/>
              </a:rPr>
              <a:t>On trials judged to have two causes the </a:t>
            </a:r>
            <a:r>
              <a:rPr sz="1900" b="1" i="0" dirty="0">
                <a:solidFill>
                  <a:srgbClr val="1A1A2E"/>
                </a:solidFill>
                <a:latin typeface="Calibri"/>
                <a:ea typeface="Calibri"/>
                <a:cs typeface="Calibri"/>
              </a:rPr>
              <a:t>bias turns negative</a:t>
            </a:r>
            <a:r>
              <a:rPr sz="1900" b="0" i="0" dirty="0">
                <a:solidFill>
                  <a:srgbClr val="1A1A2E"/>
                </a:solidFill>
                <a:latin typeface="Calibri"/>
                <a:ea typeface="Calibri"/>
                <a:cs typeface="Calibri"/>
              </a:rPr>
              <a:t>, and the sound is heard pushed away.</a:t>
            </a:r>
          </a:p>
        </p:txBody>
      </p:sp>
      <p:sp>
        <p:nvSpPr>
          <p:cNvPr id="10" name="TextBox 9"/>
          <p:cNvSpPr txBox="1"/>
          <p:nvPr/>
        </p:nvSpPr>
        <p:spPr>
          <a:xfrm>
            <a:off x="640080" y="532180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causal inference model, in red, follows both curves, and the maths is in the handout.</a:t>
            </a:r>
          </a:p>
        </p:txBody>
      </p:sp>
      <p:sp>
        <p:nvSpPr>
          <p:cNvPr id="11" name="TextBox 10"/>
          <p:cNvSpPr txBox="1"/>
          <p:nvPr/>
        </p:nvSpPr>
        <p:spPr>
          <a:xfrm>
            <a:off x="640080" y="5797296"/>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M. T. Wallace, G. E. Roberson, W. D. Hairston, B. E. Stein, J. W. Vaughan and J. A. Schirillo, “Unifying multisensory signals across time and space,” Experimental Brain Research, 158, 2004.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38</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Model selection</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Model selection versus model averaging</a:t>
            </a:r>
          </a:p>
        </p:txBody>
      </p:sp>
      <p:pic>
        <p:nvPicPr>
          <p:cNvPr id="6" name="Picture 5" descr="f39_selection_averaging.png"/>
          <p:cNvPicPr>
            <a:picLocks noChangeAspect="1"/>
          </p:cNvPicPr>
          <p:nvPr/>
        </p:nvPicPr>
        <p:blipFill>
          <a:blip r:embed="rId3"/>
          <a:stretch>
            <a:fillRect/>
          </a:stretch>
        </p:blipFill>
        <p:spPr>
          <a:xfrm>
            <a:off x="642850" y="1261872"/>
            <a:ext cx="10906298" cy="2693323"/>
          </a:xfrm>
          <a:prstGeom prst="rect">
            <a:avLst/>
          </a:prstGeom>
        </p:spPr>
      </p:pic>
      <p:sp>
        <p:nvSpPr>
          <p:cNvPr id="7" name="Rounded Rectangle 6"/>
          <p:cNvSpPr/>
          <p:nvPr/>
        </p:nvSpPr>
        <p:spPr>
          <a:xfrm>
            <a:off x="640080" y="4078224"/>
            <a:ext cx="10911535" cy="92808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9_avg.png"/>
          <p:cNvPicPr>
            <a:picLocks noChangeAspect="1"/>
          </p:cNvPicPr>
          <p:nvPr/>
        </p:nvPicPr>
        <p:blipFill>
          <a:blip r:embed="rId4"/>
          <a:stretch>
            <a:fillRect/>
          </a:stretch>
        </p:blipFill>
        <p:spPr>
          <a:xfrm>
            <a:off x="2938762" y="4297680"/>
            <a:ext cx="6314475" cy="489172"/>
          </a:xfrm>
          <a:prstGeom prst="rect">
            <a:avLst/>
          </a:prstGeom>
        </p:spPr>
      </p:pic>
      <p:sp>
        <p:nvSpPr>
          <p:cNvPr id="9" name="TextBox 8"/>
          <p:cNvSpPr txBox="1"/>
          <p:nvPr/>
        </p:nvSpPr>
        <p:spPr>
          <a:xfrm>
            <a:off x="640080" y="513892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Model selection commits to the most probable model and estimates with that one.</a:t>
            </a:r>
          </a:p>
        </p:txBody>
      </p:sp>
      <p:sp>
        <p:nvSpPr>
          <p:cNvPr id="10" name="TextBox 9"/>
          <p:cNvSpPr txBox="1"/>
          <p:nvPr/>
        </p:nvSpPr>
        <p:spPr>
          <a:xfrm>
            <a:off x="640080" y="555955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Averaging keeps both models alive and weights them by their posterior probabilities.</a:t>
            </a:r>
          </a:p>
        </p:txBody>
      </p:sp>
      <p:sp>
        <p:nvSpPr>
          <p:cNvPr id="11" name="TextBox 10"/>
          <p:cNvSpPr txBox="1"/>
          <p:nvPr/>
        </p:nvSpPr>
        <p:spPr>
          <a:xfrm>
            <a:off x="640080" y="5980176"/>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maths for both is in the handout.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39</a:t>
            </a:r>
          </a:p>
        </p:txBody>
      </p:sp>
      <p:sp>
        <p:nvSpPr>
          <p:cNvPr id="4" name="TextBox 3"/>
          <p:cNvSpPr txBox="1"/>
          <p:nvPr/>
        </p:nvSpPr>
        <p:spPr>
          <a:xfrm>
            <a:off x="640080" y="1874519"/>
            <a:ext cx="2286000" cy="2011680"/>
          </a:xfrm>
          <a:prstGeom prst="rect">
            <a:avLst/>
          </a:prstGeom>
          <a:noFill/>
        </p:spPr>
        <p:txBody>
          <a:bodyPr wrap="square" lIns="0" tIns="0" rIns="0" bIns="0" anchor="t">
            <a:spAutoFit/>
          </a:bodyPr>
          <a:lstStyle/>
          <a:p>
            <a:pPr marL="0" indent="0">
              <a:buNone/>
            </a:pPr>
            <a:r>
              <a:rPr sz="11000" b="1" i="0">
                <a:solidFill>
                  <a:srgbClr val="1A1A2E"/>
                </a:solidFill>
                <a:latin typeface="Cambria"/>
                <a:ea typeface="Cambria"/>
                <a:cs typeface="Cambria"/>
              </a:rPr>
              <a:t>6</a:t>
            </a:r>
          </a:p>
        </p:txBody>
      </p:sp>
      <p:sp>
        <p:nvSpPr>
          <p:cNvPr id="5" name="TextBox 4"/>
          <p:cNvSpPr txBox="1"/>
          <p:nvPr/>
        </p:nvSpPr>
        <p:spPr>
          <a:xfrm>
            <a:off x="2880360" y="2377440"/>
            <a:ext cx="8595360" cy="1005840"/>
          </a:xfrm>
          <a:prstGeom prst="rect">
            <a:avLst/>
          </a:prstGeom>
          <a:noFill/>
        </p:spPr>
        <p:txBody>
          <a:bodyPr wrap="square" lIns="0" tIns="0" rIns="0" bIns="0" anchor="t">
            <a:spAutoFit/>
          </a:bodyPr>
          <a:lstStyle/>
          <a:p>
            <a:pPr marL="0" indent="0">
              <a:buNone/>
            </a:pPr>
            <a:r>
              <a:rPr sz="4400" b="1" i="0">
                <a:solidFill>
                  <a:srgbClr val="1A1A2E"/>
                </a:solidFill>
                <a:latin typeface="Cambria"/>
                <a:ea typeface="Cambria"/>
                <a:cs typeface="Cambria"/>
              </a:rPr>
              <a:t>A network for diagnosis</a:t>
            </a:r>
          </a:p>
        </p:txBody>
      </p:sp>
      <p:sp>
        <p:nvSpPr>
          <p:cNvPr id="6" name="TextBox 5"/>
          <p:cNvSpPr txBox="1"/>
          <p:nvPr/>
        </p:nvSpPr>
        <p:spPr>
          <a:xfrm>
            <a:off x="2944368" y="3401568"/>
            <a:ext cx="8595360" cy="640080"/>
          </a:xfrm>
          <a:prstGeom prst="rect">
            <a:avLst/>
          </a:prstGeom>
          <a:noFill/>
        </p:spPr>
        <p:txBody>
          <a:bodyPr wrap="square" lIns="0" tIns="0" rIns="0" bIns="0" anchor="t">
            <a:spAutoFit/>
          </a:bodyPr>
          <a:lstStyle/>
          <a:p>
            <a:pPr marL="0" indent="0">
              <a:buNone/>
            </a:pPr>
            <a:r>
              <a:rPr sz="1900" b="0" i="0">
                <a:solidFill>
                  <a:srgbClr val="55555F"/>
                </a:solidFill>
                <a:latin typeface="Calibri"/>
                <a:ea typeface="Calibri"/>
                <a:cs typeface="Calibri"/>
              </a:rPr>
              <a:t>Eight binary variables, eight small tables, one joint distribution.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40</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A network for diagnosis</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chest clinic network</a:t>
            </a:r>
          </a:p>
        </p:txBody>
      </p:sp>
      <p:pic>
        <p:nvPicPr>
          <p:cNvPr id="6" name="Picture 5" descr="f41_asia.png"/>
          <p:cNvPicPr>
            <a:picLocks noChangeAspect="1"/>
          </p:cNvPicPr>
          <p:nvPr/>
        </p:nvPicPr>
        <p:blipFill>
          <a:blip r:embed="rId2"/>
          <a:stretch>
            <a:fillRect/>
          </a:stretch>
        </p:blipFill>
        <p:spPr>
          <a:xfrm>
            <a:off x="642850" y="1188720"/>
            <a:ext cx="10906298" cy="3519054"/>
          </a:xfrm>
          <a:prstGeom prst="rect">
            <a:avLst/>
          </a:prstGeom>
        </p:spPr>
      </p:pic>
      <p:sp>
        <p:nvSpPr>
          <p:cNvPr id="7" name="TextBox 6"/>
          <p:cNvSpPr txBox="1"/>
          <p:nvPr/>
        </p:nvSpPr>
        <p:spPr>
          <a:xfrm>
            <a:off x="640080" y="502920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Eight binary variables: two risk factors, three diseases, one combined node and two findings.</a:t>
            </a:r>
          </a:p>
        </p:txBody>
      </p:sp>
      <p:sp>
        <p:nvSpPr>
          <p:cNvPr id="8" name="TextBox 7"/>
          <p:cNvSpPr txBox="1"/>
          <p:nvPr/>
        </p:nvSpPr>
        <p:spPr>
          <a:xfrm>
            <a:off x="640080" y="544982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Every edge is a direct dependency, and the missing edges are the content of the model.</a:t>
            </a:r>
          </a:p>
        </p:txBody>
      </p:sp>
      <p:sp>
        <p:nvSpPr>
          <p:cNvPr id="9" name="TextBox 8"/>
          <p:cNvSpPr txBox="1"/>
          <p:nvPr/>
        </p:nvSpPr>
        <p:spPr>
          <a:xfrm>
            <a:off x="640080" y="5925312"/>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S. L. Lauritzen and D. J. Spiegelhalter, “Local computations with probabilities on graphical structures and their application to expert systems,” Journal of the Royal Statistical Society B, 50(2):157–224, 1988.</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41</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A network for diagnosis</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One small table for each node</a:t>
            </a:r>
          </a:p>
        </p:txBody>
      </p:sp>
      <p:pic>
        <p:nvPicPr>
          <p:cNvPr id="6" name="Picture 5" descr="f42_asia_params.png"/>
          <p:cNvPicPr>
            <a:picLocks noChangeAspect="1"/>
          </p:cNvPicPr>
          <p:nvPr/>
        </p:nvPicPr>
        <p:blipFill>
          <a:blip r:embed="rId3"/>
          <a:stretch>
            <a:fillRect/>
          </a:stretch>
        </p:blipFill>
        <p:spPr>
          <a:xfrm>
            <a:off x="642850" y="1243584"/>
            <a:ext cx="10906298" cy="3380509"/>
          </a:xfrm>
          <a:prstGeom prst="rect">
            <a:avLst/>
          </a:prstGeom>
        </p:spPr>
      </p:pic>
      <p:sp>
        <p:nvSpPr>
          <p:cNvPr id="7" name="Rounded Rectangle 6"/>
          <p:cNvSpPr/>
          <p:nvPr/>
        </p:nvSpPr>
        <p:spPr>
          <a:xfrm>
            <a:off x="640080" y="4736592"/>
            <a:ext cx="10911535" cy="96378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42_asia.png"/>
          <p:cNvPicPr>
            <a:picLocks noChangeAspect="1"/>
          </p:cNvPicPr>
          <p:nvPr/>
        </p:nvPicPr>
        <p:blipFill>
          <a:blip r:embed="rId4"/>
          <a:stretch>
            <a:fillRect/>
          </a:stretch>
        </p:blipFill>
        <p:spPr>
          <a:xfrm>
            <a:off x="2832879" y="4956048"/>
            <a:ext cx="6526241" cy="524872"/>
          </a:xfrm>
          <a:prstGeom prst="rect">
            <a:avLst/>
          </a:prstGeom>
        </p:spPr>
      </p:pic>
      <p:sp>
        <p:nvSpPr>
          <p:cNvPr id="9" name="TextBox 8"/>
          <p:cNvSpPr txBox="1"/>
          <p:nvPr/>
        </p:nvSpPr>
        <p:spPr>
          <a:xfrm>
            <a:off x="640080" y="590702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Eighteen numbers specify the whole network, in place of 255 for a general table.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42</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A network for diagnosis</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Explaining away in the chest clinic</a:t>
            </a:r>
          </a:p>
        </p:txBody>
      </p:sp>
      <p:pic>
        <p:nvPicPr>
          <p:cNvPr id="6" name="Picture 5" descr="f43_asia_explaining.png"/>
          <p:cNvPicPr>
            <a:picLocks noChangeAspect="1"/>
          </p:cNvPicPr>
          <p:nvPr/>
        </p:nvPicPr>
        <p:blipFill>
          <a:blip r:embed="rId2"/>
          <a:stretch>
            <a:fillRect/>
          </a:stretch>
        </p:blipFill>
        <p:spPr>
          <a:xfrm>
            <a:off x="642850" y="1280160"/>
            <a:ext cx="10906298" cy="3153294"/>
          </a:xfrm>
          <a:prstGeom prst="rect">
            <a:avLst/>
          </a:prstGeom>
        </p:spPr>
      </p:pic>
      <p:sp>
        <p:nvSpPr>
          <p:cNvPr id="7" name="TextBox 6"/>
          <p:cNvSpPr txBox="1"/>
          <p:nvPr/>
        </p:nvSpPr>
        <p:spPr>
          <a:xfrm>
            <a:off x="640080" y="4645152"/>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 positive X-ray raises both tuberculosis and lung cancer, and lung cancer is the more probable.</a:t>
            </a:r>
          </a:p>
        </p:txBody>
      </p:sp>
      <p:sp>
        <p:nvSpPr>
          <p:cNvPr id="8" name="TextBox 7"/>
          <p:cNvSpPr txBox="1"/>
          <p:nvPr/>
        </p:nvSpPr>
        <p:spPr>
          <a:xfrm>
            <a:off x="640080" y="5047488"/>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A recent visit to Asia raises tuberculosis, which then explains the X-ray on its own.</a:t>
            </a:r>
          </a:p>
        </p:txBody>
      </p:sp>
      <p:sp>
        <p:nvSpPr>
          <p:cNvPr id="9" name="TextBox 8"/>
          <p:cNvSpPr txBox="1"/>
          <p:nvPr/>
        </p:nvSpPr>
        <p:spPr>
          <a:xfrm>
            <a:off x="640080" y="5449824"/>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Lung cancer falls, although nothing was observed about smoking or about the lung.</a:t>
            </a:r>
          </a:p>
        </p:txBody>
      </p:sp>
      <p:sp>
        <p:nvSpPr>
          <p:cNvPr id="10" name="TextBox 9"/>
          <p:cNvSpPr txBox="1"/>
          <p:nvPr/>
        </p:nvSpPr>
        <p:spPr>
          <a:xfrm>
            <a:off x="640080" y="585216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occluded T, the burglary alarm and this network share the same three-node shape.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43</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A network for diagnosis</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The structure makes inference cheap</a:t>
            </a:r>
          </a:p>
        </p:txBody>
      </p:sp>
      <p:pic>
        <p:nvPicPr>
          <p:cNvPr id="6" name="Picture 5" descr="h44_inference.png"/>
          <p:cNvPicPr>
            <a:picLocks noChangeAspect="1"/>
          </p:cNvPicPr>
          <p:nvPr/>
        </p:nvPicPr>
        <p:blipFill>
          <a:blip r:embed="rId3"/>
          <a:stretch>
            <a:fillRect/>
          </a:stretch>
        </p:blipFill>
        <p:spPr>
          <a:xfrm>
            <a:off x="642850" y="1225296"/>
            <a:ext cx="10906298" cy="2283229"/>
          </a:xfrm>
          <a:prstGeom prst="rect">
            <a:avLst/>
          </a:prstGeom>
        </p:spPr>
      </p:pic>
      <p:sp>
        <p:nvSpPr>
          <p:cNvPr id="7" name="Rounded Rectangle 6"/>
          <p:cNvSpPr/>
          <p:nvPr/>
        </p:nvSpPr>
        <p:spPr>
          <a:xfrm>
            <a:off x="640080" y="3657600"/>
            <a:ext cx="10911535" cy="1660022"/>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44_marg.png"/>
          <p:cNvPicPr>
            <a:picLocks noChangeAspect="1"/>
          </p:cNvPicPr>
          <p:nvPr/>
        </p:nvPicPr>
        <p:blipFill>
          <a:blip r:embed="rId4"/>
          <a:stretch>
            <a:fillRect/>
          </a:stretch>
        </p:blipFill>
        <p:spPr>
          <a:xfrm>
            <a:off x="3258206" y="3877056"/>
            <a:ext cx="5675586" cy="1221110"/>
          </a:xfrm>
          <a:prstGeom prst="rect">
            <a:avLst/>
          </a:prstGeom>
        </p:spPr>
      </p:pic>
      <p:sp>
        <p:nvSpPr>
          <p:cNvPr id="9" name="TextBox 8"/>
          <p:cNvSpPr txBox="1"/>
          <p:nvPr/>
        </p:nvSpPr>
        <p:spPr>
          <a:xfrm>
            <a:off x="640080" y="5440680"/>
            <a:ext cx="10911535" cy="310896"/>
          </a:xfrm>
          <a:prstGeom prst="rect">
            <a:avLst/>
          </a:prstGeom>
          <a:noFill/>
        </p:spPr>
        <p:txBody>
          <a:bodyPr wrap="square" lIns="0" tIns="0" rIns="0" bIns="0" anchor="t">
            <a:spAutoFit/>
          </a:bodyPr>
          <a:lstStyle/>
          <a:p>
            <a:pPr marL="254203" indent="-254203">
              <a:lnSpc>
                <a:spcPct val="106000"/>
              </a:lnSpc>
              <a:buSzPct val="100000"/>
              <a:buChar char="•"/>
            </a:pPr>
            <a:r>
              <a:rPr sz="1900" b="0" i="0">
                <a:solidFill>
                  <a:srgbClr val="1A1A2E"/>
                </a:solidFill>
                <a:latin typeface="Calibri"/>
                <a:ea typeface="Calibri"/>
                <a:cs typeface="Calibri"/>
              </a:rPr>
              <a:t>The graph must have no closed loops, and the cost is then polynomial in the number of nodes.</a:t>
            </a:r>
          </a:p>
        </p:txBody>
      </p:sp>
      <p:sp>
        <p:nvSpPr>
          <p:cNvPr id="10" name="TextBox 9"/>
          <p:cNvSpPr txBox="1"/>
          <p:nvPr/>
        </p:nvSpPr>
        <p:spPr>
          <a:xfrm>
            <a:off x="640080" y="5925312"/>
            <a:ext cx="10911535" cy="310896"/>
          </a:xfrm>
          <a:prstGeom prst="rect">
            <a:avLst/>
          </a:prstGeom>
          <a:noFill/>
        </p:spPr>
        <p:txBody>
          <a:bodyPr wrap="square" lIns="0" tIns="0" rIns="0" bIns="0" anchor="t">
            <a:spAutoFit/>
          </a:bodyPr>
          <a:lstStyle/>
          <a:p>
            <a:pPr marL="0" indent="0">
              <a:buNone/>
            </a:pPr>
            <a:r>
              <a:rPr sz="1200" b="0" i="1">
                <a:solidFill>
                  <a:srgbClr val="7C7C8C"/>
                </a:solidFill>
                <a:latin typeface="Calibri"/>
                <a:ea typeface="Calibri"/>
                <a:cs typeface="Calibri"/>
              </a:rPr>
              <a:t>Figure from the course notes Vision as Bayesian Inference, Probability Distributions on Graphs.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nchor="t">
            <a:spAutoFit/>
          </a:bodyPr>
          <a:lstStyle/>
          <a:p>
            <a:pPr marL="0" indent="0">
              <a:buNone/>
            </a:pPr>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nchor="t">
            <a:spAutoFit/>
          </a:bodyPr>
          <a:lstStyle/>
          <a:p>
            <a:pPr marL="0" indent="0" algn="r">
              <a:buNone/>
            </a:pPr>
            <a:r>
              <a:rPr sz="1200" b="0" i="0">
                <a:solidFill>
                  <a:srgbClr val="7C7C8C"/>
                </a:solidFill>
                <a:latin typeface="Calibri"/>
                <a:ea typeface="Calibri"/>
                <a:cs typeface="Calibri"/>
              </a:rPr>
              <a:t>44</a:t>
            </a:r>
          </a:p>
        </p:txBody>
      </p:sp>
      <p:sp>
        <p:nvSpPr>
          <p:cNvPr id="4" name="TextBox 3"/>
          <p:cNvSpPr txBox="1"/>
          <p:nvPr/>
        </p:nvSpPr>
        <p:spPr>
          <a:xfrm>
            <a:off x="6705295" y="274320"/>
            <a:ext cx="4846320" cy="310896"/>
          </a:xfrm>
          <a:prstGeom prst="rect">
            <a:avLst/>
          </a:prstGeom>
          <a:noFill/>
        </p:spPr>
        <p:txBody>
          <a:bodyPr wrap="square" lIns="0" tIns="0" rIns="0" bIns="0" anchor="t">
            <a:spAutoFit/>
          </a:bodyPr>
          <a:lstStyle/>
          <a:p>
            <a:pPr marL="0" indent="0" algn="r">
              <a:buNone/>
            </a:pPr>
            <a:r>
              <a:rPr sz="1300" b="0" i="0">
                <a:solidFill>
                  <a:srgbClr val="7C7C8C"/>
                </a:solidFill>
                <a:latin typeface="Calibri"/>
                <a:ea typeface="Calibri"/>
                <a:cs typeface="Calibri"/>
              </a:rPr>
              <a:t>A network for diagnosis</a:t>
            </a:r>
          </a:p>
        </p:txBody>
      </p:sp>
      <p:sp>
        <p:nvSpPr>
          <p:cNvPr id="5" name="TextBox 4"/>
          <p:cNvSpPr txBox="1"/>
          <p:nvPr/>
        </p:nvSpPr>
        <p:spPr>
          <a:xfrm>
            <a:off x="640080" y="530352"/>
            <a:ext cx="10911535" cy="640080"/>
          </a:xfrm>
          <a:prstGeom prst="rect">
            <a:avLst/>
          </a:prstGeom>
          <a:noFill/>
        </p:spPr>
        <p:txBody>
          <a:bodyPr wrap="square" lIns="0" tIns="0" rIns="0" bIns="0" anchor="t">
            <a:spAutoFit/>
          </a:bodyPr>
          <a:lstStyle/>
          <a:p>
            <a:pPr marL="0" indent="0">
              <a:buNone/>
            </a:pPr>
            <a:r>
              <a:rPr sz="3000" b="1" i="0">
                <a:solidFill>
                  <a:srgbClr val="1A1A2E"/>
                </a:solidFill>
                <a:latin typeface="Cambria"/>
                <a:ea typeface="Cambria"/>
                <a:cs typeface="Cambria"/>
              </a:rPr>
              <a:t>Summary</a:t>
            </a:r>
          </a:p>
        </p:txBody>
      </p:sp>
      <p:sp>
        <p:nvSpPr>
          <p:cNvPr id="6" name="TextBox 5"/>
          <p:cNvSpPr txBox="1"/>
          <p:nvPr/>
        </p:nvSpPr>
        <p:spPr>
          <a:xfrm>
            <a:off x="640080" y="1481328"/>
            <a:ext cx="10911535" cy="4206240"/>
          </a:xfrm>
          <a:prstGeom prst="rect">
            <a:avLst/>
          </a:prstGeom>
          <a:noFill/>
        </p:spPr>
        <p:txBody>
          <a:bodyPr wrap="square" lIns="0" tIns="0" rIns="0" bIns="0" anchor="t">
            <a:spAutoFit/>
          </a:bodyPr>
          <a:lstStyle/>
          <a:p>
            <a:pPr marL="0" indent="0">
              <a:buNone/>
            </a:pPr>
            <a:r>
              <a:rPr sz="1900" b="0" i="0">
                <a:solidFill>
                  <a:srgbClr val="1A1A2E"/>
                </a:solidFill>
                <a:latin typeface="Calibri"/>
                <a:ea typeface="Calibri"/>
                <a:cs typeface="Calibri"/>
              </a:rPr>
              <a:t>A directed graph names the variables and says which of them directly influence which.</a:t>
            </a:r>
          </a:p>
          <a:p>
            <a:pPr marL="0" indent="0">
              <a:buNone/>
            </a:pPr>
            <a:endParaRPr sz="1900" b="0" i="0">
              <a:solidFill>
                <a:srgbClr val="1A1A2E"/>
              </a:solidFill>
              <a:latin typeface="Calibri"/>
              <a:ea typeface="Calibri"/>
              <a:cs typeface="Calibri"/>
            </a:endParaRPr>
          </a:p>
          <a:p>
            <a:pPr marL="0" indent="0">
              <a:buNone/>
            </a:pPr>
            <a:r>
              <a:rPr sz="1900" b="0" i="0">
                <a:solidFill>
                  <a:srgbClr val="1A1A2E"/>
                </a:solidFill>
                <a:latin typeface="Calibri"/>
                <a:ea typeface="Calibri"/>
                <a:cs typeface="Calibri"/>
              </a:rPr>
              <a:t>The joint distribution is the product of one conditional distribution per node, given its parents.</a:t>
            </a:r>
          </a:p>
          <a:p>
            <a:pPr marL="0" indent="0">
              <a:buNone/>
            </a:pPr>
            <a:endParaRPr sz="1900" b="0" i="0">
              <a:solidFill>
                <a:srgbClr val="1A1A2E"/>
              </a:solidFill>
              <a:latin typeface="Calibri"/>
              <a:ea typeface="Calibri"/>
              <a:cs typeface="Calibri"/>
            </a:endParaRPr>
          </a:p>
          <a:p>
            <a:pPr marL="0" indent="0">
              <a:buNone/>
            </a:pPr>
            <a:r>
              <a:rPr sz="1900" b="0" i="0">
                <a:solidFill>
                  <a:srgbClr val="1A1A2E"/>
                </a:solidFill>
                <a:latin typeface="Calibri"/>
                <a:ea typeface="Calibri"/>
                <a:cs typeface="Calibri"/>
              </a:rPr>
              <a:t>Two conditionally independent Gaussian cues with a uniform prior combine by inverse-variance weights.</a:t>
            </a:r>
          </a:p>
          <a:p>
            <a:pPr marL="0" indent="0">
              <a:buNone/>
            </a:pPr>
            <a:endParaRPr sz="1900" b="0" i="0">
              <a:solidFill>
                <a:srgbClr val="1A1A2E"/>
              </a:solidFill>
              <a:latin typeface="Calibri"/>
              <a:ea typeface="Calibri"/>
              <a:cs typeface="Calibri"/>
            </a:endParaRPr>
          </a:p>
          <a:p>
            <a:pPr marL="0" indent="0">
              <a:buNone/>
            </a:pPr>
            <a:r>
              <a:rPr sz="1900" b="0" i="0">
                <a:solidFill>
                  <a:srgbClr val="1A1A2E"/>
                </a:solidFill>
                <a:latin typeface="Calibri"/>
                <a:ea typeface="Calibri"/>
                <a:cs typeface="Calibri"/>
              </a:rPr>
              <a:t>Cues that share a prior are combined through the joint posterior, so the prior is applied once.</a:t>
            </a:r>
          </a:p>
          <a:p>
            <a:pPr marL="0" indent="0">
              <a:buNone/>
            </a:pPr>
            <a:endParaRPr sz="1900" b="0" i="0">
              <a:solidFill>
                <a:srgbClr val="1A1A2E"/>
              </a:solidFill>
              <a:latin typeface="Calibri"/>
              <a:ea typeface="Calibri"/>
              <a:cs typeface="Calibri"/>
            </a:endParaRPr>
          </a:p>
          <a:p>
            <a:pPr marL="0" indent="0">
              <a:buNone/>
            </a:pPr>
            <a:r>
              <a:rPr sz="1900" b="0" i="0">
                <a:solidFill>
                  <a:srgbClr val="1A1A2E"/>
                </a:solidFill>
                <a:latin typeface="Calibri"/>
                <a:ea typeface="Calibri"/>
                <a:cs typeface="Calibri"/>
              </a:rPr>
              <a:t>When cues depend on each other, or when the model itself is in question, the coupling is strong.</a:t>
            </a:r>
          </a:p>
          <a:p>
            <a:pPr marL="0" indent="0">
              <a:buNone/>
            </a:pPr>
            <a:endParaRPr sz="1900" b="0" i="0">
              <a:solidFill>
                <a:srgbClr val="1A1A2E"/>
              </a:solidFill>
              <a:latin typeface="Calibri"/>
              <a:ea typeface="Calibri"/>
              <a:cs typeface="Calibri"/>
            </a:endParaRPr>
          </a:p>
          <a:p>
            <a:pPr marL="0" indent="0">
              <a:buNone/>
            </a:pPr>
            <a:r>
              <a:rPr sz="1900" b="0" i="0">
                <a:solidFill>
                  <a:srgbClr val="1A1A2E"/>
                </a:solidFill>
                <a:latin typeface="Calibri"/>
                <a:ea typeface="Calibri"/>
                <a:cs typeface="Calibri"/>
              </a:rPr>
              <a:t>Observing a shared effect makes independent causes dependent, which is explaining away.</a:t>
            </a:r>
          </a:p>
          <a:p>
            <a:pPr marL="0" indent="0">
              <a:buNone/>
            </a:pPr>
            <a:endParaRPr sz="1900" b="0" i="0">
              <a:solidFill>
                <a:srgbClr val="1A1A2E"/>
              </a:solidFill>
              <a:latin typeface="Calibri"/>
              <a:ea typeface="Calibri"/>
              <a:cs typeface="Calibri"/>
            </a:endParaRPr>
          </a:p>
          <a:p>
            <a:pPr marL="0" indent="0">
              <a:buNone/>
            </a:pPr>
            <a:r>
              <a:rPr sz="1900" b="0" i="0">
                <a:solidFill>
                  <a:srgbClr val="1A1A2E"/>
                </a:solidFill>
                <a:latin typeface="Calibri"/>
                <a:ea typeface="Calibri"/>
                <a:cs typeface="Calibri"/>
              </a:rPr>
              <a:t>Inference uses the same structure: with no closed loops the cost stays polynomial.</a:t>
            </a:r>
          </a:p>
          <a:p>
            <a:pPr marL="0" indent="0">
              <a:buNone/>
            </a:pPr>
            <a:endParaRPr sz="1900" b="0" i="0">
              <a:solidFill>
                <a:srgbClr val="1A1A2E"/>
              </a:solidFill>
              <a:latin typeface="Calibri"/>
              <a:ea typeface="Calibri"/>
              <a:cs typeface="Calibri"/>
            </a:endParaRPr>
          </a:p>
          <a:p>
            <a:pPr marL="0" indent="0">
              <a:buNone/>
            </a:pPr>
            <a:r>
              <a:rPr sz="1900" b="0" i="0">
                <a:solidFill>
                  <a:srgbClr val="1A1A2E"/>
                </a:solidFill>
                <a:latin typeface="Calibri"/>
                <a:ea typeface="Calibri"/>
                <a:cs typeface="Calibri"/>
              </a:rPr>
              <a:t>Undirected graphs replace the parent conditionals by potentials on the edges.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4598</Words>
  <Application>Microsoft Macintosh PowerPoint</Application>
  <PresentationFormat>Widescreen</PresentationFormat>
  <Paragraphs>375</Paragraphs>
  <Slides>44</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Jeremy Chen</cp:lastModifiedBy>
  <cp:revision>3</cp:revision>
  <dcterms:created xsi:type="dcterms:W3CDTF">2013-01-27T09:14:16Z</dcterms:created>
  <dcterms:modified xsi:type="dcterms:W3CDTF">2026-09-14T20:10:14Z</dcterms:modified>
  <cp:category/>
</cp:coreProperties>
</file>