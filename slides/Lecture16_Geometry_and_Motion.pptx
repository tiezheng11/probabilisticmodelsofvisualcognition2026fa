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6"/>
    <p:sldId id="294" r:id="rId5"/>
    <p:sldId id="295" r:id="rId4"/>
    <p:sldId id="296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3532"/>
  </p:normalViewPr>
  <p:slideViewPr>
    <p:cSldViewPr snapToGrid="0" snapToObjects="1">
      <p:cViewPr varScale="1">
        <p:scale>
          <a:sx n="111" d="100"/>
          <a:sy n="111" d="100"/>
        </p:scale>
        <p:origin x="656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41.xml"/><Relationship Id="rId4" Type="http://schemas.openxmlformats.org/officeDocument/2006/relationships/slide" Target="slides/slide40.xml"/><Relationship Id="rId5" Type="http://schemas.openxmlformats.org/officeDocument/2006/relationships/slide" Target="slides/slide39.xml"/><Relationship Id="rId6" Type="http://schemas.openxmlformats.org/officeDocument/2006/relationships/slide" Target="slides/slide38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69CEB0-AA0B-D145-B4E6-35C9BFEBBA17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4D186F-95C8-254C-BBCD-188220FF3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164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1 2"/>
          <p:cNvSpPr/>
          <p:nvPr/>
        </p:nvSpPr>
        <p:spPr>
          <a:xfrm>
            <a:off x="-1554480" y="-2103120"/>
            <a:ext cx="6766560" cy="6766560"/>
          </a:xfrm>
          <a:prstGeom prst="ellipse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2 3"/>
          <p:cNvSpPr/>
          <p:nvPr/>
        </p:nvSpPr>
        <p:spPr>
          <a:xfrm>
            <a:off x="8778240" y="3931920"/>
            <a:ext cx="4754880" cy="4754880"/>
          </a:xfrm>
          <a:prstGeom prst="ellipse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title 4"/>
          <p:cNvSpPr txBox="1"/>
          <p:nvPr/>
        </p:nvSpPr>
        <p:spPr>
          <a:xfrm>
            <a:off x="1051560" y="411480"/>
            <a:ext cx="10515600" cy="34747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sz="48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Geometry and Motion:</a:t>
            </a:r>
            <a:br>
              <a:rPr sz="48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</a:br>
            <a:r>
              <a:rPr sz="48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Stereo, Structure from Motion</a:t>
            </a:r>
          </a:p>
        </p:txBody>
      </p:sp>
      <p:sp>
        <p:nvSpPr>
          <p:cNvPr id="5" name="tdate 5"/>
          <p:cNvSpPr txBox="1"/>
          <p:nvPr/>
        </p:nvSpPr>
        <p:spPr>
          <a:xfrm>
            <a:off x="1097280" y="4160520"/>
            <a:ext cx="10058400" cy="649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27 October, 2026</a:t>
            </a:r>
          </a:p>
          <a:p>
            <a:r>
              <a:rPr sz="21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Alan Yuille   ·   Probabilistic Models of the Visual Cortex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4" name="title 4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What this lecture covers</a:t>
            </a:r>
          </a:p>
        </p:txBody>
      </p:sp>
      <p:sp>
        <p:nvSpPr>
          <p:cNvPr id="5" name="card 5"/>
          <p:cNvSpPr/>
          <p:nvPr/>
        </p:nvSpPr>
        <p:spPr>
          <a:xfrm>
            <a:off x="640080" y="1481328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ardoval 6"/>
          <p:cNvSpPr/>
          <p:nvPr/>
        </p:nvSpPr>
        <p:spPr>
          <a:xfrm>
            <a:off x="896112" y="1764792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ardnum 7"/>
          <p:cNvSpPr txBox="1"/>
          <p:nvPr/>
        </p:nvSpPr>
        <p:spPr>
          <a:xfrm>
            <a:off x="896112" y="1847088"/>
            <a:ext cx="5120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8" name="cardtitle 8"/>
          <p:cNvSpPr txBox="1"/>
          <p:nvPr/>
        </p:nvSpPr>
        <p:spPr>
          <a:xfrm>
            <a:off x="1572768" y="1714500"/>
            <a:ext cx="4343400" cy="322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Projection and vanishing points</a:t>
            </a:r>
          </a:p>
        </p:txBody>
      </p:sp>
      <p:sp>
        <p:nvSpPr>
          <p:cNvPr id="9" name="cardsub 9"/>
          <p:cNvSpPr txBox="1"/>
          <p:nvPr/>
        </p:nvSpPr>
        <p:spPr>
          <a:xfrm>
            <a:off x="1572768" y="2112264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Pinhole camera, perspective, affine</a:t>
            </a:r>
          </a:p>
        </p:txBody>
      </p:sp>
      <p:sp>
        <p:nvSpPr>
          <p:cNvPr id="10" name="card 10"/>
          <p:cNvSpPr/>
          <p:nvPr/>
        </p:nvSpPr>
        <p:spPr>
          <a:xfrm>
            <a:off x="6236208" y="1481328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ardoval 11"/>
          <p:cNvSpPr/>
          <p:nvPr/>
        </p:nvSpPr>
        <p:spPr>
          <a:xfrm>
            <a:off x="6492240" y="1764792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rdnum 12"/>
          <p:cNvSpPr txBox="1"/>
          <p:nvPr/>
        </p:nvSpPr>
        <p:spPr>
          <a:xfrm>
            <a:off x="6492240" y="1847088"/>
            <a:ext cx="5120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3" name="cardtitle 13"/>
          <p:cNvSpPr txBox="1"/>
          <p:nvPr/>
        </p:nvSpPr>
        <p:spPr>
          <a:xfrm>
            <a:off x="7168896" y="1714500"/>
            <a:ext cx="4343400" cy="322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Calibration and stereo</a:t>
            </a:r>
          </a:p>
        </p:txBody>
      </p:sp>
      <p:sp>
        <p:nvSpPr>
          <p:cNvPr id="14" name="cardsub 14"/>
          <p:cNvSpPr txBox="1"/>
          <p:nvPr/>
        </p:nvSpPr>
        <p:spPr>
          <a:xfrm>
            <a:off x="7168896" y="2112264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Epipolar lines, essential, fundamental</a:t>
            </a:r>
          </a:p>
        </p:txBody>
      </p:sp>
      <p:sp>
        <p:nvSpPr>
          <p:cNvPr id="15" name="card 15"/>
          <p:cNvSpPr/>
          <p:nvPr/>
        </p:nvSpPr>
        <p:spPr>
          <a:xfrm>
            <a:off x="640080" y="2679192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rdoval 16"/>
          <p:cNvSpPr/>
          <p:nvPr/>
        </p:nvSpPr>
        <p:spPr>
          <a:xfrm>
            <a:off x="896112" y="2962656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ardnum 17"/>
          <p:cNvSpPr txBox="1"/>
          <p:nvPr/>
        </p:nvSpPr>
        <p:spPr>
          <a:xfrm>
            <a:off x="896112" y="3044952"/>
            <a:ext cx="5120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18" name="cardtitle 18"/>
          <p:cNvSpPr txBox="1"/>
          <p:nvPr/>
        </p:nvSpPr>
        <p:spPr>
          <a:xfrm>
            <a:off x="1572768" y="2912364"/>
            <a:ext cx="4343400" cy="322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Structure from motion</a:t>
            </a:r>
          </a:p>
        </p:txBody>
      </p:sp>
      <p:sp>
        <p:nvSpPr>
          <p:cNvPr id="19" name="cardsub 19"/>
          <p:cNvSpPr txBox="1"/>
          <p:nvPr/>
        </p:nvSpPr>
        <p:spPr>
          <a:xfrm>
            <a:off x="1572768" y="3310128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Rank three, factorization, non-rigid</a:t>
            </a:r>
          </a:p>
        </p:txBody>
      </p:sp>
      <p:sp>
        <p:nvSpPr>
          <p:cNvPr id="20" name="card 20"/>
          <p:cNvSpPr/>
          <p:nvPr/>
        </p:nvSpPr>
        <p:spPr>
          <a:xfrm>
            <a:off x="6236208" y="2679192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ardoval 21"/>
          <p:cNvSpPr/>
          <p:nvPr/>
        </p:nvSpPr>
        <p:spPr>
          <a:xfrm>
            <a:off x="6492240" y="2962656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ardnum 22"/>
          <p:cNvSpPr txBox="1"/>
          <p:nvPr/>
        </p:nvSpPr>
        <p:spPr>
          <a:xfrm>
            <a:off x="6492240" y="3044952"/>
            <a:ext cx="5120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3" name="cardtitle 23"/>
          <p:cNvSpPr txBox="1"/>
          <p:nvPr/>
        </p:nvSpPr>
        <p:spPr>
          <a:xfrm>
            <a:off x="7168896" y="2912364"/>
            <a:ext cx="4343400" cy="322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Geometric priors</a:t>
            </a:r>
          </a:p>
        </p:txBody>
      </p:sp>
      <p:sp>
        <p:nvSpPr>
          <p:cNvPr id="24" name="cardsub 24"/>
          <p:cNvSpPr txBox="1"/>
          <p:nvPr/>
        </p:nvSpPr>
        <p:spPr>
          <a:xfrm>
            <a:off x="7168896" y="3310128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Ames room, Manhattan World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4" name="divnum 4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5" name="divname 5"/>
          <p:cNvSpPr txBox="1"/>
          <p:nvPr/>
        </p:nvSpPr>
        <p:spPr>
          <a:xfrm>
            <a:off x="2880360" y="822960"/>
            <a:ext cx="9052560" cy="221284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Projection and</a:t>
            </a:r>
            <a:b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</a:br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vanishing points</a:t>
            </a:r>
          </a:p>
        </p:txBody>
      </p:sp>
      <p:sp>
        <p:nvSpPr>
          <p:cNvPr id="6" name="divsub 6"/>
          <p:cNvSpPr txBox="1"/>
          <p:nvPr/>
        </p:nvSpPr>
        <p:spPr>
          <a:xfrm>
            <a:off x="2944368" y="3401568"/>
            <a:ext cx="89611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A pinhole camera divides by depth: lines stay straight, parallel lines</a:t>
            </a:r>
            <a:b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</a:b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meet at a vanishing point. Far away, projection is nearly linear.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Projection and vanishing points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Most analysis of projection uses the pinhole camera model</a:t>
            </a:r>
          </a:p>
        </p:txBody>
      </p:sp>
      <p:pic>
        <p:nvPicPr>
          <p:cNvPr id="6" name="r_view.png" descr="r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786" y="1225296"/>
            <a:ext cx="2834640" cy="2286000"/>
          </a:xfrm>
          <a:prstGeom prst="rect">
            <a:avLst/>
          </a:prstGeom>
        </p:spPr>
      </p:pic>
      <p:pic>
        <p:nvPicPr>
          <p:cNvPr id="7" name="r_frustum.png" descr="r_frust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4066" y="1225296"/>
            <a:ext cx="4466844" cy="2286000"/>
          </a:xfrm>
          <a:prstGeom prst="rect">
            <a:avLst/>
          </a:prstGeom>
        </p:spPr>
      </p:pic>
      <p:sp>
        <p:nvSpPr>
          <p:cNvPr id="8" name="body 8"/>
          <p:cNvSpPr txBox="1"/>
          <p:nvPr/>
        </p:nvSpPr>
        <p:spPr>
          <a:xfrm>
            <a:off x="640080" y="3675888"/>
            <a:ext cx="11247120" cy="22494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pinhole camera has a lens of size zero: every ray from the scene passes through one point.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Perspective projection, and the approximations to it, are based on the pinhole camera model.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Real cameras have lenses of finite size; Szeliski’s book gives corrections, often needed near the borders.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Graphics draws the image plane in front of the eye, which looks along −z: the image is upright.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fovy is the vertical field of view; the near and far planes bound the depth that is drawn.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R. Szeliski, Computer Vision: Algorithms and Applications, 2nd ed., Springer, 2022.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Projection and vanishing points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Perspective: straight lines stay straight, parallels converge</a:t>
            </a:r>
          </a:p>
        </p:txBody>
      </p:sp>
      <p:pic>
        <p:nvPicPr>
          <p:cNvPr id="6" name="r_perugino.png" descr="r_perugi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518" y="1225296"/>
            <a:ext cx="4814316" cy="2971800"/>
          </a:xfrm>
          <a:prstGeom prst="rect">
            <a:avLst/>
          </a:prstGeom>
        </p:spPr>
      </p:pic>
      <p:pic>
        <p:nvPicPr>
          <p:cNvPr id="7" name="r_twopoint.png" descr="r_twopo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034" y="1225296"/>
            <a:ext cx="4581144" cy="2971800"/>
          </a:xfrm>
          <a:prstGeom prst="rect">
            <a:avLst/>
          </a:prstGeom>
        </p:spPr>
      </p:pic>
      <p:sp>
        <p:nvSpPr>
          <p:cNvPr id="8" name="body 8"/>
          <p:cNvSpPr txBox="1"/>
          <p:nvPr/>
        </p:nvSpPr>
        <p:spPr>
          <a:xfrm>
            <a:off x="640080" y="4361688"/>
            <a:ext cx="11247120" cy="1819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Straight lines project to straight lines.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Parallel lines in space project to lines that converge to a vanishing point (which may be at infinity).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Perugino’s fresco: the lines of the pavement converge at the central door of the temple.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drawing: the horizontal edges of a building converge to A and B; its vertical edges stay parallel.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Picture: Pietro Perugino, Delivery of the Keys to Saint Peter, fresco, Sistine Chapel, 1481–1482.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Projection and vanishing points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 camera is an origin, three axes and a focal length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2137234"/>
            <a:ext cx="5973775" cy="1376524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plane.png" descr="e_pl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995" y="2301826"/>
            <a:ext cx="3499945" cy="269766"/>
          </a:xfrm>
          <a:prstGeom prst="rect">
            <a:avLst/>
          </a:prstGeom>
        </p:spPr>
      </p:pic>
      <p:pic>
        <p:nvPicPr>
          <p:cNvPr id="8" name="e_proj.png" descr="e_pro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344" y="2699607"/>
            <a:ext cx="5567246" cy="649559"/>
          </a:xfrm>
          <a:prstGeom prst="rect">
            <a:avLst/>
          </a:prstGeom>
        </p:spPr>
      </p:pic>
      <p:pic>
        <p:nvPicPr>
          <p:cNvPr id="9" name="f_camera.png" descr="f_came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8175" y="1225296"/>
            <a:ext cx="4663440" cy="3200400"/>
          </a:xfrm>
          <a:prstGeom prst="rect">
            <a:avLst/>
          </a:prstGeom>
        </p:spPr>
      </p:pic>
      <p:sp>
        <p:nvSpPr>
          <p:cNvPr id="10" name="body 10"/>
          <p:cNvSpPr txBox="1"/>
          <p:nvPr/>
        </p:nvSpPr>
        <p:spPr>
          <a:xfrm>
            <a:off x="640080" y="4590288"/>
            <a:ext cx="1124712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o: the origin, at the pinhole; a, b, c: right-handed coordinate axes of the camera.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 is the direction of gaze; a and b are axes of the imaging plane; f is the focal length.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point r projects to (u, v), its coordinates along a and b in the imaging plane.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imaging plane lies behind the pinhole, so the image is inverted: hence the minus signs.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Projection and vanishing points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projection is where the ray meets the imaging plane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2034574"/>
            <a:ext cx="6339535" cy="1581844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ray.png" descr="e_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16" y="2199166"/>
            <a:ext cx="5676663" cy="531034"/>
          </a:xfrm>
          <a:prstGeom prst="rect">
            <a:avLst/>
          </a:prstGeom>
        </p:spPr>
      </p:pic>
      <p:pic>
        <p:nvPicPr>
          <p:cNvPr id="8" name="e_uv.png" descr="e_u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312" y="2858216"/>
            <a:ext cx="5987071" cy="593610"/>
          </a:xfrm>
          <a:prstGeom prst="rect">
            <a:avLst/>
          </a:prstGeom>
        </p:spPr>
      </p:pic>
      <p:pic>
        <p:nvPicPr>
          <p:cNvPr id="9" name="f_derive.png" descr="f_der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3935" y="1225296"/>
            <a:ext cx="4297680" cy="3200400"/>
          </a:xfrm>
          <a:prstGeom prst="rect">
            <a:avLst/>
          </a:prstGeom>
        </p:spPr>
      </p:pic>
      <p:sp>
        <p:nvSpPr>
          <p:cNvPr id="10" name="body 10"/>
          <p:cNvSpPr txBox="1"/>
          <p:nvPr/>
        </p:nvSpPr>
        <p:spPr>
          <a:xfrm>
            <a:off x="640080" y="4590288"/>
            <a:ext cx="1124712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Set o = 0: the pinhole is the origin, and (r − o) becomes r.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straight line λr passes through the pinhole (λ = 0) and the point r (λ = 1).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It meets the imaging plane at λ*; dot products with a and b give u and v.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Dividing by the depth r · c is what makes perspective projection nonlinear.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Projection and vanishing points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Straight lines in space project to straight lines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637032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line.png" descr="e_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3944" y="1389888"/>
            <a:ext cx="6083808" cy="307848"/>
          </a:xfrm>
          <a:prstGeom prst="rect">
            <a:avLst/>
          </a:prstGeom>
        </p:spPr>
      </p:pic>
      <p:pic>
        <p:nvPicPr>
          <p:cNvPr id="8" name="f_lines.png" descr="f_li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473" y="1972056"/>
            <a:ext cx="9688749" cy="2514600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651248"/>
            <a:ext cx="1124712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line: r_0 is any point on it, t_0 its direction and λ the position along it.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plane: n is its unit normal and k the shortest distance from the plane to the origin.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pinhole and a line span a plane through the origin, with k = 0.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That plane meets the imaging plane in a straight line: the image of the 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Projection and vanishing points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image of a line depends on 1/λ, the inverse distance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918543"/>
            <a:ext cx="6248095" cy="1813907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par1.png" descr="e_pa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55" y="2083135"/>
            <a:ext cx="5852746" cy="738554"/>
          </a:xfrm>
          <a:prstGeom prst="rect">
            <a:avLst/>
          </a:prstGeom>
        </p:spPr>
      </p:pic>
      <p:pic>
        <p:nvPicPr>
          <p:cNvPr id="8" name="e_par2.png" descr="e_pa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974" y="2949704"/>
            <a:ext cx="4658308" cy="618153"/>
          </a:xfrm>
          <a:prstGeom prst="rect">
            <a:avLst/>
          </a:prstGeom>
        </p:spPr>
      </p:pic>
      <p:pic>
        <p:nvPicPr>
          <p:cNvPr id="9" name="f_sleepers.png" descr="f_sleep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495" y="1225296"/>
            <a:ext cx="4389120" cy="3200400"/>
          </a:xfrm>
          <a:prstGeom prst="rect">
            <a:avLst/>
          </a:prstGeom>
        </p:spPr>
      </p:pic>
      <p:sp>
        <p:nvSpPr>
          <p:cNvPr id="10" name="body 10"/>
          <p:cNvSpPr txBox="1"/>
          <p:nvPr/>
        </p:nvSpPr>
        <p:spPr>
          <a:xfrm>
            <a:off x="640080" y="4590288"/>
            <a:ext cx="1124712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Parallel lines share one unit direction; each base point r_0 gives a different line.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Slide r_0 along its line until r_0 · c = 0 (possible unless the line is perpendicular to the gaze c).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Then u is a constant plus a term in 1/λ, the inverse distance along the line; v is the same with b.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Equally spaced points along a line, such as railway sleepers, crowd together in the image.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Projection and vanishing points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All lines with one direction meet at one vanishing point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2398014"/>
            <a:ext cx="6796735" cy="946404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vp.png" descr="e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733" y="2562606"/>
            <a:ext cx="6531429" cy="617220"/>
          </a:xfrm>
          <a:prstGeom prst="rect">
            <a:avLst/>
          </a:prstGeom>
        </p:spPr>
      </p:pic>
      <p:pic>
        <p:nvPicPr>
          <p:cNvPr id="8" name="f_tables.png" descr="f_tab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225296"/>
            <a:ext cx="3840480" cy="3291840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681728"/>
            <a:ext cx="1124712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limit does not depend on r_0: all lines in one direction converge to the same vanishing point.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Lines perpendicular to the gaze c have their vanishing point at infinity.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How many vanishing points an image has depends on its families of parallel lines; some have none.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Square tables on a flat floor, none aligned to another: two vanishing points per table, one for all legs.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Projection and vanishing points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On a ground plane, vertical lines stay parallel in the image</a:t>
            </a:r>
          </a:p>
        </p:txBody>
      </p:sp>
      <p:pic>
        <p:nvPicPr>
          <p:cNvPr id="6" name="f_ground.png" descr="f_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429" y="1225296"/>
            <a:ext cx="10788838" cy="2829770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219658"/>
            <a:ext cx="11247120" cy="20299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Often the ground is a flat plane and the direction of gaze c is parallel to it.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Lines perpendicular to the ground, like trees, are then perpendicular to c: their images stay parallel.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Ultimately this is physics: humans and animals stand vertically to resist gravity.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Animals and vision systems use the ground plane to estimate depth: farther feet are nearer the horizon.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Filmmakers use it to make actors look bigger (The Green Mile; Gandalf in The Lord of the Rings).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Projection and vanishing points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Scaled orthographic projection approximates perspective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647884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ortho.png" descr="e_ort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792" y="1389888"/>
            <a:ext cx="5942111" cy="318700"/>
          </a:xfrm>
          <a:prstGeom prst="rect">
            <a:avLst/>
          </a:prstGeom>
        </p:spPr>
      </p:pic>
      <p:pic>
        <p:nvPicPr>
          <p:cNvPr id="8" name="f_ortho.png" descr="f_orth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768" y="1982908"/>
            <a:ext cx="10424160" cy="2513294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660793"/>
            <a:ext cx="1124712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Valid when the depth r · c is large and varies little over the scene: replace r · c by a constant.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 is now the scale. The projection is linear, which simplifies the mathematics.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It also throws away information: parallel lines stay parallel, so the vanishing points are lost.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If parallel lines in the scene look parallel in an image, a linear approximation is probably valid.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Projection and vanishing points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Affine cameras are the most general linear projection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1218532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affine.png" descr="e_aff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593" y="1389888"/>
            <a:ext cx="8346510" cy="889348"/>
          </a:xfrm>
          <a:prstGeom prst="rect">
            <a:avLst/>
          </a:prstGeom>
        </p:spPr>
      </p:pic>
      <p:pic>
        <p:nvPicPr>
          <p:cNvPr id="8" name="f_affine.png" descr="f_aff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1128" y="2553556"/>
            <a:ext cx="6949440" cy="1965960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684108"/>
            <a:ext cx="1124712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(X, Y, Z): the point in space; the row K = (K_1, K_2, K_3) gives u and the row H = (H_1, H_2, H_3) gives v.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Scaled orthographic: K and H orthogonal and of equal length, two rows of a scaled rotation.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general affine camera can also stretch and shear the image.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People write papers, and entire book chapters, about special cases with restrictions on K and 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4" name="divnum 4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5" name="divname 5"/>
          <p:cNvSpPr txBox="1"/>
          <p:nvPr/>
        </p:nvSpPr>
        <p:spPr>
          <a:xfrm>
            <a:off x="2880360" y="822960"/>
            <a:ext cx="9052560" cy="221284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Calibration and stereo</a:t>
            </a:r>
          </a:p>
        </p:txBody>
      </p:sp>
      <p:sp>
        <p:nvSpPr>
          <p:cNvPr id="6" name="divsub 6"/>
          <p:cNvSpPr txBox="1"/>
          <p:nvPr/>
        </p:nvSpPr>
        <p:spPr>
          <a:xfrm>
            <a:off x="2944368" y="3401568"/>
            <a:ext cx="89611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Stereo triangulates depth from corresponding points on epipolar lines;</a:t>
            </a:r>
            <a:b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</a:b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each match gives one equation for the rotation and translation.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Calibration and stereo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Binocular stereo estimates depth by triangulation</a:t>
            </a:r>
          </a:p>
        </p:txBody>
      </p:sp>
      <p:pic>
        <p:nvPicPr>
          <p:cNvPr id="6" name="r_eyes.png" descr="r_ey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8" y="1225296"/>
            <a:ext cx="3360420" cy="3017520"/>
          </a:xfrm>
          <a:prstGeom prst="rect">
            <a:avLst/>
          </a:prstGeom>
        </p:spPr>
      </p:pic>
      <p:pic>
        <p:nvPicPr>
          <p:cNvPr id="7" name="f_stereo.png" descr="f_stere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798" y="1225296"/>
            <a:ext cx="6903720" cy="3017520"/>
          </a:xfrm>
          <a:prstGeom prst="rect">
            <a:avLst/>
          </a:prstGeom>
        </p:spPr>
      </p:pic>
      <p:sp>
        <p:nvSpPr>
          <p:cNvPr id="8" name="body 8"/>
          <p:cNvSpPr txBox="1"/>
          <p:nvPr/>
        </p:nvSpPr>
        <p:spPr>
          <a:xfrm>
            <a:off x="640080" y="4407408"/>
            <a:ext cx="1124712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Two eyes or cameras see a point along two rays; its depth is where the rays meet.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This requires solving the correspondence problem between points in the two images.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correspondence problem is helped by the epipolar line constraint.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Triangulation needs camera calibration: the relative position and orientation of the cameras.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Calibration and stereo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Corresponding points lie on corresponding epipolar lines</a:t>
            </a:r>
          </a:p>
        </p:txBody>
      </p:sp>
      <p:pic>
        <p:nvPicPr>
          <p:cNvPr id="6" name="r_epiplane.png" descr="r_epipl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606" y="1225296"/>
            <a:ext cx="4146804" cy="3017520"/>
          </a:xfrm>
          <a:prstGeom prst="rect">
            <a:avLst/>
          </a:prstGeom>
        </p:spPr>
      </p:pic>
      <p:pic>
        <p:nvPicPr>
          <p:cNvPr id="7" name="f_epiline.png" descr="f_epi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610" y="1225296"/>
            <a:ext cx="6126480" cy="3017520"/>
          </a:xfrm>
          <a:prstGeom prst="rect">
            <a:avLst/>
          </a:prstGeom>
        </p:spPr>
      </p:pic>
      <p:sp>
        <p:nvSpPr>
          <p:cNvPr id="8" name="body 8"/>
          <p:cNvSpPr txBox="1"/>
          <p:nvPr/>
        </p:nvSpPr>
        <p:spPr>
          <a:xfrm>
            <a:off x="640080" y="4407408"/>
            <a:ext cx="1124712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Epipolar plane: the plane through the scene point X and the two camera centers C and C'.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It cuts each image in an epipolar line; the epipoles e and e' are where the line CC' meets the images.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Points on one epipolar line can only be matched to points on the corresponding epipolar line.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X1, X2, X3 on the ray through x all project onto the epipolar line: the search for a match is 1D.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Calibration and stereo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Epipolar lines depend on the camera parameters</a:t>
            </a:r>
          </a:p>
        </p:txBody>
      </p:sp>
      <p:pic>
        <p:nvPicPr>
          <p:cNvPr id="6" name="r_vase.png" descr="r_v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8" y="1613916"/>
            <a:ext cx="4846320" cy="2240280"/>
          </a:xfrm>
          <a:prstGeom prst="rect">
            <a:avLst/>
          </a:prstGeom>
        </p:spPr>
      </p:pic>
      <p:pic>
        <p:nvPicPr>
          <p:cNvPr id="7" name="f_parallel.png" descr="f_parall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688" y="1225296"/>
            <a:ext cx="5577840" cy="3017520"/>
          </a:xfrm>
          <a:prstGeom prst="rect">
            <a:avLst/>
          </a:prstGeom>
        </p:spPr>
      </p:pic>
      <p:sp>
        <p:nvSpPr>
          <p:cNvPr id="8" name="body 8"/>
          <p:cNvSpPr txBox="1"/>
          <p:nvPr/>
        </p:nvSpPr>
        <p:spPr>
          <a:xfrm>
            <a:off x="640080" y="4407408"/>
            <a:ext cx="1124712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Epipolar lines depend on the camera parameters: their positions, orientations and focal lengths.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If both cameras are parallel, then epipolar lines are horizontal: a match lies on the same row.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Converging cameras give slanted epipolar lines, which all pass through the epipole.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vase: two views with corresponding epipolar lines (white) through matched points.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Calibration and stereo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Camera calibration finds the relative positions of cameras</a:t>
            </a:r>
          </a:p>
        </p:txBody>
      </p:sp>
      <p:pic>
        <p:nvPicPr>
          <p:cNvPr id="6" name="f_corresp.png" descr="f_corre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749" y="1225296"/>
            <a:ext cx="10238198" cy="2357919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747807"/>
            <a:ext cx="11247120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Calibration finds the relative positions and viewpoints of cameras; human vision must calibrate itself.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It is a prerequisite for binocular stereo, structure from motion and depth from multiple cameras.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It is also needed for 3D (three-dimensional) reconstruction, e.g. by Gaussian splatting.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It assumes corresponding points, found with interest points and corner detectors.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Theorems informally called “M views of N points” find the minimum number of points needed.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R. Hartley and A. Zisserman, Multiple View Geometry in Computer Vision, 2nd ed., Cambridge University Press, 2003.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Y. Ma, S. Soatto, J. Košecká and S. S. Sastry, An Invitation to 3-D Vision: From Images to Geometric Models, Springer, 2004.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Calibration and stereo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Homogeneous coordinates: an image point is a ray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535103"/>
            <a:ext cx="6979615" cy="2397906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hom1.png" descr="e_hom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702" y="1699695"/>
            <a:ext cx="4284372" cy="607454"/>
          </a:xfrm>
          <a:prstGeom prst="rect">
            <a:avLst/>
          </a:prstGeom>
        </p:spPr>
      </p:pic>
      <p:pic>
        <p:nvPicPr>
          <p:cNvPr id="8" name="e_hom2.png" descr="e_hom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470" y="2435164"/>
            <a:ext cx="6612835" cy="887896"/>
          </a:xfrm>
          <a:prstGeom prst="rect">
            <a:avLst/>
          </a:prstGeom>
        </p:spPr>
      </p:pic>
      <p:pic>
        <p:nvPicPr>
          <p:cNvPr id="9" name="e_hom3.png" descr="e_hom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4109" y="3451076"/>
            <a:ext cx="3271556" cy="317341"/>
          </a:xfrm>
          <a:prstGeom prst="rect">
            <a:avLst/>
          </a:prstGeom>
        </p:spPr>
      </p:pic>
      <p:pic>
        <p:nvPicPr>
          <p:cNvPr id="10" name="f_homog.png" descr="f_homo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4015" y="1225296"/>
            <a:ext cx="3657600" cy="3017520"/>
          </a:xfrm>
          <a:prstGeom prst="rect">
            <a:avLst/>
          </a:prstGeom>
        </p:spPr>
      </p:pic>
      <p:sp>
        <p:nvSpPr>
          <p:cNvPr id="11" name="body 11"/>
          <p:cNvSpPr txBox="1"/>
          <p:nvPr/>
        </p:nvSpPr>
        <p:spPr>
          <a:xfrm>
            <a:off x="640080" y="4407408"/>
            <a:ext cx="1124712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X = (X_1, X_2, X_3) in the first camera’s coordinates, X' in the second’s. The image plane is now in front.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With u and v in units of the focal length (f = 1), the vector u is the point X divided by its depth X_3.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Homogeneous: u is defined up to scale; all multiples of (u, v, 1) are one ray through the pinhole.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 and t relate the cameras: t is the second camera’s center, R its rotation.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Calibration and stereo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essential matrix combines the rotation and translation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725307"/>
            <a:ext cx="6476695" cy="1926059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E.png" descr="e_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000" y="1889899"/>
            <a:ext cx="6086856" cy="886968"/>
          </a:xfrm>
          <a:prstGeom prst="rect">
            <a:avLst/>
          </a:prstGeom>
        </p:spPr>
      </p:pic>
      <p:pic>
        <p:nvPicPr>
          <p:cNvPr id="8" name="e_eps.png" descr="e_e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050" y="2904883"/>
            <a:ext cx="5928756" cy="581891"/>
          </a:xfrm>
          <a:prstGeom prst="rect">
            <a:avLst/>
          </a:prstGeom>
        </p:spPr>
      </p:pic>
      <p:pic>
        <p:nvPicPr>
          <p:cNvPr id="9" name="f_cross.png" descr="f_cro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095" y="1225296"/>
            <a:ext cx="4160520" cy="2926080"/>
          </a:xfrm>
          <a:prstGeom prst="rect">
            <a:avLst/>
          </a:prstGeom>
        </p:spPr>
      </p:pic>
      <p:sp>
        <p:nvSpPr>
          <p:cNvPr id="10" name="body 10"/>
          <p:cNvSpPr txBox="1"/>
          <p:nvPr/>
        </p:nvSpPr>
        <p:spPr>
          <a:xfrm>
            <a:off x="640080" y="4315968"/>
            <a:ext cx="11247120" cy="20299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ε_ijk: the anti-symmetric tensor; 0 if two indices are equal, 1 or −1 for even or odd permutations of 123.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So [t]_× X = X × t: multiplying by [t]_× takes the cross product with 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cross product X × t is perpendicular to both X and 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 contains the six camera parameters, R and t, that calibration must find.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Hartley and Zisserman write X' = RX + t' and E = [t']_× R with [t']_× X = t' × X: the same matrix 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Calibration and stereo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Corresponding points satisfy the epipolar constraint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1061834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claim.png" descr="e_cla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394" y="1389888"/>
            <a:ext cx="3504907" cy="287834"/>
          </a:xfrm>
          <a:prstGeom prst="rect">
            <a:avLst/>
          </a:prstGeom>
        </p:spPr>
      </p:pic>
      <p:pic>
        <p:nvPicPr>
          <p:cNvPr id="8" name="e_proof.png" descr="e_proo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1248" y="1805738"/>
            <a:ext cx="7189200" cy="316800"/>
          </a:xfrm>
          <a:prstGeom prst="rect">
            <a:avLst/>
          </a:prstGeom>
        </p:spPr>
      </p:pic>
      <p:pic>
        <p:nvPicPr>
          <p:cNvPr id="9" name="f_coplanar.png" descr="f_coplan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8088" y="2396858"/>
            <a:ext cx="9875520" cy="2145133"/>
          </a:xfrm>
          <a:prstGeom prst="rect">
            <a:avLst/>
          </a:prstGeom>
        </p:spPr>
      </p:pic>
      <p:sp>
        <p:nvSpPr>
          <p:cNvPr id="10" name="body 10"/>
          <p:cNvSpPr txBox="1"/>
          <p:nvPr/>
        </p:nvSpPr>
        <p:spPr>
          <a:xfrm>
            <a:off x="640080" y="4706583"/>
            <a:ext cx="1124712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u and u' are proportional to X and X' = R(X − t); the rotation cancels because R^T R = I.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X, t and X − t lie in one plane, the epipolar plane; X × t is its normal, so the product is zero.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Each pair of corresponding points gives one equation for the camera parameters R and 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For a fixed u, the points u' that satisfy it form a line: the epipolar line in the second image.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Calibration and stereo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Point matches determine R and the direction of t</a:t>
            </a:r>
          </a:p>
        </p:txBody>
      </p:sp>
      <p:pic>
        <p:nvPicPr>
          <p:cNvPr id="6" name="f_scale.png" descr="f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68" y="1225296"/>
            <a:ext cx="10424160" cy="2795451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185339"/>
            <a:ext cx="11247120" cy="1993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 has three parameters and t three, but scaling t leaves the epipolar constraint unchanged.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Only the direction of t can be found: five unknowns. The size of the scene is lost.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Each correspondence gives one equation; five in general position give up to ten solutions (Nistér).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Longuet-Higgins’s linear algorithm uses eight: E has nine entries, defined up to scale.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H. C. Longuet-Higgins, “A computer algorithm for reconstructing a scene from two projections,” Nature, 293:133–135, 1981.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D. Nistér, “An efficient solution to the five-point relative pose problem,” IEEE TPAMI, 26(6):756–770, 2004.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Calibration and stereo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fundamental matrix handles uncalibrated cameras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619016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F.png" descr="e_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951" y="1389888"/>
            <a:ext cx="8139793" cy="289832"/>
          </a:xfrm>
          <a:prstGeom prst="rect">
            <a:avLst/>
          </a:prstGeom>
        </p:spPr>
      </p:pic>
      <p:pic>
        <p:nvPicPr>
          <p:cNvPr id="8" name="f_zhang.png" descr="f_zha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768" y="1954040"/>
            <a:ext cx="10424160" cy="1870601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3989233"/>
            <a:ext cx="11247120" cy="2167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essential matrix needs normalized coordinates u: the focal length and image center must be known.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K, K': the 3 × 3 calibration matrices (focal length in pixels, image center); p: the coordinates in pixels.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Substituting u = K^-1 p and u' = K'^-1 p' gives F, which can be found from point matches alone.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Zhang (2000) finds K from several views of a planar pattern, such as a checkerboard.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O. D. Faugeras, “What can be seen in three dimensions with an uncalibrated stereo rig?” ECCV, LNCS 588, 563–578, 1992.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R. I. Hartley, “Estimation of relative camera positions for uncalibrated cameras,” ECCV, LNCS 588, 579–587, 1992.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Z. Zhang, “A flexible new technique for camera calibration,” IEEE TPAMI, 22(11):1330–1334, 2000.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  <p:sp>
        <p:nvSpPr>
          <p:cNvPr id="4" name="divnum 4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5" name="divname 5"/>
          <p:cNvSpPr txBox="1"/>
          <p:nvPr/>
        </p:nvSpPr>
        <p:spPr>
          <a:xfrm>
            <a:off x="2880360" y="822960"/>
            <a:ext cx="9052560" cy="221284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Structure from motion</a:t>
            </a:r>
          </a:p>
        </p:txBody>
      </p:sp>
      <p:sp>
        <p:nvSpPr>
          <p:cNvPr id="6" name="divsub 6"/>
          <p:cNvSpPr txBox="1"/>
          <p:nvPr/>
        </p:nvSpPr>
        <p:spPr>
          <a:xfrm>
            <a:off x="2944368" y="3401568"/>
            <a:ext cx="89611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Under linear projection the image points of a rigid object have rank three;</a:t>
            </a:r>
            <a:b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</a:b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the singular value decomposition (SVD) gives its shape and viewpoints.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Structure from motion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Structure from motion estimates shape and viewpoints</a:t>
            </a:r>
          </a:p>
        </p:txBody>
      </p:sp>
      <p:pic>
        <p:nvPicPr>
          <p:cNvPr id="6" name="f_sfm_views.png" descr="f_sfm_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429" y="1225296"/>
            <a:ext cx="10788838" cy="3240980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630868"/>
            <a:ext cx="1124712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We have a set of images, or views, of a rigid scene or a rigid object.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Simplest form: detect interest points in each image and correspond them between images.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Then calibrate the cameras, i.e. estimate the viewpoints, and estimate the shape of the object.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With linear projection, 3D structure can be estimated by linear algebra (the SVD).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Structure from motion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Under linear projection the measurements have rank three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1079347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sfm.png" descr="e_sf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451" y="1389888"/>
            <a:ext cx="8868792" cy="750163"/>
          </a:xfrm>
          <a:prstGeom prst="rect">
            <a:avLst/>
          </a:prstGeom>
        </p:spPr>
      </p:pic>
      <p:pic>
        <p:nvPicPr>
          <p:cNvPr id="8" name="f_rank.png" descr="f_ra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4008" y="2414371"/>
            <a:ext cx="6583680" cy="2103120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682083"/>
            <a:ext cx="1124712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N points X^n, detected and matched in M views; K^m and H^m are the projection rows of view m.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Image coordinates are measured from the centroid of the points in each view: no translation.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M × N matrix U of all the u coordinates is K (M × 3) times the shape X (3 × N): rank three.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Noise-free, the fourth and later singular values of U are zero; with noise they are small.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Structure from motion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 new view is a linear combination of known views</a:t>
            </a:r>
          </a:p>
        </p:txBody>
      </p:sp>
      <p:pic>
        <p:nvPicPr>
          <p:cNvPr id="6" name="f_lincomb.png" descr="f_linco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68" y="1225296"/>
            <a:ext cx="10424160" cy="2926080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315968"/>
            <a:ext cx="11247120" cy="1819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u and v of every view lie in the 3D space spanned by the three rows of X (Ullman and Basri).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Two views give four rows (their u and v), which span this space.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So the coordinates of any new view are linear combinations of those in two model views.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Recognition: an object is recognized if a linear combination of its model views fits the image.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S. Ullman and R. Basri, “Recognition by linear combinations of models,” IEEE TPAMI, 13(10):992–1006, 1991.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Structure from motion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Structure from motion as least squares: a bilinear problem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1101265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energy.png" descr="e_ener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4987" y="1389888"/>
            <a:ext cx="7101721" cy="772081"/>
          </a:xfrm>
          <a:prstGeom prst="rect">
            <a:avLst/>
          </a:prstGeom>
        </p:spPr>
      </p:pic>
      <p:pic>
        <p:nvPicPr>
          <p:cNvPr id="8" name="f_als.png" descr="f_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4008" y="2436289"/>
            <a:ext cx="6583680" cy="2103120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704001"/>
            <a:ext cx="1124712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observations are corrupted by additive zero-mean Gaussian noise: minimize E over K, H and X.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Rotating the object and the coordinate system together does not change E: an ambiguity.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Simpler case E(K, X), the u terms only: if K is known the solution for X is linear, and vice versa.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E(K, X) is non-convex but has no local minima, only saddle points: steepest descent finds the minimum.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Structure from motion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singular value decomposition gives the global minimum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1515715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svd.png" descr="e_sv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8162" y="1389888"/>
            <a:ext cx="6315372" cy="310073"/>
          </a:xfrm>
          <a:prstGeom prst="rect">
            <a:avLst/>
          </a:prstGeom>
        </p:spPr>
      </p:pic>
      <p:pic>
        <p:nvPicPr>
          <p:cNvPr id="8" name="e_svdsol.png" descr="e_svds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6636" y="1827977"/>
            <a:ext cx="6498423" cy="748441"/>
          </a:xfrm>
          <a:prstGeom prst="rect">
            <a:avLst/>
          </a:prstGeom>
        </p:spPr>
      </p:pic>
      <p:pic>
        <p:nvPicPr>
          <p:cNvPr id="9" name="f_svd.png" descr="f_sv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2874" y="2850739"/>
            <a:ext cx="9325947" cy="1688841"/>
          </a:xfrm>
          <a:prstGeom prst="rect">
            <a:avLst/>
          </a:prstGeom>
        </p:spPr>
      </p:pic>
      <p:sp>
        <p:nvSpPr>
          <p:cNvPr id="10" name="body 10"/>
          <p:cNvSpPr txBox="1"/>
          <p:nvPr/>
        </p:nvSpPr>
        <p:spPr>
          <a:xfrm>
            <a:off x="640080" y="4704171"/>
            <a:ext cx="1124712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Letters reused: U = E D F^T is the SVD of U; E, F orthogonal; D diagonal, δ_ij = 1 if i = j, else 0.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Columns of E and F: eigenvectors of UU^T and U^T U; d_1 ≥ d_2 ≥ d_3 ≥ ... ≥ 0: the singular values.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e_k(m), f_k(n): the first three columns of E and F; D_3: the top 3 × 3 block of D; P, Q: 3 × 3 matrices.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Keeping the three largest singular values gives the best rank-three fit: the global minimum of E(K, X).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Structure from motion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Orthogonality constraints leave an orthogonal ambiguity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649942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amb.png" descr="e_a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957" y="1389888"/>
            <a:ext cx="9531782" cy="320758"/>
          </a:xfrm>
          <a:prstGeom prst="rect">
            <a:avLst/>
          </a:prstGeom>
        </p:spPr>
      </p:pic>
      <p:pic>
        <p:nvPicPr>
          <p:cNvPr id="8" name="f_metric.png" descr="f_metr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768" y="1984966"/>
            <a:ext cx="10424160" cy="2100507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250066"/>
            <a:ext cx="11247120" cy="20299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K: the M × 3 matrix of rows K^m; X: the 3 × N matrix of points X^n. Any invertible A also fits.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Part of this ambiguity is the rotation of the object and the coordinate system.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Stack the u and v rows into one 2M × N matrix: a single SVD gives K, H and the same shape X.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Then impose, for every view m, that K^m and H^m are orthogonal and of equal length.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Then A is orthogonal up to a scale: a rotation, possibly with a mirror reflection in depth.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Structure from motion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Factorization recovers shape from real and synthetic views</a:t>
            </a:r>
          </a:p>
        </p:txBody>
      </p:sp>
      <p:pic>
        <p:nvPicPr>
          <p:cNvPr id="6" name="r_house.png" descr="r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744" y="1225296"/>
            <a:ext cx="3675888" cy="2651760"/>
          </a:xfrm>
          <a:prstGeom prst="rect">
            <a:avLst/>
          </a:prstGeom>
        </p:spPr>
      </p:pic>
      <p:pic>
        <p:nvPicPr>
          <p:cNvPr id="7" name="f_recon.png" descr="f_re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832" y="1225296"/>
            <a:ext cx="6675120" cy="2651760"/>
          </a:xfrm>
          <a:prstGeom prst="rect">
            <a:avLst/>
          </a:prstGeom>
        </p:spPr>
      </p:pic>
      <p:sp>
        <p:nvSpPr>
          <p:cNvPr id="8" name="body 8"/>
          <p:cNvSpPr txBox="1"/>
          <p:nvPr/>
        </p:nvSpPr>
        <p:spPr>
          <a:xfrm>
            <a:off x="640080" y="4041648"/>
            <a:ext cx="11247120" cy="1993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Tomasi and Kanade: four frames of a house sequence, the tracked features and the recovered shape.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algorithm was first found by Kontsevich et al. (1987) and reinvented by Tomasi and Kanade.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It can be extended to perspective projection, but this requires a more complex algorithm.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Synthetic house: from twelve noisy views, the shape is recovered up to rotation, scale and reflection.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C. Tomasi and T. Kanade, “Shape and motion from image streams under orthography: a factorization method,” IJCV, 9(2):137–154, 1992.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L. L. Kontsevich, M. L. Kontsevich and A. Kh. Shen, “Two algorithms of shape reconstruction,” Avtometriya, no. 5, 72–77, 1987.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Structure from motion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Non-rigid shapes as linear sums of basis shapes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1086160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nonrigid.png" descr="e_nonrig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445" y="1389888"/>
            <a:ext cx="6678804" cy="756976"/>
          </a:xfrm>
          <a:prstGeom prst="rect">
            <a:avLst/>
          </a:prstGeom>
        </p:spPr>
      </p:pic>
      <p:pic>
        <p:nvPicPr>
          <p:cNvPr id="8" name="f_nonrigid.png" descr="f_nonrig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768" y="2421184"/>
            <a:ext cx="10424160" cy="1781774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367550"/>
            <a:ext cx="11247120" cy="1819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special class of non-rigid motion: the object is a linear sum of d basis shapes b_i (point n: b_i^n).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coefficients α_i^m of the basis shapes vary with time, the frame m.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Each frame contributes d rigid-like terms, so the measurements have rank at most 3d.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This approach was developed by Bregler, Hertzmann and Biermann (2000).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C. Bregler, A. Hertzmann and H. Biermann, “Recovering non-rigid 3D shape from image streams,” CVPR, 690–696, 2000.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Structure from motion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non-rigid ambiguities are only coordinate changes</a:t>
            </a:r>
          </a:p>
        </p:txBody>
      </p:sp>
      <p:pic>
        <p:nvPicPr>
          <p:cNvPr id="6" name="f_basis.png" descr="f_ba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68" y="1225296"/>
            <a:ext cx="10424160" cy="2513294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903182"/>
            <a:ext cx="11247120" cy="22494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Researchers first made unnecessary assumptions, thinking there were ambiguities in b, α, K and H.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It was realized that these were only coordinate changes.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This led to theoretically very attractive algorithms (Dai, Li and He, 2012), but they are complex.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They are not guaranteed to reach the global minimum, and apply to limited types of motion.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For example, they cannot deal with articulated objects like humans and animals.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Y. Dai, H. Li and M. He, “A simple prior-free method for non-rigid structure-from-motion factorization,” CVPR, 2018–2025, 2012.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  <p:sp>
        <p:nvSpPr>
          <p:cNvPr id="4" name="divnum 4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5" name="divname 5"/>
          <p:cNvSpPr txBox="1"/>
          <p:nvPr/>
        </p:nvSpPr>
        <p:spPr>
          <a:xfrm>
            <a:off x="2880360" y="822960"/>
            <a:ext cx="9052560" cy="221284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Geometric priors</a:t>
            </a:r>
          </a:p>
        </p:txBody>
      </p:sp>
      <p:sp>
        <p:nvSpPr>
          <p:cNvPr id="6" name="divsub 6"/>
          <p:cNvSpPr txBox="1"/>
          <p:nvPr/>
        </p:nvSpPr>
        <p:spPr>
          <a:xfrm>
            <a:off x="2944368" y="3401568"/>
            <a:ext cx="89611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The ground plane and the three axes of Manhattan World let one image</a:t>
            </a:r>
            <a:b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</a:b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reveal geometry; when they fail, as in the Ames room, perception errs.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Geometric priors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Painters exploited vanishing points to give depth</a:t>
            </a:r>
          </a:p>
        </p:txBody>
      </p:sp>
      <p:pic>
        <p:nvPicPr>
          <p:cNvPr id="6" name="f_alberti.png" descr="f_alber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68" y="1225296"/>
            <a:ext cx="10424160" cy="2602121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992009"/>
            <a:ext cx="11247120" cy="20299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European painters used vanishing points to give their pictures the impression of 3D depth.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This started from crude attempts by Giotto.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Computer vision used this to find the 3D structure of objects with enough vanishing points.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Gravity makes one axis of trees, cars and people vertical; vanishing points help to detect the ground.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tiled floor: the lines going into depth (orthogonals) meet at one point; tiles shrink toward the horizon.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Geometric priors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Ames room breaks the assumptions of perspective</a:t>
            </a:r>
          </a:p>
        </p:txBody>
      </p:sp>
      <p:pic>
        <p:nvPicPr>
          <p:cNvPr id="6" name="f_ames.png" descr="f_a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68" y="1225296"/>
            <a:ext cx="10424160" cy="2926080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315968"/>
            <a:ext cx="11247120" cy="1819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Humans obtain depth from perspective, but these cues make strong assumptions about the scene.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If the assumptions are invalid, human perception makes mistakes.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Ames room looks like a real room from its viewpoint, but its far wall recedes on one side.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This fools humans: people seem to change in size when they move across the room.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W. H. Ittelson, The Ames Demonstrations in Perception, Princeton University Press, 1952.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37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Geometric priors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Manhattan World: man-made scenes have three main axes</a:t>
            </a:r>
          </a:p>
        </p:txBody>
      </p:sp>
      <p:pic>
        <p:nvPicPr>
          <p:cNvPr id="6" name="f_manhattan.png" descr="f_manhatt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68" y="1225296"/>
            <a:ext cx="10424160" cy="2743200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133088"/>
            <a:ext cx="11247120" cy="1993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Man-made scenes often have three dominant axes, perpendicular to each other: Manhattan World.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It gives the orientation of the camera with respect to this natural coordinate system of the scene.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Either by finding the vanishing points (up to three), or from the statistics of the edge orientations.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statistics assume that most edges come from the three dominant axes.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J. M. Coughlan and A. L. Yuille, “Manhattan World: orientation and outlier detection by Bayesian inference,”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Computation, 15(5):1063–1088, 2003.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38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Geometric priors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Bayesian inference finds the compass angle from edges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1096627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mw.png" descr="e_m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992" y="1389888"/>
            <a:ext cx="8135711" cy="767443"/>
          </a:xfrm>
          <a:prstGeom prst="rect">
            <a:avLst/>
          </a:prstGeom>
        </p:spPr>
      </p:pic>
      <p:pic>
        <p:nvPicPr>
          <p:cNvPr id="8" name="f_compass.png" descr="f_com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768" y="2431651"/>
            <a:ext cx="10424160" cy="1698171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294414"/>
            <a:ext cx="11247120" cy="1819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Every pixel, at position u, gives its edge strength E_u and gradient direction φ_u: the vector E_u.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Hidden m_u: edge of axis 1, 2, 3 (vertical), random edge or no edge (prior 0.02, 0.02, 0.02, 0.04, 0.9).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An axis edge points to its axis’s vanishing point, which moves with the compass angle Ψ.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Sum over m_u, multiply over the pixels, search over Ψ: within 5° on 23 of 25 indoor images.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J. M. Coughlan and A. L. Yuille, “Manhattan World: compass direction from a single image by Bayesian inference,” ICCV, 941–947, 1999.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39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Geometric priors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Planes aligned to the three axes are a prior for stereo</a:t>
            </a:r>
          </a:p>
        </p:txBody>
      </p:sp>
      <p:pic>
        <p:nvPicPr>
          <p:cNvPr id="6" name="f_normals.png" descr="f_norm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68" y="1225296"/>
            <a:ext cx="10424160" cy="3380667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770555"/>
            <a:ext cx="11247120" cy="1389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Manhattan World extended: the world often consists of planar surfaces aligned to the three axes.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This has been used as a prior for stereo, e.g. with many views (Furukawa et al.).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Every surface normal is one of three directions, so depth is piecewise planar.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Y. Furukawa, B. Curless, S. M. Seitz and R. Szeliski, “Manhattan-world stereo,” CVPR, 1422–1429, 2009.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40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Geometric priors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Structured scenes reveal their 3D geometry in a single image</a:t>
            </a:r>
          </a:p>
        </p:txBody>
      </p:sp>
      <p:pic>
        <p:nvPicPr>
          <p:cNvPr id="6" name="f_blocks.png" descr="f_b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68" y="1225296"/>
            <a:ext cx="10424160" cy="2513294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903182"/>
            <a:ext cx="11247120" cy="2167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classic blocks world is constructed by placing a set of blocks on the ground.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Analyzing the boundaries of the blocks determined their three-dimensional structure.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Each junction (L, arrow, Y, T) allows only a few 3D readings; junctions that share an edge must agree.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It was extended to cities: inverting a regular enough grammar of the scene can give its 3D structure.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L. G. Roberts, “Machine perception of three-dimensional solids,” PhD thesis, MIT, 1963.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D. A. Huffman, “Impossible objects as nonsense sentences,” in Machine Intelligence 6, Edinburgh University Press, 295–323, 1971.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M. B. Clowes, “On seeing things,” Artificial Intelligence, 2:79–116, 1971.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Geometry and Vision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41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Geometric priors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Summary</a:t>
            </a:r>
          </a:p>
        </p:txBody>
      </p:sp>
      <p:sp>
        <p:nvSpPr>
          <p:cNvPr id="6" name="summary 6"/>
          <p:cNvSpPr txBox="1"/>
          <p:nvPr/>
        </p:nvSpPr>
        <p:spPr>
          <a:xfrm>
            <a:off x="640080" y="1481328"/>
            <a:ext cx="112471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Pinhole camera: u = −f (r · a)/(r · c). Dividing by depth keeps lines straight, makes parallels converge.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All lines with one direction share a vanishing point, unless they are perpendicular to the gaze.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Scaled orthographic and affine cameras approximate projection linearly, and lose the vanishing points.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Stereo needs calibration; corresponding points lie on corresponding epipolar lines.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Essential matrix: u'^T E u = 0 gives R and the direction of t; the fundamental matrix F works in pixels.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Rigid structure from motion: the measurements have rank three; the SVD gives shape and viewpoints.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Non-rigid motion as sums of d basis shapes has rank at most 3d; its ambiguities are coordinate changes.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Geometric priors (ground plane, Manhattan World) give geometry from one image, if they hold.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809</TotalTime>
  <Words>3779</Words>
  <Application>Microsoft Macintosh PowerPoint</Application>
  <PresentationFormat>Widescreen</PresentationFormat>
  <Paragraphs>330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Geometry and Motion: Stereo, Structure from Motion</dc:title>
  <dc:subject/>
  <dc:creator>Alan Yuille</dc:creator>
  <cp:keywords/>
  <dc:description/>
  <cp:lastModifiedBy>Jeremy Chen</cp:lastModifiedBy>
  <cp:revision>1</cp:revision>
  <dcterms:created xsi:type="dcterms:W3CDTF">2013-01-27T09:14:16Z</dcterms:created>
  <dcterms:modified xsi:type="dcterms:W3CDTF">2026-10-25T12:00:00Z</dcterms:modified>
  <cp:category/>
</cp:coreProperties>
</file>