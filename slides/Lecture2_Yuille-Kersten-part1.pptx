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C5F8D"/>
                </a:solidFill>
                <a:latin typeface="Helvetica Neue"/>
              </a:rPr>
              <a:t>Computer Vision and Its Relationship</a:t>
            </a:r>
          </a:p>
          <a:p>
            <a:pPr algn="ctr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 i="0">
                <a:solidFill>
                  <a:srgbClr val="2C5F8D"/>
                </a:solidFill>
                <a:latin typeface="Helvetica Neue"/>
              </a:rPr>
              <a:t>to Cognitive Science</a:t>
            </a:r>
          </a:p>
          <a:p>
            <a:pPr algn="ctr">
              <a:lnSpc>
                <a:spcPct val="106000"/>
              </a:lnSpc>
              <a:spcBef>
                <a:spcPts val="1600"/>
              </a:spcBef>
              <a:spcAft>
                <a:spcPts val="0"/>
              </a:spcAft>
            </a:pPr>
            <a:r>
              <a:rPr sz="2000" b="0" i="0">
                <a:solidFill>
                  <a:srgbClr val="4B5563"/>
                </a:solidFill>
                <a:latin typeface="Helvetica Neue"/>
              </a:rPr>
              <a:t>A Perspective from Bayes Decision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3803904"/>
            <a:ext cx="5973775" cy="1524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03628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11827"/>
                </a:solidFill>
                <a:latin typeface="Helvetica Neue"/>
              </a:rPr>
              <a:t>Alan Yuille   ·   Dan Kersten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892040"/>
            <a:ext cx="9265615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Helvetica Neue"/>
              </a:rPr>
              <a:t>Slides covering pp. 1–10: from vision systems and the Bayesian perspective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Helvetica Neue"/>
              </a:rPr>
              <a:t>through the vision modules to Bayes Decision Theory, benchmarking,</a:t>
            </a:r>
          </a:p>
          <a:p>
            <a:pPr algn="ctr">
              <a:lnSpc>
                <a:spcPct val="106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Helvetica Neue"/>
              </a:rPr>
              <a:t>and Ideal Observer Theory.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Overview   |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989320" cy="4023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An introduction to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computer vision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and its relationship to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cognitive science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seen through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Bayes Decision Theory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(Berger 1985).</a:t>
            </a:r>
          </a:p>
          <a:p>
            <a:pPr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Vision is a vast and complex field, so this is a deliberately narrow scope: a </a:t>
            </a:r>
            <a:r>
              <a:rPr sz="1600" b="0" i="1">
                <a:solidFill>
                  <a:srgbClr val="111827"/>
                </a:solidFill>
                <a:latin typeface="Helvetica Neue"/>
              </a:rPr>
              <a:t>theoretical lens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which captures many of the key concepts.</a:t>
            </a:r>
          </a:p>
          <a:p>
            <a:pPr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BDT is rich enough to include two very different approaches.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207008"/>
            <a:ext cx="4876495" cy="365760"/>
          </a:xfrm>
          <a:prstGeom prst="roundRect">
            <a:avLst>
              <a:gd name="adj" fmla="val 20000"/>
            </a:avLst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0" y="1499616"/>
            <a:ext cx="4876495" cy="146304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1572768"/>
            <a:ext cx="4876495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0296" y="1234440"/>
            <a:ext cx="4620463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(i)  The Bayesian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0296" y="1636776"/>
            <a:ext cx="4620463" cy="11064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Helvetica Neue"/>
              </a:rPr>
              <a:t>A conceptually attractive framework for vision, with concepts that resonate with Cognitive Science (Griffiths et al. 2024).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990088"/>
            <a:ext cx="4876495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3282696"/>
            <a:ext cx="4876495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3355848"/>
            <a:ext cx="4876495" cy="160020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0296" y="3017520"/>
            <a:ext cx="4620463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(ii)  The Deep Network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6" y="3419856"/>
            <a:ext cx="4620463" cy="147218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Helvetica Neue"/>
              </a:rPr>
              <a:t>Real-world successes that made Computer Vision a trillion-dollar industry; motivated by the hierarchical structure of the visual ventral stream.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BDT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relates and captures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the strengths and weaknesses of these two approaches — and by discussing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limitations of BDT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it points the way to how they can be combined in a richer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Overview   |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31860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1.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Vision systems and human perception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2.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Three levels of explanation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3.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The Bayesian perspective on vision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4.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Modularity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5.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Stereo, motion, and structure from motion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6.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Image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1664208"/>
            <a:ext cx="531860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7.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Shape from shading and texture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8.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Coupling visual cues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9.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Inference algorithms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10.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Bayes and its extensions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11.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Object recognition and high-level vision</a:t>
            </a:r>
          </a:p>
          <a:p>
            <a:pPr>
              <a:lnSpc>
                <a:spcPct val="105000"/>
              </a:lnSpc>
              <a:spcBef>
                <a:spcPts val="1500"/>
              </a:spcBef>
            </a:pPr>
            <a:r>
              <a:rPr sz="1700" b="1">
                <a:solidFill>
                  <a:srgbClr val="2C5F8D"/>
                </a:solidFill>
                <a:latin typeface="Helvetica Neue"/>
              </a:rPr>
              <a:t>12.   </a:t>
            </a:r>
            <a:r>
              <a:rPr sz="1700">
                <a:solidFill>
                  <a:srgbClr val="111827"/>
                </a:solidFill>
                <a:latin typeface="Helvetica Neue"/>
              </a:rPr>
              <a:t>Bayes Decision Theory, datasets, ideal observers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Vision Systems and Human Perception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Vision Systems   |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85855" cy="3931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The goal of a vision system is to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infer information about the world from images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captured by cameras or human eyes. This is a profoundly difficult task.</a:t>
            </a:r>
          </a:p>
          <a:p>
            <a:pPr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The human ability to interpret visual data has been called our </a:t>
            </a:r>
            <a:r>
              <a:rPr sz="1600" b="1" i="0">
                <a:solidFill>
                  <a:srgbClr val="B91C1C"/>
                </a:solidFill>
                <a:latin typeface="Helvetica Neue"/>
              </a:rPr>
              <a:t>underappreciated superpower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Cognitive science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seeks to understand how humans accomplish this, while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computer vision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attempts to develop vision systems that perform this task in complex, real-world environments.</a:t>
            </a:r>
          </a:p>
          <a:p>
            <a:pPr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Both fields began to flourish in the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late 1970s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enabled by growing access to computational resources for exploring human and artificial intelligence.</a:t>
            </a:r>
          </a:p>
          <a:p>
            <a:pPr>
              <a:lnSpc>
                <a:spcPct val="106000"/>
              </a:lnSpc>
              <a:spcBef>
                <a:spcPts val="13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Both built on the long history of psychophysics of human perception and the growing understanding of the biology of vision — particularly the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hierarchical structure of the visual cortex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Computer vision researchers developed theories that perform well on complex real images, which required borrowing, adapting and exploiting tools from a range of disciplines: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signal processing, linear algebra, algorithms, pattern recognition, cybernetics, statistics, physics, and geometry.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Cognitive Science and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32104"/>
            <a:ext cx="11185855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B5563"/>
                </a:solidFill>
                <a:latin typeface="Helvetica Neue"/>
              </a:rPr>
              <a:t>Three levels of explanation (Marr &amp; Poggio; Marr 1982)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9786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Three Levels   |   5</a:t>
            </a:r>
          </a:p>
        </p:txBody>
      </p:sp>
      <p:pic>
        <p:nvPicPr>
          <p:cNvPr id="7" name="Picture 6" descr="fig_marr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73" y="1591056"/>
            <a:ext cx="1002294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What the Three Levels Bought Us — and What They Did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Three Levels   |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5391759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Helvetica Neue"/>
              </a:rPr>
              <a:t>What it enabled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5391759" cy="3291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8">
                <a:solidFill>
                  <a:srgbClr val="0F766E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Vision could be studied at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different levels of analysis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868">
                <a:solidFill>
                  <a:srgbClr val="0F766E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computational level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was particularly attractive to researchers who wanted theories for both human and computer vision, but who did not want to deal with the underlying biology.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868">
                <a:solidFill>
                  <a:srgbClr val="0F766E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Most computer vision researchers, however, had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limited interest in human perception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868">
                <a:solidFill>
                  <a:srgbClr val="0F766E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The computational/algorithmic distinction became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blurred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as computer vision increasingly relied on neural networks.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7015" y="1207008"/>
            <a:ext cx="5391759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1C1C"/>
                </a:solidFill>
                <a:latin typeface="Helvetica Neue"/>
              </a:rPr>
              <a:t>What it does not imply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7015" y="1591056"/>
            <a:ext cx="5391759" cy="3291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8">
                <a:solidFill>
                  <a:srgbClr val="B91C1C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It does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not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imply that computer vision should develop systems that mimic all aspects of human vision.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868">
                <a:solidFill>
                  <a:srgbClr val="B91C1C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Human vision remains the gold standard for many tasks — but there are situations where computer vision now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outperforms it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868">
                <a:solidFill>
                  <a:srgbClr val="B91C1C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Biological systems are constrained by limited memory and computational power, and evolved to perform tasks of value to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human survival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— not, for example, to detect tumours in CT images.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868">
                <a:solidFill>
                  <a:srgbClr val="B91C1C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Humans make mistakes machines would not: inattentional effects like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failing to see a gorilla in the room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due to attending elsewhere.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It is conjectured that the human visual system uses strategies which are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energy efficient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have evolved to perform those visual tasks relevant to our ancestors.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The Bayesian Perspective on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85855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Early vision scientists like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Helmholtz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and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Gregory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anticipated Bayes by showing that the human visual system combines both direct sensory processing with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prior knowledge about the world stored in memory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More precisely, Bayes formulates vision as an </a:t>
            </a:r>
            <a:r>
              <a:rPr sz="1600" b="1" i="0">
                <a:solidFill>
                  <a:srgbClr val="B91C1C"/>
                </a:solidFill>
                <a:latin typeface="Helvetica Neue"/>
              </a:rPr>
              <a:t>inverse inference problem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whose goal is to infer the state of the world  W  from an image  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88336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980944"/>
            <a:ext cx="5391759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54096"/>
            <a:ext cx="5391759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715768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Likelihood      P( I | W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118104"/>
            <a:ext cx="5135727" cy="6949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How the image is generated from the world state — the image-formation, or rendering,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2688336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7015" y="2980944"/>
            <a:ext cx="5391759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7015" y="3054096"/>
            <a:ext cx="5391759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031" y="2715768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Prior      P( W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3118104"/>
            <a:ext cx="5135727" cy="6949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The prior probability of the world state: knowledge about how the world tends to be.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041648"/>
            <a:ext cx="5699455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240">
            <a:solidFill>
              <a:srgbClr val="2C5F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041648"/>
            <a:ext cx="5699455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C5F8D"/>
                </a:solidFill>
                <a:latin typeface="Helvetica Neue"/>
              </a:rPr>
              <a:t>P( W | I )  =  P( I | W )  P( W )  /  P( I 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Bayes advocates selecting the  W  that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maximises the posterior probability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 P(W | I), combining evidence from the likelihood with evidence from the prior.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Vision as Inverse Computer 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8</a:t>
            </a:r>
          </a:p>
        </p:txBody>
      </p:sp>
      <p:pic>
        <p:nvPicPr>
          <p:cNvPr id="6" name="Picture 5" descr="fig_inverse_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73" y="1481328"/>
            <a:ext cx="8850749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41264"/>
            <a:ext cx="11185855" cy="731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577840"/>
            <a:ext cx="10893247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If the generative process P(I | W) is specified by a graphics engine, then vision is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inverse computer graphics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 The likelihood function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alone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is not sufficient to determine the world's state uniquely — prior knowledge is required to obtain a unique percept.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Prior × Likelihood → Posterior →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9</a:t>
            </a:r>
          </a:p>
        </p:txBody>
      </p:sp>
      <p:pic>
        <p:nvPicPr>
          <p:cNvPr id="6" name="Picture 5" descr="fig_bayes_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709928"/>
            <a:ext cx="11064240" cy="2356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Figure 1: Why the Likelihood Is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10</a:t>
            </a:r>
          </a:p>
        </p:txBody>
      </p:sp>
      <p:pic>
        <p:nvPicPr>
          <p:cNvPr id="6" name="Picture 5" descr="paper_fig1a_likelihood_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862" y="1316736"/>
            <a:ext cx="464397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315968"/>
            <a:ext cx="1118585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Helvetica Neue"/>
              </a:rPr>
              <a:t>Left: the image of a circle is consistent with the projection of many objects — a sphere, a cylinder, a disc, a cone, a truncated cone.
Right: of these, the sphere has high prior probability and also looks similar from many viewpoints, so it needs no accidental 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 likelihood puts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restrictions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on which objects can generate an image, but is not sufficient to yield a percept. This requires additional prior assumptions P(W) — supplemented by the assumption that the object is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not seen from an unusual viewpoint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 (Knill &amp; Richards, Ch. 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Figure 1 (right panel): From Image Data to Minimum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11</a:t>
            </a:r>
          </a:p>
        </p:txBody>
      </p:sp>
      <p:pic>
        <p:nvPicPr>
          <p:cNvPr id="6" name="Picture 5" descr="paper_fig1b_bd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8448"/>
            <a:ext cx="4655113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9553" y="1371600"/>
            <a:ext cx="5799222" cy="4206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Interpreting the image as 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planar two-dimensional object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: the likelihood (the black curve) is insufficient, and a prior is required for a unique percept.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</a:pPr>
            <a:r>
              <a:rPr sz="836">
                <a:solidFill>
                  <a:srgbClr val="2C5F8D"/>
                </a:solidFill>
                <a:latin typeface="Helvetica Neue"/>
              </a:rPr>
              <a:t>■  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350" b="1" i="0">
                <a:solidFill>
                  <a:srgbClr val="2C5F8D"/>
                </a:solidFill>
                <a:latin typeface="Helvetica Neue"/>
              </a:rPr>
              <a:t>blue gradient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 represents degrees of uncertainty due to noise in the data.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</a:pPr>
            <a:r>
              <a:rPr sz="836">
                <a:solidFill>
                  <a:srgbClr val="2C5F8D"/>
                </a:solidFill>
                <a:latin typeface="Helvetica Neue"/>
              </a:rPr>
              <a:t>■  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350" b="1" i="0">
                <a:solidFill>
                  <a:srgbClr val="111827"/>
                </a:solidFill>
                <a:latin typeface="Helvetica Neue"/>
              </a:rPr>
              <a:t>prior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 is that surfaces tend to be oriented away from the viewer and have shapes closer to a circle.</a:t>
            </a:r>
          </a:p>
          <a:p>
            <a:pPr>
              <a:lnSpc>
                <a:spcPct val="106000"/>
              </a:lnSpc>
              <a:spcBef>
                <a:spcPts val="900"/>
              </a:spcBef>
              <a:spcAft>
                <a:spcPts val="0"/>
              </a:spcAft>
            </a:pPr>
            <a:r>
              <a:rPr sz="836">
                <a:solidFill>
                  <a:srgbClr val="2C5F8D"/>
                </a:solidFill>
                <a:latin typeface="Helvetica Neue"/>
              </a:rPr>
              <a:t>■  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350" b="1" i="0">
                <a:solidFill>
                  <a:srgbClr val="111827"/>
                </a:solidFill>
                <a:latin typeface="Helvetica Neue"/>
              </a:rPr>
              <a:t>loss function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 prioritises accurate estimation of the 3D shape compared to orientation.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0F766E"/>
                </a:solidFill>
                <a:latin typeface="Helvetica Neue"/>
              </a:rPr>
              <a:t>●</a:t>
            </a:r>
            <a:r>
              <a:rPr sz="1300" b="0">
                <a:solidFill>
                  <a:srgbClr val="4B5563"/>
                </a:solidFill>
                <a:latin typeface="Helvetica Neue"/>
              </a:rPr>
              <a:t>  maximum prior      </a:t>
            </a:r>
            <a:r>
              <a:rPr sz="1300" b="1">
                <a:solidFill>
                  <a:srgbClr val="B91C1C"/>
                </a:solidFill>
                <a:latin typeface="Helvetica Neue"/>
              </a:rPr>
              <a:t>●</a:t>
            </a:r>
            <a:r>
              <a:rPr sz="1300" b="0">
                <a:solidFill>
                  <a:srgbClr val="4B5563"/>
                </a:solidFill>
                <a:latin typeface="Helvetica Neue"/>
              </a:rPr>
              <a:t>  maximum posterior      </a:t>
            </a:r>
            <a:r>
              <a:rPr sz="1300" b="1">
                <a:solidFill>
                  <a:srgbClr val="2C5F8D"/>
                </a:solidFill>
                <a:latin typeface="Helvetica Neue"/>
              </a:rPr>
              <a:t>●</a:t>
            </a:r>
            <a:r>
              <a:rPr sz="1300" b="0">
                <a:solidFill>
                  <a:srgbClr val="4B5563"/>
                </a:solidFill>
                <a:latin typeface="Helvetica Neue"/>
              </a:rPr>
              <a:t>  minimum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Human Vision Does Approximate Inverse 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12</a:t>
            </a:r>
          </a:p>
        </p:txBody>
      </p:sp>
      <p:pic>
        <p:nvPicPr>
          <p:cNvPr id="6" name="Picture 5" descr="paper_fig2_lev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7048"/>
            <a:ext cx="5806440" cy="32554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73981"/>
            <a:ext cx="58064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B5563"/>
                </a:solidFill>
                <a:latin typeface="Helvetica Neue"/>
              </a:rPr>
              <a:t>Figure 2: illusions of levitation and flying carpets.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298448"/>
            <a:ext cx="4967935" cy="4572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68">
                <a:solidFill>
                  <a:srgbClr val="2C5F8D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Many visual demonstrations suggest that humans are capable of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approximate inverse computer graphics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consistent with Bayes.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</a:pPr>
            <a:r>
              <a:rPr sz="868">
                <a:solidFill>
                  <a:srgbClr val="2C5F8D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Illusions of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“flying carpets”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“levitations”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are hard to explain without assuming humans are estimating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3D world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that generated the image — and in particular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positions of shadows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</a:pPr>
            <a:r>
              <a:rPr sz="868">
                <a:solidFill>
                  <a:srgbClr val="2C5F8D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The illusions arise from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accidental alignments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of shadows and other dark image regions.</a:t>
            </a:r>
          </a:p>
          <a:p>
            <a:pPr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</a:pPr>
            <a:r>
              <a:rPr sz="868">
                <a:solidFill>
                  <a:srgbClr val="2C5F8D"/>
                </a:solidFill>
                <a:latin typeface="Helvetica Neue"/>
              </a:rPr>
              <a:t>■  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Quantified in experimental settings like Kersten's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“ball in a box”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1600"/>
              </a:spcBef>
              <a:spcAft>
                <a:spcPts val="0"/>
              </a:spcAft>
            </a:pPr>
            <a:r>
              <a:rPr sz="1150" b="0" i="1">
                <a:solidFill>
                  <a:srgbClr val="4B5563"/>
                </a:solidFill>
                <a:latin typeface="Helvetica Neue"/>
              </a:rPr>
              <a:t>michaelbach.de/ot/     ·     kerstenlab.psych.umn.edu/demos/shadows/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Inverse Graphics Is Often Unnecessary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Bayesian Perspective   |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11185855" cy="3566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4">
                <a:solidFill>
                  <a:srgbClr val="2C5F8D"/>
                </a:solidFill>
                <a:latin typeface="Helvetica Neue"/>
              </a:rPr>
              <a:t>■  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The Bayesian perspective acknowledges that inverse computer graphics is </a:t>
            </a:r>
            <a:r>
              <a:rPr sz="1700" b="1" i="0">
                <a:solidFill>
                  <a:srgbClr val="111827"/>
                </a:solidFill>
                <a:latin typeface="Helvetica Neue"/>
              </a:rPr>
              <a:t>often unnecessary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 — for computer vision and for biological vision systems.</a:t>
            </a:r>
          </a:p>
          <a:p>
            <a:pPr>
              <a:lnSpc>
                <a:spcPct val="106000"/>
              </a:lnSpc>
              <a:spcBef>
                <a:spcPts val="1800"/>
              </a:spcBef>
              <a:spcAft>
                <a:spcPts val="0"/>
              </a:spcAft>
            </a:pPr>
            <a:r>
              <a:rPr sz="1054">
                <a:solidFill>
                  <a:srgbClr val="2C5F8D"/>
                </a:solidFill>
                <a:latin typeface="Helvetica Neue"/>
              </a:rPr>
              <a:t>■  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For many tasks — </a:t>
            </a:r>
            <a:r>
              <a:rPr sz="1700" b="0" i="1">
                <a:solidFill>
                  <a:srgbClr val="111827"/>
                </a:solidFill>
                <a:latin typeface="Helvetica Neue"/>
              </a:rPr>
              <a:t>playing baseball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, </a:t>
            </a:r>
            <a:r>
              <a:rPr sz="1700" b="0" i="1">
                <a:solidFill>
                  <a:srgbClr val="111827"/>
                </a:solidFill>
                <a:latin typeface="Helvetica Neue"/>
              </a:rPr>
              <a:t>driving a car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 — a vision system only needs to extract the information which is </a:t>
            </a:r>
            <a:r>
              <a:rPr sz="1700" b="1" i="0">
                <a:solidFill>
                  <a:srgbClr val="111827"/>
                </a:solidFill>
                <a:latin typeface="Helvetica Neue"/>
              </a:rPr>
              <a:t>relevant for the task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800"/>
              </a:spcBef>
              <a:spcAft>
                <a:spcPts val="0"/>
              </a:spcAft>
            </a:pPr>
            <a:r>
              <a:rPr sz="1054">
                <a:solidFill>
                  <a:srgbClr val="2C5F8D"/>
                </a:solidFill>
                <a:latin typeface="Helvetica Neue"/>
              </a:rPr>
              <a:t>■  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But the demonstrations suggest that humans can perform inverse computer graphics </a:t>
            </a:r>
            <a:r>
              <a:rPr sz="1700" b="1" i="0">
                <a:solidFill>
                  <a:srgbClr val="111827"/>
                </a:solidFill>
                <a:latin typeface="Helvetica Neue"/>
              </a:rPr>
              <a:t>approximately and as-needed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800"/>
              </a:spcBef>
              <a:spcAft>
                <a:spcPts val="0"/>
              </a:spcAft>
            </a:pPr>
            <a:r>
              <a:rPr sz="1054">
                <a:solidFill>
                  <a:srgbClr val="2C5F8D"/>
                </a:solidFill>
                <a:latin typeface="Helvetica Neue"/>
              </a:rPr>
              <a:t>■  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It has been hypothesised that this can be performed by a </a:t>
            </a:r>
            <a:r>
              <a:rPr sz="1700" b="1" i="0">
                <a:solidFill>
                  <a:srgbClr val="111827"/>
                </a:solidFill>
                <a:latin typeface="Helvetica Neue"/>
              </a:rPr>
              <a:t>bottom-up and top-down process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, exploiting the structure of the visual cortex and its huge number of top-down connections (Mumford 1992).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79008"/>
            <a:ext cx="10893247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Inverse graphics is a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capability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invoked when the task demands it — not an obligatory first step in every act of seeing.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Modularity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Modularity   |   14</a:t>
            </a:r>
          </a:p>
        </p:txBody>
      </p:sp>
      <p:pic>
        <p:nvPicPr>
          <p:cNvPr id="6" name="Picture 5" descr="paper_fig3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52728"/>
            <a:ext cx="5330136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90256" y="1435608"/>
            <a:ext cx="5398519" cy="4206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11827"/>
                </a:solidFill>
                <a:latin typeface="Helvetica Neue"/>
              </a:rPr>
              <a:t>The complexity of vision motivated researchers to break it down into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modular components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that could be studied separately (Marr 1982).</a:t>
            </a:r>
          </a:p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>
                <a:solidFill>
                  <a:srgbClr val="2C5F8D"/>
                </a:solidFill>
                <a:latin typeface="Helvetica Neue"/>
              </a:rPr>
              <a:t>(I)  </a:t>
            </a:r>
            <a:r>
              <a:rPr sz="1400" b="1">
                <a:solidFill>
                  <a:srgbClr val="111827"/>
                </a:solidFill>
                <a:latin typeface="Helvetica Neue"/>
              </a:rPr>
              <a:t>Binocular Stereo — </a:t>
            </a:r>
            <a:r>
              <a:rPr sz="1400">
                <a:solidFill>
                  <a:srgbClr val="111827"/>
                </a:solidFill>
                <a:latin typeface="Helvetica Neue"/>
              </a:rPr>
              <a:t>depth is estimated from two eyes.</a:t>
            </a:r>
          </a:p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>
                <a:solidFill>
                  <a:srgbClr val="2C5F8D"/>
                </a:solidFill>
                <a:latin typeface="Helvetica Neue"/>
              </a:rPr>
              <a:t>(II)  </a:t>
            </a:r>
            <a:r>
              <a:rPr sz="1400" b="1">
                <a:solidFill>
                  <a:srgbClr val="111827"/>
                </a:solidFill>
                <a:latin typeface="Helvetica Neue"/>
              </a:rPr>
              <a:t>Image Segmentation — </a:t>
            </a:r>
            <a:r>
              <a:rPr sz="1400">
                <a:solidFill>
                  <a:srgbClr val="111827"/>
                </a:solidFill>
                <a:latin typeface="Helvetica Neue"/>
              </a:rPr>
              <a:t>identifies and estimates the boundaries between a foreground and a background object.</a:t>
            </a:r>
          </a:p>
          <a:p>
            <a:pPr>
              <a:lnSpc>
                <a:spcPct val="108000"/>
              </a:lnSpc>
              <a:spcBef>
                <a:spcPts val="1100"/>
              </a:spcBef>
            </a:pPr>
            <a:r>
              <a:rPr sz="1400" b="1">
                <a:solidFill>
                  <a:srgbClr val="2C5F8D"/>
                </a:solidFill>
                <a:latin typeface="Helvetica Neue"/>
              </a:rPr>
              <a:t>(III)  </a:t>
            </a:r>
            <a:r>
              <a:rPr sz="1400" b="1">
                <a:solidFill>
                  <a:srgbClr val="111827"/>
                </a:solidFill>
                <a:latin typeface="Helvetica Neue"/>
              </a:rPr>
              <a:t>Object Recognition — </a:t>
            </a:r>
            <a:r>
              <a:rPr sz="1400">
                <a:solidFill>
                  <a:srgbClr val="111827"/>
                </a:solidFill>
                <a:latin typeface="Helvetica Neue"/>
              </a:rPr>
              <a:t>specifies the name of a viewed object.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These decompose even further into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depth from binocular stereo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structure from motion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shape from shading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and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shape from texture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What Modularity Made Possible — and What It Did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Modularity   |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91056"/>
            <a:ext cx="5391759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5391759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2588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Practical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28216"/>
            <a:ext cx="5135727" cy="8321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Modularity made it practical to develop Bayesian theories for some vision modules, by designing plausible likelihoods and priors.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7015" y="129844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7015" y="1591056"/>
            <a:ext cx="5391759" cy="14630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7015" y="1664208"/>
            <a:ext cx="5391759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5031" y="132588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Out of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31" y="1728216"/>
            <a:ext cx="5135727" cy="8321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But until recently it was not practical to do this for object recognition, let alone for full inverse computer graphics.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44368"/>
            <a:ext cx="11185855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4">
                <a:solidFill>
                  <a:srgbClr val="2C5F8D"/>
                </a:solidFill>
                <a:latin typeface="Helvetica Neue"/>
              </a:rPr>
              <a:t>■  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Even when annotated datasets became available, researchers </a:t>
            </a:r>
            <a:r>
              <a:rPr sz="1700" b="1" i="0">
                <a:solidFill>
                  <a:srgbClr val="111827"/>
                </a:solidFill>
                <a:latin typeface="Helvetica Neue"/>
              </a:rPr>
              <a:t>lacked the tools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 to learn these probabilities.</a:t>
            </a:r>
          </a:p>
          <a:p>
            <a:pPr>
              <a:lnSpc>
                <a:spcPct val="106000"/>
              </a:lnSpc>
              <a:spcBef>
                <a:spcPts val="1600"/>
              </a:spcBef>
              <a:spcAft>
                <a:spcPts val="0"/>
              </a:spcAft>
            </a:pPr>
            <a:r>
              <a:rPr sz="1054">
                <a:solidFill>
                  <a:srgbClr val="2C5F8D"/>
                </a:solidFill>
                <a:latin typeface="Helvetica Neue"/>
              </a:rPr>
              <a:t>■  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Instead they learnt the </a:t>
            </a:r>
            <a:r>
              <a:rPr sz="1700" b="1" i="0">
                <a:solidFill>
                  <a:srgbClr val="111827"/>
                </a:solidFill>
                <a:latin typeface="Helvetica Neue"/>
              </a:rPr>
              <a:t>posterior distributions directly</a:t>
            </a:r>
            <a:r>
              <a:rPr sz="1700" b="0" i="0">
                <a:solidFill>
                  <a:srgbClr val="111827"/>
                </a:solidFill>
                <a:latin typeface="Helvetica Neue"/>
              </a:rPr>
              <a:t>, by feedforward deep networks — as discussed later in the paper.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 tension between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modelling the generative process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learning the posterior directly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is the thread that runs through the rest of the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Modules: Binocular Stereo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Stereo &amp; Motion   |   16</a:t>
            </a:r>
          </a:p>
        </p:txBody>
      </p:sp>
      <p:pic>
        <p:nvPicPr>
          <p:cNvPr id="6" name="Picture 5" descr="fig_ste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472" y="1371600"/>
            <a:ext cx="712275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Early computer vision research focused on modular tasks like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depth from binocular stereo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optical flow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and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recovering 3D structure from motion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— all special cases of obtaining depth from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multiple image frames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The Correspondence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Stereo &amp; Motion   |   17</a:t>
            </a:r>
          </a:p>
        </p:txBody>
      </p:sp>
      <p:pic>
        <p:nvPicPr>
          <p:cNvPr id="6" name="Picture 5" descr="fig_correspo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53" y="1335024"/>
            <a:ext cx="8452789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41264"/>
            <a:ext cx="11185855" cy="731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577840"/>
            <a:ext cx="10893247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Analysing these tasks revealed a major challenge: pixels must be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matched across image frames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 This is </a:t>
            </a:r>
            <a:r>
              <a:rPr sz="1400" b="1" i="0">
                <a:solidFill>
                  <a:srgbClr val="B91C1C"/>
                </a:solidFill>
                <a:latin typeface="Helvetica Neue"/>
              </a:rPr>
              <a:t>ambiguous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requires assumptions about the structure of the world — that surfaces are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piecewise smooth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and that objects typically move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slowly and smoothly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Marr &amp; Poggio (1976): Stereo as Energy Minimisation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Stereo &amp; Motion   |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1185855" cy="6583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Early researchers formulated the stereo correspondence problem by an algorithm which, </a:t>
            </a:r>
            <a:r>
              <a:rPr sz="1600" b="0" i="1">
                <a:solidFill>
                  <a:srgbClr val="111827"/>
                </a:solidFill>
                <a:latin typeface="Helvetica Neue"/>
              </a:rPr>
              <a:t>with hindsight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minimises an energy function containing two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56816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49424"/>
            <a:ext cx="5391759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22576"/>
            <a:ext cx="5391759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984248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First term — 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386584"/>
            <a:ext cx="5135727" cy="74066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Depends on the input images: pixels in the left image must be matched to pixels in the right image with similar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1956816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7015" y="2249424"/>
            <a:ext cx="5391759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7015" y="2322576"/>
            <a:ext cx="5391759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031" y="1984248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Second term — the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2386584"/>
            <a:ext cx="5135727" cy="74066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Imposes smoothness on the correspondence, which translates into smoothness of the depth.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74136"/>
            <a:ext cx="11185855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2C5F8D"/>
                </a:solidFill>
                <a:latin typeface="Helvetica Neue"/>
              </a:rPr>
              <a:t>■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Similarly, models for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optical flow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(motion in the image) assume that the flow is </a:t>
            </a:r>
            <a:r>
              <a:rPr sz="1500" b="0" i="1">
                <a:solidFill>
                  <a:srgbClr val="111827"/>
                </a:solidFill>
                <a:latin typeface="Helvetica Neue"/>
              </a:rPr>
              <a:t>slow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(Ullman 1979) and, more generally, </a:t>
            </a:r>
            <a:r>
              <a:rPr sz="1500" b="0" i="1">
                <a:solidFill>
                  <a:srgbClr val="111827"/>
                </a:solidFill>
                <a:latin typeface="Helvetica Neue"/>
              </a:rPr>
              <a:t>slow and smooth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(Yuille &amp; Grzywacz 1987).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930">
                <a:solidFill>
                  <a:srgbClr val="2C5F8D"/>
                </a:solidFill>
                <a:latin typeface="Helvetica Neue"/>
              </a:rPr>
              <a:t>■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After correspondence had been found, the shape of an object could be estimated assuming it was moving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rigidly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(Ullman 1979). Efficient linear-algebra methods were developed to estimate object shape (Tomasi &amp; Kanade 1993).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Motion, Optical Flow, and Structure from Motion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Stereo &amp; Motion   |   19</a:t>
            </a:r>
          </a:p>
        </p:txBody>
      </p:sp>
      <p:pic>
        <p:nvPicPr>
          <p:cNvPr id="6" name="Picture 5" descr="fig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618488"/>
            <a:ext cx="10881360" cy="36014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From Energy Functions to Bayes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Stereo &amp; Motion   |   20</a:t>
            </a:r>
          </a:p>
        </p:txBody>
      </p:sp>
      <p:pic>
        <p:nvPicPr>
          <p:cNvPr id="6" name="Picture 5" descr="fig_energy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22" y="1481328"/>
            <a:ext cx="9902051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Energy-function theories align with Bayesian formulations via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Gibbs distributions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(Clark &amp; Yuille 1990): probabilities are the exponential of the negative energy. The first and second energy terms correspond to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likelihood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prior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 Priors on spatial properties are expressed as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Markov Random Fields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 Minimising energy = maximising probability = Bayesian inference (Knill &amp; Richards, Ch. 8, 1996).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Image Segmentation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Segmentation   |   21</a:t>
            </a:r>
          </a:p>
        </p:txBody>
      </p:sp>
      <p:pic>
        <p:nvPicPr>
          <p:cNvPr id="6" name="Picture 5" descr="fig_segmentation_m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27" y="1408176"/>
            <a:ext cx="10309641" cy="32461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116576"/>
            <a:ext cx="11185855" cy="11562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153152"/>
            <a:ext cx="10893247" cy="10830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Image segmentation decomposes images into regions which ideally correspond to objects. An influential explicitly Bayesian model used the assumption that images were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smooth within each region and discontinuous at the boundaries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(Geman &amp; Geman 1984). This restricted assumption was relaxed in later models — for example, by assuming the image regions are generated by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distinct probability distributions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(Zhu &amp; Yuille 1996).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Shape from Shading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Shading &amp; Texture   |   22</a:t>
            </a:r>
          </a:p>
        </p:txBody>
      </p:sp>
      <p:pic>
        <p:nvPicPr>
          <p:cNvPr id="6" name="Picture 5" descr="fig_sh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90" y="1353312"/>
            <a:ext cx="10612315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116576"/>
            <a:ext cx="11185855" cy="11562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153152"/>
            <a:ext cx="10893247" cy="10830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Researchers studied estimating the 3D shape of isolated objects from shading. The objects were restricted to having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constant texture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Lambertian reflection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used to model how image intensity depends on the shape of the object and the illumination. Estimating the shape was formulated as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energy minimisation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which could be reinterpreted as Bayes using a prior that the shape is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piecewise smooth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(Ikeuchi &amp; Horn 1981).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Shape from Shading Is Genuinely Ambiguous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Shading &amp; Texture   |   23</a:t>
            </a:r>
          </a:p>
        </p:txBody>
      </p:sp>
      <p:pic>
        <p:nvPicPr>
          <p:cNvPr id="6" name="Picture 5" descr="fig_cr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572768"/>
            <a:ext cx="10881360" cy="38289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Shape from Texture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Shading &amp; Texture   |   24</a:t>
            </a:r>
          </a:p>
        </p:txBody>
      </p:sp>
      <p:pic>
        <p:nvPicPr>
          <p:cNvPr id="6" name="Picture 5" descr="fi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64" y="1353312"/>
            <a:ext cx="9594166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For the related task of shape from texture, the theories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first filter out the shading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so that the image depends only on the projection of the texture patterns on the objects. The shape of the object can then be estimated by assuming that the texture was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evenly distributed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on the object's surface (Blake &amp; Marinos 1990; Knill &amp; Richards, Ch. 7, 1996).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Coupling Visual Cues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Coupling Cues   |   25</a:t>
            </a:r>
          </a:p>
        </p:txBody>
      </p:sp>
      <p:pic>
        <p:nvPicPr>
          <p:cNvPr id="6" name="Picture 5" descr="fig_cue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919" y="1408176"/>
            <a:ext cx="8483856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Bayes gives a conceptual framework to describe how multiple visual cues —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stereo, shading, and motion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— can be combined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optimally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by considering the uncertainty of each cue and their statistical dependencies (Clark &amp; Yuille 1990).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Weak and Strong 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Coupling Cues   |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1185855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61">
                <a:solidFill>
                  <a:srgbClr val="2C5F8D"/>
                </a:solidFill>
                <a:latin typeface="Helvetica Neue"/>
              </a:rPr>
              <a:t>■  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An influential theory (Marr 1982) proposed that visual cues were implemented </a:t>
            </a:r>
            <a:r>
              <a:rPr sz="1550" b="1" i="0">
                <a:solidFill>
                  <a:srgbClr val="111827"/>
                </a:solidFill>
                <a:latin typeface="Helvetica Neue"/>
              </a:rPr>
              <a:t>modularly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, and their results combined in representations like the </a:t>
            </a:r>
            <a:r>
              <a:rPr sz="1550" b="1" i="0">
                <a:solidFill>
                  <a:srgbClr val="111827"/>
                </a:solidFill>
                <a:latin typeface="Helvetica Neue"/>
              </a:rPr>
              <a:t>2½ D sketch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961">
                <a:solidFill>
                  <a:srgbClr val="2C5F8D"/>
                </a:solidFill>
                <a:latin typeface="Helvetica Neue"/>
              </a:rPr>
              <a:t>■  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Quantitative studies showed that some cues could be combined by </a:t>
            </a:r>
            <a:r>
              <a:rPr sz="1550" b="1" i="0">
                <a:solidFill>
                  <a:srgbClr val="111827"/>
                </a:solidFill>
                <a:latin typeface="Helvetica Neue"/>
              </a:rPr>
              <a:t>weighted averaging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 (Landy et al. 1996).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4144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734056"/>
            <a:ext cx="5391759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07208"/>
            <a:ext cx="5391759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46888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Weak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871216"/>
            <a:ext cx="5135727" cy="9235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The cues are statistically independent. Weighted linear averaging arises as the special case which assumes independence and Gaussian probabilities.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244144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7015" y="2734056"/>
            <a:ext cx="5391759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7015" y="2807208"/>
            <a:ext cx="5391759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031" y="246888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Strong coupling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2871216"/>
            <a:ext cx="5135727" cy="9235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The cues are not statistically independent, and must be fused jointly.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Bayes was able to account for psychophysics findings when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shading and texture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were combined (Bülthoff &amp; Mallot 1988), on different types of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texture cues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(Doya et al., Ch. 9, 2007), and for a range of other phenomena investigated by the nascent field of computer-graphics psychophysics (Knill &amp; Richards 1996; Ernst &amp; Banks 2002).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Inference Algorithms for Bayesian Theories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Inference   |  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1185855" cy="960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61">
                <a:solidFill>
                  <a:srgbClr val="2C5F8D"/>
                </a:solidFill>
                <a:latin typeface="Helvetica Neue"/>
              </a:rPr>
              <a:t>■  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Bayes </a:t>
            </a:r>
            <a:r>
              <a:rPr sz="1550" b="1" i="0">
                <a:solidFill>
                  <a:srgbClr val="111827"/>
                </a:solidFill>
                <a:latin typeface="Helvetica Neue"/>
              </a:rPr>
              <a:t>does not specify inference algorithms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 to estimate the most probable state of the posterior distribution (MAP).</a:t>
            </a:r>
          </a:p>
          <a:p>
            <a:pPr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</a:pPr>
            <a:r>
              <a:rPr sz="961">
                <a:solidFill>
                  <a:srgbClr val="2C5F8D"/>
                </a:solidFill>
                <a:latin typeface="Helvetica Neue"/>
              </a:rPr>
              <a:t>■  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But for several vision modules there are algorithms which are not only effective at approximately estimating MAP, but which are also </a:t>
            </a:r>
            <a:r>
              <a:rPr sz="1550" b="1" i="0">
                <a:solidFill>
                  <a:srgbClr val="B91C1C"/>
                </a:solidFill>
                <a:latin typeface="Helvetica Neue"/>
              </a:rPr>
              <a:t>neurally plausible</a:t>
            </a:r>
            <a:r>
              <a:rPr sz="155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95728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688336"/>
            <a:ext cx="3545738" cy="146304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61488"/>
            <a:ext cx="3545738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423160"/>
            <a:ext cx="3289706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Steepest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825496"/>
            <a:ext cx="3289706" cy="11064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Helvetica Neue"/>
              </a:rPr>
              <a:t>The simplest case: used for shape from shading (Ikeuchi &amp; Horn 1981).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395728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978" y="2688336"/>
            <a:ext cx="3545738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2978" y="2761488"/>
            <a:ext cx="3545738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994" y="2423160"/>
            <a:ext cx="3289706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Markov Random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994" y="2825496"/>
            <a:ext cx="3289706" cy="11064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Helvetica Neue"/>
              </a:rPr>
              <a:t>The context prior of weak spatial smoothness, modelled as an MRF (Geman &amp; Geman 1984; Clark &amp; Yuille 1990).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3036" y="2395728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3036" y="2688336"/>
            <a:ext cx="3545738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3036" y="2761488"/>
            <a:ext cx="3545738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1052" y="2423160"/>
            <a:ext cx="3289706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Mean field theory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1052" y="2825496"/>
            <a:ext cx="3289706" cy="110642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11827"/>
                </a:solidFill>
                <a:latin typeface="Helvetica Neue"/>
              </a:rPr>
              <a:t>A novel algorithm adapted from statistical physics, performing approximate inference for a range of tasks (Clark &amp; Yuille 1990).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Examples included a neurally plausible algorithm for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early visual cortex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(Koch et al. 1986), later found to be roughly consistent with some neuroscience studies (Doya et al., Ch. 8). Researchers also developed faster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learning-based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inference algorithms, but these are beyond the scope of the article.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Bayes and Its Extensions: Tracking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Extensions   |   28</a:t>
            </a:r>
          </a:p>
        </p:txBody>
      </p:sp>
      <p:pic>
        <p:nvPicPr>
          <p:cNvPr id="6" name="Picture 5" descr="fig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591056"/>
            <a:ext cx="10698480" cy="40037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From Tracking to Acting: Decision and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Extensions   |  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5855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Bayes can be naturally extended to combine information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over time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for tasks like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tracking objects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(Blake &amp; Yuille 1989) — and in particular by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Bayes–Kalman filters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(Isard &amp; Blake 1998).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It can also be extended to enable an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agent to control a system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by making a </a:t>
            </a:r>
            <a:r>
              <a:rPr sz="1600" b="0" i="1">
                <a:solidFill>
                  <a:srgbClr val="111827"/>
                </a:solidFill>
                <a:latin typeface="Helvetica Neue"/>
              </a:rPr>
              <a:t>sequence of decisions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This was exemplified by the seminal work of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Dickmanns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and collaborators on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dynamic scene understanding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which resulted in automated cars that could drive </a:t>
            </a:r>
            <a:r>
              <a:rPr sz="1600" b="1" i="0">
                <a:solidFill>
                  <a:srgbClr val="B91C1C"/>
                </a:solidFill>
                <a:latin typeface="Helvetica Neue"/>
              </a:rPr>
              <a:t>1,000 kilometres on the autobahn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(Blake &amp; Yuille, Ch. 18, 1992).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1304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105656"/>
            <a:ext cx="5391759" cy="146304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178808"/>
            <a:ext cx="5391759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84048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The vision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4242816"/>
            <a:ext cx="5135727" cy="74066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Detected intensity edges from images, corresponding to the boundaries of the roads and cars.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381304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7015" y="4105656"/>
            <a:ext cx="5391759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7015" y="4178808"/>
            <a:ext cx="5391759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031" y="384048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The control 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4242816"/>
            <a:ext cx="5135727" cy="74066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Applied decision and control theory to make optimal choices for how to steer the car, keep it in lane, and avoid other cars.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Object Recognition and High Level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Recognition   |   30</a:t>
            </a:r>
          </a:p>
        </p:txBody>
      </p:sp>
      <p:pic>
        <p:nvPicPr>
          <p:cNvPr id="6" name="Picture 5" descr="fig_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706" y="1527048"/>
            <a:ext cx="8630283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High-level vision tasks were typically studied on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simplified images of edges and features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 Ullman (1996) formulated object recognition as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aligning stored 3D object models with features in the 2D image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— which is consistent with Bayes — describing core problems such as dealing with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viewpoint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and proposing inference algorithms including 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counter-stream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approach related to analysis by synthesis.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Bayesian Models for Object Recognition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Recognition   |  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85855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This work describes other high-level vision problems, contains psychophysical studies, and describes earlier work representing 3D objects by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generalized cylinders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(Marr 1982) and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geons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(Biederman 1987).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An explicit Bayesian approach was formulated in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Liu et al. (1995)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which showed that models with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3D object representations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were more consistent with human performance than alternatives with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2D representations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Bayesian models for object recognition were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not developed for real images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because it is only recently becoming practical to specify </a:t>
            </a:r>
            <a:r>
              <a:rPr sz="1600" b="0" i="1">
                <a:solidFill>
                  <a:srgbClr val="111827"/>
                </a:solidFill>
                <a:latin typeface="Helvetica Neue"/>
              </a:rPr>
              <a:t>realistic likelihood functions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A notable exception: the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SMPL models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(Loper et al. 2023), which can represent the shape and pose of humans, and estimate shape by predicting the boundaries of the objects and the positions of key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79008"/>
            <a:ext cx="10893247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These classes of models can be used to model the experimental finding of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Johannsen (1973)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on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biological motion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Bayes Decision Theory (BDT)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 Decision Theory   |   32</a:t>
            </a:r>
          </a:p>
        </p:txBody>
      </p:sp>
      <p:pic>
        <p:nvPicPr>
          <p:cNvPr id="6" name="Picture 5" descr="fig_bd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40" y="1435608"/>
            <a:ext cx="9583615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22976"/>
            <a:ext cx="11185855" cy="7498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559552"/>
            <a:ext cx="10893247" cy="6766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Bayes is 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special case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of Bayes Decision Theory (Berger 1985): a normative approach to making decisions under uncertainty which, in addition to the probability distribution P(I, W), introduces 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decision rule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loss function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for making the wrong decision.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Why Loss Functions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 Decision Theory   |   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3383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BDT proposes that the decision rule should be chosen to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minimise the risk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 — the expectation of the loss function with respect to the probability of the data.</a:t>
            </a:r>
          </a:p>
          <a:p>
            <a:pPr>
              <a:lnSpc>
                <a:spcPct val="106000"/>
              </a:lnSpc>
              <a:spcBef>
                <a:spcPts val="170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If the loss function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penalises all errors equally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, then the best decision rule is the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MAP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, as in the Bayesian theories above.</a:t>
            </a:r>
          </a:p>
          <a:p>
            <a:pPr>
              <a:lnSpc>
                <a:spcPct val="106000"/>
              </a:lnSpc>
              <a:spcBef>
                <a:spcPts val="170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In practice, loss functions are needed because </a:t>
            </a:r>
            <a:r>
              <a:rPr sz="1650" b="1" i="0">
                <a:solidFill>
                  <a:srgbClr val="B91C1C"/>
                </a:solidFill>
                <a:latin typeface="Helvetica Neue"/>
              </a:rPr>
              <a:t>not all losses are equally costly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70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The MAP estimator is problematic when estimating a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continuous variable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, because it corresponds to penalising all errors equally — whether they are </a:t>
            </a:r>
            <a:r>
              <a:rPr sz="1650" b="0" i="1">
                <a:solidFill>
                  <a:srgbClr val="111827"/>
                </a:solidFill>
                <a:latin typeface="Helvetica Neue"/>
              </a:rPr>
              <a:t>infinitesimal or enormous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. This can be corrected by a loss function (Knill &amp; Richards, Ch. 4, 1996).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79008"/>
            <a:ext cx="10893247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 loss function is where the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task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enters the theory: it says which mistakes actually matter.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Figure 4: Bayesian Risk in Image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 Decision Theory   |   34</a:t>
            </a:r>
          </a:p>
        </p:txBody>
      </p:sp>
      <p:pic>
        <p:nvPicPr>
          <p:cNvPr id="6" name="Picture 5" descr="paper_fig4_bd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16" y="1481328"/>
            <a:ext cx="9262262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79008"/>
            <a:ext cx="10893247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risk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is the expected loss with respect to the distribution of W and I. The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empirical risk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is the average loss over data samples.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BDT in Practice: Two Ways to Use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 Decision Theory   |   35</a:t>
            </a:r>
          </a:p>
        </p:txBody>
      </p:sp>
      <p:pic>
        <p:nvPicPr>
          <p:cNvPr id="6" name="Picture 5" descr="fig_two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07" y="1371600"/>
            <a:ext cx="10193481" cy="38861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79008"/>
            <a:ext cx="10893247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BDT assumes that we know the probability distributions — but in practice all we have is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data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, which can be exploited in several ways.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Which Route Should We Take?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Bayes Decision Theory   | 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4416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36776"/>
            <a:ext cx="5391759" cy="14630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09928"/>
            <a:ext cx="5391759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7160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The argument for learning P(W | I)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73936"/>
            <a:ext cx="5135727" cy="119786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From the BDT perspective, the optimal decision rule depends only on the posterior P(W | I) — so arguably there is no need to learn the likelihood and the prior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7015" y="1344168"/>
            <a:ext cx="5391759" cy="365760"/>
          </a:xfrm>
          <a:prstGeom prst="roundRect">
            <a:avLst>
              <a:gd name="adj" fmla="val 20000"/>
            </a:avLst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7015" y="1636776"/>
            <a:ext cx="5391759" cy="146304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7015" y="1709928"/>
            <a:ext cx="5391759" cy="1325880"/>
          </a:xfrm>
          <a:prstGeom prst="rect">
            <a:avLst/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5031" y="1371600"/>
            <a:ext cx="5135727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The counterargument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31" y="1773936"/>
            <a:ext cx="5135727" cy="119786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11827"/>
                </a:solidFill>
                <a:latin typeface="Helvetica Neue"/>
              </a:rPr>
              <a:t>If data is limited, it may sometimes be easier to model the prior and likelihood — as illustrated by the vision modules described earlier, and by many cognitive examples (Griffiths et al. 2024).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8"/>
            <a:ext cx="11185855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92">
                <a:solidFill>
                  <a:srgbClr val="2C5F8D"/>
                </a:solidFill>
                <a:latin typeface="Helvetica Neue"/>
              </a:rPr>
              <a:t>■  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Moreover, as illustrated in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Konishi et al. (2003)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, the Bayesian approach can make it easy for an algorithm trained on one type of data — </a:t>
            </a:r>
            <a:r>
              <a:rPr sz="1600" b="0" i="1">
                <a:solidFill>
                  <a:srgbClr val="111827"/>
                </a:solidFill>
                <a:latin typeface="Helvetica Neue"/>
              </a:rPr>
              <a:t>images of house interiors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— to </a:t>
            </a:r>
            <a:r>
              <a:rPr sz="1600" b="1" i="0">
                <a:solidFill>
                  <a:srgbClr val="111827"/>
                </a:solidFill>
                <a:latin typeface="Helvetica Neue"/>
              </a:rPr>
              <a:t>generalise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 and perform well on other data — </a:t>
            </a:r>
            <a:r>
              <a:rPr sz="1600" b="0" i="1">
                <a:solidFill>
                  <a:srgbClr val="111827"/>
                </a:solidFill>
                <a:latin typeface="Helvetica Neue"/>
              </a:rPr>
              <a:t>images of the countryside</a:t>
            </a:r>
            <a:r>
              <a:rPr sz="160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42432"/>
            <a:ext cx="11185855" cy="53035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779008"/>
            <a:ext cx="10893247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Neural networks were often trained to learn the conditional distribution P(W | I), which is a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special case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of the empirical-risk route.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Datasets: Testing and Benchmarking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Datasets &amp; Ideal Observers   |   37</a:t>
            </a:r>
          </a:p>
        </p:txBody>
      </p:sp>
      <p:pic>
        <p:nvPicPr>
          <p:cNvPr id="6" name="Picture 5" descr="fig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84" y="1408176"/>
            <a:ext cx="9036526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Computer vision algorithms are evaluated, and compared to alternative theories, by their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average loss on testing datasets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which consist of data from the same underlying source. In general, algorithms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struggle to generalise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and perform well on data that comes from another source which differs significantly from the training data.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How Vision Scientists Evaluate Theories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Datasets &amp; Ideal Observers   |   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3291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Vision scientists evaluate theories in a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similar way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: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188">
                <a:solidFill>
                  <a:srgbClr val="D97706"/>
                </a:solidFill>
                <a:latin typeface="Helvetica Neue"/>
              </a:rPr>
              <a:t>        •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decision rule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is replaced by the </a:t>
            </a:r>
            <a:r>
              <a:rPr sz="1500" b="0" i="1">
                <a:solidFill>
                  <a:srgbClr val="111827"/>
                </a:solidFill>
                <a:latin typeface="Helvetica Neue"/>
              </a:rPr>
              <a:t>prediction of the theory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;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188">
                <a:solidFill>
                  <a:srgbClr val="D97706"/>
                </a:solidFill>
                <a:latin typeface="Helvetica Neue"/>
              </a:rPr>
              <a:t>        •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the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loss function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measures the difference between the prediction and the </a:t>
            </a:r>
            <a:r>
              <a:rPr sz="1500" b="0" i="1">
                <a:solidFill>
                  <a:srgbClr val="111827"/>
                </a:solidFill>
                <a:latin typeface="Helvetica Neue"/>
              </a:rPr>
              <a:t>response of a human subject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One significant difference: vision scientists use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experimental design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 and test their theories on data from a variety of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controlled sources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.</a:t>
            </a:r>
          </a:p>
          <a:p>
            <a:pPr>
              <a:lnSpc>
                <a:spcPct val="106000"/>
              </a:lnSpc>
              <a:spcBef>
                <a:spcPts val="1500"/>
              </a:spcBef>
              <a:spcAft>
                <a:spcPts val="0"/>
              </a:spcAft>
            </a:pPr>
            <a:r>
              <a:rPr sz="1023">
                <a:solidFill>
                  <a:srgbClr val="2C5F8D"/>
                </a:solidFill>
                <a:latin typeface="Helvetica Neue"/>
              </a:rPr>
              <a:t>■  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For example, a theory of object recognition may be tested on two different datasets — the first emphasising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texture cues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, the second de-emphasising texture and </a:t>
            </a:r>
            <a:r>
              <a:rPr sz="1650" b="1" i="0">
                <a:solidFill>
                  <a:srgbClr val="111827"/>
                </a:solidFill>
                <a:latin typeface="Helvetica Neue"/>
              </a:rPr>
              <a:t>enhancing shape</a:t>
            </a:r>
            <a:r>
              <a:rPr sz="1650" b="0" i="0">
                <a:solidFill>
                  <a:srgbClr val="111827"/>
                </a:solidFill>
                <a:latin typeface="Helvetica Neue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57521"/>
            <a:ext cx="11185855" cy="715263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594097"/>
            <a:ext cx="10893247" cy="642111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Same arithmetic, different epistemics: computer vision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samples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the world; vision science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designs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the stimulus to isolate the cue under test.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Ideal Observer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Datasets &amp; Ideal Observers   |   39</a:t>
            </a:r>
          </a:p>
        </p:txBody>
      </p:sp>
      <p:pic>
        <p:nvPicPr>
          <p:cNvPr id="6" name="Picture 5" descr="fig_ideal_ob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591056"/>
            <a:ext cx="10698480" cy="40984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Ideal Observers, Humans, and Deep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Datasets &amp; Ideal Observers   |  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5855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30">
                <a:solidFill>
                  <a:srgbClr val="2C5F8D"/>
                </a:solidFill>
                <a:latin typeface="Helvetica Neue"/>
              </a:rPr>
              <a:t>■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Human perception can be tested using BDT by comparing human performance to that of an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Ideal Observer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who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minimises the Bayes risk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 (Knill &amp; Richards 1986; Liu et al. 1995; Geisler 2011). The data is generated from known distributions P(I, W) and P(W).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930">
                <a:solidFill>
                  <a:srgbClr val="2C5F8D"/>
                </a:solidFill>
                <a:latin typeface="Helvetica Neue"/>
              </a:rPr>
              <a:t>■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In most cases the Ideal Observer performed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much better than humans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, partly because: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080">
                <a:solidFill>
                  <a:srgbClr val="D97706"/>
                </a:solidFill>
                <a:latin typeface="Helvetica Neue"/>
              </a:rPr>
              <a:t>        •  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(i)  it </a:t>
            </a:r>
            <a:r>
              <a:rPr sz="1350" b="1" i="0">
                <a:solidFill>
                  <a:srgbClr val="111827"/>
                </a:solidFill>
                <a:latin typeface="Helvetica Neue"/>
              </a:rPr>
              <a:t>knows how the data is generated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, which it can exploit when making its decision;</a:t>
            </a:r>
          </a:p>
          <a:p>
            <a:pPr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080">
                <a:solidFill>
                  <a:srgbClr val="D97706"/>
                </a:solidFill>
                <a:latin typeface="Helvetica Neue"/>
              </a:rPr>
              <a:t>        •  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(ii)  human vision is adapted for making decisions in </a:t>
            </a:r>
            <a:r>
              <a:rPr sz="1350" b="1" i="0">
                <a:solidFill>
                  <a:srgbClr val="111827"/>
                </a:solidFill>
                <a:latin typeface="Helvetica Neue"/>
              </a:rPr>
              <a:t>natural situations</a:t>
            </a:r>
            <a:r>
              <a:rPr sz="1350" b="0" i="0">
                <a:solidFill>
                  <a:srgbClr val="111827"/>
                </a:solidFill>
                <a:latin typeface="Helvetica Neue"/>
              </a:rPr>
              <a:t>, not in laboratory experiments.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930">
                <a:solidFill>
                  <a:srgbClr val="2C5F8D"/>
                </a:solidFill>
                <a:latin typeface="Helvetica Neue"/>
              </a:rPr>
              <a:t>■  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Typical Ideal Observers </a:t>
            </a:r>
            <a:r>
              <a:rPr sz="1500" b="1" i="0">
                <a:solidFill>
                  <a:srgbClr val="111827"/>
                </a:solidFill>
                <a:latin typeface="Helvetica Neue"/>
              </a:rPr>
              <a:t>lack realism</a:t>
            </a:r>
            <a:r>
              <a:rPr sz="1500" b="0" i="0">
                <a:solidFill>
                  <a:srgbClr val="111827"/>
                </a:solidFill>
                <a:latin typeface="Helvetica Neue"/>
              </a:rPr>
              <a:t>, using simple models for generating images — which is precisely what enables the computation of Bayes Risk, because realistic models were unavailable.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37049"/>
            <a:ext cx="11185855" cy="935735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D1D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373625"/>
            <a:ext cx="10893247" cy="862583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11827"/>
                </a:solidFill>
                <a:latin typeface="Helvetica Neue"/>
              </a:rPr>
              <a:t>The success of deep networks means we can learn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“approximate ideal observers”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by training networks on datasets. They are only </a:t>
            </a:r>
            <a:r>
              <a:rPr sz="1400" b="0" i="1">
                <a:solidFill>
                  <a:srgbClr val="111827"/>
                </a:solidFill>
                <a:latin typeface="Helvetica Neue"/>
              </a:rPr>
              <a:t>approximate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: deep networks are not guaranteed to achieve Bayes Risk. For many tasks, </a:t>
            </a:r>
            <a:r>
              <a:rPr sz="1400" b="1" i="0">
                <a:solidFill>
                  <a:srgbClr val="111827"/>
                </a:solidFill>
                <a:latin typeface="Helvetica Neue"/>
              </a:rPr>
              <a:t>humans outperform</a:t>
            </a:r>
            <a:r>
              <a:rPr sz="1400" b="0" i="0">
                <a:solidFill>
                  <a:srgbClr val="111827"/>
                </a:solidFill>
                <a:latin typeface="Helvetica Neue"/>
              </a:rPr>
              <a:t> these observers, suggesting they are too approximate (see Kell &amp; McDermott 2019, and its application to models of the ventral stream).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Summary   |  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1759" cy="4572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99">
                <a:solidFill>
                  <a:srgbClr val="2C5F8D"/>
                </a:solidFill>
                <a:latin typeface="Helvetica Neue"/>
              </a:rPr>
              <a:t>■  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Vision is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inverse inference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: recover the world W from the image I. The likelihood alone is ill-posed; a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prior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is what makes the percept unique.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899">
                <a:solidFill>
                  <a:srgbClr val="2C5F8D"/>
                </a:solidFill>
                <a:latin typeface="Helvetica Neue"/>
              </a:rPr>
              <a:t>■  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Marr's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three levels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let human and machine vision be compared at the computational level — a distinction blurred by neural networks.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899">
                <a:solidFill>
                  <a:srgbClr val="2C5F8D"/>
                </a:solidFill>
                <a:latin typeface="Helvetica Neue"/>
              </a:rPr>
              <a:t>■ 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Modularity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made Bayesian theories tractable: stereo, motion, segmentation, shape from shading and texture.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899">
                <a:solidFill>
                  <a:srgbClr val="2C5F8D"/>
                </a:solidFill>
                <a:latin typeface="Helvetica Neue"/>
              </a:rPr>
              <a:t>■  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Each module is an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energy function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= a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Gibbs distribution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=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Bayesian inference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, with data and smoothness terms as likelihood and prior.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7015" y="1298448"/>
            <a:ext cx="5391759" cy="4572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99">
                <a:solidFill>
                  <a:srgbClr val="D97706"/>
                </a:solidFill>
                <a:latin typeface="Helvetica Neue"/>
              </a:rPr>
              <a:t>■ 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Cue coupling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explains how stereo, shading and texture combine — weighted averaging as the weak-coupling special case.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899">
                <a:solidFill>
                  <a:srgbClr val="D97706"/>
                </a:solidFill>
                <a:latin typeface="Helvetica Neue"/>
              </a:rPr>
              <a:t>■ 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BDT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adds a decision rule and a loss function; plain Bayes is the 0–1 loss special case.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899">
                <a:solidFill>
                  <a:srgbClr val="D97706"/>
                </a:solidFill>
                <a:latin typeface="Helvetica Neue"/>
              </a:rPr>
              <a:t>■  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Data can be used to learn the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probabilities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or the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decision rule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directly; deep networks take the second route.</a:t>
            </a:r>
          </a:p>
          <a:p>
            <a:pPr>
              <a:lnSpc>
                <a:spcPct val="106000"/>
              </a:lnSpc>
              <a:spcBef>
                <a:spcPts val="1200"/>
              </a:spcBef>
              <a:spcAft>
                <a:spcPts val="0"/>
              </a:spcAft>
            </a:pPr>
            <a:r>
              <a:rPr sz="899">
                <a:solidFill>
                  <a:srgbClr val="D97706"/>
                </a:solidFill>
                <a:latin typeface="Helvetica Neue"/>
              </a:rPr>
              <a:t>■  </a:t>
            </a:r>
            <a:r>
              <a:rPr sz="1450" b="1" i="0">
                <a:solidFill>
                  <a:srgbClr val="111827"/>
                </a:solidFill>
                <a:latin typeface="Helvetica Neue"/>
              </a:rPr>
              <a:t>Ideal Observers</a:t>
            </a:r>
            <a:r>
              <a:rPr sz="1450" b="0" i="0">
                <a:solidFill>
                  <a:srgbClr val="111827"/>
                </a:solidFill>
                <a:latin typeface="Helvetica Neue"/>
              </a:rPr>
              <a:t> give the performance ceiling; deep networks approximate them, and humans still beat both on many tasks.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6035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5F8D"/>
                </a:solidFill>
                <a:latin typeface="Helvetica Neue"/>
              </a:rPr>
              <a:t>Key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23544"/>
            <a:ext cx="11185855" cy="11430"/>
          </a:xfrm>
          <a:prstGeom prst="rect">
            <a:avLst/>
          </a:prstGeom>
          <a:solidFill>
            <a:srgbClr val="2C5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Yuille &amp; Kersten — Computer Vision and Cognitive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4B5563"/>
                </a:solidFill>
                <a:latin typeface="Helvetica Neue"/>
              </a:rPr>
              <a:t>References   |  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5391759" cy="4754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5F8D"/>
                </a:solidFill>
                <a:latin typeface="Helvetica Neue"/>
              </a:rPr>
              <a:t>Framework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Berger (1985). Statistical Decision Theory and Bayesian Analysis.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Marr (1982). Vision.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Knill &amp; Richards (1996). Perception as Bayesian Inference.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Clark &amp; Yuille (1990). Data Fusion for Sensory Information Processing Systems.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Mumford (1992). On the computational architecture of the neocortex.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Griffiths et al. (2024).</a:t>
            </a:r>
          </a:p>
          <a:p>
            <a:pPr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2C5F8D"/>
                </a:solidFill>
                <a:latin typeface="Helvetica Neue"/>
              </a:rPr>
              <a:t>Modules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Marr &amp; Poggio (1976). Stereo correspondence.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Ullman (1979). The Interpretation of Visual Motion.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Yuille &amp; Grzywacz (1987). Slow-and-smooth motion.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Tomasi &amp; Kanade (1993). Shape and motion from image streams.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Ikeuchi &amp; Horn (1981). Shape from shading.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Blake &amp; Marinos (1990). Shape from texture.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Geman &amp; Geman (1984); Zhu &amp; Yuille (1996). Segmentation.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7015" y="1252728"/>
            <a:ext cx="5391759" cy="4754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5F8D"/>
                </a:solidFill>
                <a:latin typeface="Helvetica Neue"/>
              </a:rPr>
              <a:t>Cues, tracking, recognition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Bülthoff &amp; Mallot (1988). Shading and texture.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Landy et al. (1996). Weighted cue combination.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Ernst &amp; Banks (2002). Visual–haptic integration.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Doya et al. (2007). Bayesian Brain.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Koch et al. (1986). Neurally plausible inference.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Isard &amp; Blake (1998). CONDENSATION.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Ullman (1996). High-Level Vision.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Biederman (1987). Geons.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Liu et al. (1995). 3D vs. 2D object representations.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Loper et al. (2023). SMPL.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Johansson (1973). Biological motion.</a:t>
            </a:r>
          </a:p>
          <a:p>
            <a:pPr algn="l">
              <a:lnSpc>
                <a:spcPct val="106000"/>
              </a:lnSpc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2C5F8D"/>
                </a:solidFill>
                <a:latin typeface="Helvetica Neue"/>
              </a:rPr>
              <a:t>Learning, data, ideal observers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Viola &amp; Jones (2001); Felzenszwalb et al. (2008).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Konishi et al. (2003). Bayesian edge detection.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Mumford &amp; Desolneux (2010). Pattern Theory.</a:t>
            </a:r>
          </a:p>
          <a:p>
            <a:pPr>
              <a:lnSpc>
                <a:spcPct val="106000"/>
              </a:lnSpc>
              <a:spcBef>
                <a:spcPts val="250"/>
              </a:spcBef>
              <a:spcAft>
                <a:spcPts val="0"/>
              </a:spcAft>
            </a:pPr>
            <a:r>
              <a:rPr sz="651">
                <a:solidFill>
                  <a:srgbClr val="2C5F8D"/>
                </a:solidFill>
                <a:latin typeface="Helvetica Neue"/>
              </a:rPr>
              <a:t>·  </a:t>
            </a:r>
            <a:r>
              <a:rPr sz="1050" b="0" i="0">
                <a:solidFill>
                  <a:srgbClr val="111827"/>
                </a:solidFill>
                <a:latin typeface="Helvetica Neue"/>
              </a:rPr>
              <a:t>Geisler (2011); Kell &amp; McDermott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