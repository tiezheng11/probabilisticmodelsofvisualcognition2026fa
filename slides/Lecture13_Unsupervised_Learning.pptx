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3558"/>
  </p:normalViewPr>
  <p:slideViewPr>
    <p:cSldViewPr snapToGrid="0" snapToObjects="1">
      <p:cViewPr varScale="1">
        <p:scale>
          <a:sx n="110" d="100"/>
          <a:sy n="110" d="100"/>
        </p:scale>
        <p:origin x="65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9CEB0-AA0B-D145-B4E6-35C9BFEBBA17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4D186F-95C8-254C-BBCD-188220FF3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1 2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2 3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title 4"/>
          <p:cNvSpPr txBox="1"/>
          <p:nvPr/>
        </p:nvSpPr>
        <p:spPr>
          <a:xfrm>
            <a:off x="1051560" y="411480"/>
            <a:ext cx="10515600" cy="34747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en-US" sz="4800" b="1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Unsupervised Learning: Few-Shot and</a:t>
            </a:r>
            <a:r>
              <a:rPr lang="zh-CN" altLang="en-US" sz="4800" b="1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 </a:t>
            </a:r>
            <a:r>
              <a:rPr lang="en-US" altLang="zh-CN" sz="4800" b="1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Self-</a:t>
            </a:r>
            <a:r>
              <a:rPr sz="48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supervised</a:t>
            </a:r>
          </a:p>
        </p:txBody>
      </p:sp>
      <p:sp>
        <p:nvSpPr>
          <p:cNvPr id="5" name="tdate 5"/>
          <p:cNvSpPr txBox="1"/>
          <p:nvPr/>
        </p:nvSpPr>
        <p:spPr>
          <a:xfrm>
            <a:off x="1097280" y="4160520"/>
            <a:ext cx="10058400" cy="649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 October, 2026</a:t>
            </a:r>
          </a:p>
          <a:p>
            <a:r>
              <a:rPr sz="21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4" name="title 4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card 5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cardoval 6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cardnum 7"/>
          <p:cNvSpPr txBox="1"/>
          <p:nvPr/>
        </p:nvSpPr>
        <p:spPr>
          <a:xfrm>
            <a:off x="896112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cardtitle 8"/>
          <p:cNvSpPr txBox="1"/>
          <p:nvPr/>
        </p:nvSpPr>
        <p:spPr>
          <a:xfrm>
            <a:off x="1572768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Few-shot learning</a:t>
            </a:r>
          </a:p>
        </p:txBody>
      </p:sp>
      <p:sp>
        <p:nvSpPr>
          <p:cNvPr id="9" name="cardsub 9"/>
          <p:cNvSpPr txBox="1"/>
          <p:nvPr/>
        </p:nvSpPr>
        <p:spPr>
          <a:xfrm>
            <a:off x="1572768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Predict a new category's weights</a:t>
            </a:r>
          </a:p>
        </p:txBody>
      </p:sp>
      <p:sp>
        <p:nvSpPr>
          <p:cNvPr id="10" name="card 10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oval 11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rdnum 12"/>
          <p:cNvSpPr txBox="1"/>
          <p:nvPr/>
        </p:nvSpPr>
        <p:spPr>
          <a:xfrm>
            <a:off x="6492240" y="1847088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cardtitle 13"/>
          <p:cNvSpPr txBox="1"/>
          <p:nvPr/>
        </p:nvSpPr>
        <p:spPr>
          <a:xfrm>
            <a:off x="7168896" y="1714500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Self-supervised learning</a:t>
            </a:r>
          </a:p>
        </p:txBody>
      </p:sp>
      <p:sp>
        <p:nvSpPr>
          <p:cNvPr id="14" name="cardsub 14"/>
          <p:cNvSpPr txBox="1"/>
          <p:nvPr/>
        </p:nvSpPr>
        <p:spPr>
          <a:xfrm>
            <a:off x="7168896" y="2112264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Proxy tasks train the backbone</a:t>
            </a:r>
          </a:p>
        </p:txBody>
      </p:sp>
      <p:sp>
        <p:nvSpPr>
          <p:cNvPr id="15" name="card 15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oval 16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cardnum 17"/>
          <p:cNvSpPr txBox="1"/>
          <p:nvPr/>
        </p:nvSpPr>
        <p:spPr>
          <a:xfrm>
            <a:off x="896112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cardtitle 18"/>
          <p:cNvSpPr txBox="1"/>
          <p:nvPr/>
        </p:nvSpPr>
        <p:spPr>
          <a:xfrm>
            <a:off x="1572768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Contrastive learning</a:t>
            </a:r>
          </a:p>
        </p:txBody>
      </p:sp>
      <p:sp>
        <p:nvSpPr>
          <p:cNvPr id="19" name="cardsub 19"/>
          <p:cNvSpPr txBox="1"/>
          <p:nvPr/>
        </p:nvSpPr>
        <p:spPr>
          <a:xfrm>
            <a:off x="1572768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Two views of one image form a cluster</a:t>
            </a:r>
          </a:p>
        </p:txBody>
      </p:sp>
      <p:sp>
        <p:nvSpPr>
          <p:cNvPr id="20" name="card 20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ardoval 21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ardnum 22"/>
          <p:cNvSpPr txBox="1"/>
          <p:nvPr/>
        </p:nvSpPr>
        <p:spPr>
          <a:xfrm>
            <a:off x="6492240" y="3044952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cardtitle 23"/>
          <p:cNvSpPr txBox="1"/>
          <p:nvPr/>
        </p:nvSpPr>
        <p:spPr>
          <a:xfrm>
            <a:off x="7168896" y="2912364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Masked image modeling</a:t>
            </a:r>
          </a:p>
        </p:txBody>
      </p:sp>
      <p:sp>
        <p:nvSpPr>
          <p:cNvPr id="24" name="cardsub 24"/>
          <p:cNvSpPr txBox="1"/>
          <p:nvPr/>
        </p:nvSpPr>
        <p:spPr>
          <a:xfrm>
            <a:off x="7168896" y="3310128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Predict the masked patches, as in language</a:t>
            </a:r>
          </a:p>
        </p:txBody>
      </p:sp>
      <p:sp>
        <p:nvSpPr>
          <p:cNvPr id="25" name="card 25"/>
          <p:cNvSpPr/>
          <p:nvPr/>
        </p:nvSpPr>
        <p:spPr>
          <a:xfrm>
            <a:off x="640080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cardoval 26"/>
          <p:cNvSpPr/>
          <p:nvPr/>
        </p:nvSpPr>
        <p:spPr>
          <a:xfrm>
            <a:off x="896112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cardnum 27"/>
          <p:cNvSpPr txBox="1"/>
          <p:nvPr/>
        </p:nvSpPr>
        <p:spPr>
          <a:xfrm>
            <a:off x="896112" y="4242816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8" name="cardtitle 28"/>
          <p:cNvSpPr txBox="1"/>
          <p:nvPr/>
        </p:nvSpPr>
        <p:spPr>
          <a:xfrm>
            <a:off x="1572768" y="4110228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29" name="cardsub 29"/>
          <p:cNvSpPr txBox="1"/>
          <p:nvPr/>
        </p:nvSpPr>
        <p:spPr>
          <a:xfrm>
            <a:off x="1572768" y="450799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Masked image modeling, self-distillation</a:t>
            </a:r>
          </a:p>
        </p:txBody>
      </p:sp>
      <p:sp>
        <p:nvSpPr>
          <p:cNvPr id="30" name="card 30"/>
          <p:cNvSpPr/>
          <p:nvPr/>
        </p:nvSpPr>
        <p:spPr>
          <a:xfrm>
            <a:off x="6236208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cardoval 31"/>
          <p:cNvSpPr/>
          <p:nvPr/>
        </p:nvSpPr>
        <p:spPr>
          <a:xfrm>
            <a:off x="6492240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cardnum 32"/>
          <p:cNvSpPr txBox="1"/>
          <p:nvPr/>
        </p:nvSpPr>
        <p:spPr>
          <a:xfrm>
            <a:off x="6492240" y="4242816"/>
            <a:ext cx="5120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3" name="cardtitle 33"/>
          <p:cNvSpPr txBox="1"/>
          <p:nvPr/>
        </p:nvSpPr>
        <p:spPr>
          <a:xfrm>
            <a:off x="7168896" y="4110228"/>
            <a:ext cx="4343400" cy="3227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Masked feature prediction</a:t>
            </a:r>
          </a:p>
        </p:txBody>
      </p:sp>
      <p:sp>
        <p:nvSpPr>
          <p:cNvPr id="34" name="cardsub 34"/>
          <p:cNvSpPr txBox="1"/>
          <p:nvPr/>
        </p:nvSpPr>
        <p:spPr>
          <a:xfrm>
            <a:off x="7168896" y="4507992"/>
            <a:ext cx="43434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MaskFeat: predict features, not pixels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Few-shot learning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network trained on many categories learns a new one from a few examples;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weights of the new category are predicted from its activations.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Few-shot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Few-shot learning creates a classifier from a few examples</a:t>
            </a:r>
          </a:p>
        </p:txBody>
      </p:sp>
      <p:pic>
        <p:nvPicPr>
          <p:cNvPr id="6" name="f_fewshot.png" descr="f_few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44752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837414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 a deep net when you have a large-scale dataset; few-shot: create a classifier from a few examples.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Few-shot learning is a human ability.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Earlier approaches learn a metric (siamese networks), then compare the test image with the examples.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Or they transfer from large-scale data: reuse the features of a network trained on many categories.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G. Koch, R. Zemel and R. Salakhutdinov, “Siamese neural networks for one-shot image recognition,” ICML Deep Learning Workshop, 2015.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Qiao, C. Liu, W. Shen and A. L. Yuille, “Few-shot image recognition by predicting parameters from activations,” CVPR, 7229–7238, 2018.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Few-shot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Few-shot learning should be incremental</a:t>
            </a:r>
          </a:p>
        </p:txBody>
      </p:sp>
      <p:pic>
        <p:nvPicPr>
          <p:cNvPr id="6" name="f_incremental.png" descr="f_incremen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576" y="1225296"/>
            <a:ext cx="6638544" cy="266090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50792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softmax layer holds one weight vector per category, applied to the activations a(x) of an image x.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New categories (green) are added to the large-scale ones (black); a test image may be from any of them.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Previous work tests only the new categories; here the large-scale ones must stay accurate too.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Qiao, C. Liu, W. Shen and A. L. Yuille, “Few-shot image recognition by predicting parameters from activations,” CVPR, 7229–7238, 2018.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Few-shot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activations and weights of a category look alike</a:t>
            </a:r>
          </a:p>
        </p:txBody>
      </p:sp>
      <p:pic>
        <p:nvPicPr>
          <p:cNvPr id="6" name="f_tsne.png" descr="f_ts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248" y="1225296"/>
            <a:ext cx="10109200" cy="280924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99128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t-SNE (t-distributed stochastic neighbor embedding) maps vectors to a plane, keeping neighbors close.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dot is a category of a ResNet-50 (residual network, 50 layers): mean activation left, weights right.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marked category has the same color and shape in both maps; pale points: all other categories.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Marked: circles mammals, triangles birds, diamonds buses, squares home appliances.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Qiao, C. Liu, W. Shen and A. L. Yuille, “Few-shot image recognition by predicting parameters from activations,” CVPR, 7229–7238, 2018.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L. van der Maaten and G. Hinton, “Visualizing data using t-SNE,” Journal of Machine Learning Research, 9:2579–2605, 2008.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Few-shot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parameter predictor maps activations to weights</a:t>
            </a:r>
          </a:p>
        </p:txBody>
      </p:sp>
      <p:pic>
        <p:nvPicPr>
          <p:cNvPr id="6" name="f_predictor.png" descr="f_predi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338017"/>
          </a:xfrm>
          <a:prstGeom prst="rect">
            <a:avLst/>
          </a:prstGeom>
        </p:spPr>
      </p:pic>
      <p:sp>
        <p:nvSpPr>
          <p:cNvPr id="7" name="panel 7"/>
          <p:cNvSpPr/>
          <p:nvPr/>
        </p:nvSpPr>
        <p:spPr>
          <a:xfrm>
            <a:off x="640080" y="3673041"/>
            <a:ext cx="10911535" cy="990491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fs_loss.png" descr="fs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7992" y="3837633"/>
            <a:ext cx="8135711" cy="661307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809836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φ maps the mean activation ā of a category to its weights; one φ is shared by all categories.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Training: softmax loss on the large-scale data D_large (categories C_large), plus λ||φ|| to keep φ small.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Parametric nearest neighbor: φ = identity gives cosine; φ weights the channels (entries of a) unequally.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Qiao, C. Liu, W. Shen and A. L. Yuille, “Few-shot image recognition by predicting parameters from activations,” CVPR, 7229–7238, 2018.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Few-shot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New categories get their weights from a few activations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96615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fs_infer.png" descr="fs_in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134" y="1389888"/>
            <a:ext cx="5653427" cy="636966"/>
          </a:xfrm>
          <a:prstGeom prst="rect">
            <a:avLst/>
          </a:prstGeom>
        </p:spPr>
      </p:pic>
      <p:pic>
        <p:nvPicPr>
          <p:cNvPr id="8" name="t_fewshot.png" descr="t_few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748" y="2301174"/>
            <a:ext cx="8458200" cy="2340864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806630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s_y: category y's mean activation or one example's; E_S averages over these choices; C: all categories.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ImageNet, 1000-way: a ResNet-50 trained on 900 categories; 100 more learned from one example each.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Fine-tuned: the backbone is retrained; top-5: the true category is among the five most probable.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Qiao, C. Liu, W. Shen and A. L. Yuille, “Few-shot image recognition by predicting parameters from activations,” CVPR, 7229–7238, 2018.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Self-supervised learning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supervision signal comes from the data itself;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proxy tasks train the backbone, and simple heads do the visual tasks.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Self-supervised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supervision signal comes from the data itself</a:t>
            </a:r>
          </a:p>
        </p:txBody>
      </p:sp>
      <p:pic>
        <p:nvPicPr>
          <p:cNvPr id="6" name="f_labels.png" descr="f_lab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020441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410329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Originally CNN (convolutional network) features were learned from labels, e.g. ImageNet classes.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Labels are expensive: there is little labeled data and an enormous amount of unlabeled data.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Labels are limited: the information in one image is richer than its label, which may be ambiguous.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Self-supervised learning can use a lot more data: very useful for vision, language and vision-language.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also attractive for researchers influenced by human vision, which learns mostly without labels.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Self-supervised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Self-supervised learning learns the backbone</a:t>
            </a:r>
          </a:p>
        </p:txBody>
      </p:sp>
      <p:pic>
        <p:nvPicPr>
          <p:cNvPr id="6" name="f_backbone.png" descr="f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294213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684101"/>
            <a:ext cx="11247120" cy="2029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network has a backbone, which extracts image features, and a head, which performs the task.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Features tend to be similar for different visual tasks, e.g. classification and semantic segmentation.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 maybe common features can be learned by proxy tasks, whose answers come from the data itself.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Downstream tasks then train simple heads, with few parameters and a small amount of labeled data.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Linear probing trains only a linear head on frozen features; fine-tuning also trains the backbone.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Self-supervised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 vision transformer treats an image as a sequence of tokens</a:t>
            </a:r>
          </a:p>
        </p:txBody>
      </p:sp>
      <p:pic>
        <p:nvPicPr>
          <p:cNvPr id="6" name="f_vit.png" descr="f_v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19018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580068"/>
            <a:ext cx="11247120" cy="2596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backbone is a CNN or a vision transformer (ViT); the ViT cuts the image into 16 × 16-pixel patches.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patch becomes a token: a vector embedding of the patch, plus a position embedding.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extra [CLS] (class) token is added; its output summarizes the whole image.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Self-attention: in each layer every token averages all tokens, weighted by how similar they are.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ViT-S/16, ViT-B/16, ViT-L/16: small, base and large models on 16-pixel patches.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Vaswani, N. Shazeer, N. Parmar, J. Uszkoreit, L. Jones, A. N. Gomez, Ł. Kaiser and I. Polosukhin, “Attention is all you need,” NIPS, 5998–6008, 2017.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Dosovitskiy, L. Beyer, A. Kolesnikov, D. Weissenborn, X. Zhai, T. Unterthiner et al., “An image is worth 16x16 words: transformers for image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recognition at scale,” ICLR, 2021.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Self-supervised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Proxy tasks: predicting context and orientation</a:t>
            </a:r>
          </a:p>
        </p:txBody>
      </p:sp>
      <p:pic>
        <p:nvPicPr>
          <p:cNvPr id="6" name="f_proxy1.png" descr="f_proxy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294213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684101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Proxy tasks do not require supervision: the network is trained to undo a change we made ourselves.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Context: given the center patch (blue) and one of its 8 neighbors (red), predict which one it is (1 to 8).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Orientation: rotate the image by 0, 90, 180 or 270 degrees and predict the rotation, Y = 1 to 4.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Doersch, A. Gupta and A. A. Efros, “Unsupervised visual representation learning by context prediction,” ICCV, 1422–1430, 2015.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Gidaris, P. Singh and N. Komodakis, “Unsupervised representation learning by predicting image rotations,” ICLR, 2018.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Self-supervised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Proxy tasks: predicting patch organization and color</a:t>
            </a:r>
          </a:p>
        </p:txBody>
      </p:sp>
      <p:pic>
        <p:nvPicPr>
          <p:cNvPr id="6" name="f_proxy2.png" descr="f_proxy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518707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08595"/>
            <a:ext cx="11247120" cy="1133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Patch organization: cut the image into 3 × 3 tiles, shuffle them and predict the permutation (a jigsaw).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Color: predict the colors of an image from its grayscale version.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M. Noroozi and P. Favaro, “Unsupervised learning of visual representations by solving jigsaw puzzles,” ECCV, LNCS 9910, 69–84, 2016.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Zhang, P. Isola and A. A. Efros, “Colorful image colorization,” ECCV, LNCS 9907, 649–666, 2016.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Contrastive learning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Two augmented views of an image are a positive pair, other images negatives;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loss pulls positives together and pushes negatives apart.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Contrastive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Predicting (unsupervised) cluster IDs</a:t>
            </a:r>
          </a:p>
        </p:txBody>
      </p:sp>
      <p:pic>
        <p:nvPicPr>
          <p:cNvPr id="6" name="f_cluster.png" descr="f_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296" y="1225296"/>
            <a:ext cx="8833104" cy="287121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61104"/>
            <a:ext cx="11247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Cluster the CNN (convnet) features of all images with k-means; the cluster IDs are pseudo-labels.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Train the CNN to classify each image into its cluster, then cluster again, and repeat.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M. Caron, P. Bojanowski, A. Joulin and M. Douze, “Deep clustering for unsupervised learning of visual features,” ECCV, 132–149, 2018.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Contrastive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Unsupervised learning motivated contrastive learning</a:t>
            </a:r>
          </a:p>
        </p:txBody>
      </p:sp>
      <p:pic>
        <p:nvPicPr>
          <p:cNvPr id="6" name="f_query.png" descr="f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192735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317246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K-means cluster → views from one image as one cluster: instance discrimination, or contrastive learning.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Query and positive key: two views of one image; negative keys: other images, even another cat.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Contrastive learning was the first popular self-supervised learning technique.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also useful for supervised learning: the positive keys are then images of the same class.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Z. Wu, Y. Xiong, S. X. Yu and D. Lin, “Unsupervised feature learning via non-parametric instance discrimination,” CVPR, 3733–3742, 2018.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Khosla, P. Teterwak, C. Wang, A. Sarna, Y. Tian, P. Isola, A. Maschinot, C. Liu and D. Krishnan, “Supervised contrastive learning,”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NeurIPS, 18661–18673, 2020.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Contrastive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positive keys are obtained by augmentation</a:t>
            </a:r>
          </a:p>
        </p:txBody>
      </p:sp>
      <p:pic>
        <p:nvPicPr>
          <p:cNvPr id="6" name="f_simclr.png" descr="f_simc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56798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57874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Data augmentation T: random crop, flip, color distortion and blur turn one image into two views.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encoder f (the backbone) gives the representation h; a projection head g gives z, used by the loss.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After training, the projection head g is thrown away and h is used for downstream tasks.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T. Chen, S. Kornblith, M. Norouzi and G. Hinton, “A simple framework for contrastive learning of visual representations,” ICML, 1597–1607, 2020.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Contrastive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loss makes the query similar to the positive keys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125343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contrastive.png" descr="contras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322" y="1389888"/>
            <a:ext cx="7863052" cy="796159"/>
          </a:xfrm>
          <a:prstGeom prst="rect">
            <a:avLst/>
          </a:prstGeom>
        </p:spPr>
      </p:pic>
      <p:pic>
        <p:nvPicPr>
          <p:cNvPr id="8" name="f_keys.png" descr="f_ke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336" y="2460367"/>
            <a:ext cx="8193024" cy="1389888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014847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z's are network features of length 1, functions of the image and of the weights learned by the loss.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batch I of 2n views, two of each of n images; |N_i|: the number of images with view i's label y_i.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Query: view i; positive keys: the other views j ∈ N(y_i) with its label; k: all other views; τ: a temperature.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Self-supervised: each image is its own class, |N_i| = 1: the only positive key is the other view (the 1).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P. Khosla, P. Teterwak, C. Wang, A. Sarna, Y. Tian, P. Isola, A. Maschinot, C. Liu and D. Krishnan, “Supervised contrastive learning,”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NeurIPS, 18661–18673, 2020.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T. Chen, S. Kornblith, M. Norouzi and G. Hinton, “A simple framework for contrastive learning of visual representations,” ICML, 1597–1607, 2020.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Contrastive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Contrastive learning was very popular before 2022</a:t>
            </a:r>
          </a:p>
        </p:txBody>
      </p:sp>
      <p:pic>
        <p:nvPicPr>
          <p:cNvPr id="6" name="f_popular.png" descr="f_pop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12" y="1225296"/>
            <a:ext cx="10880271" cy="2786743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76631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ImageNet-1K linear evaluation: a linear classifier trained on the frozen self-supervised features.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Teal: the best method at each date; the labels name the method and its backbone network.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Proxy tasks (colorization, rotation) were overtaken by contrastive methods (CPC v2, SimCLR, MoCo v3).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CPC: contrastive predictive coding; SimCLR: simple contrastive learning; MoCo: momentum contrast.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Chart: Papers with Code, self-supervised image classification on ImageNet, state of the art by date (as on the 2025 course slides).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Contrastive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Self-supervised learning helps with attention</a:t>
            </a:r>
          </a:p>
        </p:txBody>
      </p:sp>
      <p:pic>
        <p:nvPicPr>
          <p:cNvPr id="6" name="f_attention.png" descr="f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936" y="1225296"/>
            <a:ext cx="5449824" cy="279806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87952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supervised ViT is trained for classification; its attention maps give an approximate segmentation.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self-supervised ViT, trained by DINO, gives tighter attention maps.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DINO: self-distillation with no labels; a student network matches a teacher's output for another view.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Red: the attention of the [CLS] token, the top 60 % of it (ViT-S/8, the best attention head of each).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M. Caron, H. Touvron, I. Misra, H. Jégou, J. Mairal, P. Bojanowski and A. Joulin, “Emerging properties in self-supervised vision transformers,”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ICCV, 9650–9660, 2021.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Contrastive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Contrastive features keep more of the image than supervised</a:t>
            </a:r>
          </a:p>
        </p:txBody>
      </p:sp>
      <p:pic>
        <p:nvPicPr>
          <p:cNvPr id="6" name="f_recon.png" descr="f_re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016" y="1225296"/>
            <a:ext cx="6455664" cy="295808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347972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Simple heads on contrastive features do roughly as well as supervised methods, with less labeled data.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Self-supervised features are better for image reconstruction and grouping regions by attention (DINO).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Images rebuilt from ResNet-50 features: supervised (blue) lose regions, contrastive (teal) keep them.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InstDisc: instance discrimination; the images are rebuilt by optimizing an image to match the features.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N. Zhao, Z. Wu, R. W. H. Lau and S. Lin, “What makes instance discrimination good for transfer learning?,” ICLR, 2021.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Contrastive learning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CLIP: contrastive learning of images and their captions</a:t>
            </a:r>
          </a:p>
        </p:txBody>
      </p:sp>
      <p:pic>
        <p:nvPicPr>
          <p:cNvPr id="6" name="f_clip.png" descr="f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721298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111186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CLIP (contrastive language-image pre-training) is trained on paired images and text captions.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 and text features are made similar for each pair and different for the other pairs.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 as the query: its caption is the positive key, the other captions are negative keys (and vice versa).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CLIP is very popular for vision-language tasks: it is very low tech and good for initializing other methods.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A. Radford, J. W. Kim, C. Hallacy, A. Ramesh, G. Goh, S. Agarwal et al., “Learning transferable visual models from natural language supervision,”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ICML, 8748–8763, 2021.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Masked image modeling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Mask part of the image and predict what is missing,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as masked language modeling does with words.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Masked image modeling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Masked language modeling predicts the missing words</a:t>
            </a:r>
          </a:p>
        </p:txBody>
      </p:sp>
      <p:pic>
        <p:nvPicPr>
          <p:cNvPr id="6" name="f_mlm.png" descr="f_ml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1467420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2857308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BERT (a bidirectional transformer) masks some words and learns to predict them from the other words.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Masked image modeling was inspired by natural language processing (NLP), where it trained LLMs.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NLP it is being replaced by auto-regressive methods, which predict the next word.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Devlin, M.-W. Chang, K. Lee and K. Toutanova, “BERT: pre-training of deep bidirectional transformers for language understanding,”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NAACL-HLT, 4171–4186, 2019.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Masked image modeling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Humans can recognize a masked object and infill it</a:t>
            </a:r>
          </a:p>
        </p:txBody>
      </p:sp>
      <p:pic>
        <p:nvPicPr>
          <p:cNvPr id="6" name="f_mim.png" descr="f_m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244752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837414"/>
            <a:ext cx="11247120" cy="1170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Masked image modeling: mask patches of an image and train a network to predict them.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Language is sparse, discrete and semantic-rich, with natural word tokens.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Vision is dense, continuous, high-dimensional; mimicking language suggests visual words, a codebook.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Masked image modeling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BEiT: a transformer with masked input</a:t>
            </a:r>
          </a:p>
        </p:txBody>
      </p:sp>
      <p:pic>
        <p:nvPicPr>
          <p:cNvPr id="6" name="f_beit_input.png" descr="f_beit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340025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790142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image is cut into 16 × 16-pixel patches; blockwise masking replaces about 40 % of them by 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BEiT (BERT pre-training of image transformers): a ViT computes a feature for every patch, masked or not.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masked image modeling (MIM) head predicts the token id of each masked patch (shaded ids).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Bao, L. Dong, S. Piao and F. Wei, “BEiT: BERT pre-training of image transformers,” ICLR, 2022.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Masked image modeling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BEiT: predicting visual tokens</a:t>
            </a:r>
          </a:p>
        </p:txBody>
      </p:sp>
      <p:pic>
        <p:nvPicPr>
          <p:cNvPr id="6" name="f_beit_tokens.png" descr="f_beit_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12" y="1225296"/>
            <a:ext cx="10934472" cy="340025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790142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visual tokens are learned by a discrete variational auto-encoder (dVAE), separately from MIM.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visual tokens are a discrete dictionary (codebook) of image patches: each patch gets one token id.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dVAE decoder, which rebuilds the image from the tokens, is not used during pre-training.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H. Bao, L. Dong, S. Piao and F. Wei, “BEiT: BERT pre-training of image transformers,” ICLR, 2022.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iBOT: online tokenizer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teacher network gives every patch a visual token, learned online;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student predicts the tokens of its masked patches.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iBOT has two objectives and a single stage</a:t>
            </a:r>
          </a:p>
        </p:txBody>
      </p:sp>
      <p:pic>
        <p:nvPicPr>
          <p:cNvPr id="6" name="f_ibot_input.png" descr="f_ibot_in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696" y="1225296"/>
            <a:ext cx="7004304" cy="2523744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913632"/>
            <a:ext cx="11247120" cy="22494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iBOT: image BERT pre-training with an online tokenizer, trained at the same time as the network.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 tokenizer: give each patch a visual token; similar patches get the same token, as in clustering.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Unlike BEiT, tokens are continuous-valued (probabilities over K ids), not learned by a separate process.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Masked image modeling: predict the visual tokens of the masked patches.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image x is first augmented to two views u and v, each of which has a masked version.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online tokenizer is a teacher network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685059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bot_cls.png" descr="ibot_c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203" y="1389888"/>
            <a:ext cx="4935289" cy="355875"/>
          </a:xfrm>
          <a:prstGeom prst="rect">
            <a:avLst/>
          </a:prstGeom>
        </p:spPr>
      </p:pic>
      <p:pic>
        <p:nvPicPr>
          <p:cNvPr id="8" name="f_ibot_cls.png" descr="f_ibot_c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12" y="2020083"/>
            <a:ext cx="10934472" cy="2212081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396756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[CLS] embeddings are transformed to visual tokens by a head h followed by softmax: P over K = 8192 ids.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Teacher θ': an exponential moving average (EMA) of the student θ; no gradient flows into it.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tokenizer objective: self-distillation, as in DINO; the student's P for û matches the teacher's for v.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−pᵀ log q is the cross-entropy of the student's distribution q against the teacher's p.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Masked patches predict the tokens of the unmasked view</a:t>
            </a:r>
          </a:p>
        </p:txBody>
      </p:sp>
      <p:sp>
        <p:nvSpPr>
          <p:cNvPr id="6" name="panel 6"/>
          <p:cNvSpPr/>
          <p:nvPr/>
        </p:nvSpPr>
        <p:spPr>
          <a:xfrm>
            <a:off x="640080" y="1225296"/>
            <a:ext cx="10911535" cy="108493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ibot_mim.png" descr="ibot_m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7074" y="1389888"/>
            <a:ext cx="5757547" cy="755750"/>
          </a:xfrm>
          <a:prstGeom prst="rect">
            <a:avLst/>
          </a:prstGeom>
        </p:spPr>
      </p:pic>
      <p:pic>
        <p:nvPicPr>
          <p:cNvPr id="8" name="f_ibot_full.png" descr="f_ibot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12" y="2419958"/>
            <a:ext cx="10934472" cy="2212081"/>
          </a:xfrm>
          <a:prstGeom prst="rect">
            <a:avLst/>
          </a:prstGeom>
        </p:spPr>
      </p:pic>
      <p:sp>
        <p:nvSpPr>
          <p:cNvPr id="9" name="body 9"/>
          <p:cNvSpPr txBox="1"/>
          <p:nvPr/>
        </p:nvSpPr>
        <p:spPr>
          <a:xfrm>
            <a:off x="640080" y="4796632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teacher sees the unmasked view u and gives each of its N patches a token; m_i = 1: i is masked.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student predicts them from û; h[CLS] and h patch share their weights; the two losses are summed.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model is effective, but it has black-box aspects: it is hard to give intuitive reasons why it works.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iBOT is very effective with simple heads</a:t>
            </a:r>
          </a:p>
        </p:txBody>
      </p:sp>
      <p:pic>
        <p:nvPicPr>
          <p:cNvPr id="6" name="t_ibot_in1k.png" descr="t_ibot_in1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608" y="1225296"/>
            <a:ext cx="8412480" cy="249631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886200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ImageNet-1K top-1 (%); ViT-S has 21 million parameters, about as many as a ResNet-50; ViT-B 85 million.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k-NN: classify by the k nearest training images in feature space; it freezes the backbone, as linear does.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Fine-tuning trains all the weights; from scratch: no pre-training; –: not reported.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X. Chen, S. Xie and K. He, “An empirical study of training self-supervised vision transformers,” ICCV, 9640–9649, 2021.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iBOT features transfer to detection and segmentation</a:t>
            </a:r>
          </a:p>
        </p:txBody>
      </p:sp>
      <p:pic>
        <p:nvPicPr>
          <p:cNvPr id="6" name="t_ibot_transfer.png" descr="t_ibot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708" y="1225296"/>
            <a:ext cx="9098280" cy="245059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3840480"/>
            <a:ext cx="11247120" cy="18196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ViT-B pre-trained on ImageNet-1K without labels (supervised: with labels), then trained on each task.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COCO: detection and instance segmentation, average precision of boxes (APᵇ) and masks (APᵐ).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ADE20K: semantic segmentation, mean intersection over union (mIoU).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Linear: a head on frozen features; Cascade Mask R-CNN and UperNet fine-tune the backbone.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Image-level visual tokens are qualitatively interpretable</a:t>
            </a:r>
          </a:p>
        </p:txBody>
      </p:sp>
      <p:pic>
        <p:nvPicPr>
          <p:cNvPr id="6" name="f_imgtokens.png" descr="f_img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914" y="1225296"/>
            <a:ext cx="5801868" cy="313639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526280"/>
            <a:ext cx="112471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grid: ImageNet images whose [CLS] output gives one token id (of 8192) the highest probability.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One token holds clocks of many kinds; another holds elephants.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Patch-level visual tokens are qualitatively interpretable</a:t>
            </a:r>
          </a:p>
        </p:txBody>
      </p:sp>
      <p:pic>
        <p:nvPicPr>
          <p:cNvPr id="6" name="f_patchtokens.png" descr="f_patchtoke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902" y="1225296"/>
            <a:ext cx="5993892" cy="322783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617720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grid: the 36 ImageNet patches with the highest probability for one visual token (ViT-S/16).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Orange: the 16 × 16 patch, shown with its context, five times its size; black: beyond the image.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These tokens share part semantics: the headlight of a vehicle, the ear of a dog.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On PASCAL3D+, class tokens cluster images by category</a:t>
            </a:r>
          </a:p>
        </p:txBody>
      </p:sp>
      <p:pic>
        <p:nvPicPr>
          <p:cNvPr id="6" name="f_p3d_cls.png" descr="f_p3d_c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743" y="1225296"/>
            <a:ext cx="10270210" cy="284652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36410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Chen Wei's runs: iBOT on PASCAL3D+ (12 rigid categories), ViT-S, [CLS] and patch losses, 128 tokens.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grid: 36 images given one token; generally correct clustering, a few motorbikes among bicycles.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Some categories split over several tokens: bottles on a light and on a dark background.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Y. Xiang, R. Mottaghi and S. Savarese, “Beyond PASCAL: a benchmark for 3D object detection in the wild,” WACV, 75–82, 2014.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iBOT: online tokenizer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On PASCAL3D+, patch tokens group parts across images</a:t>
            </a:r>
          </a:p>
        </p:txBody>
      </p:sp>
      <p:pic>
        <p:nvPicPr>
          <p:cNvPr id="6" name="f_p3d_patch.png" descr="f_p3d_p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743" y="1225296"/>
            <a:ext cx="10270210" cy="284652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236410"/>
            <a:ext cx="11247120" cy="1389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grid: 36 patches given one token; orange: the patch, with its context; black: beyond the image.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Tokens for aeroplane bodies against the sky, ships, sofa fabric, and parts of chairs and tables.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these examples, patch tokens follow parts and surfaces; class tokens follow whole objects.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J. Zhou, C. Wei, H. Wang, W. Shen, C. Xie, A. Yuille and T. Kong, “iBOT: image BERT pre-training with online tokenizer,” ICLR, 2022.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4" name="divnum 4"/>
          <p:cNvSpPr txBox="1"/>
          <p:nvPr/>
        </p:nvSpPr>
        <p:spPr>
          <a:xfrm>
            <a:off x="640080" y="1874520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5" name="divname 5"/>
          <p:cNvSpPr txBox="1"/>
          <p:nvPr/>
        </p:nvSpPr>
        <p:spPr>
          <a:xfrm>
            <a:off x="2880360" y="822960"/>
            <a:ext cx="9052560" cy="221284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Masked feature prediction</a:t>
            </a:r>
          </a:p>
        </p:txBody>
      </p:sp>
      <p:sp>
        <p:nvSpPr>
          <p:cNvPr id="6" name="divsub 6"/>
          <p:cNvSpPr txBox="1"/>
          <p:nvPr/>
        </p:nvSpPr>
        <p:spPr>
          <a:xfrm>
            <a:off x="2944368" y="3401568"/>
            <a:ext cx="8961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Predict features of the masked patches instead of their pixels; histograms</a:t>
            </a:r>
            <a:b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</a:b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of oriented gradients (HOG), a hand-designed feature, are a strong target.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Masked feature prediction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MaskFeat regresses the features of the masked patches</a:t>
            </a:r>
          </a:p>
        </p:txBody>
      </p:sp>
      <p:pic>
        <p:nvPicPr>
          <p:cNvPr id="6" name="f_maskfeat.png" descr="f_maskf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116" y="1225296"/>
            <a:ext cx="4855464" cy="3145536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535424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 patches of the image; a transformer and a linear head regress a feature of each masked patch.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Five types of targets: pixel colors, HOG, dVAE tokens, deep features, pseudo labels (per-patch classes).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Each target: ViT-B pre-trained on ImageNet-1K, then fine-tuned; the top-1 accuracies are compared.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Wei, H. Fan, S. Xie, C.-Y. Wu, A. Yuille and C. Feichtenhofer, “Masked feature prediction for self-supervised visual pre-training,”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14668–14678, 2022.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Masked feature prediction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HOG rivals unsupervised deep features as a target</a:t>
            </a:r>
          </a:p>
        </p:txBody>
      </p:sp>
      <p:pic>
        <p:nvPicPr>
          <p:cNvPr id="6" name="f_hog.png" descr="f_h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8" y="1225296"/>
            <a:ext cx="4754880" cy="2633472"/>
          </a:xfrm>
          <a:prstGeom prst="rect">
            <a:avLst/>
          </a:prstGeom>
        </p:spPr>
      </p:pic>
      <p:pic>
        <p:nvPicPr>
          <p:cNvPr id="7" name="f_targets.png" descr="f_targ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248" y="1225296"/>
            <a:ext cx="5486400" cy="2633472"/>
          </a:xfrm>
          <a:prstGeom prst="rect">
            <a:avLst/>
          </a:prstGeom>
        </p:spPr>
      </p:pic>
      <p:sp>
        <p:nvSpPr>
          <p:cNvPr id="8" name="body 8"/>
          <p:cNvSpPr txBox="1"/>
          <p:nvPr/>
        </p:nvSpPr>
        <p:spPr>
          <a:xfrm>
            <a:off x="640080" y="4023360"/>
            <a:ext cx="11247120" cy="21671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HOG: histograms of oriented gradients in small cells, popular in the 2000s; fast to compute on a GPU.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Its invariance to geometric and photometric change (to some extent) helps: HOG beats pixel colors.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Horizontal axis: the cost of training the model that gives the target; none for pixels and HOG.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Unsupervised deep features (green) work best, supervised (gold) less; pseudo labels fall below scratch.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N. Dalal and B. Triggs, “Histograms of oriented gradients for human detection,” CVPR, 886–893, 2005.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Wei, H. Fan, S. Xie, C.-Y. Wu, A. Yuille and C. Feichtenhofer, “Masked feature prediction for self-supervised visual pre-training,”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14668–14678, 2022.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42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Masked feature prediction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Pixel targets suffer from color and texture ambiguity</a:t>
            </a:r>
          </a:p>
        </p:txBody>
      </p:sp>
      <p:pic>
        <p:nvPicPr>
          <p:cNvPr id="6" name="f_ambiguity.png" descr="f_ambig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496" y="1225296"/>
            <a:ext cx="5632704" cy="318211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572000"/>
            <a:ext cx="11247120" cy="1563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Pixel targets give a large loss penalty when the predicted color is plausible but unmatched (the balloon).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HOG captures the major edge directions and is robust to ambiguous color and texture (the sea urchin).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loss covers only the masked regions, so the predictions outside them are not trained.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Wei, H. Fan, S. Xie, C.-Y. Wu, A. Yuille and C. Feichtenhofer, “Masked feature prediction for self-supervised visual pre-training,”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14668–14678, 2022.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43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Masked feature prediction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MaskFeat models one image, with minimal augmentation</a:t>
            </a:r>
          </a:p>
        </p:txBody>
      </p:sp>
      <p:pic>
        <p:nvPicPr>
          <p:cNvPr id="6" name="t_maskfeat.png" descr="t_maskf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508" y="1225296"/>
            <a:ext cx="7726680" cy="2633472"/>
          </a:xfrm>
          <a:prstGeom prst="rect">
            <a:avLst/>
          </a:prstGeom>
        </p:spPr>
      </p:pic>
      <p:sp>
        <p:nvSpPr>
          <p:cNvPr id="7" name="body 7"/>
          <p:cNvSpPr txBox="1"/>
          <p:nvPr/>
        </p:nvSpPr>
        <p:spPr>
          <a:xfrm>
            <a:off x="640080" y="4023360"/>
            <a:ext cx="11247120" cy="19933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Contrastive methods: invariance to data augmentation, but invariance is not always correct.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They rely heavily on augmentation engineering, and are complex because of the multiple views.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MaskFeat: image modeling of the structure inside one image, with minimal augmentation; it drives ViT-L.</a:t>
            </a:r>
          </a:p>
          <a:p>
            <a:pPr marL="254203" indent="-254203">
              <a:lnSpc>
                <a:spcPct val="106000"/>
              </a:lnSpc>
              <a:spcBef>
                <a:spcPts val="0"/>
              </a:spcBef>
              <a:spcAft>
                <a:spcPts val="936"/>
              </a:spcAft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Accuracies as reported by MaskFeat; papers fine-tune differently (DINO ViT-B: 82.8 here, 83.6 in iBOT).</a:t>
            </a:r>
          </a:p>
          <a:p>
            <a:pPr marL="0" indent="0">
              <a:spcBef>
                <a:spcPts val="360"/>
              </a:spcBef>
              <a:spcAft>
                <a:spcPts val="0"/>
              </a:spcAft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Wei, H. Fan, S. Xie, C.-Y. Wu, A. Yuille and C. Feichtenhofer, “Masked feature prediction for self-supervised visual pre-training,”</a:t>
            </a:r>
            <a:b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</a:b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CVPR, 14668–14678, 2022.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Neural Networks  ·  A. Yuille</a:t>
            </a:r>
          </a:p>
        </p:txBody>
      </p:sp>
      <p:sp>
        <p:nvSpPr>
          <p:cNvPr id="3" name="pageno 3"/>
          <p:cNvSpPr txBox="1"/>
          <p:nvPr/>
        </p:nvSpPr>
        <p:spPr>
          <a:xfrm>
            <a:off x="11231575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44</a:t>
            </a:r>
          </a:p>
        </p:txBody>
      </p:sp>
      <p:sp>
        <p:nvSpPr>
          <p:cNvPr id="4" name="header 4"/>
          <p:cNvSpPr txBox="1"/>
          <p:nvPr/>
        </p:nvSpPr>
        <p:spPr>
          <a:xfrm>
            <a:off x="6705295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3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Masked feature prediction</a:t>
            </a:r>
          </a:p>
        </p:txBody>
      </p:sp>
      <p:sp>
        <p:nvSpPr>
          <p:cNvPr id="5" name="title 5"/>
          <p:cNvSpPr txBox="1"/>
          <p:nvPr/>
        </p:nvSpPr>
        <p:spPr>
          <a:xfrm>
            <a:off x="640080" y="530352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summary 6"/>
          <p:cNvSpPr txBox="1"/>
          <p:nvPr/>
        </p:nvSpPr>
        <p:spPr>
          <a:xfrm>
            <a:off x="640080" y="1481328"/>
            <a:ext cx="112471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Few-shot learning: predict a new category's weights from its activations, a parametric nearest neighbor.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Self-supervised learning trains the backbone from the data itself; simple heads then do the visual tasks.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Proxy tasks predict context, orientation, patch organization or color; clustering led to contrastive.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Contrastive learning: two views of an image attract, other images repel; CLIP pairs images with captions.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Masked image modeling predicts masked patches; BEiT's visual tokens come from a dVAE trained first.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iBOT learns its tokens online by self-distillation; they group objects and their parts.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MaskFeat: the HOG of the masked patches is a strong target, with minimal augmentation.</a:t>
            </a:r>
          </a:p>
          <a:p>
            <a:pPr marL="0" indent="0">
              <a:buNone/>
            </a:pPr>
            <a:endParaRPr sz="1900"/>
          </a:p>
          <a:p>
            <a:pPr marL="0" indent="0">
              <a:buNone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features work with simple heads; DINOv2 (2024), strongly motivated by iBOT, is the most popular.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4964</Words>
  <Application>Microsoft Macintosh PowerPoint</Application>
  <PresentationFormat>Widescreen</PresentationFormat>
  <Paragraphs>377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Learning: Few-Shot Learning, Contrastive Learning and Masked Image Modeling</dc:title>
  <dc:subject/>
  <dc:creator>Alan Yuille</dc:creator>
  <cp:keywords/>
  <dc:description/>
  <cp:lastModifiedBy>Jeremy Chen</cp:lastModifiedBy>
  <cp:revision>3</cp:revision>
  <dcterms:created xsi:type="dcterms:W3CDTF">2013-01-27T09:14:16Z</dcterms:created>
  <dcterms:modified xsi:type="dcterms:W3CDTF">2026-10-12T01:47:01Z</dcterms:modified>
  <cp:category/>
</cp:coreProperties>
</file>