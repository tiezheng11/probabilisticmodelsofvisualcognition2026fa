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  <p:sldId id="295" r:id="rId4"/>
    <p:sldId id="296" r:id="rId3"/>
    <p:sldId id="297" r:id="rId2"/>
    <p:sldId id="29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2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Regression, Perceptrons,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Backpropagation and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Convolutional Neural Networks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Learn the posterior P(y | x) from data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Least squares and logistic regression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Hidden units and backpropagation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Local shared filters, feature maps, pooling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Architecture, training and learnt filters</a:t>
            </a:r>
          </a:p>
        </p:txBody>
      </p:sp>
      <p:sp>
        <p:nvSpPr>
          <p:cNvPr id="30" name="card 30"/>
          <p:cNvSpPr/>
          <p:nvPr/>
        </p:nvSpPr>
        <p:spPr>
          <a:xfrm>
            <a:off x="6236208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oval 31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 32"/>
          <p:cNvSpPr txBox="1"/>
          <p:nvPr/>
        </p:nvSpPr>
        <p:spPr>
          <a:xfrm>
            <a:off x="6492240" y="4242816"/>
            <a:ext cx="512064" cy="34747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3" name="cardtitle 33"/>
          <p:cNvSpPr txBox="1"/>
          <p:nvPr/>
        </p:nvSpPr>
        <p:spPr>
          <a:xfrm>
            <a:off x="7168896" y="4110228"/>
            <a:ext cx="4343400" cy="322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34" name="cardsub 34"/>
          <p:cNvSpPr txBox="1"/>
          <p:nvPr/>
        </p:nvSpPr>
        <p:spPr>
          <a:xfrm>
            <a:off x="7168896" y="4507992"/>
            <a:ext cx="4343400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HED side outputs, ResNet and U-Net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Bayes decision theory to learning the posterior</a:t>
            </a:r>
          </a:p>
        </p:txBody>
      </p:sp>
      <p:pic>
        <p:nvPicPr>
          <p:cNvPr id="5" name="f00_recap.png" descr="f00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147072"/>
          </a:xfrm>
          <a:prstGeom prst="rect">
            <a:avLst/>
          </a:prstGeom>
        </p:spPr>
      </p:pic>
      <p:sp>
        <p:nvSpPr>
          <p:cNvPr id="6" name="accent 6"/>
          <p:cNvSpPr/>
          <p:nvPr/>
        </p:nvSpPr>
        <p:spPr>
          <a:xfrm>
            <a:off x="640080" y="3482096"/>
            <a:ext cx="10911535" cy="932688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centtext 7"/>
          <p:cNvSpPr txBox="1"/>
          <p:nvPr/>
        </p:nvSpPr>
        <p:spPr>
          <a:xfrm>
            <a:off x="1051560" y="3482096"/>
            <a:ext cx="10088575" cy="9326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new question is: can we learn the posterior P(y | x) directly</a:t>
            </a:r>
            <a:b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</a:b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from pairs (x, y), without a model of the images?</a:t>
            </a:r>
          </a:p>
        </p:txBody>
      </p:sp>
      <p:sp>
        <p:nvSpPr>
          <p:cNvPr id="8" name="body 8"/>
          <p:cNvSpPr txBox="1"/>
          <p:nvPr/>
        </p:nvSpPr>
        <p:spPr>
          <a:xfrm>
            <a:off x="640080" y="4561088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 decision theory (BDT) decides from the posterior P(y | x), from the likelihood and the prior.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Lecture 8 learnt parameters θ by maximum likelihood (ML) and expectation-maximisation (EM).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networks learn P(y | x, ω), where ω are the weights of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Regression versus Bayes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decision needs only the posterior: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learn P(y | x) directly from pairs (x, 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decision rule depends only on the posterior P(y | x)</a:t>
            </a:r>
          </a:p>
        </p:txBody>
      </p:sp>
      <p:pic>
        <p:nvPicPr>
          <p:cNvPr id="6" name="f01_routes.png" descr="f01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778281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113305"/>
            <a:ext cx="10911535" cy="166843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bdt_risk.png" descr="bd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34" y="3277897"/>
            <a:ext cx="4841227" cy="606366"/>
          </a:xfrm>
          <a:prstGeom prst="rect">
            <a:avLst/>
          </a:prstGeom>
        </p:spPr>
      </p:pic>
      <p:pic>
        <p:nvPicPr>
          <p:cNvPr id="9" name="bdt_best.png" descr="bdt_b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096" y="4012279"/>
            <a:ext cx="5679503" cy="604867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928042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Bayesian approach is formulated in terms of the joint probability distribution P(x, y) = P(x | y) P(y).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But the decision rule α(x), which minimises the risk for a loss L, depends only on the posterior P(y | x).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maybe we only need to learn P(y | x) instead of P(x | y) P(y)?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P(y | x) from data is called regression</a:t>
            </a:r>
          </a:p>
        </p:txBody>
      </p:sp>
      <p:pic>
        <p:nvPicPr>
          <p:cNvPr id="6" name="f02_regress.png" descr="f02_re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5989320" cy="269748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858000" y="1833905"/>
            <a:ext cx="4693615" cy="148026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reg_data.png" descr="reg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643" y="1998497"/>
            <a:ext cx="3844330" cy="269507"/>
          </a:xfrm>
          <a:prstGeom prst="rect">
            <a:avLst/>
          </a:prstGeom>
        </p:spPr>
      </p:pic>
      <p:pic>
        <p:nvPicPr>
          <p:cNvPr id="9" name="reg_mle.png" descr="reg_m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637" y="2396021"/>
            <a:ext cx="4402340" cy="753554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087368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requires a family of distributions P(y | x, ω), specified by ω, and estimating ω from the data by ML.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nets are models of this type, where ω are the network weights; the chart is the output of 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Confusingly, some neural network authors use “regression” only if y is a continuous variable.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Photograph: “chelsea”, scikit-image sample data (CC0). Output: AlexNet (Krizhevsky et al., 2012).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true posterior depends on the likelihood and the prior</a:t>
            </a:r>
          </a:p>
        </p:txBody>
      </p:sp>
      <p:pic>
        <p:nvPicPr>
          <p:cNvPr id="6" name="f03_variation.png" descr="f03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965202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300226"/>
            <a:ext cx="10911535" cy="94058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bayes.png" descr="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27" y="3464818"/>
            <a:ext cx="5405240" cy="61140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87118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likelihood P(x | y) is very complex: it requires specifying a probability distribution on images {x}.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object detection, P(x | y) should be capable of generating all possible images of the object 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Images are complicated and very high dimensional, so such generative models are very difficult to learn.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P(x | y = cat) must assign probability to all these images of one cat, and to every other cat.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Some visual tasks may not need a model of the images</a:t>
            </a:r>
          </a:p>
        </p:txBody>
      </p:sp>
      <p:pic>
        <p:nvPicPr>
          <p:cNvPr id="6" name="f04_surnames.png" descr="f04_surn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59641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2986299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networks may be good enough: some tasks on some domains may not need to achieve Bayes risk.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Polish or British surnames: frequencies of r, z, y, k may suffice, without a model that generates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 recognise a car we may not need its details: its type, its parts and boundaries, clean or dirty.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But this also depends on the data domains: the training and test 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Regression versus Bayes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Training and test sets are too small</a:t>
            </a:r>
          </a:p>
        </p:txBody>
      </p:sp>
      <p:pic>
        <p:nvPicPr>
          <p:cNvPr id="6" name="f05_domains.png" descr="f05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55627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46166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training set specifies a domain; regression methods perform well on data from the same domain.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on one domain, algorithms can fail on another, and on small changes that would not fool a human.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CEO: “Existing methods do not work on big datasets because there are too many corner cases.”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Pragmatically, test deep networks on ever more challenging data: out-of-distribution, adversarial.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Linear regression,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perceptron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Least squares fits a line;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hyperplane separates two classes, softly in logistic regression.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Linear regression: maximum likelihood gives least squares</a:t>
            </a:r>
          </a:p>
        </p:txBody>
      </p:sp>
      <p:pic>
        <p:nvPicPr>
          <p:cNvPr id="6" name="f06_linreg.png" descr="f06_lin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800600" cy="278892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5669280" y="1278948"/>
            <a:ext cx="5882335" cy="268161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lr_model.png" descr="lr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227" y="1443540"/>
            <a:ext cx="5202441" cy="601785"/>
          </a:xfrm>
          <a:prstGeom prst="rect">
            <a:avLst/>
          </a:prstGeom>
        </p:spPr>
      </p:pic>
      <p:pic>
        <p:nvPicPr>
          <p:cNvPr id="9" name="lr_ml.png" descr="lr_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825" y="2173341"/>
            <a:ext cx="5141246" cy="746975"/>
          </a:xfrm>
          <a:prstGeom prst="rect">
            <a:avLst/>
          </a:prstGeom>
        </p:spPr>
      </p:pic>
      <p:pic>
        <p:nvPicPr>
          <p:cNvPr id="10" name="lr_ls.png" descr="lr_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675" y="3048332"/>
            <a:ext cx="5547545" cy="74764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178808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Invented by Gauss (roughly 1800) to find Ceres, by predicting its position from previous estimates.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model: y = ax + b + ε, with unknown parameters a, b and zero-mean Gaussian noise ε of variance σ².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a, b, maximum likelihood is least squares: linear equations for a*, b*. It extends to vectors.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F. Gauss, Theoria motus corporum coelestium in sectionibus conicis solem ambientium, Perthes and Besser, Hamburg, 1809.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perceptron classifies by the side of a hyperplane</a:t>
            </a:r>
          </a:p>
        </p:txBody>
      </p:sp>
      <p:pic>
        <p:nvPicPr>
          <p:cNvPr id="6" name="s_dnn1.png" descr="s_dn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74" y="1225296"/>
            <a:ext cx="4526280" cy="2514600"/>
          </a:xfrm>
          <a:prstGeom prst="rect">
            <a:avLst/>
          </a:prstGeom>
        </p:spPr>
      </p:pic>
      <p:pic>
        <p:nvPicPr>
          <p:cNvPr id="7" name="f07_hyperplane.png" descr="f07_hyper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225296"/>
            <a:ext cx="4201668" cy="2514600"/>
          </a:xfrm>
          <a:prstGeom prst="rect">
            <a:avLst/>
          </a:prstGeom>
        </p:spPr>
      </p:pic>
      <p:sp>
        <p:nvSpPr>
          <p:cNvPr id="8" name="panel 8"/>
          <p:cNvSpPr/>
          <p:nvPr/>
        </p:nvSpPr>
        <p:spPr>
          <a:xfrm>
            <a:off x="640080" y="3849624"/>
            <a:ext cx="10911535" cy="75833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erc_rule.png" descr="per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940" y="4014216"/>
            <a:ext cx="5609816" cy="429151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754263"/>
            <a:ext cx="10911535" cy="11338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Perceptron was developed by Rosenblatt in the 1950s and started the first wave of neural networks.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simplified neuron: x are the synaptic inputs, w the weights, −w0 the threshold (b in the figure).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F. Rosenblatt, “The perceptron: a probabilistic model for information storage and organization in the brain,”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Psychological Review, 65(6):386–408, 1958.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perceptron algorithm converges on separable data</a:t>
            </a:r>
          </a:p>
        </p:txBody>
      </p:sp>
      <p:pic>
        <p:nvPicPr>
          <p:cNvPr id="6" name="f08_percalg.png" descr="f08_perca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28347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618498"/>
            <a:ext cx="10911535" cy="60137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erc_update.png" descr="perc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36" y="3783090"/>
            <a:ext cx="8472022" cy="272193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66180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Rosenblatt's algorithm corrects w on each misclassified example; it converges if the data are separable.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Otherwise the weights keep changing; their average usually gives a good separator.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 make it useful, find features φ(x) in a principled way and apply the perceptron to those features.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Freund and R. E. Schapire, “Large margin classification using the perceptron algorithm,” Machine Learning, 37(3):277–296, 1999.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perceptron as logistic regression</a:t>
            </a:r>
          </a:p>
        </p:txBody>
      </p:sp>
      <p:pic>
        <p:nvPicPr>
          <p:cNvPr id="6" name="s_dnn4.png" descr="s_dn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76" y="1236726"/>
            <a:ext cx="3346704" cy="2464308"/>
          </a:xfrm>
          <a:prstGeom prst="rect">
            <a:avLst/>
          </a:prstGeom>
        </p:spPr>
      </p:pic>
      <p:pic>
        <p:nvPicPr>
          <p:cNvPr id="7" name="f09_logistic.png" descr="f09_log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1225296"/>
            <a:ext cx="4297680" cy="2487168"/>
          </a:xfrm>
          <a:prstGeom prst="rect">
            <a:avLst/>
          </a:prstGeom>
        </p:spPr>
      </p:pic>
      <p:sp>
        <p:nvSpPr>
          <p:cNvPr id="8" name="panel 8"/>
          <p:cNvSpPr/>
          <p:nvPr/>
        </p:nvSpPr>
        <p:spPr>
          <a:xfrm>
            <a:off x="640080" y="3822192"/>
            <a:ext cx="10911535" cy="180475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_model.png" descr="log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248" y="3986784"/>
            <a:ext cx="7315200" cy="599846"/>
          </a:xfrm>
          <a:prstGeom prst="rect">
            <a:avLst/>
          </a:prstGeom>
        </p:spPr>
      </p:pic>
      <p:pic>
        <p:nvPicPr>
          <p:cNvPr id="10" name="log_ml.png" descr="log_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360" y="4714646"/>
            <a:ext cx="4752975" cy="747712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5773255"/>
            <a:ext cx="10911535" cy="31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After learning, P(y = 1 | x) &gt; 1/2 above the hyperplane and &lt; 1/2 below: a soft separation.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Linear regression, the perceptron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Logistic regression has a convex energy: no local minima</a:t>
            </a:r>
          </a:p>
        </p:txBody>
      </p:sp>
      <p:pic>
        <p:nvPicPr>
          <p:cNvPr id="6" name="f10_convex.png" descr="f10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846320" cy="283464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5715000" y="1757649"/>
            <a:ext cx="5836615" cy="176993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log_energy.png" descr="log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02" y="1922241"/>
            <a:ext cx="4290811" cy="746975"/>
          </a:xfrm>
          <a:prstGeom prst="rect">
            <a:avLst/>
          </a:prstGeom>
        </p:spPr>
      </p:pic>
      <p:pic>
        <p:nvPicPr>
          <p:cNvPr id="9" name="log_gd.png" descr="log_g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768" y="2797232"/>
            <a:ext cx="4169079" cy="565759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224528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 is convex: gradient descent with a well-chosen learning rate ζ converges to the global optimum.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optimum is finite when the two classes overlap; for separable data the weights grow without bound.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fixed-point update, the concave-convex procedure (CCCP) of Lecture 7, converges with no learning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Multi-layer perceptrons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Stack soft perceptrons;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backpropagation gives every weight its gradient by the chain rule.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Multi-layer perceptrons stack soft perceptrons</a:t>
            </a:r>
          </a:p>
        </p:txBody>
      </p:sp>
      <p:pic>
        <p:nvPicPr>
          <p:cNvPr id="6" name="s_dnn6.png" descr="s_dn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846320" cy="270662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5669280" y="1471896"/>
            <a:ext cx="5882335" cy="221342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mlp_net.png" descr="mlp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45" y="1636488"/>
            <a:ext cx="5604206" cy="330979"/>
          </a:xfrm>
          <a:prstGeom prst="rect">
            <a:avLst/>
          </a:prstGeom>
        </p:spPr>
      </p:pic>
      <p:pic>
        <p:nvPicPr>
          <p:cNvPr id="9" name="sigmoid.png" descr="sigm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990" y="2095483"/>
            <a:ext cx="2756916" cy="548640"/>
          </a:xfrm>
          <a:prstGeom prst="rect">
            <a:avLst/>
          </a:prstGeom>
        </p:spPr>
      </p:pic>
      <p:pic>
        <p:nvPicPr>
          <p:cNvPr id="10" name="mlp_E.png" descr="mlp_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8" y="2772139"/>
            <a:ext cx="4876800" cy="748589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096512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Stacking perceptrons, each taking the outputs of others as input, gives a multi-layer perceptron (MLP).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example, hidden variables z are computed from x with weights Ω, and the output y from z with 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sigmoid σ is a soft threshold, so the output is a differentiable function of all the weights.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Minimising E is maximum likelihood for P(y | x) = (1/Z) exp{−E}, if the normaliser Z is free of the weights.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Three hidden units combine three hyperplanes</a:t>
            </a:r>
          </a:p>
        </p:txBody>
      </p:sp>
      <p:pic>
        <p:nvPicPr>
          <p:cNvPr id="6" name="f11_mlp.png" descr="f11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6926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82569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hyperplane (logistic regression, olive) cannot enclose the disc; each hidden unit adds one (purple).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output unit combines the three half-planes: here the positive class is the region inside all three.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All the weights, w and Ω, are learnt together by gradient descent on the energy 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deep network is a composition of differentiable functions</a:t>
            </a:r>
          </a:p>
        </p:txBody>
      </p:sp>
      <p:pic>
        <p:nvPicPr>
          <p:cNvPr id="6" name="f12_chain.png" descr="f12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778281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113305"/>
            <a:ext cx="10911535" cy="100225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omp_ex.png" descr="comp_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832" y="3277897"/>
            <a:ext cx="7722031" cy="271220"/>
          </a:xfrm>
          <a:prstGeom prst="rect">
            <a:avLst/>
          </a:prstGeom>
        </p:spPr>
      </p:pic>
      <p:pic>
        <p:nvPicPr>
          <p:cNvPr id="9" name="comp_gen.png" descr="comp_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122" y="3677133"/>
            <a:ext cx="9745450" cy="273831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261860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Input image I, hidden layers H1 and H2, output O: each a differentiable function of the layer below.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ReLU is the rectified linear unit, ReLU(u) = max(0, u), applied to each unit.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loss L compares O with the ground truth T; W = (W1, W2, W3) are the weights ω of P(y | x, ω).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Backpropagation computes derivatives by the chain rule</a:t>
            </a:r>
          </a:p>
        </p:txBody>
      </p:sp>
      <p:pic>
        <p:nvPicPr>
          <p:cNvPr id="6" name="f13_backprop.png" descr="f13_backp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641878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2976902"/>
            <a:ext cx="10911535" cy="229806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bp1.png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183" y="3141494"/>
            <a:ext cx="6113330" cy="920516"/>
          </a:xfrm>
          <a:prstGeom prst="rect">
            <a:avLst/>
          </a:prstGeom>
        </p:spPr>
      </p:pic>
      <p:pic>
        <p:nvPicPr>
          <p:cNvPr id="9" name="bp2.png" descr="b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334" y="4190027"/>
            <a:ext cx="3967028" cy="920351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5421273"/>
            <a:ext cx="10911535" cy="53035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Backpropagation: the error goes back to give credit to weights that do not directly affect the output.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E. Rumelhart, G. E. Hinton and R. J. Williams, “Learning representations by back-propagating errors,” Nature, 323(6088):533–536, 1986.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Stochastic gradient descent learns from random subsets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401270"/>
            <a:ext cx="6842455" cy="257413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d.png" descr="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40" y="1565862"/>
            <a:ext cx="5160936" cy="749085"/>
          </a:xfrm>
          <a:prstGeom prst="rect">
            <a:avLst/>
          </a:prstGeom>
        </p:spPr>
      </p:pic>
      <p:pic>
        <p:nvPicPr>
          <p:cNvPr id="8" name="sgd.png" descr="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388" y="2442962"/>
            <a:ext cx="5069840" cy="533400"/>
          </a:xfrm>
          <a:prstGeom prst="rect">
            <a:avLst/>
          </a:prstGeom>
        </p:spPr>
      </p:pic>
      <p:pic>
        <p:nvPicPr>
          <p:cNvPr id="9" name="mb.png" descr="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28" y="3104378"/>
            <a:ext cx="6582360" cy="706432"/>
          </a:xfrm>
          <a:prstGeom prst="rect">
            <a:avLst/>
          </a:prstGeom>
        </p:spPr>
      </p:pic>
      <p:pic>
        <p:nvPicPr>
          <p:cNvPr id="10" name="f14_sgd.png" descr="f14_sg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95" y="1225296"/>
            <a:ext cx="3931920" cy="292608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315968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Steepest descent (SD) uses all N examples at each step; stochastic gradient descent (SGD) uses 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second wave of neural networks (1980s), batch meant all examples at once; online meant SGD.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third wave (deep learning) datasets are too big for full batches: random subsets N(t) are used.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the disc example, many cheap noisy steps lower the energy faster than a few exact 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Multi-layer perceptrons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energy is a non-convex function of the weights</a:t>
            </a:r>
          </a:p>
        </p:txBody>
      </p:sp>
      <p:pic>
        <p:nvPicPr>
          <p:cNvPr id="6" name="f15_perm.png" descr="f15_p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51081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00699"/>
            <a:ext cx="10911535" cy="18196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Permuting the hidden units, together with their output weights, gives the same input-output function.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every minimum has several copies with exactly the same energy; we only need to reach 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Between two copies the energy rises: E is non-convex, and descent can stop at local minima or saddles.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SGD's randomness avoids some local minima; Robbins-Monro proofs of convergence exclude MLPs.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Robbins and S. Monro, “A stochastic approximation method,” Annals of Mathematical Statistics, 22(3):400–407, 1951.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Convolutional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neural networks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In a convolutional neural network (CNN) every hidden unit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applies the same local filter; pooling reduces resolution.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Each hidden neuron applies the same localized, linear filter</a:t>
            </a:r>
          </a:p>
        </p:txBody>
      </p:sp>
      <p:pic>
        <p:nvPicPr>
          <p:cNvPr id="6" name="f16_localfilter.png" descr="f16_local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556278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891302"/>
            <a:ext cx="10911535" cy="95748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onv.png" descr="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952" y="4055894"/>
            <a:ext cx="5595791" cy="62829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995090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Local and shared: each neuron sees a small window, and all neurons of the map use the same weights 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u, v run over the 11 × 11 window and c over the three colours; w0 is the bias.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W, from AlexNet's first layer, responds where the image goes from dark on the left to light on the right.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bank of filters gives one feature map per filter</a:t>
            </a:r>
          </a:p>
        </p:txBody>
      </p:sp>
      <p:pic>
        <p:nvPicPr>
          <p:cNvPr id="6" name="f17_filterbank.png" descr="f17_filt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6926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82569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AlexNet's first layer has 96 filters of size 11 × 11 × 3, so its output is 96 feature maps, one per filter.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map shows where its feature is: the map of the green-blob filter lights up only at the eyes.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next layer's filters are local in space and span many maps, combining the features at each position.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Local pooling keeps the largest response in each window</a:t>
            </a:r>
          </a:p>
        </p:txBody>
      </p:sp>
      <p:pic>
        <p:nvPicPr>
          <p:cNvPr id="6" name="f18_pool.png" descr="f18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510811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845835"/>
            <a:ext cx="10911535" cy="72885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ool.png" descr="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305" y="4010427"/>
            <a:ext cx="4037086" cy="399672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720995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Max pooling keeps the largest value of each window (3 × 3, 2 pixels apart in AlexNet): lower resolution.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Deeper filters then cover a larger part of the image with the same number of weights.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Shifting the image by 4 pixels changes the pooled map less than the feature map: small shifts are tolerated.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deep CNN computes a hierarchy of feature maps</a:t>
            </a:r>
          </a:p>
        </p:txBody>
      </p:sp>
      <p:pic>
        <p:nvPicPr>
          <p:cNvPr id="6" name="f19_hierarchy.png" descr="f19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78866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78555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layer applies local filters to the maps of the layer below; pooling reduces the resolution.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Deeper maps are coarser and their units see larger regions: a conv5 unit sees most of the cat's face.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hierarchy is motivated by conjectures about the mammalian visual system.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fully connected layers at the top output P(y | x) over 1,000 classes.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Convolutional neural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CNN is an MLP with local, shared weights</a:t>
            </a:r>
          </a:p>
        </p:txBody>
      </p:sp>
      <p:pic>
        <p:nvPicPr>
          <p:cNvPr id="6" name="f20_compare.png" descr="f2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92507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14958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Perceptron: one unit, one hyperplane. MLP: fully connected layers; every unit sees the whole layer below.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Fully connecting a 224 × 224 colour image to AlexNet's 55 × 55 × 96 first layer: 44 billion weights.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AlexNet's first convolutional layer needs about 35,000: 96 filters of 11 × 11 × 3, shared by all positions.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soft perceptron, MLP and CNN are all trained by maximum likelihood, backpropagation and SGD.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AlexNet on ImageNet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Five convolutional and three fully connected layers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learn P(y | x) over 1,000 classes.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AlexNet classifies ImageNet images into 1,000 classes</a:t>
            </a:r>
          </a:p>
        </p:txBody>
      </p:sp>
      <p:pic>
        <p:nvPicPr>
          <p:cNvPr id="6" name="s_hin_val.png" descr="s_hin_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21524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05131"/>
            <a:ext cx="10911535" cy="216712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ImageNet Large Scale Visual Recognition Challenge (ILSVRC): 1.2 million training images, 1,000 classes.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Deep: 7 hidden “weight” layers, plus the output layer. Entirely supervised. More data = good.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Learned: all feature extractors initialized at white Gaussian noise and learned from the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Below each image: its correct label, then the top five labels; bar length: probability, red: correct.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Krizhevsky, I. Sutskever and G. E. Hinton, “ImageNet classification with deep convolutional neural networks,” NIPS 25, 1097–1105, 2012.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Deng, W. Dong, R. Socher, L.-J. Li, K. Li and L. Fei-Fei, “ImageNet: a large-scale hierarchical image database,” CVPR, 248–255, 2009.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Figure: G. Hinton, slides on Krizhevsky, Sutskever and Hinton (2012).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AlexNet: five convolutional and three fully connected layers</a:t>
            </a:r>
          </a:p>
        </p:txBody>
      </p:sp>
      <p:pic>
        <p:nvPicPr>
          <p:cNvPr id="6" name="f22_alexarch.png" descr="f22_alex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78866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78555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Max pooling follows conv1, conv2 and conv5; stride 4: conv1's window moves 4 pixels at a time.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650,000 neurons, 60 million parameters, 630 million connections; a 4096-dimensional final feature layer.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with SGD on two graphics processors (GPUs) for about a week; the drawing merges the two.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Redrawn from Krizhevsky, Sutskever and Hinton (2012), Figure 2, as in Hinton's slides p. 12.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Training maximises the log-probability of the correct label</a:t>
            </a:r>
          </a:p>
        </p:txBody>
      </p:sp>
      <p:pic>
        <p:nvPicPr>
          <p:cNvPr id="6" name="s_hin_fwd.png" descr="s_hin_f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932688" cy="3273552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1801368" y="2167401"/>
            <a:ext cx="8607247" cy="138934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oftmax.png" descr="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327" y="2331993"/>
            <a:ext cx="3473329" cy="660593"/>
          </a:xfrm>
          <a:prstGeom prst="rect">
            <a:avLst/>
          </a:prstGeom>
        </p:spPr>
      </p:pic>
      <p:pic>
        <p:nvPicPr>
          <p:cNvPr id="9" name="logprob.png" descr="logpr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468" y="3120602"/>
            <a:ext cx="5539047" cy="271549"/>
          </a:xfrm>
          <a:prstGeom prst="rect">
            <a:avLst/>
          </a:prstGeom>
        </p:spPr>
      </p:pic>
      <p:pic>
        <p:nvPicPr>
          <p:cNvPr id="10" name="s_hin_bwd.png" descr="s_hin_bw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7215" y="1232154"/>
            <a:ext cx="914400" cy="3259836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663440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by SGD and the backpropagation algorithm (just repeated application of the chain rule).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output unit per class; the softmax f turns their total inputs into P(y | x, ω); t is the correct label.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two classes the softmax is logistic regression. Circles: convolutional layers; squares: fully connected.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Figure: G. Hinton, slides on Krizhevsky, Sutskever and Hinton (2012).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Rectified linear units train much faster than tanh units</a:t>
            </a:r>
          </a:p>
        </p:txBody>
      </p:sp>
      <p:pic>
        <p:nvPicPr>
          <p:cNvPr id="6" name="f23_relu.png" descr="f23_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8" y="1225296"/>
            <a:ext cx="7863840" cy="251460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849624"/>
            <a:ext cx="10911535" cy="59974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total_input.png" descr="total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400" y="4014216"/>
            <a:ext cx="5002895" cy="270562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595674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total input x of a neuron is a weighted sum of the outputs f(z) of the units below; f(x) is its output.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tanh saturates: for large |x| its slope is almost zero, and backpropagation multiplies the error by that slope.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CNNs with ReLUs train several times faster than their equivalents with tanh units.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Krizhevsky, I. Sutskever and G. E. Hinton, “ImageNet classification with deep convolutional neural networks,” NIPS 25, 1097–1105, 2012.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Data augmentation and dropout reduce overfitting</a:t>
            </a:r>
          </a:p>
        </p:txBody>
      </p:sp>
      <p:pic>
        <p:nvPicPr>
          <p:cNvPr id="6" name="f24_augment.png" descr="f24_au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5852160" cy="2377440"/>
          </a:xfrm>
          <a:prstGeom prst="rect">
            <a:avLst/>
          </a:prstGeom>
        </p:spPr>
      </p:pic>
      <p:pic>
        <p:nvPicPr>
          <p:cNvPr id="7" name="f25_dropout.png" descr="f25_dr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408" y="1225296"/>
            <a:ext cx="4160520" cy="237744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767328"/>
            <a:ext cx="10911535" cy="16002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 has 60M real-valued parameters and 650,000 neurons. It overfits a lot.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we train on random 224 × 224 patches of the 256 × 256 images, and on their horizontal reflections.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Dropout: set each hidden unit activity to zero with probability 0.5, in the two fully connected hidden layers.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Testing: average the predictions at five 224 × 224 patches (corners and centre) and their reflections.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first layer learns oriented edges and colour blobs</a:t>
            </a:r>
          </a:p>
        </p:txBody>
      </p:sp>
      <p:pic>
        <p:nvPicPr>
          <p:cNvPr id="6" name="s_hin_filters.png" descr="s_hin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8" y="1225296"/>
            <a:ext cx="7863840" cy="308610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75988"/>
            <a:ext cx="10911535" cy="15636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96 kernels (filters) of 11 × 11 × 3 in the first layer: the top 48 learned on one GPU, the rest on the other.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network has learned frequency- and orientation-selective kernels, as well as various coloured blobs.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Many resemble the oriented receptive fields of simple cells in primary visual cortex (V1).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Krizhevsky, I. Sutskever and G. E. Hinton, “ImageNet classification with deep convolutional neural networks,” NIPS 25, 1097–1105, 2012.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Figure: G. Hinton, slides on Krizhevsky, Sutskever and Hinton (2012).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AlexNet on ImageNet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4096-dimensional features retrieve similar images</a:t>
            </a:r>
          </a:p>
        </p:txBody>
      </p:sp>
      <p:pic>
        <p:nvPicPr>
          <p:cNvPr id="6" name="s_hin_retr.png" descr="s_hin_re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88" y="1225296"/>
            <a:ext cx="5760720" cy="369874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5088636"/>
            <a:ext cx="10911535" cy="960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First column: query images from the ILSVRC-2010 test set; the other columns: retrieved training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retrieved images have final feature vectors close to the query's, although their pose differs.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Figure: G. Hinton, slides on Krizhevsky, Sutskever and Hinton (2012).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Supervision and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skip connections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Fine-detail tasks need a label at every pixel: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supervise every level and carry fine detail forward.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Fine-detail tasks need a decision at every pixel</a:t>
            </a:r>
          </a:p>
        </p:txBody>
      </p:sp>
      <p:pic>
        <p:nvPicPr>
          <p:cNvPr id="6" name="f21_dense.png" descr="f21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6926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82569"/>
            <a:ext cx="10911535" cy="13898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networks first succeeded at object classification, a coarse task: one label per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were rapidly adapted to fine-detail tasks, edges and semantic segmentation: a result per pixel.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fully convolutional network (FCN) replaces fully connected layers by convolutions, then upsamples.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Long, E. Shelhamer and T. Darrell, “Fully convolutional networks for semantic segmentation,” CVPR, 3431–3440, 2015.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Edges occur at different scales in the image</a:t>
            </a:r>
          </a:p>
        </p:txBody>
      </p:sp>
      <p:pic>
        <p:nvPicPr>
          <p:cNvPr id="6" name="f26_scales.png" descr="f26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778281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113305"/>
            <a:ext cx="10911535" cy="59893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grad_scale.png" descr="grad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58" y="3277897"/>
            <a:ext cx="2964180" cy="269748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3858541"/>
            <a:ext cx="10911535" cy="11704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Blur the image I with a Gaussian Gσ of standard deviation σ and take the derivative: edges at scale σ.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Small edges, such as texture, are blurred out by large σ; large edges remain as the blur grows.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There is information about edges at all scales, as exploited by statistical edge detectors.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HED gives the network a loss at every level</a:t>
            </a:r>
          </a:p>
        </p:txBody>
      </p:sp>
      <p:pic>
        <p:nvPicPr>
          <p:cNvPr id="6" name="f27_hed.png" descr="f27_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056137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391161"/>
            <a:ext cx="10911535" cy="147440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ed.png" descr="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232" y="3555753"/>
            <a:ext cx="8873231" cy="114521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5011868"/>
            <a:ext cx="10911535" cy="960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Holistically-nested edge detection (HED): a 16-layer CNN (VGG-16) in five stages, each with a side output.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Lower layers locate edges, higher layers validate them; β ≈ 0.9 makes a missed edge cost nine times more.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Xie and Z. Tu, “Holistically-nested edge detection,” ICCV, 1395–1403, 2015.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Residual networks add a skip connection to each block</a:t>
            </a:r>
          </a:p>
        </p:txBody>
      </p:sp>
      <p:pic>
        <p:nvPicPr>
          <p:cNvPr id="6" name="f28_resblock.png" descr="f28_res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88" y="1225296"/>
            <a:ext cx="3383280" cy="2240280"/>
          </a:xfrm>
          <a:prstGeom prst="rect">
            <a:avLst/>
          </a:prstGeom>
        </p:spPr>
      </p:pic>
      <p:pic>
        <p:nvPicPr>
          <p:cNvPr id="7" name="f29_resdepth.png" descr="f29_res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828" y="1225296"/>
            <a:ext cx="6355080" cy="2240280"/>
          </a:xfrm>
          <a:prstGeom prst="rect">
            <a:avLst/>
          </a:prstGeom>
        </p:spPr>
      </p:pic>
      <p:sp>
        <p:nvSpPr>
          <p:cNvPr id="8" name="panel 8"/>
          <p:cNvSpPr/>
          <p:nvPr/>
        </p:nvSpPr>
        <p:spPr>
          <a:xfrm>
            <a:off x="640080" y="3575304"/>
            <a:ext cx="10911535" cy="91533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res.png" descr="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340" y="3739896"/>
            <a:ext cx="9355015" cy="586154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636946"/>
            <a:ext cx="10911535" cy="11338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Deeper plain networks (no skips) can train worse; residual networks up to 152 layers won ILSVRC 2015.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block learns only the residual F; the skip connection carries H forward, and the error back, unchanged.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He, X. Zhang, S. Ren and J. Sun, “Deep residual learning for image recognition,” CVPR, 770–778, 2016.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He, X. Zhang, S. Ren and J. Sun, “Identity mappings in deep residual networks,” ECCV, 630–645, 2016.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U-Net: skip connections carry fine detail forward</a:t>
            </a:r>
          </a:p>
        </p:txBody>
      </p:sp>
      <p:pic>
        <p:nvPicPr>
          <p:cNvPr id="6" name="f30_unet.png" descr="f30_u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87960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69490"/>
            <a:ext cx="10911535" cy="15636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contracting path to capture context and a symmetric expanding path that enables precise localisation.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Skip connections copy the maps of each contracting level and concatenate them into the expanding path.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Designed for biomedical image segmentation; many diffusion models also use a U-Net to remove noise.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O. Ronneberger, P. Fischer and T. Brox, “U-Net: convolutional networks for biomedical image segmentation,” MICCAI, LNCS 9351, 234–241, 2015.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Ho, A. Jain and P. Abbeel, “Denoising diffusion probabilistic models,” NeurIPS 33, 6840–6851, 2020.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Supervision and skip connections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338328"/>
            <a:ext cx="10911535" cy="64008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0911535" cy="42062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Decisions need only the posterior; regression learns P(y | x, ω) by maximum likelihood.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P(y | x, ω) may approximate the posterior well for some tasks; datasets are too small to check.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Linear regression is least squares; logistic regression softens the perceptron's hyperplane.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MLP stacks soft perceptrons; SGD follows the gradients that backpropagation computes.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CNN is an MLP with local, shared filters and pooling: a hierarchy of feature maps.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AlexNet: eight layers, ReLU, augmentation and dropout; the first layer learns edges and blobs.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Per-pixel tasks need fine detail: HED supervises every level with its own loss.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Skip connections let ResNet train very deep networks and give U-Net its fine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Regression, Perceptrons, Backpropagation and Convolutional Neural Networks</dc:title>
  <dc:subject/>
  <dc:creator>Alan Yuille</dc:creator>
  <cp:keywords/>
  <dc:description/>
  <cp:lastModifiedBy>Jeremy Chen</cp:lastModifiedBy>
  <cp:revision>4</cp:revision>
  <dcterms:created xsi:type="dcterms:W3CDTF">2013-01-27T09:14:16Z</dcterms:created>
  <dcterms:modified xsi:type="dcterms:W3CDTF">2026-09-22T20:04:32Z</dcterms:modified>
  <cp:category/>
</cp:coreProperties>
</file>