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0"/>
  </p:normalViewPr>
  <p:slideViewPr>
    <p:cSldViewPr snapToGrid="0" snapToObjects="1">
      <p:cViewPr varScale="1">
        <p:scale>
          <a:sx n="111" d="100"/>
          <a:sy n="111" d="100"/>
        </p:scale>
        <p:origin x="6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3725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slide. The directed graph on the left is the two-cue model of the previous lecture; the grid on the right is the model of this lecture.</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Notation fixed here: i is a pixel, W the set of pixels, x_i the label at pixel i, x the whole labelling. The pictures are the first slide of the segmentation deck.</a:t>
            </a:r>
          </a:p>
          <a:p>
            <a:endParaRPr/>
          </a:p>
          <a:p>
            <a:r>
              <a:t>e04_labels:</a:t>
            </a:r>
          </a:p>
          <a:p>
            <a:r>
              <a:t>$x_i \in \{\text{airplane},\ \text{sky},\ \text{person},\ \ldots\},\qquad i\in W,\qquad \mathbf{x}=\{x_i : i\in 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red note on the source deck (page 13): the unary term 'can be specified by deep network, add more content to elaborate'. This page and the unary page in section 2 carry that elaboration.</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slide 6: 'Large CNN receptive field → poor performance near boundaries'.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move from P(x_i | I) to P(x | I) is the whole content of the lecture.</a:t>
            </a:r>
          </a:p>
          <a:p>
            <a:endParaRPr/>
          </a:p>
          <a:p>
            <a:r>
              <a:t>e07_joint:</a:t>
            </a:r>
          </a:p>
          <a:p>
            <a:r>
              <a:t>$\prod_{i\in W} P(x_i\mid I)\ \ \text{pixels on their own}\qquad\text{against}\qquad P(\mathbf{x}\mid I)\ \ \text{the joint labelling}$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own sentence from the MRF notes: 'if one pixel is an airplane then neighborhood pixels are likely to also be airplanes'.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Alan's energy function (MRF notes, page 07-07), with the two sums coloured to match the figure.</a:t>
            </a:r>
          </a:p>
          <a:p>
            <a:endParaRPr/>
          </a:p>
          <a:p>
            <a:r>
              <a:t>e11_energy:</a:t>
            </a:r>
          </a:p>
          <a:p>
            <a:r>
              <a:t>$E(\mathbf{x}) = \ub{{\color{ublue}\sum_{i\in W}\psi_i(x_i)}}{\color{ublue}unary evidence} + \ub{{\color{ured}\sum_{(i,j)\in\mathcal{N}}\psi_{ij}(x_i,x_j)}}{\color{ured}context},\qquad \mathcal{N}=\{\text{neighbouring pairs } (i,j)\}$</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elaboration Alan asked for in the red note on page 13 of the segmentation deck.</a:t>
            </a:r>
          </a:p>
          <a:p>
            <a:endParaRPr/>
          </a:p>
          <a:p>
            <a:r>
              <a:t>e09_unary:</a:t>
            </a:r>
          </a:p>
          <a:p>
            <a:r>
              <a:t>$\psi_i(x_i) = -\log P(x_i \mid 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Potts form is from the Krähenbühl and Koltun slide (page 19 of the segmentation deck), where it is written mu(x_i, x_j).</a:t>
            </a:r>
          </a:p>
          <a:p>
            <a:endParaRPr/>
          </a:p>
          <a:p>
            <a:r>
              <a:t>e10_potts:</a:t>
            </a:r>
          </a:p>
          <a:p>
            <a:r>
              <a:t>$\psi_{ij}(x_i,x_j) = w_{ij}\,\mu(x_i,x_j),\qquad \mu(x_i,x_j)=1 \text{ if } x_i\neq x_j,\quad \mu(x_i,x_j)=0 \text{ if } x_i = x_j$</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Computed on a synthetic 16x16 score map (seed 3). E(A) = 251.4, E(B) = 159.6. Unary part: A 73.4, B 110.6. Disagreeing neighbour pairs: A 178, B 49. B was found by iterated conditional modes from A.</a:t>
            </a:r>
          </a:p>
          <a:p>
            <a:endParaRPr/>
          </a:p>
          <a:p>
            <a:r>
              <a:t>e12_argmin:</a:t>
            </a:r>
          </a:p>
          <a:p>
            <a:r>
              <a:t>$\hat{\mathbf{x}} = \arg\min_{\mathbf{x}} E(\mathbf{x})$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conditional form p(y | x, w) is on the Kokkinos slide (page 10 of the segmentation deck).</a:t>
            </a:r>
          </a:p>
          <a:p>
            <a:endParaRPr/>
          </a:p>
          <a:p>
            <a:r>
              <a:t>e13_crf:</a:t>
            </a:r>
          </a:p>
          <a:p>
            <a:r>
              <a:t>$E(\mathbf{x};I) = \sum_{i\in W}\psi_i(x_i;I) + \sum_{(i,j)\in\mathcal{N}}\psi_{ij}(x_i,x_j;I)$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bullets (page 11): efficient inference, 1 second for 50,000 variables; limited expressive power; only local interactions; excessive smoothing of object boundaries, shrinking bias.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pages 12 and 13 of the segmentation deck.</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page: motivates the Gaussian kernel on the next page but one.</a:t>
            </a:r>
          </a:p>
          <a:p>
            <a:endParaRPr/>
          </a:p>
          <a:p>
            <a:r>
              <a:t>e16_w:</a:t>
            </a:r>
          </a:p>
          <a:p>
            <a:r>
              <a:t>$\psi_{ij}(x_i,x_j) = w_{ij}(I)\,\mu(x_i,x_j)$</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 14: 'Every node is connected to every other node; connections weighted differently'.</a:t>
            </a:r>
          </a:p>
          <a:p>
            <a:endParaRPr/>
          </a:p>
          <a:p>
            <a:r>
              <a:t>e17_dense:</a:t>
            </a:r>
          </a:p>
          <a:p>
            <a:r>
              <a:t>$E(\mathbf{x}) = \sum_{i\in W}\psi_i(x_i) + \sum_{i\in W}\ \sum_{j&gt;i}\psi_{ij}(x_i,x_j)$</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kernel is the Gaussian edge potential of Krähenbühl and Koltun (page 19 of the segmentation deck). The two maps are exp of minus the two quadratic terms for a pixel on the tree and a pixel on the grass; w_1 = 1, w_2 = 0 for the picture.</a:t>
            </a:r>
          </a:p>
          <a:p>
            <a:endParaRPr/>
          </a:p>
          <a:p>
            <a:r>
              <a:t>e18_kernel:</a:t>
            </a:r>
          </a:p>
          <a:p>
            <a:r>
              <a:t>$w_{ij} = w_1 \exp\!\left(-\frac{\|p_i-p_j\|^2}{2\sigma_\alpha^2}-\frac{\|I_i-I_j\|^2}{2\sigma_\beta^2}\right) + w_2\exp\!\left(-\frac{\|p_i-p_j\|^2}{2\sigma_\gamma^2}\right)$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pages 11, 15 and 17.</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 20. The original writes theta_i and theta_ij; the deck keeps psi throughout.</a:t>
            </a:r>
          </a:p>
          <a:p>
            <a:endParaRPr/>
          </a:p>
          <a:p>
            <a:r>
              <a:t>e20_pipe:</a:t>
            </a:r>
          </a:p>
          <a:p>
            <a:r>
              <a:t>$E(\mathbf{x}) = \sum_{i}\psi_i(x_i) + \sum_{i}\sum_{j&gt;i}\psi_{ij}(x_i,x_j),\qquad \psi_i(x_i) = -\log P_{\text{network}}(x_i\mid 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 9, 'Accurate boundary recovery with CRF'.</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pages 22 and 23. The quantitative comparisons (PASCAL VOC table, 60 to 64 percent for the CNN alone against above 67 percent with the CRF, 71 percent with COCO pretraining) are left for the notes: pre-CNN methods reached about 50 percent mean IoU on VOC, the CNN alone 60 to 64, the CNN with CRF above 67, and COCO pretraining took it to 71.</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07-08.</a:t>
            </a:r>
          </a:p>
          <a:p>
            <a:endParaRPr/>
          </a:p>
          <a:p>
            <a:r>
              <a:t>e23_count:</a:t>
            </a:r>
          </a:p>
          <a:p>
            <a:r>
              <a:t>$|W| \text{ pixels, } M \text{ labels each}:\qquad M^{|W|} \text{ configurations of } \mathbf{x}$</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07-08. Z for the toy example is 0.288; the lowest energy is 2.71 and the highest probability 0.23.</a:t>
            </a:r>
          </a:p>
          <a:p>
            <a:endParaRPr/>
          </a:p>
          <a:p>
            <a:r>
              <a:t>e24_gibbs:</a:t>
            </a:r>
          </a:p>
          <a:p>
            <a:r>
              <a:t>$P(\mathbf{x}) = \frac{e^{-E(\mathbf{x})}}{Z},\qquad Z=\sum_{\mathbf{x}} e^{-E(\mathbf{x})}$</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07-09.</a:t>
            </a:r>
          </a:p>
          <a:p>
            <a:endParaRPr/>
          </a:p>
          <a:p>
            <a:r>
              <a:t>e25_map:</a:t>
            </a:r>
          </a:p>
          <a:p>
            <a:r>
              <a:t>$\hat{\mathbf{x}} = \arg\min_{\mathbf{x}} E(\mathbf{x}) = \arg\max_{\mathbf{x}} P(\mathbf{x})$</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07-09, kept as written.</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Joint probabilities for the values shown: 000 0.016, 001 0.036, 010 0.011, 011 0.066, 100 0.054, 101 0.121, 110 0.099, 111 0.597. True marginals P(x_i = 1): 0.87, 0.77, 0.82.</a:t>
            </a:r>
          </a:p>
          <a:p>
            <a:endParaRPr/>
          </a:p>
          <a:p>
            <a:r>
              <a:t>e27_chain:</a:t>
            </a:r>
          </a:p>
          <a:p>
            <a:r>
              <a:t>$P(x_1,x_2,x_3) = \frac{1}{Z}\exp\!\big[-\psi_1 x_1 - \psi_2 x_2 - \psi_3 x_3 - \psi_{12}\,x_1x_2 - \psi_{23}\,x_2x_3\big]$</a:t>
            </a:r>
          </a:p>
          <a:p>
            <a:endParaRPr/>
          </a:p>
          <a:p>
            <a:r>
              <a:t>e27_vals:</a:t>
            </a:r>
          </a:p>
          <a:p>
            <a:r>
              <a:t>$\psi_1=-1.2,\quad \psi_2=0.4,\quad \psi_3=-0.8,\quad \psi_{12}=\psi_{23}=-1$</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07-09. Mean-field solution for the chain: q = (0.879, 0.787, 0.830) against true marginals (0.870, 0.773, 0.820).</a:t>
            </a:r>
          </a:p>
          <a:p>
            <a:endParaRPr/>
          </a:p>
          <a:p>
            <a:r>
              <a:t>e28_Q:</a:t>
            </a:r>
          </a:p>
          <a:p>
            <a:r>
              <a:t>$Q(\mathbf{x}) = \prod_{i\in W} q_i(x_i),\qquad \hat{x}_i = \arg\max_{x_i} q_i(x_i),\qquad \hat{\mathbf{x}}=\{\hat{x}_i : i\in 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07-09.</a:t>
            </a:r>
          </a:p>
          <a:p>
            <a:endParaRPr/>
          </a:p>
          <a:p>
            <a:r>
              <a:t>e29_kl:</a:t>
            </a:r>
          </a:p>
          <a:p>
            <a:r>
              <a:t>$\hat{Q} = \arg\min_{Q} \sum_{\mathbf{x}} Q(\mathbf{x})\log\frac{Q(\mathbf{x})}{P(\mathbf{x})}$</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pages 07-09 and 07-12. Note on signs: the notes write the expansion with minus signs in front of the q psi terms; with F = sum Q log Q minus sum Q log P and log P = minus E minus log Z the signs are plus, as here, and the update formula on page 07-13 is consistent with the plus signs.</a:t>
            </a:r>
          </a:p>
          <a:p>
            <a:endParaRPr/>
          </a:p>
          <a:p>
            <a:r>
              <a:t>e30_F:</a:t>
            </a:r>
          </a:p>
          <a:p>
            <a:r>
              <a:t>$F[Q] = \sum_{\mathbf{x}} Q(\mathbf{x})\log Q(\mathbf{x}) - \sum_{\mathbf{x}} Q(\mathbf{x})\log P(\mathbf{x})$</a:t>
            </a:r>
          </a:p>
          <a:p>
            <a:endParaRPr/>
          </a:p>
          <a:p>
            <a:r>
              <a:t>e30_F2:</a:t>
            </a:r>
          </a:p>
          <a:p>
            <a:r>
              <a:t>$\phantom{F[Q]} = \ub{{\color{upurple}\sum_{\mathbf{x}} Q(\mathbf{x})\log Q(\mathbf{x})}}{\color{upurple}negative entropy} + \ub{{\color{ured}\sum_{\mathbf{x}} Q(\mathbf{x})\,E(\mathbf{x})}}{\color{ured}expected energy} + \ub{{\color{ugrey}\log Z}}{\color{ugrey}the same for every $Q$}$</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07-10. Minimum of F at q = (0.886, 0.697), F = -2.43.</a:t>
            </a:r>
          </a:p>
          <a:p>
            <a:endParaRPr/>
          </a:p>
          <a:p>
            <a:r>
              <a:t>e31_cont:</a:t>
            </a:r>
          </a:p>
          <a:p>
            <a:r>
              <a:t>$\hat{\mathbf{x}}=\arg\min_{\mathbf{x}}E(\mathbf{x})\quad\text{(discrete)}\qquad\longrightarrow\qquad \hat{Q}=\arg\min_{Q}F[Q]\quad\text{(continuous)}$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pages 07-11 and 07-12. Identity used: psi(x_i) = x_i psi(x_i = 1) + (1 - x_i) psi(x_i = 0).</a:t>
            </a:r>
          </a:p>
          <a:p>
            <a:endParaRPr/>
          </a:p>
          <a:p>
            <a:r>
              <a:t>e32_E:</a:t>
            </a:r>
          </a:p>
          <a:p>
            <a:r>
              <a:t>$x_i\in\{0,1\},\qquad E(\mathbf{x})=\sum_i x_i\psi_i+\sum_{(i,j)\in\mathcal{N}}x_ix_j\psi_{ij},\qquad q_i(x_i{=}1)=q_i,\quad q_i(x_i{=}0)=1-q_i$</a:t>
            </a:r>
          </a:p>
          <a:p>
            <a:endParaRPr/>
          </a:p>
          <a:p>
            <a:r>
              <a:t>e32_F:</a:t>
            </a:r>
          </a:p>
          <a:p>
            <a:r>
              <a:t>$F[Q]=\sum_i\big\{q_i\log q_i+(1-q_i)\log(1-q_i)\big\}+\sum_i q_i\psi_i+\sum_{(i,j)\in\mathcal{N}}q_iq_j\psi_{ij}+\log Z$</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07-13 (the 'discrete optimization algorithm'). The curves show the per-pixel part of F for a = psi_i + sum_j q_j psi_ij equal to -2, 0 and 2.</a:t>
            </a:r>
          </a:p>
          <a:p>
            <a:endParaRPr/>
          </a:p>
          <a:p>
            <a:r>
              <a:t>e33_update:</a:t>
            </a:r>
          </a:p>
          <a:p>
            <a:r>
              <a:t>$q_i^{t+1} = \frac{e^{-\psi_i-\sum_{j} q_j^t\psi_{ij}}}{1+e^{-\psi_i-\sum_{j} q_j^t\psi_{ij}}} = \sigma\Big(-\psi_i-\sum_{j\in N(i)} q_j^t\,\psi_{ij}\Big)$</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pages 18 and 19. The four steps of the algorithm: message passing (filter Q_j with each kernel), compatibility transform (multiply by mu), local update (add the unary and exponentiate), normalise. Numbers on the reused table: unary 84.0 global accuracy, grid CRF 84.6 in 1 s, fully connected CRF 86.0 in 0.2 s; MCMC on the same model 36 hours.</a:t>
            </a:r>
          </a:p>
          <a:p>
            <a:endParaRPr/>
          </a:p>
          <a:p>
            <a:r>
              <a:t>e34_dense:</a:t>
            </a:r>
          </a:p>
          <a:p>
            <a:r>
              <a:t>$Q_i(x_i{=}l) = \frac{1}{Z_i}\exp\Big\{-\psi_i(l)-\sum_{l'}\mu(l,l')\sum_m w_m\sum_{j\neq i}k^m(f_i,f_j)\,Q_j(l')\Big\}$</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Original page 21.</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07-13. Curves: one variable, E_convex = q log q + (1-q) log(1-q), E_concave = -q - 3 q^2; one CCCP step from q = 0.25 to q = 0.92 lowers F from -1.0 to -3.8.</a:t>
            </a:r>
          </a:p>
          <a:p>
            <a:endParaRPr/>
          </a:p>
          <a:p>
            <a:r>
              <a:t>e36_cccp:</a:t>
            </a:r>
          </a:p>
          <a:p>
            <a:r>
              <a:t>$F[q] = E_{\mathrm{convex}}[q] + E_{\mathrm{concave}}[q],\qquad \frac{\partial E_{\mathrm{convex}}}{\partial q_i}\Big|_{q^{t+1}} = -\frac{\partial E_{\mathrm{concave}}}{\partial q_i}\Big|_{q^{t}}$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Alan's notes, page 07-14 (continuum method). Signs corrected as on the free-energy page.</a:t>
            </a:r>
          </a:p>
          <a:p>
            <a:endParaRPr/>
          </a:p>
          <a:p>
            <a:r>
              <a:t>e37_anneal:</a:t>
            </a:r>
          </a:p>
          <a:p>
            <a:r>
              <a:t>$P(\mathbf{x};T)=\frac{e^{-E(\mathbf{x})/T}}{Z_T},\qquad F[Q,T]=\sum_{\mathbf{x}}Q(\mathbf{x})\log Q(\mathbf{x})+\frac{1}{T}\sum_{\mathbf{x}}Q(\mathbf{x})E(\mathbf{x})+\log Z_T$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554480" y="-2103120"/>
            <a:ext cx="6766560" cy="676656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3931920"/>
            <a:ext cx="4754880" cy="475488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2487168"/>
            <a:ext cx="10058400" cy="954107"/>
          </a:xfrm>
          <a:prstGeom prst="rect">
            <a:avLst/>
          </a:prstGeom>
          <a:noFill/>
        </p:spPr>
        <p:txBody>
          <a:bodyPr wrap="square" lIns="0" tIns="0" rIns="0" bIns="0">
            <a:spAutoFit/>
          </a:bodyPr>
          <a:lstStyle/>
          <a:p>
            <a:r>
              <a:rPr lang="en-US" sz="6200" b="1" i="0" dirty="0">
                <a:solidFill>
                  <a:srgbClr val="1A1A2E"/>
                </a:solidFill>
                <a:latin typeface="Cambria"/>
                <a:ea typeface="Cambria"/>
                <a:cs typeface="Cambria"/>
              </a:rPr>
              <a:t>Semantic Segmentation</a:t>
            </a:r>
            <a:endParaRPr sz="6200" b="1" i="0" dirty="0">
              <a:solidFill>
                <a:srgbClr val="1A1A2E"/>
              </a:solidFill>
              <a:latin typeface="Cambria"/>
              <a:ea typeface="Cambria"/>
              <a:cs typeface="Cambria"/>
            </a:endParaRPr>
          </a:p>
        </p:txBody>
      </p:sp>
      <p:sp>
        <p:nvSpPr>
          <p:cNvPr id="6" name="TextBox 5"/>
          <p:cNvSpPr txBox="1"/>
          <p:nvPr/>
        </p:nvSpPr>
        <p:spPr>
          <a:xfrm>
            <a:off x="1078992" y="3773728"/>
            <a:ext cx="10058400" cy="646480"/>
          </a:xfrm>
          <a:prstGeom prst="rect">
            <a:avLst/>
          </a:prstGeom>
          <a:noFill/>
        </p:spPr>
        <p:txBody>
          <a:bodyPr wrap="square" lIns="0" tIns="0" rIns="0" bIns="0">
            <a:spAutoFit/>
          </a:bodyPr>
          <a:lstStyle/>
          <a:p>
            <a:r>
              <a:rPr sz="2100" b="0" i="0">
                <a:solidFill>
                  <a:srgbClr val="7C7C8C"/>
                </a:solidFill>
                <a:latin typeface="Calibri"/>
                <a:ea typeface="Calibri"/>
                <a:cs typeface="Calibri"/>
              </a:rPr>
              <a:t>Markov random fields and mean field theory</a:t>
            </a:r>
          </a:p>
          <a:p>
            <a:r>
              <a:rPr sz="2100" b="0" i="0">
                <a:solidFill>
                  <a:srgbClr val="7C7C8C"/>
                </a:solidFill>
                <a:latin typeface="Calibri"/>
                <a:ea typeface="Calibri"/>
                <a:cs typeface="Calibri"/>
              </a:rPr>
              <a:t>17 September, 2026</a:t>
            </a:r>
          </a:p>
          <a:p>
            <a:r>
              <a:rPr sz="2100" b="0" i="0">
                <a:solidFill>
                  <a:srgbClr val="7C7C8C"/>
                </a:solidFill>
                <a:latin typeface="Calibri"/>
                <a:ea typeface="Calibri"/>
                <a:cs typeface="Calibri"/>
              </a:rPr>
              <a:t>Alan Yuille   ·   Probabilistic Models of the Visual Cortex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a:t>
            </a:r>
          </a:p>
        </p:txBody>
      </p:sp>
      <p:sp>
        <p:nvSpPr>
          <p:cNvPr id="4" name="TextBox 3"/>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What this lecture covers</a:t>
            </a:r>
          </a:p>
        </p:txBody>
      </p:sp>
      <p:sp>
        <p:nvSpPr>
          <p:cNvPr id="5" name="Rounded Rectangle 4"/>
          <p:cNvSpPr/>
          <p:nvPr/>
        </p:nvSpPr>
        <p:spPr>
          <a:xfrm>
            <a:off x="640080"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847088"/>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1</a:t>
            </a:r>
          </a:p>
        </p:txBody>
      </p:sp>
      <p:sp>
        <p:nvSpPr>
          <p:cNvPr id="8" name="TextBox 7"/>
          <p:cNvSpPr txBox="1"/>
          <p:nvPr/>
        </p:nvSpPr>
        <p:spPr>
          <a:xfrm>
            <a:off x="1572768" y="1714500"/>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From pixels to spatial context</a:t>
            </a:r>
          </a:p>
        </p:txBody>
      </p:sp>
      <p:sp>
        <p:nvSpPr>
          <p:cNvPr id="9" name="TextBox 8"/>
          <p:cNvSpPr txBox="1"/>
          <p:nvPr/>
        </p:nvSpPr>
        <p:spPr>
          <a:xfrm>
            <a:off x="1572768" y="2112264"/>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A pixel is labelled together with its neighbours</a:t>
            </a:r>
          </a:p>
        </p:txBody>
      </p:sp>
      <p:sp>
        <p:nvSpPr>
          <p:cNvPr id="10" name="Rounded Rectangle 9"/>
          <p:cNvSpPr/>
          <p:nvPr/>
        </p:nvSpPr>
        <p:spPr>
          <a:xfrm>
            <a:off x="6236208"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847088"/>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2</a:t>
            </a:r>
          </a:p>
        </p:txBody>
      </p:sp>
      <p:sp>
        <p:nvSpPr>
          <p:cNvPr id="13" name="TextBox 12"/>
          <p:cNvSpPr txBox="1"/>
          <p:nvPr/>
        </p:nvSpPr>
        <p:spPr>
          <a:xfrm>
            <a:off x="7168896" y="1714500"/>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Markov random fields</a:t>
            </a:r>
          </a:p>
        </p:txBody>
      </p:sp>
      <p:sp>
        <p:nvSpPr>
          <p:cNvPr id="14" name="TextBox 13"/>
          <p:cNvSpPr txBox="1"/>
          <p:nvPr/>
        </p:nvSpPr>
        <p:spPr>
          <a:xfrm>
            <a:off x="7168896" y="2112264"/>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Local evidence and pairwise context in one energy</a:t>
            </a:r>
          </a:p>
        </p:txBody>
      </p:sp>
      <p:sp>
        <p:nvSpPr>
          <p:cNvPr id="15" name="Rounded Rectangle 14"/>
          <p:cNvSpPr/>
          <p:nvPr/>
        </p:nvSpPr>
        <p:spPr>
          <a:xfrm>
            <a:off x="640080"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044952"/>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3</a:t>
            </a:r>
          </a:p>
        </p:txBody>
      </p:sp>
      <p:sp>
        <p:nvSpPr>
          <p:cNvPr id="18" name="TextBox 17"/>
          <p:cNvSpPr txBox="1"/>
          <p:nvPr/>
        </p:nvSpPr>
        <p:spPr>
          <a:xfrm>
            <a:off x="1572768" y="2912364"/>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Long-range interactions</a:t>
            </a:r>
          </a:p>
        </p:txBody>
      </p:sp>
      <p:sp>
        <p:nvSpPr>
          <p:cNvPr id="19" name="TextBox 18"/>
          <p:cNvSpPr txBox="1"/>
          <p:nvPr/>
        </p:nvSpPr>
        <p:spPr>
          <a:xfrm>
            <a:off x="1572768" y="3310128"/>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Every pair of pixels interacts</a:t>
            </a:r>
          </a:p>
        </p:txBody>
      </p:sp>
      <p:sp>
        <p:nvSpPr>
          <p:cNvPr id="20" name="Rounded Rectangle 19"/>
          <p:cNvSpPr/>
          <p:nvPr/>
        </p:nvSpPr>
        <p:spPr>
          <a:xfrm>
            <a:off x="6236208"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3044952"/>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4</a:t>
            </a:r>
          </a:p>
        </p:txBody>
      </p:sp>
      <p:sp>
        <p:nvSpPr>
          <p:cNvPr id="23" name="TextBox 22"/>
          <p:cNvSpPr txBox="1"/>
          <p:nvPr/>
        </p:nvSpPr>
        <p:spPr>
          <a:xfrm>
            <a:off x="7168896" y="2912364"/>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The inference problem</a:t>
            </a:r>
          </a:p>
        </p:txBody>
      </p:sp>
      <p:sp>
        <p:nvSpPr>
          <p:cNvPr id="24" name="TextBox 23"/>
          <p:cNvSpPr txBox="1"/>
          <p:nvPr/>
        </p:nvSpPr>
        <p:spPr>
          <a:xfrm>
            <a:off x="7168896" y="3310128"/>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The lowest-energy labelling is hard to find</a:t>
            </a:r>
          </a:p>
        </p:txBody>
      </p:sp>
      <p:sp>
        <p:nvSpPr>
          <p:cNvPr id="25" name="Rounded Rectangle 24"/>
          <p:cNvSpPr/>
          <p:nvPr/>
        </p:nvSpPr>
        <p:spPr>
          <a:xfrm>
            <a:off x="640080" y="3877056"/>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4160520"/>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242816"/>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5</a:t>
            </a:r>
          </a:p>
        </p:txBody>
      </p:sp>
      <p:sp>
        <p:nvSpPr>
          <p:cNvPr id="28" name="TextBox 27"/>
          <p:cNvSpPr txBox="1"/>
          <p:nvPr/>
        </p:nvSpPr>
        <p:spPr>
          <a:xfrm>
            <a:off x="1572768" y="4110228"/>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Mean field theory</a:t>
            </a:r>
          </a:p>
        </p:txBody>
      </p:sp>
      <p:sp>
        <p:nvSpPr>
          <p:cNvPr id="29" name="TextBox 28"/>
          <p:cNvSpPr txBox="1"/>
          <p:nvPr/>
        </p:nvSpPr>
        <p:spPr>
          <a:xfrm>
            <a:off x="1572768" y="4507992"/>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A factorised approximation of P(x)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a:t>
            </a:r>
          </a:p>
        </p:txBody>
      </p:sp>
      <p:sp>
        <p:nvSpPr>
          <p:cNvPr id="4" name="TextBox 3"/>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From directed graphs to undirected graphs</a:t>
            </a:r>
          </a:p>
        </p:txBody>
      </p:sp>
      <p:pic>
        <p:nvPicPr>
          <p:cNvPr id="5" name="Picture 4" descr="f03_recap.png"/>
          <p:cNvPicPr>
            <a:picLocks noChangeAspect="1"/>
          </p:cNvPicPr>
          <p:nvPr/>
        </p:nvPicPr>
        <p:blipFill>
          <a:blip r:embed="rId3"/>
          <a:stretch>
            <a:fillRect/>
          </a:stretch>
        </p:blipFill>
        <p:spPr>
          <a:xfrm>
            <a:off x="1066647" y="1225296"/>
            <a:ext cx="10058400" cy="2328941"/>
          </a:xfrm>
          <a:prstGeom prst="rect">
            <a:avLst/>
          </a:prstGeom>
        </p:spPr>
      </p:pic>
      <p:sp>
        <p:nvSpPr>
          <p:cNvPr id="6" name="Rounded Rectangle 5"/>
          <p:cNvSpPr/>
          <p:nvPr/>
        </p:nvSpPr>
        <p:spPr>
          <a:xfrm>
            <a:off x="640080" y="3682253"/>
            <a:ext cx="10911535" cy="932688"/>
          </a:xfrm>
          <a:prstGeom prst="roundRect">
            <a:avLst>
              <a:gd name="adj" fmla="val 8462"/>
            </a:avLst>
          </a:prstGeom>
          <a:solidFill>
            <a:srgbClr val="FBF1EC"/>
          </a:solidFill>
          <a:ln w="16510">
            <a:solidFill>
              <a:srgbClr val="F0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3682253"/>
            <a:ext cx="10088575" cy="932688"/>
          </a:xfrm>
          <a:prstGeom prst="rect">
            <a:avLst/>
          </a:prstGeom>
          <a:noFill/>
        </p:spPr>
        <p:txBody>
          <a:bodyPr wrap="square" lIns="0" tIns="0" rIns="0" bIns="0" anchor="ctr">
            <a:spAutoFit/>
          </a:bodyPr>
          <a:lstStyle/>
          <a:p>
            <a:pPr algn="ctr"/>
            <a:r>
              <a:rPr sz="1750" b="0" i="0">
                <a:solidFill>
                  <a:srgbClr val="1A1A2E"/>
                </a:solidFill>
                <a:latin typeface="Calibri"/>
                <a:ea typeface="Calibri"/>
                <a:cs typeface="Calibri"/>
              </a:rPr>
              <a:t>The new question is: when every pixel is a variable, how do neighbouring labels constrain each other, and how is the labelling inferred?</a:t>
            </a:r>
          </a:p>
        </p:txBody>
      </p:sp>
      <p:sp>
        <p:nvSpPr>
          <p:cNvPr id="8" name="TextBox 7"/>
          <p:cNvSpPr txBox="1"/>
          <p:nvPr/>
        </p:nvSpPr>
        <p:spPr>
          <a:xfrm>
            <a:off x="640080" y="476124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 a directed graph each node carries a conditional distribution given the parents of the node.</a:t>
            </a:r>
          </a:p>
        </p:txBody>
      </p:sp>
      <p:sp>
        <p:nvSpPr>
          <p:cNvPr id="9" name="TextBox 8"/>
          <p:cNvSpPr txBox="1"/>
          <p:nvPr/>
        </p:nvSpPr>
        <p:spPr>
          <a:xfrm>
            <a:off x="640080" y="519101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 an undirected graph each node carries evidence and each edge a potential that scores compatibility.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1</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From pixels to spatial context</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Semantic segmentation gives every pixel a label, and the label of a pixel depends on the labels next to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5</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From pixels to spatial context</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Semantic segmentation labels every pixel</a:t>
            </a:r>
          </a:p>
        </p:txBody>
      </p:sp>
      <p:pic>
        <p:nvPicPr>
          <p:cNvPr id="6" name="Picture 5" descr="f04_task.png"/>
          <p:cNvPicPr>
            <a:picLocks noChangeAspect="1"/>
          </p:cNvPicPr>
          <p:nvPr/>
        </p:nvPicPr>
        <p:blipFill>
          <a:blip r:embed="rId3"/>
          <a:stretch>
            <a:fillRect/>
          </a:stretch>
        </p:blipFill>
        <p:spPr>
          <a:xfrm>
            <a:off x="1706727" y="1225296"/>
            <a:ext cx="8778240" cy="2743200"/>
          </a:xfrm>
          <a:prstGeom prst="rect">
            <a:avLst/>
          </a:prstGeom>
        </p:spPr>
      </p:pic>
      <p:sp>
        <p:nvSpPr>
          <p:cNvPr id="7" name="Rounded Rectangle 6"/>
          <p:cNvSpPr/>
          <p:nvPr/>
        </p:nvSpPr>
        <p:spPr>
          <a:xfrm>
            <a:off x="640080" y="4096511"/>
            <a:ext cx="10911535" cy="62338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4_labels.png"/>
          <p:cNvPicPr>
            <a:picLocks noChangeAspect="1"/>
          </p:cNvPicPr>
          <p:nvPr/>
        </p:nvPicPr>
        <p:blipFill>
          <a:blip r:embed="rId4"/>
          <a:stretch>
            <a:fillRect/>
          </a:stretch>
        </p:blipFill>
        <p:spPr>
          <a:xfrm>
            <a:off x="2469090" y="4279392"/>
            <a:ext cx="7253514" cy="257628"/>
          </a:xfrm>
          <a:prstGeom prst="rect">
            <a:avLst/>
          </a:prstGeom>
        </p:spPr>
      </p:pic>
      <p:sp>
        <p:nvSpPr>
          <p:cNvPr id="9" name="TextBox 8"/>
          <p:cNvSpPr txBox="1"/>
          <p:nvPr/>
        </p:nvSpPr>
        <p:spPr>
          <a:xfrm>
            <a:off x="640080" y="486620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image I is observed; the labelling x is the unknown, with one label for every pixel.</a:t>
            </a:r>
          </a:p>
        </p:txBody>
      </p:sp>
      <p:sp>
        <p:nvSpPr>
          <p:cNvPr id="10" name="TextBox 9"/>
          <p:cNvSpPr txBox="1"/>
          <p:nvPr/>
        </p:nvSpPr>
        <p:spPr>
          <a:xfrm>
            <a:off x="640080" y="529597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number of pixels is large, so x has tens of thousands of components to estimate together.</a:t>
            </a:r>
          </a:p>
        </p:txBody>
      </p:sp>
      <p:sp>
        <p:nvSpPr>
          <p:cNvPr id="11" name="TextBox 10"/>
          <p:cNvSpPr txBox="1"/>
          <p:nvPr/>
        </p:nvSpPr>
        <p:spPr>
          <a:xfrm>
            <a:off x="640080" y="5771460"/>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Images from L.-C. Chen, G. Papandreou, I. Kokkinos, K. Murphy and A. L. Yuille, “Semantic image segmentation with deep convolutional nets and fully connected CRFs,” ICLR 2015.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6</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From pixels to spatial context</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deep network scores every label at every pixel</a:t>
            </a:r>
          </a:p>
        </p:txBody>
      </p:sp>
      <p:pic>
        <p:nvPicPr>
          <p:cNvPr id="6" name="Picture 5" descr="f05_network.png"/>
          <p:cNvPicPr>
            <a:picLocks noChangeAspect="1"/>
          </p:cNvPicPr>
          <p:nvPr/>
        </p:nvPicPr>
        <p:blipFill>
          <a:blip r:embed="rId3"/>
          <a:stretch>
            <a:fillRect/>
          </a:stretch>
        </p:blipFill>
        <p:spPr>
          <a:xfrm>
            <a:off x="883767" y="1225296"/>
            <a:ext cx="10424160" cy="2236361"/>
          </a:xfrm>
          <a:prstGeom prst="rect">
            <a:avLst/>
          </a:prstGeom>
        </p:spPr>
      </p:pic>
      <p:sp>
        <p:nvSpPr>
          <p:cNvPr id="7" name="TextBox 6"/>
          <p:cNvSpPr txBox="1"/>
          <p:nvPr/>
        </p:nvSpPr>
        <p:spPr>
          <a:xfrm>
            <a:off x="640080" y="360796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convolutional neural network (CNN) gives a score for every label at every output position.</a:t>
            </a:r>
          </a:p>
        </p:txBody>
      </p:sp>
      <p:sp>
        <p:nvSpPr>
          <p:cNvPr id="8" name="TextBox 7"/>
          <p:cNvSpPr txBox="1"/>
          <p:nvPr/>
        </p:nvSpPr>
        <p:spPr>
          <a:xfrm>
            <a:off x="640080" y="403772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Each output position sees one region of the image, the receptive field of that position.</a:t>
            </a:r>
          </a:p>
        </p:txBody>
      </p:sp>
      <p:sp>
        <p:nvSpPr>
          <p:cNvPr id="9" name="TextBox 8"/>
          <p:cNvSpPr txBox="1"/>
          <p:nvPr/>
        </p:nvSpPr>
        <p:spPr>
          <a:xfrm>
            <a:off x="640080" y="446749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score maps are the evidence for the labels; the spatial model takes the score maps as its input.</a:t>
            </a:r>
          </a:p>
        </p:txBody>
      </p:sp>
      <p:sp>
        <p:nvSpPr>
          <p:cNvPr id="10" name="TextBox 9"/>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J. Long, E. Shelhamer and T. Darrell, “Fully convolutional networks for semantic segmentation,” CVPR 2015.  Figure: Chen et al., ICLR 2015.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7</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From pixels to spatial context</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Recognition needs context, localisation needs detail</a:t>
            </a:r>
          </a:p>
        </p:txBody>
      </p:sp>
      <p:pic>
        <p:nvPicPr>
          <p:cNvPr id="6" name="Picture 5" descr="f06_tradeoff.png"/>
          <p:cNvPicPr>
            <a:picLocks noChangeAspect="1"/>
          </p:cNvPicPr>
          <p:nvPr/>
        </p:nvPicPr>
        <p:blipFill>
          <a:blip r:embed="rId3"/>
          <a:stretch>
            <a:fillRect/>
          </a:stretch>
        </p:blipFill>
        <p:spPr>
          <a:xfrm>
            <a:off x="883767" y="1225296"/>
            <a:ext cx="10424160" cy="3061933"/>
          </a:xfrm>
          <a:prstGeom prst="rect">
            <a:avLst/>
          </a:prstGeom>
        </p:spPr>
      </p:pic>
      <p:sp>
        <p:nvSpPr>
          <p:cNvPr id="7" name="TextBox 6"/>
          <p:cNvSpPr txBox="1"/>
          <p:nvPr/>
        </p:nvSpPr>
        <p:spPr>
          <a:xfrm>
            <a:off x="640080" y="443353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large receptive field lets the network recognise the horse from its whole shape and surroundings.</a:t>
            </a:r>
          </a:p>
        </p:txBody>
      </p:sp>
      <p:sp>
        <p:nvSpPr>
          <p:cNvPr id="8" name="TextBox 7"/>
          <p:cNvSpPr txBox="1"/>
          <p:nvPr/>
        </p:nvSpPr>
        <p:spPr>
          <a:xfrm>
            <a:off x="640080" y="486330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same receptive field blurs the boundary: the score map misses the outline of the rider and the legs.</a:t>
            </a:r>
          </a:p>
        </p:txBody>
      </p:sp>
      <p:sp>
        <p:nvSpPr>
          <p:cNvPr id="9" name="TextBox 8"/>
          <p:cNvSpPr txBox="1"/>
          <p:nvPr/>
        </p:nvSpPr>
        <p:spPr>
          <a:xfrm>
            <a:off x="640080" y="529306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score map is therefore right in the interior of an object and coarse at its boundary.</a:t>
            </a:r>
          </a:p>
        </p:txBody>
      </p:sp>
      <p:sp>
        <p:nvSpPr>
          <p:cNvPr id="10" name="TextBox 9"/>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 Chen et al., ICLR 2015 (the accuracy and localisation tradeoff).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8</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From pixels to spatial context</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Neighbouring labels constrain each other</a:t>
            </a:r>
          </a:p>
        </p:txBody>
      </p:sp>
      <p:pic>
        <p:nvPicPr>
          <p:cNvPr id="6" name="Picture 5" descr="f07_neighbours.png"/>
          <p:cNvPicPr>
            <a:picLocks noChangeAspect="1"/>
          </p:cNvPicPr>
          <p:nvPr/>
        </p:nvPicPr>
        <p:blipFill>
          <a:blip r:embed="rId3"/>
          <a:stretch>
            <a:fillRect/>
          </a:stretch>
        </p:blipFill>
        <p:spPr>
          <a:xfrm>
            <a:off x="1066647" y="1225296"/>
            <a:ext cx="10058400" cy="2692680"/>
          </a:xfrm>
          <a:prstGeom prst="rect">
            <a:avLst/>
          </a:prstGeom>
        </p:spPr>
      </p:pic>
      <p:sp>
        <p:nvSpPr>
          <p:cNvPr id="7" name="Rounded Rectangle 6"/>
          <p:cNvSpPr/>
          <p:nvPr/>
        </p:nvSpPr>
        <p:spPr>
          <a:xfrm>
            <a:off x="640080" y="4045992"/>
            <a:ext cx="10911535" cy="947650"/>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7_joint.png"/>
          <p:cNvPicPr>
            <a:picLocks noChangeAspect="1"/>
          </p:cNvPicPr>
          <p:nvPr/>
        </p:nvPicPr>
        <p:blipFill>
          <a:blip r:embed="rId4"/>
          <a:stretch>
            <a:fillRect/>
          </a:stretch>
        </p:blipFill>
        <p:spPr>
          <a:xfrm>
            <a:off x="1956109" y="4228872"/>
            <a:ext cx="8279476" cy="581890"/>
          </a:xfrm>
          <a:prstGeom prst="rect">
            <a:avLst/>
          </a:prstGeom>
        </p:spPr>
      </p:pic>
      <p:sp>
        <p:nvSpPr>
          <p:cNvPr id="9" name="TextBox 8"/>
          <p:cNvSpPr txBox="1"/>
          <p:nvPr/>
        </p:nvSpPr>
        <p:spPr>
          <a:xfrm>
            <a:off x="640080" y="513994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pixel can be ambiguous from the image alone; the labels of the neighbouring pixels are further evidence.</a:t>
            </a:r>
          </a:p>
        </p:txBody>
      </p:sp>
      <p:sp>
        <p:nvSpPr>
          <p:cNvPr id="10" name="TextBox 9"/>
          <p:cNvSpPr txBox="1"/>
          <p:nvPr/>
        </p:nvSpPr>
        <p:spPr>
          <a:xfrm>
            <a:off x="640080" y="556971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labels are inferred jointly, from the image at each pixel and from the labels of the neighbours.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9</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2</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Markov random fields</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A whole labelling is scored by an energy: local evidence at each pixel plus the compatibility of neighbouring labels.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10</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One node for every pixel, one edge for every neighbouring pair</a:t>
            </a:r>
          </a:p>
        </p:txBody>
      </p:sp>
      <p:pic>
        <p:nvPicPr>
          <p:cNvPr id="6" name="Picture 5" descr="f08_lattice.png"/>
          <p:cNvPicPr>
            <a:picLocks noChangeAspect="1"/>
          </p:cNvPicPr>
          <p:nvPr/>
        </p:nvPicPr>
        <p:blipFill>
          <a:blip r:embed="rId3"/>
          <a:stretch>
            <a:fillRect/>
          </a:stretch>
        </p:blipFill>
        <p:spPr>
          <a:xfrm>
            <a:off x="1066647" y="1225296"/>
            <a:ext cx="10058400" cy="2788667"/>
          </a:xfrm>
          <a:prstGeom prst="rect">
            <a:avLst/>
          </a:prstGeom>
        </p:spPr>
      </p:pic>
      <p:sp>
        <p:nvSpPr>
          <p:cNvPr id="7" name="TextBox 6"/>
          <p:cNvSpPr txBox="1"/>
          <p:nvPr/>
        </p:nvSpPr>
        <p:spPr>
          <a:xfrm>
            <a:off x="640080" y="416026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Markov random field (MRF) is an undirected graph with one node for the label of each pixel in W.</a:t>
            </a:r>
          </a:p>
        </p:txBody>
      </p:sp>
      <p:sp>
        <p:nvSpPr>
          <p:cNvPr id="8" name="TextBox 7"/>
          <p:cNvSpPr txBox="1"/>
          <p:nvPr/>
        </p:nvSpPr>
        <p:spPr>
          <a:xfrm>
            <a:off x="640080" y="459003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If one pixel is an airplane then the neighbouring pixels are likely to be airplanes too.</a:t>
            </a:r>
          </a:p>
        </p:txBody>
      </p:sp>
      <p:sp>
        <p:nvSpPr>
          <p:cNvPr id="9" name="TextBox 8"/>
          <p:cNvSpPr txBox="1"/>
          <p:nvPr/>
        </p:nvSpPr>
        <p:spPr>
          <a:xfrm>
            <a:off x="640080" y="501980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An edge means the two labels interact: the pairwise term scores how compatible the two labels 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11</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energy scores a labelling: evidence plus context</a:t>
            </a:r>
          </a:p>
        </p:txBody>
      </p:sp>
      <p:pic>
        <p:nvPicPr>
          <p:cNvPr id="6" name="Picture 5" descr="f11_energy.png"/>
          <p:cNvPicPr>
            <a:picLocks noChangeAspect="1"/>
          </p:cNvPicPr>
          <p:nvPr/>
        </p:nvPicPr>
        <p:blipFill>
          <a:blip r:embed="rId3"/>
          <a:stretch>
            <a:fillRect/>
          </a:stretch>
        </p:blipFill>
        <p:spPr>
          <a:xfrm>
            <a:off x="1615287" y="1225296"/>
            <a:ext cx="8961120" cy="2377440"/>
          </a:xfrm>
          <a:prstGeom prst="rect">
            <a:avLst/>
          </a:prstGeom>
        </p:spPr>
      </p:pic>
      <p:sp>
        <p:nvSpPr>
          <p:cNvPr id="7" name="Rounded Rectangle 6"/>
          <p:cNvSpPr/>
          <p:nvPr/>
        </p:nvSpPr>
        <p:spPr>
          <a:xfrm>
            <a:off x="640080" y="3730752"/>
            <a:ext cx="10911535" cy="1248075"/>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1_energy.png"/>
          <p:cNvPicPr>
            <a:picLocks noChangeAspect="1"/>
          </p:cNvPicPr>
          <p:nvPr/>
        </p:nvPicPr>
        <p:blipFill>
          <a:blip r:embed="rId4"/>
          <a:stretch>
            <a:fillRect/>
          </a:stretch>
        </p:blipFill>
        <p:spPr>
          <a:xfrm>
            <a:off x="3073179" y="3913632"/>
            <a:ext cx="8013031" cy="882315"/>
          </a:xfrm>
          <a:prstGeom prst="rect">
            <a:avLst/>
          </a:prstGeom>
        </p:spPr>
      </p:pic>
      <p:sp>
        <p:nvSpPr>
          <p:cNvPr id="9" name="TextBox 8"/>
          <p:cNvSpPr txBox="1"/>
          <p:nvPr/>
        </p:nvSpPr>
        <p:spPr>
          <a:xfrm>
            <a:off x="640080" y="512513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dirty="0">
                <a:solidFill>
                  <a:srgbClr val="1A1A2E"/>
                </a:solidFill>
                <a:latin typeface="Calibri"/>
                <a:ea typeface="Calibri"/>
                <a:cs typeface="Calibri"/>
              </a:rPr>
              <a:t>The energy E(x) gives every labelling x of the image one number; a low energy is a good labelling.</a:t>
            </a:r>
          </a:p>
        </p:txBody>
      </p:sp>
      <p:sp>
        <p:nvSpPr>
          <p:cNvPr id="10" name="TextBox 9"/>
          <p:cNvSpPr txBox="1"/>
          <p:nvPr/>
        </p:nvSpPr>
        <p:spPr>
          <a:xfrm>
            <a:off x="640080" y="555489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Two kinds of terms: a unary term for each pixel, a pairwise term for each neighbouring pair (once).</a:t>
            </a:r>
          </a:p>
        </p:txBody>
      </p:sp>
      <p:sp>
        <p:nvSpPr>
          <p:cNvPr id="20" name="TextBox 19">
            <a:extLst>
              <a:ext uri="{FF2B5EF4-FFF2-40B4-BE49-F238E27FC236}">
                <a16:creationId xmlns:a16="http://schemas.microsoft.com/office/drawing/2014/main" id="{D1185870-F5CE-CF6A-0F32-4DAC3AEB1AC7}"/>
              </a:ext>
            </a:extLst>
          </p:cNvPr>
          <p:cNvSpPr txBox="1"/>
          <p:nvPr/>
        </p:nvSpPr>
        <p:spPr>
          <a:xfrm>
            <a:off x="1197980" y="4091441"/>
            <a:ext cx="1409794" cy="461665"/>
          </a:xfrm>
          <a:prstGeom prst="rect">
            <a:avLst/>
          </a:prstGeom>
          <a:noFill/>
        </p:spPr>
        <p:txBody>
          <a:bodyPr wrap="square">
            <a:spAutoFit/>
          </a:bodyPr>
          <a:lstStyle/>
          <a:p>
            <a:r>
              <a:rPr lang="en-US" sz="2400" b="1" dirty="0">
                <a:solidFill>
                  <a:srgbClr val="1A1A2E"/>
                </a:solidFill>
                <a:latin typeface="Calibri"/>
                <a:ea typeface="Calibri"/>
                <a:cs typeface="Calibri"/>
              </a:rPr>
              <a:t>E</a:t>
            </a:r>
            <a:r>
              <a:rPr lang="en-US" sz="2400" b="1" i="0" dirty="0">
                <a:solidFill>
                  <a:srgbClr val="1A1A2E"/>
                </a:solidFill>
                <a:latin typeface="Calibri"/>
                <a:ea typeface="Calibri"/>
                <a:cs typeface="Calibri"/>
              </a:rPr>
              <a:t>nergy</a:t>
            </a:r>
            <a:endParaRPr lang="en-US" sz="24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12</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unary term is the evidence from the deep network</a:t>
            </a:r>
          </a:p>
        </p:txBody>
      </p:sp>
      <p:pic>
        <p:nvPicPr>
          <p:cNvPr id="6" name="Picture 5" descr="f09_unary.png"/>
          <p:cNvPicPr>
            <a:picLocks noChangeAspect="1"/>
          </p:cNvPicPr>
          <p:nvPr/>
        </p:nvPicPr>
        <p:blipFill>
          <a:blip r:embed="rId3"/>
          <a:stretch>
            <a:fillRect/>
          </a:stretch>
        </p:blipFill>
        <p:spPr>
          <a:xfrm>
            <a:off x="883767" y="1225296"/>
            <a:ext cx="10424160" cy="2466267"/>
          </a:xfrm>
          <a:prstGeom prst="rect">
            <a:avLst/>
          </a:prstGeom>
        </p:spPr>
      </p:pic>
      <p:sp>
        <p:nvSpPr>
          <p:cNvPr id="7" name="Rounded Rectangle 6"/>
          <p:cNvSpPr/>
          <p:nvPr/>
        </p:nvSpPr>
        <p:spPr>
          <a:xfrm>
            <a:off x="640080" y="3819579"/>
            <a:ext cx="10911535" cy="62331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9_unary.png"/>
          <p:cNvPicPr>
            <a:picLocks noChangeAspect="1"/>
          </p:cNvPicPr>
          <p:nvPr/>
        </p:nvPicPr>
        <p:blipFill>
          <a:blip r:embed="rId4"/>
          <a:stretch>
            <a:fillRect/>
          </a:stretch>
        </p:blipFill>
        <p:spPr>
          <a:xfrm>
            <a:off x="4827117" y="4002459"/>
            <a:ext cx="2537460" cy="257556"/>
          </a:xfrm>
          <a:prstGeom prst="rect">
            <a:avLst/>
          </a:prstGeom>
        </p:spPr>
      </p:pic>
      <p:sp>
        <p:nvSpPr>
          <p:cNvPr id="9" name="TextBox 8"/>
          <p:cNvSpPr txBox="1"/>
          <p:nvPr/>
        </p:nvSpPr>
        <p:spPr>
          <a:xfrm>
            <a:off x="640080" y="458919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unary term is a cost: it is low where the network gives the label a high score and high elsewhere.</a:t>
            </a:r>
          </a:p>
        </p:txBody>
      </p:sp>
      <p:sp>
        <p:nvSpPr>
          <p:cNvPr id="10" name="TextBox 9"/>
          <p:cNvSpPr txBox="1"/>
          <p:nvPr/>
        </p:nvSpPr>
        <p:spPr>
          <a:xfrm>
            <a:off x="640080" y="501896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minus log turns a probability into a cost, so a high probability is a low energy.</a:t>
            </a:r>
          </a:p>
        </p:txBody>
      </p:sp>
      <p:sp>
        <p:nvSpPr>
          <p:cNvPr id="11" name="TextBox 10"/>
          <p:cNvSpPr txBox="1"/>
          <p:nvPr/>
        </p:nvSpPr>
        <p:spPr>
          <a:xfrm>
            <a:off x="640080" y="544873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unary evidence can be learned by a deep network; the spatial model takes it as given.</a:t>
            </a:r>
          </a:p>
        </p:txBody>
      </p:sp>
      <p:sp>
        <p:nvSpPr>
          <p:cNvPr id="12" name="TextBox 11"/>
          <p:cNvSpPr txBox="1"/>
          <p:nvPr/>
        </p:nvSpPr>
        <p:spPr>
          <a:xfrm>
            <a:off x="640080" y="5924223"/>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The relation between the score map and the unary term follows Chen et al., ICLR 2015.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13</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pairwise term charges a cost when neighbours disagree</a:t>
            </a:r>
          </a:p>
        </p:txBody>
      </p:sp>
      <p:pic>
        <p:nvPicPr>
          <p:cNvPr id="6" name="Picture 5" descr="f10_potts.png"/>
          <p:cNvPicPr>
            <a:picLocks noChangeAspect="1"/>
          </p:cNvPicPr>
          <p:nvPr/>
        </p:nvPicPr>
        <p:blipFill>
          <a:blip r:embed="rId3"/>
          <a:stretch>
            <a:fillRect/>
          </a:stretch>
        </p:blipFill>
        <p:spPr>
          <a:xfrm>
            <a:off x="1523847" y="1225296"/>
            <a:ext cx="9144000" cy="2148840"/>
          </a:xfrm>
          <a:prstGeom prst="rect">
            <a:avLst/>
          </a:prstGeom>
        </p:spPr>
      </p:pic>
      <p:sp>
        <p:nvSpPr>
          <p:cNvPr id="7" name="Rounded Rectangle 6"/>
          <p:cNvSpPr/>
          <p:nvPr/>
        </p:nvSpPr>
        <p:spPr>
          <a:xfrm>
            <a:off x="640080" y="3502152"/>
            <a:ext cx="10911535" cy="63067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0_potts.png"/>
          <p:cNvPicPr>
            <a:picLocks noChangeAspect="1"/>
          </p:cNvPicPr>
          <p:nvPr/>
        </p:nvPicPr>
        <p:blipFill>
          <a:blip r:embed="rId4"/>
          <a:stretch>
            <a:fillRect/>
          </a:stretch>
        </p:blipFill>
        <p:spPr>
          <a:xfrm>
            <a:off x="1825086" y="3685032"/>
            <a:ext cx="8541521" cy="264919"/>
          </a:xfrm>
          <a:prstGeom prst="rect">
            <a:avLst/>
          </a:prstGeom>
        </p:spPr>
      </p:pic>
      <p:sp>
        <p:nvSpPr>
          <p:cNvPr id="9" name="TextBox 8"/>
          <p:cNvSpPr txBox="1"/>
          <p:nvPr/>
        </p:nvSpPr>
        <p:spPr>
          <a:xfrm>
            <a:off x="640080" y="427913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Potts model is the simplest choice: agreement is free and every disagreement costs the edge weight.</a:t>
            </a:r>
          </a:p>
        </p:txBody>
      </p:sp>
      <p:sp>
        <p:nvSpPr>
          <p:cNvPr id="10" name="TextBox 9"/>
          <p:cNvSpPr txBox="1"/>
          <p:nvPr/>
        </p:nvSpPr>
        <p:spPr>
          <a:xfrm>
            <a:off x="640080" y="470890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edge weight can be a constant for the whole image or can depend on the two pixels.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14</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best labelling has the lowest energy</a:t>
            </a:r>
          </a:p>
        </p:txBody>
      </p:sp>
      <p:pic>
        <p:nvPicPr>
          <p:cNvPr id="6" name="Picture 5" descr="f12_lowest.png"/>
          <p:cNvPicPr>
            <a:picLocks noChangeAspect="1"/>
          </p:cNvPicPr>
          <p:nvPr/>
        </p:nvPicPr>
        <p:blipFill>
          <a:blip r:embed="rId3"/>
          <a:stretch>
            <a:fillRect/>
          </a:stretch>
        </p:blipFill>
        <p:spPr>
          <a:xfrm>
            <a:off x="883767" y="1225296"/>
            <a:ext cx="10424160" cy="2649147"/>
          </a:xfrm>
          <a:prstGeom prst="rect">
            <a:avLst/>
          </a:prstGeom>
        </p:spPr>
      </p:pic>
      <p:sp>
        <p:nvSpPr>
          <p:cNvPr id="7" name="Rounded Rectangle 6"/>
          <p:cNvSpPr/>
          <p:nvPr/>
        </p:nvSpPr>
        <p:spPr>
          <a:xfrm>
            <a:off x="640080" y="4002459"/>
            <a:ext cx="10911535" cy="728472"/>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2_argmin.png"/>
          <p:cNvPicPr>
            <a:picLocks noChangeAspect="1"/>
          </p:cNvPicPr>
          <p:nvPr/>
        </p:nvPicPr>
        <p:blipFill>
          <a:blip r:embed="rId4"/>
          <a:stretch>
            <a:fillRect/>
          </a:stretch>
        </p:blipFill>
        <p:spPr>
          <a:xfrm>
            <a:off x="5170779" y="4185339"/>
            <a:ext cx="1850136" cy="362712"/>
          </a:xfrm>
          <a:prstGeom prst="rect">
            <a:avLst/>
          </a:prstGeom>
        </p:spPr>
      </p:pic>
      <p:sp>
        <p:nvSpPr>
          <p:cNvPr id="9" name="TextBox 8"/>
          <p:cNvSpPr txBox="1"/>
          <p:nvPr/>
        </p:nvSpPr>
        <p:spPr>
          <a:xfrm>
            <a:off x="640080" y="487723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Labelling A follows the evidence pixel by pixel and pays for every isolated disagreement.</a:t>
            </a:r>
          </a:p>
        </p:txBody>
      </p:sp>
      <p:sp>
        <p:nvSpPr>
          <p:cNvPr id="10" name="TextBox 9"/>
          <p:cNvSpPr txBox="1"/>
          <p:nvPr/>
        </p:nvSpPr>
        <p:spPr>
          <a:xfrm>
            <a:off x="640080" y="530700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Labelling B pays a little more in evidence and far less in context, so the energy of B is lower.</a:t>
            </a:r>
          </a:p>
        </p:txBody>
      </p:sp>
      <p:sp>
        <p:nvSpPr>
          <p:cNvPr id="11" name="TextBox 10"/>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Toy example: a 16 by 16 binary grid, unary cost minus log of the score map, Potts pairwise cost with w_ij =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15</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Markov random fields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conditional random field conditions on the image</a:t>
            </a:r>
          </a:p>
        </p:txBody>
      </p:sp>
      <p:pic>
        <p:nvPicPr>
          <p:cNvPr id="6" name="Picture 5" descr="f13_crf.png"/>
          <p:cNvPicPr>
            <a:picLocks noChangeAspect="1"/>
          </p:cNvPicPr>
          <p:nvPr/>
        </p:nvPicPr>
        <p:blipFill>
          <a:blip r:embed="rId3"/>
          <a:stretch>
            <a:fillRect/>
          </a:stretch>
        </p:blipFill>
        <p:spPr>
          <a:xfrm>
            <a:off x="1706727" y="1225296"/>
            <a:ext cx="8778240" cy="2651760"/>
          </a:xfrm>
          <a:prstGeom prst="rect">
            <a:avLst/>
          </a:prstGeom>
        </p:spPr>
      </p:pic>
      <p:sp>
        <p:nvSpPr>
          <p:cNvPr id="7" name="Rounded Rectangle 6"/>
          <p:cNvSpPr/>
          <p:nvPr/>
        </p:nvSpPr>
        <p:spPr>
          <a:xfrm>
            <a:off x="640080" y="4005072"/>
            <a:ext cx="10911535" cy="981580"/>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3_crf.png"/>
          <p:cNvPicPr>
            <a:picLocks noChangeAspect="1"/>
          </p:cNvPicPr>
          <p:nvPr/>
        </p:nvPicPr>
        <p:blipFill>
          <a:blip r:embed="rId4"/>
          <a:stretch>
            <a:fillRect/>
          </a:stretch>
        </p:blipFill>
        <p:spPr>
          <a:xfrm>
            <a:off x="3767859" y="4187952"/>
            <a:ext cx="4655975" cy="615820"/>
          </a:xfrm>
          <a:prstGeom prst="rect">
            <a:avLst/>
          </a:prstGeom>
        </p:spPr>
      </p:pic>
      <p:sp>
        <p:nvSpPr>
          <p:cNvPr id="9" name="TextBox 8"/>
          <p:cNvSpPr txBox="1"/>
          <p:nvPr/>
        </p:nvSpPr>
        <p:spPr>
          <a:xfrm>
            <a:off x="640080" y="513295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An MRF is a distribution over the labels; a conditional random field (CRF) conditions on the image.</a:t>
            </a:r>
          </a:p>
        </p:txBody>
      </p:sp>
      <p:sp>
        <p:nvSpPr>
          <p:cNvPr id="10" name="TextBox 9"/>
          <p:cNvSpPr txBox="1"/>
          <p:nvPr/>
        </p:nvSpPr>
        <p:spPr>
          <a:xfrm>
            <a:off x="640080" y="556272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 segmentation the image I is observed, so both terms of the energy may depend on the image.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16</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3</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Long-range interactions</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A grid joins each pixel to its four neighbours; a fully connected model joins every pair, weighted by position and colour.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17</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grid model joins each pixel to its four neighbours</a:t>
            </a:r>
          </a:p>
        </p:txBody>
      </p:sp>
      <p:pic>
        <p:nvPicPr>
          <p:cNvPr id="6" name="Picture 5" descr="f14_grid.png"/>
          <p:cNvPicPr>
            <a:picLocks noChangeAspect="1"/>
          </p:cNvPicPr>
          <p:nvPr/>
        </p:nvPicPr>
        <p:blipFill>
          <a:blip r:embed="rId3"/>
          <a:stretch>
            <a:fillRect/>
          </a:stretch>
        </p:blipFill>
        <p:spPr>
          <a:xfrm>
            <a:off x="1066647" y="1225296"/>
            <a:ext cx="10058400" cy="3061471"/>
          </a:xfrm>
          <a:prstGeom prst="rect">
            <a:avLst/>
          </a:prstGeom>
        </p:spPr>
      </p:pic>
      <p:sp>
        <p:nvSpPr>
          <p:cNvPr id="7" name="TextBox 6"/>
          <p:cNvSpPr txBox="1"/>
          <p:nvPr/>
        </p:nvSpPr>
        <p:spPr>
          <a:xfrm>
            <a:off x="640080" y="443307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Approximate inference on the grid is fast: about one second for fifty thousand variables (2011).</a:t>
            </a:r>
          </a:p>
        </p:txBody>
      </p:sp>
      <p:sp>
        <p:nvSpPr>
          <p:cNvPr id="8" name="TextBox 7"/>
          <p:cNvSpPr txBox="1"/>
          <p:nvPr/>
        </p:nvSpPr>
        <p:spPr>
          <a:xfrm>
            <a:off x="640080" y="486283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interactions are local, so the model has limited expressive power and smooths the labels.</a:t>
            </a:r>
          </a:p>
        </p:txBody>
      </p:sp>
      <p:sp>
        <p:nvSpPr>
          <p:cNvPr id="9" name="TextBox 8"/>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Grid CRF figures: I. Kokkinos.  Timing from P. Krähenbühl and V. Koltun, NIPS 2011.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18</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Constant weights smooth across the object boundary</a:t>
            </a:r>
          </a:p>
        </p:txBody>
      </p:sp>
      <p:pic>
        <p:nvPicPr>
          <p:cNvPr id="6" name="Picture 5" descr="f15_shrink.png"/>
          <p:cNvPicPr>
            <a:picLocks noChangeAspect="1"/>
          </p:cNvPicPr>
          <p:nvPr/>
        </p:nvPicPr>
        <p:blipFill>
          <a:blip r:embed="rId3"/>
          <a:stretch>
            <a:fillRect/>
          </a:stretch>
        </p:blipFill>
        <p:spPr>
          <a:xfrm>
            <a:off x="1066647" y="1225296"/>
            <a:ext cx="10058400" cy="2879602"/>
          </a:xfrm>
          <a:prstGeom prst="rect">
            <a:avLst/>
          </a:prstGeom>
        </p:spPr>
      </p:pic>
      <p:sp>
        <p:nvSpPr>
          <p:cNvPr id="7" name="TextBox 6"/>
          <p:cNvSpPr txBox="1"/>
          <p:nvPr/>
        </p:nvSpPr>
        <p:spPr>
          <a:xfrm>
            <a:off x="640080" y="425120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four edges at a boundary pixel look exactly like the four edges inside the object.</a:t>
            </a:r>
          </a:p>
        </p:txBody>
      </p:sp>
      <p:sp>
        <p:nvSpPr>
          <p:cNvPr id="8" name="TextBox 7"/>
          <p:cNvSpPr txBox="1"/>
          <p:nvPr/>
        </p:nvSpPr>
        <p:spPr>
          <a:xfrm>
            <a:off x="640080" y="468097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With a constant weight every edge pulls the two labels together, so thin branches are smoothed away.</a:t>
            </a:r>
          </a:p>
        </p:txBody>
      </p:sp>
      <p:sp>
        <p:nvSpPr>
          <p:cNvPr id="9" name="TextBox 8"/>
          <p:cNvSpPr txBox="1"/>
          <p:nvPr/>
        </p:nvSpPr>
        <p:spPr>
          <a:xfrm>
            <a:off x="640080" y="511073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This is the shrinking bias of the grid model.</a:t>
            </a:r>
          </a:p>
        </p:txBody>
      </p:sp>
      <p:sp>
        <p:nvSpPr>
          <p:cNvPr id="10" name="TextBox 9"/>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Figures: I. Kokkinos.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19</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image sets the strength of each edge</a:t>
            </a:r>
          </a:p>
        </p:txBody>
      </p:sp>
      <p:pic>
        <p:nvPicPr>
          <p:cNvPr id="6" name="Picture 5" descr="f16_weights.png"/>
          <p:cNvPicPr>
            <a:picLocks noChangeAspect="1"/>
          </p:cNvPicPr>
          <p:nvPr/>
        </p:nvPicPr>
        <p:blipFill>
          <a:blip r:embed="rId3"/>
          <a:stretch>
            <a:fillRect/>
          </a:stretch>
        </p:blipFill>
        <p:spPr>
          <a:xfrm>
            <a:off x="1523847" y="1225296"/>
            <a:ext cx="9144000" cy="2327148"/>
          </a:xfrm>
          <a:prstGeom prst="rect">
            <a:avLst/>
          </a:prstGeom>
        </p:spPr>
      </p:pic>
      <p:sp>
        <p:nvSpPr>
          <p:cNvPr id="7" name="Rounded Rectangle 6"/>
          <p:cNvSpPr/>
          <p:nvPr/>
        </p:nvSpPr>
        <p:spPr>
          <a:xfrm>
            <a:off x="640080" y="3680459"/>
            <a:ext cx="10911535" cy="63093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6_w.png"/>
          <p:cNvPicPr>
            <a:picLocks noChangeAspect="1"/>
          </p:cNvPicPr>
          <p:nvPr/>
        </p:nvPicPr>
        <p:blipFill>
          <a:blip r:embed="rId4"/>
          <a:stretch>
            <a:fillRect/>
          </a:stretch>
        </p:blipFill>
        <p:spPr>
          <a:xfrm>
            <a:off x="4584039" y="3863339"/>
            <a:ext cx="3023616" cy="265176"/>
          </a:xfrm>
          <a:prstGeom prst="rect">
            <a:avLst/>
          </a:prstGeom>
        </p:spPr>
      </p:pic>
      <p:sp>
        <p:nvSpPr>
          <p:cNvPr id="9" name="TextBox 8"/>
          <p:cNvSpPr txBox="1"/>
          <p:nvPr/>
        </p:nvSpPr>
        <p:spPr>
          <a:xfrm>
            <a:off x="640080" y="445770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Nearby pixels of similar colour are coupled strongly; a change of colour weakens the coupling.</a:t>
            </a:r>
          </a:p>
        </p:txBody>
      </p:sp>
      <p:sp>
        <p:nvSpPr>
          <p:cNvPr id="10" name="TextBox 9"/>
          <p:cNvSpPr txBox="1"/>
          <p:nvPr/>
        </p:nvSpPr>
        <p:spPr>
          <a:xfrm>
            <a:off x="640080" y="488746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edge weight is read from the image, so a colour boundary becomes a weak edge in the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20</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fully connected model joins every pair of pixels</a:t>
            </a:r>
          </a:p>
        </p:txBody>
      </p:sp>
      <p:pic>
        <p:nvPicPr>
          <p:cNvPr id="6" name="Picture 5" descr="f17_dense.png"/>
          <p:cNvPicPr>
            <a:picLocks noChangeAspect="1"/>
          </p:cNvPicPr>
          <p:nvPr/>
        </p:nvPicPr>
        <p:blipFill>
          <a:blip r:embed="rId3"/>
          <a:stretch>
            <a:fillRect/>
          </a:stretch>
        </p:blipFill>
        <p:spPr>
          <a:xfrm>
            <a:off x="1066647" y="1225296"/>
            <a:ext cx="10058400" cy="2601745"/>
          </a:xfrm>
          <a:prstGeom prst="rect">
            <a:avLst/>
          </a:prstGeom>
        </p:spPr>
      </p:pic>
      <p:sp>
        <p:nvSpPr>
          <p:cNvPr id="7" name="Rounded Rectangle 6"/>
          <p:cNvSpPr/>
          <p:nvPr/>
        </p:nvSpPr>
        <p:spPr>
          <a:xfrm>
            <a:off x="640080" y="3955057"/>
            <a:ext cx="10911535" cy="96427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7_dense.png"/>
          <p:cNvPicPr>
            <a:picLocks noChangeAspect="1"/>
          </p:cNvPicPr>
          <p:nvPr/>
        </p:nvPicPr>
        <p:blipFill>
          <a:blip r:embed="rId4"/>
          <a:stretch>
            <a:fillRect/>
          </a:stretch>
        </p:blipFill>
        <p:spPr>
          <a:xfrm>
            <a:off x="4018704" y="4137937"/>
            <a:ext cx="4154285" cy="598516"/>
          </a:xfrm>
          <a:prstGeom prst="rect">
            <a:avLst/>
          </a:prstGeom>
        </p:spPr>
      </p:pic>
      <p:sp>
        <p:nvSpPr>
          <p:cNvPr id="9" name="TextBox 8"/>
          <p:cNvSpPr txBox="1"/>
          <p:nvPr/>
        </p:nvSpPr>
        <p:spPr>
          <a:xfrm>
            <a:off x="640080" y="506563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Every node is connected to every other node, and the connections are weighted differently.</a:t>
            </a:r>
          </a:p>
        </p:txBody>
      </p:sp>
      <p:sp>
        <p:nvSpPr>
          <p:cNvPr id="10" name="TextBox 9"/>
          <p:cNvSpPr txBox="1"/>
          <p:nvPr/>
        </p:nvSpPr>
        <p:spPr>
          <a:xfrm>
            <a:off x="640080" y="549540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interaction is strongest between pixels that are close in position and similar in appearance.</a:t>
            </a:r>
          </a:p>
        </p:txBody>
      </p:sp>
      <p:sp>
        <p:nvSpPr>
          <p:cNvPr id="11" name="TextBox 10"/>
          <p:cNvSpPr txBox="1"/>
          <p:nvPr/>
        </p:nvSpPr>
        <p:spPr>
          <a:xfrm>
            <a:off x="640080" y="5970894"/>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P. Krähenbühl and V. Koltun, “Efficient inference in fully connected CRFs with Gaussian edge potentials,” NIPS 2011.  Figures: I. Kokkinos.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21</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Nearby pixels of similar colour interact most strongly</a:t>
            </a:r>
          </a:p>
        </p:txBody>
      </p:sp>
      <p:pic>
        <p:nvPicPr>
          <p:cNvPr id="6" name="Picture 5" descr="f18_kernel.png"/>
          <p:cNvPicPr>
            <a:picLocks noChangeAspect="1"/>
          </p:cNvPicPr>
          <p:nvPr/>
        </p:nvPicPr>
        <p:blipFill>
          <a:blip r:embed="rId3"/>
          <a:stretch>
            <a:fillRect/>
          </a:stretch>
        </p:blipFill>
        <p:spPr>
          <a:xfrm>
            <a:off x="883767" y="1225296"/>
            <a:ext cx="10424160" cy="2513293"/>
          </a:xfrm>
          <a:prstGeom prst="rect">
            <a:avLst/>
          </a:prstGeom>
        </p:spPr>
      </p:pic>
      <p:sp>
        <p:nvSpPr>
          <p:cNvPr id="7" name="Rounded Rectangle 6"/>
          <p:cNvSpPr/>
          <p:nvPr/>
        </p:nvSpPr>
        <p:spPr>
          <a:xfrm>
            <a:off x="640080" y="3866605"/>
            <a:ext cx="10911535" cy="108877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8_kernel.png"/>
          <p:cNvPicPr>
            <a:picLocks noChangeAspect="1"/>
          </p:cNvPicPr>
          <p:nvPr/>
        </p:nvPicPr>
        <p:blipFill>
          <a:blip r:embed="rId4"/>
          <a:stretch>
            <a:fillRect/>
          </a:stretch>
        </p:blipFill>
        <p:spPr>
          <a:xfrm>
            <a:off x="2562294" y="4049485"/>
            <a:ext cx="7067106" cy="723013"/>
          </a:xfrm>
          <a:prstGeom prst="rect">
            <a:avLst/>
          </a:prstGeom>
        </p:spPr>
      </p:pic>
      <p:sp>
        <p:nvSpPr>
          <p:cNvPr id="9" name="TextBox 8"/>
          <p:cNvSpPr txBox="1"/>
          <p:nvPr/>
        </p:nvSpPr>
        <p:spPr>
          <a:xfrm>
            <a:off x="640080" y="510168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first kernel compares the positions and colours of the two pixels: close and similar, strong coupling.</a:t>
            </a:r>
          </a:p>
        </p:txBody>
      </p:sp>
      <p:sp>
        <p:nvSpPr>
          <p:cNvPr id="10" name="TextBox 9"/>
          <p:cNvSpPr txBox="1"/>
          <p:nvPr/>
        </p:nvSpPr>
        <p:spPr>
          <a:xfrm>
            <a:off x="640080" y="553145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second kernel is a weak smoothing term over position alone.</a:t>
            </a:r>
          </a:p>
        </p:txBody>
      </p:sp>
      <p:sp>
        <p:nvSpPr>
          <p:cNvPr id="11" name="TextBox 10"/>
          <p:cNvSpPr txBox="1"/>
          <p:nvPr/>
        </p:nvSpPr>
        <p:spPr>
          <a:xfrm>
            <a:off x="640080" y="6006939"/>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Kernel maps computed on the tree image with sigma_alpha = 50 pixels and sigma_beta = 0.3 in colour units scaled to [0,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22</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Weighted long-range interactions recover the branches</a:t>
            </a:r>
          </a:p>
        </p:txBody>
      </p:sp>
      <p:pic>
        <p:nvPicPr>
          <p:cNvPr id="6" name="Picture 5" descr="f19_boundary.png"/>
          <p:cNvPicPr>
            <a:picLocks noChangeAspect="1"/>
          </p:cNvPicPr>
          <p:nvPr/>
        </p:nvPicPr>
        <p:blipFill>
          <a:blip r:embed="rId3"/>
          <a:stretch>
            <a:fillRect/>
          </a:stretch>
        </p:blipFill>
        <p:spPr>
          <a:xfrm>
            <a:off x="1066647" y="1225296"/>
            <a:ext cx="10058400" cy="2834134"/>
          </a:xfrm>
          <a:prstGeom prst="rect">
            <a:avLst/>
          </a:prstGeom>
        </p:spPr>
      </p:pic>
      <p:sp>
        <p:nvSpPr>
          <p:cNvPr id="7" name="TextBox 6"/>
          <p:cNvSpPr txBox="1"/>
          <p:nvPr/>
        </p:nvSpPr>
        <p:spPr>
          <a:xfrm>
            <a:off x="640080" y="420573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grid model kept the trunk and lost the branches; the fully connected model recovers both.</a:t>
            </a:r>
          </a:p>
        </p:txBody>
      </p:sp>
      <p:sp>
        <p:nvSpPr>
          <p:cNvPr id="8" name="TextBox 7"/>
          <p:cNvSpPr txBox="1"/>
          <p:nvPr/>
        </p:nvSpPr>
        <p:spPr>
          <a:xfrm>
            <a:off x="640080" y="463550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grass line is placed where the colour changes, since that is where the edges are weak.</a:t>
            </a:r>
          </a:p>
        </p:txBody>
      </p:sp>
      <p:sp>
        <p:nvSpPr>
          <p:cNvPr id="9" name="TextBox 8"/>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Figures: I. Kokkinos, from Krähenbühl and Koltun, NIPS 2011.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23</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CRF aligns the network's labels with the image</a:t>
            </a:r>
          </a:p>
        </p:txBody>
      </p:sp>
      <p:pic>
        <p:nvPicPr>
          <p:cNvPr id="6" name="Picture 5" descr="f20_pipeline.png"/>
          <p:cNvPicPr>
            <a:picLocks noChangeAspect="1"/>
          </p:cNvPicPr>
          <p:nvPr/>
        </p:nvPicPr>
        <p:blipFill>
          <a:blip r:embed="rId3"/>
          <a:stretch>
            <a:fillRect/>
          </a:stretch>
        </p:blipFill>
        <p:spPr>
          <a:xfrm>
            <a:off x="1066647" y="1225296"/>
            <a:ext cx="10058400" cy="2601745"/>
          </a:xfrm>
          <a:prstGeom prst="rect">
            <a:avLst/>
          </a:prstGeom>
        </p:spPr>
      </p:pic>
      <p:sp>
        <p:nvSpPr>
          <p:cNvPr id="7" name="Rounded Rectangle 6"/>
          <p:cNvSpPr/>
          <p:nvPr/>
        </p:nvSpPr>
        <p:spPr>
          <a:xfrm>
            <a:off x="640080" y="3955057"/>
            <a:ext cx="10911535" cy="96511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0_pipe.png"/>
          <p:cNvPicPr>
            <a:picLocks noChangeAspect="1"/>
          </p:cNvPicPr>
          <p:nvPr/>
        </p:nvPicPr>
        <p:blipFill>
          <a:blip r:embed="rId4"/>
          <a:stretch>
            <a:fillRect/>
          </a:stretch>
        </p:blipFill>
        <p:spPr>
          <a:xfrm>
            <a:off x="2261514" y="4137937"/>
            <a:ext cx="7668665" cy="599354"/>
          </a:xfrm>
          <a:prstGeom prst="rect">
            <a:avLst/>
          </a:prstGeom>
        </p:spPr>
      </p:pic>
      <p:sp>
        <p:nvSpPr>
          <p:cNvPr id="9" name="TextBox 8"/>
          <p:cNvSpPr txBox="1"/>
          <p:nvPr/>
        </p:nvSpPr>
        <p:spPr>
          <a:xfrm>
            <a:off x="640080" y="506647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coarse score map is interpolated to the image size and becomes the unary term.</a:t>
            </a:r>
          </a:p>
        </p:txBody>
      </p:sp>
      <p:sp>
        <p:nvSpPr>
          <p:cNvPr id="10" name="TextBox 9"/>
          <p:cNvSpPr txBox="1"/>
          <p:nvPr/>
        </p:nvSpPr>
        <p:spPr>
          <a:xfrm>
            <a:off x="640080" y="549624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fully connected CRF aligns label boundaries with colour boundaries in the image; this is DeepLab.</a:t>
            </a:r>
          </a:p>
        </p:txBody>
      </p:sp>
      <p:sp>
        <p:nvSpPr>
          <p:cNvPr id="11" name="TextBox 10"/>
          <p:cNvSpPr txBox="1"/>
          <p:nvPr/>
        </p:nvSpPr>
        <p:spPr>
          <a:xfrm>
            <a:off x="640080" y="5971732"/>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L.-C. Chen, G. Papandreou, I. Kokkinos, K. Murphy and A. L. Yuille, “Semantic image segmentation with deep convolutional nets and fully connected CRFs,” ICLR 2015.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24</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CRF recovers the boundary of the horse</a:t>
            </a:r>
          </a:p>
        </p:txBody>
      </p:sp>
      <p:pic>
        <p:nvPicPr>
          <p:cNvPr id="6" name="Picture 5" descr="f21_horse.png"/>
          <p:cNvPicPr>
            <a:picLocks noChangeAspect="1"/>
          </p:cNvPicPr>
          <p:nvPr/>
        </p:nvPicPr>
        <p:blipFill>
          <a:blip r:embed="rId3"/>
          <a:stretch>
            <a:fillRect/>
          </a:stretch>
        </p:blipFill>
        <p:spPr>
          <a:xfrm>
            <a:off x="1066647" y="1225296"/>
            <a:ext cx="10058400" cy="3106939"/>
          </a:xfrm>
          <a:prstGeom prst="rect">
            <a:avLst/>
          </a:prstGeom>
        </p:spPr>
      </p:pic>
      <p:sp>
        <p:nvSpPr>
          <p:cNvPr id="7" name="TextBox 6"/>
          <p:cNvSpPr txBox="1"/>
          <p:nvPr/>
        </p:nvSpPr>
        <p:spPr>
          <a:xfrm>
            <a:off x="640080" y="447853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score map of the network is spatially coarse around the rider and the legs.</a:t>
            </a:r>
          </a:p>
        </p:txBody>
      </p:sp>
      <p:sp>
        <p:nvSpPr>
          <p:cNvPr id="8" name="TextBox 7"/>
          <p:cNvSpPr txBox="1"/>
          <p:nvPr/>
        </p:nvSpPr>
        <p:spPr>
          <a:xfrm>
            <a:off x="640080" y="490830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CRF, using the colours of the image, follows the boundaries of rider, horse and legs more closely.</a:t>
            </a:r>
          </a:p>
        </p:txBody>
      </p:sp>
      <p:sp>
        <p:nvSpPr>
          <p:cNvPr id="9" name="TextBox 8"/>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Figures: Chen et al., ICLR 2015.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25</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Long-range interactions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CRF refines the object boundaries</a:t>
            </a:r>
          </a:p>
        </p:txBody>
      </p:sp>
      <p:pic>
        <p:nvPicPr>
          <p:cNvPr id="6" name="Picture 5" descr="f22_results.png"/>
          <p:cNvPicPr>
            <a:picLocks noChangeAspect="1"/>
          </p:cNvPicPr>
          <p:nvPr/>
        </p:nvPicPr>
        <p:blipFill>
          <a:blip r:embed="rId3"/>
          <a:stretch>
            <a:fillRect/>
          </a:stretch>
        </p:blipFill>
        <p:spPr>
          <a:xfrm>
            <a:off x="883767" y="1225296"/>
            <a:ext cx="10424160" cy="3061933"/>
          </a:xfrm>
          <a:prstGeom prst="rect">
            <a:avLst/>
          </a:prstGeom>
        </p:spPr>
      </p:pic>
      <p:sp>
        <p:nvSpPr>
          <p:cNvPr id="7" name="TextBox 6"/>
          <p:cNvSpPr txBox="1"/>
          <p:nvPr/>
        </p:nvSpPr>
        <p:spPr>
          <a:xfrm>
            <a:off x="640080" y="443353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 each example the network finds the object and the CRF refines the boundary of the object.</a:t>
            </a:r>
          </a:p>
        </p:txBody>
      </p:sp>
      <p:sp>
        <p:nvSpPr>
          <p:cNvPr id="8" name="TextBox 7"/>
          <p:cNvSpPr txBox="1"/>
          <p:nvPr/>
        </p:nvSpPr>
        <p:spPr>
          <a:xfrm>
            <a:off x="640080" y="486330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Thin structures, the bicycle and the wings, are where the difference is largest.</a:t>
            </a:r>
          </a:p>
        </p:txBody>
      </p:sp>
      <p:sp>
        <p:nvSpPr>
          <p:cNvPr id="9" name="TextBox 8"/>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Figures: Chen et al., ICLR 2015.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26</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4</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The inference problem</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The energy is easy to write down and hard to minimise: the number of labellings grows exponentially with the number of pixels.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27</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The inference problem</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number of labellings grows exponentially</a:t>
            </a:r>
          </a:p>
        </p:txBody>
      </p:sp>
      <p:pic>
        <p:nvPicPr>
          <p:cNvPr id="6" name="Picture 5" descr="f23_count.png"/>
          <p:cNvPicPr>
            <a:picLocks noChangeAspect="1"/>
          </p:cNvPicPr>
          <p:nvPr/>
        </p:nvPicPr>
        <p:blipFill>
          <a:blip r:embed="rId3"/>
          <a:stretch>
            <a:fillRect/>
          </a:stretch>
        </p:blipFill>
        <p:spPr>
          <a:xfrm>
            <a:off x="883767" y="1225296"/>
            <a:ext cx="10424160" cy="2513293"/>
          </a:xfrm>
          <a:prstGeom prst="rect">
            <a:avLst/>
          </a:prstGeom>
        </p:spPr>
      </p:pic>
      <p:sp>
        <p:nvSpPr>
          <p:cNvPr id="7" name="Rounded Rectangle 6"/>
          <p:cNvSpPr/>
          <p:nvPr/>
        </p:nvSpPr>
        <p:spPr>
          <a:xfrm>
            <a:off x="640080" y="3866605"/>
            <a:ext cx="10911535" cy="66541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3_count.png"/>
          <p:cNvPicPr>
            <a:picLocks noChangeAspect="1"/>
          </p:cNvPicPr>
          <p:nvPr/>
        </p:nvPicPr>
        <p:blipFill>
          <a:blip r:embed="rId4"/>
          <a:stretch>
            <a:fillRect/>
          </a:stretch>
        </p:blipFill>
        <p:spPr>
          <a:xfrm>
            <a:off x="3014381" y="4049485"/>
            <a:ext cx="6162932" cy="299651"/>
          </a:xfrm>
          <a:prstGeom prst="rect">
            <a:avLst/>
          </a:prstGeom>
        </p:spPr>
      </p:pic>
      <p:sp>
        <p:nvSpPr>
          <p:cNvPr id="9" name="TextBox 8"/>
          <p:cNvSpPr txBox="1"/>
          <p:nvPr/>
        </p:nvSpPr>
        <p:spPr>
          <a:xfrm>
            <a:off x="640080" y="467832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If each pixel takes M states, there are M to the power |W| configurations of x: too many to enumerate.</a:t>
            </a:r>
          </a:p>
        </p:txBody>
      </p:sp>
      <p:sp>
        <p:nvSpPr>
          <p:cNvPr id="10" name="TextBox 9"/>
          <p:cNvSpPr txBox="1"/>
          <p:nvPr/>
        </p:nvSpPr>
        <p:spPr>
          <a:xfrm>
            <a:off x="640080" y="510808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Finding the best labelling is typically very hard: NP-hard for a general graph.</a:t>
            </a:r>
          </a:p>
        </p:txBody>
      </p:sp>
      <p:sp>
        <p:nvSpPr>
          <p:cNvPr id="11" name="TextBox 10"/>
          <p:cNvSpPr txBox="1"/>
          <p:nvPr/>
        </p:nvSpPr>
        <p:spPr>
          <a:xfrm>
            <a:off x="640080" y="553785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tree still allows exact inference; on a grid with loops exact inference is intractable in general.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28</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The inference problem</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energy defines a probability distribution</a:t>
            </a:r>
          </a:p>
        </p:txBody>
      </p:sp>
      <p:pic>
        <p:nvPicPr>
          <p:cNvPr id="6" name="Picture 5" descr="f24_gibbs.png"/>
          <p:cNvPicPr>
            <a:picLocks noChangeAspect="1"/>
          </p:cNvPicPr>
          <p:nvPr/>
        </p:nvPicPr>
        <p:blipFill>
          <a:blip r:embed="rId3"/>
          <a:stretch>
            <a:fillRect/>
          </a:stretch>
        </p:blipFill>
        <p:spPr>
          <a:xfrm>
            <a:off x="1066647" y="1225296"/>
            <a:ext cx="10058400" cy="2056137"/>
          </a:xfrm>
          <a:prstGeom prst="rect">
            <a:avLst/>
          </a:prstGeom>
        </p:spPr>
      </p:pic>
      <p:sp>
        <p:nvSpPr>
          <p:cNvPr id="7" name="Rounded Rectangle 6"/>
          <p:cNvSpPr/>
          <p:nvPr/>
        </p:nvSpPr>
        <p:spPr>
          <a:xfrm>
            <a:off x="640080" y="3409449"/>
            <a:ext cx="10911535" cy="104882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4_gibbs.png"/>
          <p:cNvPicPr>
            <a:picLocks noChangeAspect="1"/>
          </p:cNvPicPr>
          <p:nvPr/>
        </p:nvPicPr>
        <p:blipFill>
          <a:blip r:embed="rId4"/>
          <a:stretch>
            <a:fillRect/>
          </a:stretch>
        </p:blipFill>
        <p:spPr>
          <a:xfrm>
            <a:off x="4276155" y="3592329"/>
            <a:ext cx="3639384" cy="683067"/>
          </a:xfrm>
          <a:prstGeom prst="rect">
            <a:avLst/>
          </a:prstGeom>
        </p:spPr>
      </p:pic>
      <p:sp>
        <p:nvSpPr>
          <p:cNvPr id="9" name="TextBox 8"/>
          <p:cNvSpPr txBox="1"/>
          <p:nvPr/>
        </p:nvSpPr>
        <p:spPr>
          <a:xfrm>
            <a:off x="640080" y="46045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Gibbs distribution gives every labelling a probability; low energy is high probability.</a:t>
            </a:r>
          </a:p>
        </p:txBody>
      </p:sp>
      <p:sp>
        <p:nvSpPr>
          <p:cNvPr id="10" name="TextBox 9"/>
          <p:cNvSpPr txBox="1"/>
          <p:nvPr/>
        </p:nvSpPr>
        <p:spPr>
          <a:xfrm>
            <a:off x="640080" y="503434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normalising constant Z sums over all labellings, so for a large model Z is typically out of reach.</a:t>
            </a:r>
          </a:p>
        </p:txBody>
      </p:sp>
      <p:sp>
        <p:nvSpPr>
          <p:cNvPr id="11" name="TextBox 10"/>
          <p:cNvSpPr txBox="1"/>
          <p:nvPr/>
        </p:nvSpPr>
        <p:spPr>
          <a:xfrm>
            <a:off x="640080" y="546411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image is fixed throughout, so from here on P(x) is short for P(x | I) and E(x) for E(x; I).</a:t>
            </a:r>
          </a:p>
        </p:txBody>
      </p:sp>
      <p:sp>
        <p:nvSpPr>
          <p:cNvPr id="12" name="TextBox 11"/>
          <p:cNvSpPr txBox="1"/>
          <p:nvPr/>
        </p:nvSpPr>
        <p:spPr>
          <a:xfrm>
            <a:off x="640080" y="5939604"/>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Bars computed on the four-pixel example: score map (0.8, 0.6, 0.3, 0.2), Potts cost w_ij = 0.7.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29</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The inference problem</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Minimising the energy is maximising the probability</a:t>
            </a:r>
          </a:p>
        </p:txBody>
      </p:sp>
      <p:pic>
        <p:nvPicPr>
          <p:cNvPr id="6" name="Picture 5" descr="f25_map.png"/>
          <p:cNvPicPr>
            <a:picLocks noChangeAspect="1"/>
          </p:cNvPicPr>
          <p:nvPr/>
        </p:nvPicPr>
        <p:blipFill>
          <a:blip r:embed="rId3"/>
          <a:stretch>
            <a:fillRect/>
          </a:stretch>
        </p:blipFill>
        <p:spPr>
          <a:xfrm>
            <a:off x="1066647" y="1225296"/>
            <a:ext cx="10058400" cy="2647213"/>
          </a:xfrm>
          <a:prstGeom prst="rect">
            <a:avLst/>
          </a:prstGeom>
        </p:spPr>
      </p:pic>
      <p:sp>
        <p:nvSpPr>
          <p:cNvPr id="7" name="Rounded Rectangle 6"/>
          <p:cNvSpPr/>
          <p:nvPr/>
        </p:nvSpPr>
        <p:spPr>
          <a:xfrm>
            <a:off x="640080" y="4000525"/>
            <a:ext cx="10911535" cy="72793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5_map.png"/>
          <p:cNvPicPr>
            <a:picLocks noChangeAspect="1"/>
          </p:cNvPicPr>
          <p:nvPr/>
        </p:nvPicPr>
        <p:blipFill>
          <a:blip r:embed="rId4"/>
          <a:stretch>
            <a:fillRect/>
          </a:stretch>
        </p:blipFill>
        <p:spPr>
          <a:xfrm>
            <a:off x="4305595" y="4183405"/>
            <a:ext cx="3580503" cy="362174"/>
          </a:xfrm>
          <a:prstGeom prst="rect">
            <a:avLst/>
          </a:prstGeom>
        </p:spPr>
      </p:pic>
      <p:sp>
        <p:nvSpPr>
          <p:cNvPr id="9" name="TextBox 8"/>
          <p:cNvSpPr txBox="1"/>
          <p:nvPr/>
        </p:nvSpPr>
        <p:spPr>
          <a:xfrm>
            <a:off x="640080" y="487476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lowest-energy labelling is the most probable labelling: the MAP (maximum a posteriori) estimate.</a:t>
            </a:r>
          </a:p>
        </p:txBody>
      </p:sp>
      <p:sp>
        <p:nvSpPr>
          <p:cNvPr id="10" name="TextBox 9"/>
          <p:cNvSpPr txBox="1"/>
          <p:nvPr/>
        </p:nvSpPr>
        <p:spPr>
          <a:xfrm>
            <a:off x="640080" y="530453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Segmentation can be treated as energy minimisation or probabilistic inference; the optimum is the same.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30</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The inference problem</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Three approaches to inference on the Gibbs distribution</a:t>
            </a:r>
          </a:p>
        </p:txBody>
      </p:sp>
      <p:pic>
        <p:nvPicPr>
          <p:cNvPr id="6" name="Picture 5" descr="f26_algorithms.png"/>
          <p:cNvPicPr>
            <a:picLocks noChangeAspect="1"/>
          </p:cNvPicPr>
          <p:nvPr/>
        </p:nvPicPr>
        <p:blipFill>
          <a:blip r:embed="rId3"/>
          <a:stretch>
            <a:fillRect/>
          </a:stretch>
        </p:blipFill>
        <p:spPr>
          <a:xfrm>
            <a:off x="883767" y="1225296"/>
            <a:ext cx="10424160" cy="2513293"/>
          </a:xfrm>
          <a:prstGeom prst="rect">
            <a:avLst/>
          </a:prstGeom>
        </p:spPr>
      </p:pic>
      <p:sp>
        <p:nvSpPr>
          <p:cNvPr id="7" name="TextBox 6"/>
          <p:cNvSpPr txBox="1"/>
          <p:nvPr/>
        </p:nvSpPr>
        <p:spPr>
          <a:xfrm>
            <a:off x="640080" y="388489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Sampling by Markov chain Monte Carlo (MCMC), mean field theory (MFT), and belief propagation (BP).</a:t>
            </a:r>
          </a:p>
        </p:txBody>
      </p:sp>
      <p:sp>
        <p:nvSpPr>
          <p:cNvPr id="8" name="TextBox 7"/>
          <p:cNvSpPr txBox="1"/>
          <p:nvPr/>
        </p:nvSpPr>
        <p:spPr>
          <a:xfrm>
            <a:off x="640080" y="431466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This course describes MFT and BP; a handout (Yuille chapter) describes all three.</a:t>
            </a:r>
          </a:p>
        </p:txBody>
      </p:sp>
      <p:sp>
        <p:nvSpPr>
          <p:cNvPr id="9" name="TextBox 8"/>
          <p:cNvSpPr txBox="1"/>
          <p:nvPr/>
        </p:nvSpPr>
        <p:spPr>
          <a:xfrm>
            <a:off x="640080" y="474442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MCMC is almost always much slower than MFT and BP.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31</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5</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Mean field theory</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Replace the coupled distribution P(x) by a factorised Q(x), one distribution per pixel, and choose the closest 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32</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true distribution couples every pixel to its neighbours</a:t>
            </a:r>
          </a:p>
        </p:txBody>
      </p:sp>
      <p:pic>
        <p:nvPicPr>
          <p:cNvPr id="6" name="Picture 5" descr="f27_chain.png"/>
          <p:cNvPicPr>
            <a:picLocks noChangeAspect="1"/>
          </p:cNvPicPr>
          <p:nvPr/>
        </p:nvPicPr>
        <p:blipFill>
          <a:blip r:embed="rId3"/>
          <a:stretch>
            <a:fillRect/>
          </a:stretch>
        </p:blipFill>
        <p:spPr>
          <a:xfrm>
            <a:off x="1066647" y="1225296"/>
            <a:ext cx="10058400" cy="2374408"/>
          </a:xfrm>
          <a:prstGeom prst="rect">
            <a:avLst/>
          </a:prstGeom>
        </p:spPr>
      </p:pic>
      <p:sp>
        <p:nvSpPr>
          <p:cNvPr id="7" name="Rounded Rectangle 6"/>
          <p:cNvSpPr/>
          <p:nvPr/>
        </p:nvSpPr>
        <p:spPr>
          <a:xfrm>
            <a:off x="640080" y="3727720"/>
            <a:ext cx="10911535" cy="125308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7_chain.png"/>
          <p:cNvPicPr>
            <a:picLocks noChangeAspect="1"/>
          </p:cNvPicPr>
          <p:nvPr/>
        </p:nvPicPr>
        <p:blipFill>
          <a:blip r:embed="rId4"/>
          <a:stretch>
            <a:fillRect/>
          </a:stretch>
        </p:blipFill>
        <p:spPr>
          <a:xfrm>
            <a:off x="2476347" y="3910600"/>
            <a:ext cx="7239000" cy="508000"/>
          </a:xfrm>
          <a:prstGeom prst="rect">
            <a:avLst/>
          </a:prstGeom>
        </p:spPr>
      </p:pic>
      <p:pic>
        <p:nvPicPr>
          <p:cNvPr id="9" name="Picture 8" descr="e27_vals.png"/>
          <p:cNvPicPr>
            <a:picLocks noChangeAspect="1"/>
          </p:cNvPicPr>
          <p:nvPr/>
        </p:nvPicPr>
        <p:blipFill>
          <a:blip r:embed="rId5"/>
          <a:stretch>
            <a:fillRect/>
          </a:stretch>
        </p:blipFill>
        <p:spPr>
          <a:xfrm>
            <a:off x="3155019" y="4564904"/>
            <a:ext cx="5881656" cy="233024"/>
          </a:xfrm>
          <a:prstGeom prst="rect">
            <a:avLst/>
          </a:prstGeom>
        </p:spPr>
      </p:pic>
      <p:sp>
        <p:nvSpPr>
          <p:cNvPr id="10" name="TextBox 9"/>
          <p:cNvSpPr txBox="1"/>
          <p:nvPr/>
        </p:nvSpPr>
        <p:spPr>
          <a:xfrm>
            <a:off x="640080" y="512711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Three binary pixels in a chain already need eight probability entries, one for each joint state.</a:t>
            </a:r>
          </a:p>
        </p:txBody>
      </p:sp>
      <p:sp>
        <p:nvSpPr>
          <p:cNvPr id="11" name="TextBox 10"/>
          <p:cNvSpPr txBox="1"/>
          <p:nvPr/>
        </p:nvSpPr>
        <p:spPr>
          <a:xfrm>
            <a:off x="640080" y="555688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most probable state is a joint configuration of all three pixels.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33</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Mean field approximates P by independent factors</a:t>
            </a:r>
          </a:p>
        </p:txBody>
      </p:sp>
      <p:pic>
        <p:nvPicPr>
          <p:cNvPr id="6" name="Picture 5" descr="f28_factorised.png"/>
          <p:cNvPicPr>
            <a:picLocks noChangeAspect="1"/>
          </p:cNvPicPr>
          <p:nvPr/>
        </p:nvPicPr>
        <p:blipFill>
          <a:blip r:embed="rId3"/>
          <a:stretch>
            <a:fillRect/>
          </a:stretch>
        </p:blipFill>
        <p:spPr>
          <a:xfrm>
            <a:off x="1066647" y="1225296"/>
            <a:ext cx="10058400" cy="2647213"/>
          </a:xfrm>
          <a:prstGeom prst="rect">
            <a:avLst/>
          </a:prstGeom>
        </p:spPr>
      </p:pic>
      <p:sp>
        <p:nvSpPr>
          <p:cNvPr id="7" name="Rounded Rectangle 6"/>
          <p:cNvSpPr/>
          <p:nvPr/>
        </p:nvSpPr>
        <p:spPr>
          <a:xfrm>
            <a:off x="640080" y="4000525"/>
            <a:ext cx="10911535" cy="947650"/>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8_Q.png"/>
          <p:cNvPicPr>
            <a:picLocks noChangeAspect="1"/>
          </p:cNvPicPr>
          <p:nvPr/>
        </p:nvPicPr>
        <p:blipFill>
          <a:blip r:embed="rId4"/>
          <a:stretch>
            <a:fillRect/>
          </a:stretch>
        </p:blipFill>
        <p:spPr>
          <a:xfrm>
            <a:off x="2642602" y="4183405"/>
            <a:ext cx="6906490" cy="581890"/>
          </a:xfrm>
          <a:prstGeom prst="rect">
            <a:avLst/>
          </a:prstGeom>
        </p:spPr>
      </p:pic>
      <p:sp>
        <p:nvSpPr>
          <p:cNvPr id="9" name="TextBox 8"/>
          <p:cNvSpPr txBox="1"/>
          <p:nvPr/>
        </p:nvSpPr>
        <p:spPr>
          <a:xfrm>
            <a:off x="640080" y="50944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approximation Q assumes independence; the true P is coupled and stays coupled.</a:t>
            </a:r>
          </a:p>
        </p:txBody>
      </p:sp>
      <p:sp>
        <p:nvSpPr>
          <p:cNvPr id="10" name="TextBox 9"/>
          <p:cNvSpPr txBox="1"/>
          <p:nvPr/>
        </p:nvSpPr>
        <p:spPr>
          <a:xfrm>
            <a:off x="640080" y="552424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Q is factorisable, so the maximum of Q is found pixel by pixel: the label with the largest belief.</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34</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Choose the factorised distribution closest to P</a:t>
            </a:r>
          </a:p>
        </p:txBody>
      </p:sp>
      <p:pic>
        <p:nvPicPr>
          <p:cNvPr id="6" name="Picture 5" descr="f29_kl.png"/>
          <p:cNvPicPr>
            <a:picLocks noChangeAspect="1"/>
          </p:cNvPicPr>
          <p:nvPr/>
        </p:nvPicPr>
        <p:blipFill>
          <a:blip r:embed="rId3"/>
          <a:stretch>
            <a:fillRect/>
          </a:stretch>
        </p:blipFill>
        <p:spPr>
          <a:xfrm>
            <a:off x="1615287" y="1225296"/>
            <a:ext cx="8961120" cy="2651760"/>
          </a:xfrm>
          <a:prstGeom prst="rect">
            <a:avLst/>
          </a:prstGeom>
        </p:spPr>
      </p:pic>
      <p:sp>
        <p:nvSpPr>
          <p:cNvPr id="7" name="Rounded Rectangle 6"/>
          <p:cNvSpPr/>
          <p:nvPr/>
        </p:nvSpPr>
        <p:spPr>
          <a:xfrm>
            <a:off x="640080" y="4005072"/>
            <a:ext cx="10911535" cy="101844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9_kl.png"/>
          <p:cNvPicPr>
            <a:picLocks noChangeAspect="1"/>
          </p:cNvPicPr>
          <p:nvPr/>
        </p:nvPicPr>
        <p:blipFill>
          <a:blip r:embed="rId4"/>
          <a:stretch>
            <a:fillRect/>
          </a:stretch>
        </p:blipFill>
        <p:spPr>
          <a:xfrm>
            <a:off x="4481915" y="4187952"/>
            <a:ext cx="3227864" cy="652681"/>
          </a:xfrm>
          <a:prstGeom prst="rect">
            <a:avLst/>
          </a:prstGeom>
        </p:spPr>
      </p:pic>
      <p:sp>
        <p:nvSpPr>
          <p:cNvPr id="9" name="TextBox 8"/>
          <p:cNvSpPr txBox="1"/>
          <p:nvPr/>
        </p:nvSpPr>
        <p:spPr>
          <a:xfrm>
            <a:off x="640080" y="516981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criterion is the Kullback-Leibler (KL) divergence of Q from P; the order of Q and P matters.</a:t>
            </a:r>
          </a:p>
        </p:txBody>
      </p:sp>
      <p:sp>
        <p:nvSpPr>
          <p:cNvPr id="10" name="TextBox 9"/>
          <p:cNvSpPr txBox="1"/>
          <p:nvPr/>
        </p:nvSpPr>
        <p:spPr>
          <a:xfrm>
            <a:off x="640080" y="559958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search is restricted to factorised distributions; within that family the closest one is chosen.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35</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KL divergence splits into a free energy and log Z</a:t>
            </a:r>
          </a:p>
        </p:txBody>
      </p:sp>
      <p:sp>
        <p:nvSpPr>
          <p:cNvPr id="6" name="Rounded Rectangle 5"/>
          <p:cNvSpPr/>
          <p:nvPr/>
        </p:nvSpPr>
        <p:spPr>
          <a:xfrm>
            <a:off x="640080" y="1371600"/>
            <a:ext cx="10911535" cy="193593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30_F.png"/>
          <p:cNvPicPr>
            <a:picLocks noChangeAspect="1"/>
          </p:cNvPicPr>
          <p:nvPr/>
        </p:nvPicPr>
        <p:blipFill>
          <a:blip r:embed="rId3"/>
          <a:stretch>
            <a:fillRect/>
          </a:stretch>
        </p:blipFill>
        <p:spPr>
          <a:xfrm>
            <a:off x="3704524" y="1554480"/>
            <a:ext cx="4782647" cy="562523"/>
          </a:xfrm>
          <a:prstGeom prst="rect">
            <a:avLst/>
          </a:prstGeom>
        </p:spPr>
      </p:pic>
      <p:pic>
        <p:nvPicPr>
          <p:cNvPr id="8" name="Picture 7" descr="e30_F2.png"/>
          <p:cNvPicPr>
            <a:picLocks noChangeAspect="1"/>
          </p:cNvPicPr>
          <p:nvPr/>
        </p:nvPicPr>
        <p:blipFill>
          <a:blip r:embed="rId4"/>
          <a:stretch>
            <a:fillRect/>
          </a:stretch>
        </p:blipFill>
        <p:spPr>
          <a:xfrm>
            <a:off x="2976588" y="2263307"/>
            <a:ext cx="6238517" cy="861346"/>
          </a:xfrm>
          <a:prstGeom prst="rect">
            <a:avLst/>
          </a:prstGeom>
        </p:spPr>
      </p:pic>
      <p:sp>
        <p:nvSpPr>
          <p:cNvPr id="9" name="TextBox 8"/>
          <p:cNvSpPr txBox="1"/>
          <p:nvPr/>
        </p:nvSpPr>
        <p:spPr>
          <a:xfrm>
            <a:off x="640080" y="345383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Writing log P = minus E minus log Z splits the KL divergence F[Q] into three terms.</a:t>
            </a:r>
          </a:p>
        </p:txBody>
      </p:sp>
      <p:sp>
        <p:nvSpPr>
          <p:cNvPr id="10" name="TextBox 9"/>
          <p:cNvSpPr txBox="1"/>
          <p:nvPr/>
        </p:nvSpPr>
        <p:spPr>
          <a:xfrm>
            <a:off x="640080" y="388360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log Z term is independent of Q, so log Z is never needed when F[Q] is minimised.</a:t>
            </a:r>
          </a:p>
        </p:txBody>
      </p:sp>
      <p:sp>
        <p:nvSpPr>
          <p:cNvPr id="11" name="TextBox 10"/>
          <p:cNvSpPr txBox="1"/>
          <p:nvPr/>
        </p:nvSpPr>
        <p:spPr>
          <a:xfrm>
            <a:off x="640080" y="431337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two Q-dependent terms, expected energy minus entropy, form the variational free energy.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36</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continuous approximation replaces the discrete search</a:t>
            </a:r>
          </a:p>
        </p:txBody>
      </p:sp>
      <p:pic>
        <p:nvPicPr>
          <p:cNvPr id="6" name="Picture 5" descr="f31_continuous.png"/>
          <p:cNvPicPr>
            <a:picLocks noChangeAspect="1"/>
          </p:cNvPicPr>
          <p:nvPr/>
        </p:nvPicPr>
        <p:blipFill>
          <a:blip r:embed="rId3"/>
          <a:stretch>
            <a:fillRect/>
          </a:stretch>
        </p:blipFill>
        <p:spPr>
          <a:xfrm>
            <a:off x="883767" y="1225296"/>
            <a:ext cx="10424160" cy="2602121"/>
          </a:xfrm>
          <a:prstGeom prst="rect">
            <a:avLst/>
          </a:prstGeom>
        </p:spPr>
      </p:pic>
      <p:sp>
        <p:nvSpPr>
          <p:cNvPr id="7" name="Rounded Rectangle 6"/>
          <p:cNvSpPr/>
          <p:nvPr/>
        </p:nvSpPr>
        <p:spPr>
          <a:xfrm>
            <a:off x="640080" y="3955433"/>
            <a:ext cx="10911535" cy="804672"/>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1_cont.png"/>
          <p:cNvPicPr>
            <a:picLocks noChangeAspect="1"/>
          </p:cNvPicPr>
          <p:nvPr/>
        </p:nvPicPr>
        <p:blipFill>
          <a:blip r:embed="rId4"/>
          <a:stretch>
            <a:fillRect/>
          </a:stretch>
        </p:blipFill>
        <p:spPr>
          <a:xfrm>
            <a:off x="2042007" y="4138313"/>
            <a:ext cx="8107680" cy="438912"/>
          </a:xfrm>
          <a:prstGeom prst="rect">
            <a:avLst/>
          </a:prstGeom>
        </p:spPr>
      </p:pic>
      <p:sp>
        <p:nvSpPr>
          <p:cNvPr id="9" name="TextBox 8"/>
          <p:cNvSpPr txBox="1"/>
          <p:nvPr/>
        </p:nvSpPr>
        <p:spPr>
          <a:xfrm>
            <a:off x="640080" y="490640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F[Q] is a differentiable function of continuous variables, the beliefs, so F[Q] can be minimised downhill.</a:t>
            </a:r>
          </a:p>
        </p:txBody>
      </p:sp>
      <p:sp>
        <p:nvSpPr>
          <p:cNvPr id="10" name="TextBox 9"/>
          <p:cNvSpPr txBox="1"/>
          <p:nvPr/>
        </p:nvSpPr>
        <p:spPr>
          <a:xfrm>
            <a:off x="640080" y="533617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F[Q] is differentiable but in general has several local minima; the search is restricted to factorised Q.</a:t>
            </a:r>
          </a:p>
        </p:txBody>
      </p:sp>
      <p:sp>
        <p:nvSpPr>
          <p:cNvPr id="11" name="TextBox 10"/>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 for two binary pixels with psi_1 = psi_2 = 3 and psi_12 = -7, and E on the four labellings of the same model.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37</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Binary example: the free energy in terms of the beliefs</a:t>
            </a:r>
          </a:p>
        </p:txBody>
      </p:sp>
      <p:pic>
        <p:nvPicPr>
          <p:cNvPr id="6" name="Picture 5" descr="f32_binaryF.png"/>
          <p:cNvPicPr>
            <a:picLocks noChangeAspect="1"/>
          </p:cNvPicPr>
          <p:nvPr/>
        </p:nvPicPr>
        <p:blipFill>
          <a:blip r:embed="rId3"/>
          <a:stretch>
            <a:fillRect/>
          </a:stretch>
        </p:blipFill>
        <p:spPr>
          <a:xfrm>
            <a:off x="1523847" y="1225296"/>
            <a:ext cx="9144000" cy="2098548"/>
          </a:xfrm>
          <a:prstGeom prst="rect">
            <a:avLst/>
          </a:prstGeom>
        </p:spPr>
      </p:pic>
      <p:sp>
        <p:nvSpPr>
          <p:cNvPr id="7" name="Rounded Rectangle 6"/>
          <p:cNvSpPr/>
          <p:nvPr/>
        </p:nvSpPr>
        <p:spPr>
          <a:xfrm>
            <a:off x="640080" y="3451860"/>
            <a:ext cx="10911535" cy="174610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2_E.png"/>
          <p:cNvPicPr>
            <a:picLocks noChangeAspect="1"/>
          </p:cNvPicPr>
          <p:nvPr/>
        </p:nvPicPr>
        <p:blipFill>
          <a:blip r:embed="rId4"/>
          <a:stretch>
            <a:fillRect/>
          </a:stretch>
        </p:blipFill>
        <p:spPr>
          <a:xfrm>
            <a:off x="1408961" y="3634740"/>
            <a:ext cx="9373772" cy="618978"/>
          </a:xfrm>
          <a:prstGeom prst="rect">
            <a:avLst/>
          </a:prstGeom>
        </p:spPr>
      </p:pic>
      <p:pic>
        <p:nvPicPr>
          <p:cNvPr id="9" name="Picture 8" descr="e32_F.png"/>
          <p:cNvPicPr>
            <a:picLocks noChangeAspect="1"/>
          </p:cNvPicPr>
          <p:nvPr/>
        </p:nvPicPr>
        <p:blipFill>
          <a:blip r:embed="rId5"/>
          <a:stretch>
            <a:fillRect/>
          </a:stretch>
        </p:blipFill>
        <p:spPr>
          <a:xfrm>
            <a:off x="2011800" y="4400022"/>
            <a:ext cx="8168093" cy="615067"/>
          </a:xfrm>
          <a:prstGeom prst="rect">
            <a:avLst/>
          </a:prstGeom>
        </p:spPr>
      </p:pic>
      <p:sp>
        <p:nvSpPr>
          <p:cNvPr id="10" name="TextBox 9"/>
          <p:cNvSpPr txBox="1"/>
          <p:nvPr/>
        </p:nvSpPr>
        <p:spPr>
          <a:xfrm>
            <a:off x="640080" y="534427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For this binary example the energy is bilinear in x; the expectation under Q replaces labels by beliefs.</a:t>
            </a:r>
          </a:p>
        </p:txBody>
      </p:sp>
      <p:sp>
        <p:nvSpPr>
          <p:cNvPr id="11" name="TextBox 10"/>
          <p:cNvSpPr txBox="1"/>
          <p:nvPr/>
        </p:nvSpPr>
        <p:spPr>
          <a:xfrm>
            <a:off x="640080" y="577404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entropy is a sum over pixels; the evidence is weighted by one belief, the context by the product of two.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38</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Each pixel updates its belief from its neighbours' beliefs</a:t>
            </a:r>
          </a:p>
        </p:txBody>
      </p:sp>
      <p:pic>
        <p:nvPicPr>
          <p:cNvPr id="6" name="Picture 5" descr="f33_update.png"/>
          <p:cNvPicPr>
            <a:picLocks noChangeAspect="1"/>
          </p:cNvPicPr>
          <p:nvPr/>
        </p:nvPicPr>
        <p:blipFill>
          <a:blip r:embed="rId3"/>
          <a:stretch>
            <a:fillRect/>
          </a:stretch>
        </p:blipFill>
        <p:spPr>
          <a:xfrm>
            <a:off x="883767" y="1225296"/>
            <a:ext cx="10424160" cy="2513293"/>
          </a:xfrm>
          <a:prstGeom prst="rect">
            <a:avLst/>
          </a:prstGeom>
        </p:spPr>
      </p:pic>
      <p:sp>
        <p:nvSpPr>
          <p:cNvPr id="7" name="Rounded Rectangle 6"/>
          <p:cNvSpPr/>
          <p:nvPr/>
        </p:nvSpPr>
        <p:spPr>
          <a:xfrm>
            <a:off x="640080" y="3866605"/>
            <a:ext cx="10911535" cy="113124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3_update.png"/>
          <p:cNvPicPr>
            <a:picLocks noChangeAspect="1"/>
          </p:cNvPicPr>
          <p:nvPr/>
        </p:nvPicPr>
        <p:blipFill>
          <a:blip r:embed="rId4"/>
          <a:stretch>
            <a:fillRect/>
          </a:stretch>
        </p:blipFill>
        <p:spPr>
          <a:xfrm>
            <a:off x="3484582" y="4049485"/>
            <a:ext cx="5222530" cy="765483"/>
          </a:xfrm>
          <a:prstGeom prst="rect">
            <a:avLst/>
          </a:prstGeom>
        </p:spPr>
      </p:pic>
      <p:sp>
        <p:nvSpPr>
          <p:cNvPr id="9" name="TextBox 8"/>
          <p:cNvSpPr txBox="1"/>
          <p:nvPr/>
        </p:nvSpPr>
        <p:spPr>
          <a:xfrm>
            <a:off x="640080" y="514415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With the other beliefs fixed, the derivative in one belief vanishes at a sigmoid of evidence and beliefs.</a:t>
            </a:r>
          </a:p>
        </p:txBody>
      </p:sp>
      <p:sp>
        <p:nvSpPr>
          <p:cNvPr id="10" name="TextBox 9"/>
          <p:cNvSpPr txBox="1"/>
          <p:nvPr/>
        </p:nvSpPr>
        <p:spPr>
          <a:xfrm>
            <a:off x="640080" y="557392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Initialise from the unary evidence and repeat the update: the iteration seeks a stationary point of F[Q].</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39</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update generalises to the fully connected model</a:t>
            </a:r>
          </a:p>
        </p:txBody>
      </p:sp>
      <p:pic>
        <p:nvPicPr>
          <p:cNvPr id="6" name="Picture 5" descr="f34_dense_results.png"/>
          <p:cNvPicPr>
            <a:picLocks noChangeAspect="1"/>
          </p:cNvPicPr>
          <p:nvPr/>
        </p:nvPicPr>
        <p:blipFill>
          <a:blip r:embed="rId3"/>
          <a:stretch>
            <a:fillRect/>
          </a:stretch>
        </p:blipFill>
        <p:spPr>
          <a:xfrm>
            <a:off x="1066647" y="1225296"/>
            <a:ext cx="10058400" cy="2328941"/>
          </a:xfrm>
          <a:prstGeom prst="rect">
            <a:avLst/>
          </a:prstGeom>
        </p:spPr>
      </p:pic>
      <p:sp>
        <p:nvSpPr>
          <p:cNvPr id="7" name="Rounded Rectangle 6"/>
          <p:cNvSpPr/>
          <p:nvPr/>
        </p:nvSpPr>
        <p:spPr>
          <a:xfrm>
            <a:off x="640080" y="3682253"/>
            <a:ext cx="10911535" cy="103411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4_dense.png"/>
          <p:cNvPicPr>
            <a:picLocks noChangeAspect="1"/>
          </p:cNvPicPr>
          <p:nvPr/>
        </p:nvPicPr>
        <p:blipFill>
          <a:blip r:embed="rId4"/>
          <a:stretch>
            <a:fillRect/>
          </a:stretch>
        </p:blipFill>
        <p:spPr>
          <a:xfrm>
            <a:off x="2436411" y="3865133"/>
            <a:ext cx="7318872" cy="668356"/>
          </a:xfrm>
          <a:prstGeom prst="rect">
            <a:avLst/>
          </a:prstGeom>
        </p:spPr>
      </p:pic>
      <p:sp>
        <p:nvSpPr>
          <p:cNvPr id="9" name="TextBox 8"/>
          <p:cNvSpPr txBox="1"/>
          <p:nvPr/>
        </p:nvSpPr>
        <p:spPr>
          <a:xfrm>
            <a:off x="640080" y="486267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With M labels the belief of a pixel becomes a vector over the labels, and the sigmoid becomes a softmax.</a:t>
            </a:r>
          </a:p>
        </p:txBody>
      </p:sp>
      <p:sp>
        <p:nvSpPr>
          <p:cNvPr id="10" name="TextBox 9"/>
          <p:cNvSpPr txBox="1"/>
          <p:nvPr/>
        </p:nvSpPr>
        <p:spPr>
          <a:xfrm>
            <a:off x="640080" y="529244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sum over all pixels j is a Gaussian filtering of the current beliefs, so a dense graph is still fast.</a:t>
            </a:r>
          </a:p>
        </p:txBody>
      </p:sp>
      <p:sp>
        <p:nvSpPr>
          <p:cNvPr id="11" name="TextBox 10"/>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P. Krähenbühl and V. Koltun, NIPS 2011.  Table and figures from the original deck (MSRC-21: 591 images, 21 classes).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40</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Mean field iterations sharpen the segmentation</a:t>
            </a:r>
          </a:p>
        </p:txBody>
      </p:sp>
      <p:pic>
        <p:nvPicPr>
          <p:cNvPr id="6" name="Picture 5" descr="f35_iterations.png"/>
          <p:cNvPicPr>
            <a:picLocks noChangeAspect="1"/>
          </p:cNvPicPr>
          <p:nvPr/>
        </p:nvPicPr>
        <p:blipFill>
          <a:blip r:embed="rId3"/>
          <a:stretch>
            <a:fillRect/>
          </a:stretch>
        </p:blipFill>
        <p:spPr>
          <a:xfrm>
            <a:off x="1066647" y="1225296"/>
            <a:ext cx="10058400" cy="2692680"/>
          </a:xfrm>
          <a:prstGeom prst="rect">
            <a:avLst/>
          </a:prstGeom>
        </p:spPr>
      </p:pic>
      <p:sp>
        <p:nvSpPr>
          <p:cNvPr id="7" name="TextBox 6"/>
          <p:cNvSpPr txBox="1"/>
          <p:nvPr/>
        </p:nvSpPr>
        <p:spPr>
          <a:xfrm>
            <a:off x="640080" y="40642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Iteration 0 is the evidence of the network; each iteration refines the beliefs with weighted messages.</a:t>
            </a:r>
          </a:p>
        </p:txBody>
      </p:sp>
      <p:sp>
        <p:nvSpPr>
          <p:cNvPr id="8" name="TextBox 7"/>
          <p:cNvSpPr txBox="1"/>
          <p:nvPr/>
        </p:nvSpPr>
        <p:spPr>
          <a:xfrm>
            <a:off x="640080" y="449404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After ten iterations the belief map follows the outline of the airplane.</a:t>
            </a:r>
          </a:p>
        </p:txBody>
      </p:sp>
      <p:sp>
        <p:nvSpPr>
          <p:cNvPr id="9" name="TextBox 8"/>
          <p:cNvSpPr txBox="1"/>
          <p:nvPr/>
        </p:nvSpPr>
        <p:spPr>
          <a:xfrm>
            <a:off x="640080" y="587044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 Chen et al., ICLR 2015 (score map above, belief map below, after each mean field iteration).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41</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concave-convex procedure: each update lowers F</a:t>
            </a:r>
          </a:p>
        </p:txBody>
      </p:sp>
      <p:pic>
        <p:nvPicPr>
          <p:cNvPr id="6" name="Picture 5" descr="f36_cccp.png"/>
          <p:cNvPicPr>
            <a:picLocks noChangeAspect="1"/>
          </p:cNvPicPr>
          <p:nvPr/>
        </p:nvPicPr>
        <p:blipFill>
          <a:blip r:embed="rId3"/>
          <a:stretch>
            <a:fillRect/>
          </a:stretch>
        </p:blipFill>
        <p:spPr>
          <a:xfrm>
            <a:off x="1066647" y="1225296"/>
            <a:ext cx="10058400" cy="2283474"/>
          </a:xfrm>
          <a:prstGeom prst="rect">
            <a:avLst/>
          </a:prstGeom>
        </p:spPr>
      </p:pic>
      <p:sp>
        <p:nvSpPr>
          <p:cNvPr id="7" name="Rounded Rectangle 6"/>
          <p:cNvSpPr/>
          <p:nvPr/>
        </p:nvSpPr>
        <p:spPr>
          <a:xfrm>
            <a:off x="640080" y="3636786"/>
            <a:ext cx="10911535" cy="92975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6_cccp.png"/>
          <p:cNvPicPr>
            <a:picLocks noChangeAspect="1"/>
          </p:cNvPicPr>
          <p:nvPr/>
        </p:nvPicPr>
        <p:blipFill>
          <a:blip r:embed="rId4"/>
          <a:stretch>
            <a:fillRect/>
          </a:stretch>
        </p:blipFill>
        <p:spPr>
          <a:xfrm>
            <a:off x="2766964" y="3819666"/>
            <a:ext cx="6657766" cy="563991"/>
          </a:xfrm>
          <a:prstGeom prst="rect">
            <a:avLst/>
          </a:prstGeom>
        </p:spPr>
      </p:pic>
      <p:sp>
        <p:nvSpPr>
          <p:cNvPr id="9" name="TextBox 8"/>
          <p:cNvSpPr txBox="1"/>
          <p:nvPr/>
        </p:nvSpPr>
        <p:spPr>
          <a:xfrm>
            <a:off x="640080" y="471284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entropy part is convex; linearising the concave part at the current beliefs gives an upper bound on F.</a:t>
            </a:r>
          </a:p>
        </p:txBody>
      </p:sp>
      <p:sp>
        <p:nvSpPr>
          <p:cNvPr id="10" name="TextBox 9"/>
          <p:cNvSpPr txBox="1"/>
          <p:nvPr/>
        </p:nvSpPr>
        <p:spPr>
          <a:xfrm>
            <a:off x="640080" y="514260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Minimising the bound is the sigmoid update, so each step lowers F: the concave-convex procedure (CCCP).</a:t>
            </a:r>
          </a:p>
        </p:txBody>
      </p:sp>
      <p:sp>
        <p:nvSpPr>
          <p:cNvPr id="11" name="TextBox 10"/>
          <p:cNvSpPr txBox="1"/>
          <p:nvPr/>
        </p:nvSpPr>
        <p:spPr>
          <a:xfrm>
            <a:off x="640080" y="557237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Under suitable conditions the updates reach a local minimum; a quadratic term can enforce concavity.</a:t>
            </a:r>
          </a:p>
        </p:txBody>
      </p:sp>
      <p:sp>
        <p:nvSpPr>
          <p:cNvPr id="12" name="TextBox 11"/>
          <p:cNvSpPr txBox="1"/>
          <p:nvPr/>
        </p:nvSpPr>
        <p:spPr>
          <a:xfrm>
            <a:off x="640080" y="6047865"/>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A. L. Yuille and A. Rangarajan, “The concave-convex procedure,” Neural Computation, 15(4):915–936, 2003.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42</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Deterministic annealing starts from a smoother distribution</a:t>
            </a:r>
          </a:p>
        </p:txBody>
      </p:sp>
      <p:pic>
        <p:nvPicPr>
          <p:cNvPr id="6" name="Picture 5" descr="f37_annealing.png"/>
          <p:cNvPicPr>
            <a:picLocks noChangeAspect="1"/>
          </p:cNvPicPr>
          <p:nvPr/>
        </p:nvPicPr>
        <p:blipFill>
          <a:blip r:embed="rId3"/>
          <a:stretch>
            <a:fillRect/>
          </a:stretch>
        </p:blipFill>
        <p:spPr>
          <a:xfrm>
            <a:off x="1066647" y="1225296"/>
            <a:ext cx="10058400" cy="2419876"/>
          </a:xfrm>
          <a:prstGeom prst="rect">
            <a:avLst/>
          </a:prstGeom>
        </p:spPr>
      </p:pic>
      <p:sp>
        <p:nvSpPr>
          <p:cNvPr id="7" name="Rounded Rectangle 6"/>
          <p:cNvSpPr/>
          <p:nvPr/>
        </p:nvSpPr>
        <p:spPr>
          <a:xfrm>
            <a:off x="640080" y="3773188"/>
            <a:ext cx="10911535" cy="104732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7_anneal.png"/>
          <p:cNvPicPr>
            <a:picLocks noChangeAspect="1"/>
          </p:cNvPicPr>
          <p:nvPr/>
        </p:nvPicPr>
        <p:blipFill>
          <a:blip r:embed="rId4"/>
          <a:stretch>
            <a:fillRect/>
          </a:stretch>
        </p:blipFill>
        <p:spPr>
          <a:xfrm>
            <a:off x="1868864" y="3956068"/>
            <a:ext cx="8453966" cy="681566"/>
          </a:xfrm>
          <a:prstGeom prst="rect">
            <a:avLst/>
          </a:prstGeom>
        </p:spPr>
      </p:pic>
      <p:sp>
        <p:nvSpPr>
          <p:cNvPr id="9" name="TextBox 8"/>
          <p:cNvSpPr txBox="1"/>
          <p:nvPr/>
        </p:nvSpPr>
        <p:spPr>
          <a:xfrm>
            <a:off x="640080" y="496681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At high temperature T the distribution is smooth and easy to fit; at low T it is peaked at the minima of E.</a:t>
            </a:r>
          </a:p>
        </p:txBody>
      </p:sp>
      <p:sp>
        <p:nvSpPr>
          <p:cNvPr id="10" name="TextBox 9"/>
          <p:cNvSpPr txBox="1"/>
          <p:nvPr/>
        </p:nvSpPr>
        <p:spPr>
          <a:xfrm>
            <a:off x="640080" y="539658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Minimise F[Q, T] at large T, start the next smaller T from that minimiser, and repeat.</a:t>
            </a:r>
          </a:p>
        </p:txBody>
      </p:sp>
      <p:sp>
        <p:nvSpPr>
          <p:cNvPr id="11" name="TextBox 10"/>
          <p:cNvSpPr txBox="1"/>
          <p:nvPr/>
        </p:nvSpPr>
        <p:spPr>
          <a:xfrm>
            <a:off x="640080" y="5872074"/>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Curves: E(x) = x^4 - 4x^2 + 0.8x on a single continuous variable, shown for illustration.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575"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43</a:t>
            </a:r>
          </a:p>
        </p:txBody>
      </p:sp>
      <p:sp>
        <p:nvSpPr>
          <p:cNvPr id="4" name="TextBox 3"/>
          <p:cNvSpPr txBox="1"/>
          <p:nvPr/>
        </p:nvSpPr>
        <p:spPr>
          <a:xfrm>
            <a:off x="6705295"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theory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Summary</a:t>
            </a:r>
          </a:p>
        </p:txBody>
      </p:sp>
      <p:sp>
        <p:nvSpPr>
          <p:cNvPr id="6" name="TextBox 5"/>
          <p:cNvSpPr txBox="1"/>
          <p:nvPr/>
        </p:nvSpPr>
        <p:spPr>
          <a:xfrm>
            <a:off x="640080" y="1481328"/>
            <a:ext cx="10911535" cy="4206240"/>
          </a:xfrm>
          <a:prstGeom prst="rect">
            <a:avLst/>
          </a:prstGeom>
          <a:noFill/>
        </p:spPr>
        <p:txBody>
          <a:bodyPr wrap="square" lIns="0" tIns="0" rIns="0" bIns="0">
            <a:spAutoFit/>
          </a:bodyPr>
          <a:lstStyle/>
          <a:p>
            <a:pPr marL="0" indent="0">
              <a:buNone/>
            </a:pPr>
            <a:r>
              <a:rPr sz="1900">
                <a:solidFill>
                  <a:srgbClr val="1A1A2E"/>
                </a:solidFill>
                <a:latin typeface="Calibri"/>
              </a:rPr>
              <a:t>A deep network gives unary evidence for the label at each pixel.</a:t>
            </a:r>
          </a:p>
          <a:p>
            <a:pPr marL="0" indent="0">
              <a:buNone/>
            </a:pPr>
            <a:endParaRPr sz="1900"/>
          </a:p>
          <a:p>
            <a:pPr marL="0" indent="0">
              <a:buNone/>
            </a:pPr>
            <a:r>
              <a:rPr sz="1900">
                <a:solidFill>
                  <a:srgbClr val="1A1A2E"/>
                </a:solidFill>
                <a:latin typeface="Calibri"/>
              </a:rPr>
              <a:t>A Markov random field adds pairwise potentials on the edges: the energy is evidence plus context.</a:t>
            </a:r>
          </a:p>
          <a:p>
            <a:pPr marL="0" indent="0">
              <a:buNone/>
            </a:pPr>
            <a:endParaRPr sz="1900"/>
          </a:p>
          <a:p>
            <a:pPr marL="0" indent="0">
              <a:buNone/>
            </a:pPr>
            <a:r>
              <a:rPr sz="1900">
                <a:solidFill>
                  <a:srgbClr val="1A1A2E"/>
                </a:solidFill>
                <a:latin typeface="Calibri"/>
              </a:rPr>
              <a:t>A conditional random field lets both terms depend on the image; a dense CRF weights every pair.</a:t>
            </a:r>
          </a:p>
          <a:p>
            <a:pPr marL="0" indent="0">
              <a:buNone/>
            </a:pPr>
            <a:endParaRPr sz="1900"/>
          </a:p>
          <a:p>
            <a:pPr marL="0" indent="0">
              <a:buNone/>
            </a:pPr>
            <a:r>
              <a:rPr sz="1900">
                <a:solidFill>
                  <a:srgbClr val="1A1A2E"/>
                </a:solidFill>
                <a:latin typeface="Calibri"/>
              </a:rPr>
              <a:t>The energy defines a Gibbs distribution, and the lowest-energy labelling is the most probable one.</a:t>
            </a:r>
          </a:p>
          <a:p>
            <a:pPr marL="0" indent="0">
              <a:buNone/>
            </a:pPr>
            <a:endParaRPr sz="1900"/>
          </a:p>
          <a:p>
            <a:pPr marL="0" indent="0">
              <a:buNone/>
            </a:pPr>
            <a:r>
              <a:rPr sz="1900">
                <a:solidFill>
                  <a:srgbClr val="1A1A2E"/>
                </a:solidFill>
                <a:latin typeface="Calibri"/>
              </a:rPr>
              <a:t>Enumeration is exponential in the number of pixels; exact inference on a loopy grid is intractable in general.</a:t>
            </a:r>
          </a:p>
          <a:p>
            <a:pPr marL="0" indent="0">
              <a:buNone/>
            </a:pPr>
            <a:endParaRPr sz="1900"/>
          </a:p>
          <a:p>
            <a:pPr marL="0" indent="0">
              <a:buNone/>
            </a:pPr>
            <a:r>
              <a:rPr sz="1900">
                <a:solidFill>
                  <a:srgbClr val="1A1A2E"/>
                </a:solidFill>
                <a:latin typeface="Calibri"/>
              </a:rPr>
              <a:t>Mean field theory approximates P(x) by a factorised Q(x) and minimises the free energy F[Q].</a:t>
            </a:r>
          </a:p>
          <a:p>
            <a:pPr marL="0" indent="0">
              <a:buNone/>
            </a:pPr>
            <a:endParaRPr sz="1900"/>
          </a:p>
          <a:p>
            <a:pPr marL="0" indent="0">
              <a:buNone/>
            </a:pPr>
            <a:r>
              <a:rPr sz="1900">
                <a:solidFill>
                  <a:srgbClr val="1A1A2E"/>
                </a:solidFill>
                <a:latin typeface="Calibri"/>
              </a:rPr>
              <a:t>For binary labels the update is a sigmoid of evidence and neighbours' beliefs; for M labels it is a softmax.</a:t>
            </a:r>
          </a:p>
          <a:p>
            <a:pPr marL="0" indent="0">
              <a:buNone/>
            </a:pPr>
            <a:endParaRPr sz="1900"/>
          </a:p>
          <a:p>
            <a:pPr marL="0" indent="0">
              <a:buNone/>
            </a:pPr>
            <a:r>
              <a:rPr sz="1900">
                <a:solidFill>
                  <a:srgbClr val="1A1A2E"/>
                </a:solidFill>
                <a:latin typeface="Calibri"/>
              </a:rPr>
              <a:t>The concave-convex procedure explains the convergence, and annealing can help avoid poor minima.</a:t>
            </a:r>
          </a:p>
          <a:p>
            <a:pPr marL="0" indent="0">
              <a:buNone/>
            </a:pPr>
            <a:endParaRPr sz="1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5823</Words>
  <Application>Microsoft Macintosh PowerPoint</Application>
  <PresentationFormat>Widescreen</PresentationFormat>
  <Paragraphs>422</Paragraphs>
  <Slides>43</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Jeremy Chen</cp:lastModifiedBy>
  <cp:revision>3</cp:revision>
  <dcterms:created xsi:type="dcterms:W3CDTF">2013-01-27T09:14:16Z</dcterms:created>
  <dcterms:modified xsi:type="dcterms:W3CDTF">2026-09-15T01:45:39Z</dcterms:modified>
  <cp:category/>
</cp:coreProperties>
</file>