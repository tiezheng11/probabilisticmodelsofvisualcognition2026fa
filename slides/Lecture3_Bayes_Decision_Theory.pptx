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99" r:id="rId7"/>
    <p:sldId id="261" r:id="rId8"/>
    <p:sldId id="262" r:id="rId9"/>
    <p:sldId id="265" r:id="rId10"/>
    <p:sldId id="263" r:id="rId11"/>
    <p:sldId id="267" r:id="rId12"/>
    <p:sldId id="268" r:id="rId13"/>
    <p:sldId id="270" r:id="rId14"/>
    <p:sldId id="272" r:id="rId16"/>
    <p:sldId id="264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66" r:id="rId30"/>
    <p:sldId id="286" r:id="rId31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96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R(\alpha)\;=\;\sum_{x,y} P(x,y)\,L(\alpha(x),y)$</a:t>
            </a:r>
          </a:p>
          <a:p>
            <a:endParaRPr/>
          </a:p>
          <a:p>
            <a:r>
              <a:t>$\displaystyle \hat{\alpha}\;=\;\arg\min_{\alpha\in\mathcal{A}} R(\alpha)\qquad\quad \mathrm{Bayes\ risk}\;=\;R(\hat{\alpha})$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Joint P(x,y) and losses are in figs.py (JOINT, L_FP, L_FN, RULE); every number on the slide is computed, not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P(y\,|\,x)\;=\;\frac{P(x\,|\,y)\,P(y)}{P(x)}$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R(\alpha)\;=\;\sum_{x} P(x)\,\sum_{y} P(y\,|\,x)\,L(\alpha(x),y)$</a:t>
            </a:r>
          </a:p>
          <a:p>
            <a:endParaRPr/>
          </a:p>
          <a:p>
            <a:r>
              <a:t>$\displaystyle \mathrm{so}\qquad \hat{\alpha}(x)\;=\;\arg\min_{a\in\mathcal{A}}\;\sum_{y} P(y\,|\,x)\,L(a,y)$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\mathrm{equal\ costs}\;\longrightarrow\;\hat{\alpha}(x)=\arg\max_{y} P(y\,|\,x)\qquad \mathrm{MAP}$</a:t>
            </a:r>
          </a:p>
          <a:p/>
          <a:p>
            <a:r>
              <a:t>$\displaystyle \mathrm{equal\ costs\ and\ a\ uniform\ prior}\;\longrightarrow\;\hat{\alpha}(x)=\arg\max_{y} P(x\,|\,y)\qquad \mathrm{ML}$</a:t>
            </a:r>
          </a:p>
          <a:p/>
          <a:p>
            <a:r>
              <a:t>$\displaystyle \mathrm{equal\ costs}\;\longrightarrow\;\hat{\alpha}(x)=\arg\max_{y} P(y\,|\,x)\qquad \mathrm{MAP\ (maximum\ a\ posteriori)}$</a:t>
            </a:r>
          </a:p>
          <a:p/>
          <a:p>
            <a:r>
              <a:t>$\displaystyle \mathrm{equal\ costs\ and\ a\ uniform\ prior}\;\longrightarrow\;\hat{\alpha}(x)=\arg\max_{y} P(x\,|\,y)\qquad \mathrm{ML\ (maximum\ likelihood)}$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\mathrm{decide}\;+1\quad \mathrm{if}\quad\log\frac{P(x\,|\,y=+1)}{P(x\,|\,y=-1)}\;&gt;\;T$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\log\frac{P(x\,|\,y=+1)}{P(x\,|\,y=-1)}\;&gt;\;\log\frac{T_n-F_p}{T_p-F_n}\;+\;\log\frac{P(y=-1)}{P(y=+1)}$</a:t>
            </a:r>
          </a:p>
          <a:p/>
          <a:p>
            <a:r>
              <a:t>$\displaystyle \underbrace{\log\frac{P(x\,|\,y=+1)}{P(x\,|\,y=-1)}}_{\textstyle\color{ev}\mathrm{evidence}}\;&gt;\;\underbrace{\color{ls}\log\frac{T_n-F_p}{T_p-F_n}}_{\textstyle\color{ls}\mathrm{the\ loss\ term}}\;+\;\underbrace{\color{pr}\log\frac{P(y=-1)}{P(y=+1)}}_{\textstyle\color{pr}\mathrm{the\ prior\ term}}$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\begin{aligned}\Lambda(x)\;&amp;=\;\log\frac{P(x\,|\,y=+1)}{P(x\,|\,y=-1)}\\[7pt]&amp;=\;-\frac{(x-\mu_{1})^{2}}{2\sigma_{1}^{2}}\;+\;\frac{(x-\mu_{-1})^{2}}{2\sigma_{-1}^{2}}\;-\;\log\sigma_{1}\;+\;\log\sigma_{-1}\end{aligned}$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x^{*}\;=\;\frac{\mu_{1}+\mu_{-1}}{2}\;+\;\frac{T\sigma^{2}}{\mu_{1}-\mu_{-1}}\qquad\qquad d'\;=\;\frac{\mu_{1}-\mu_{-1}}{\sigma}$</a:t>
            </a:r>
          </a:p>
          <a:p/>
          <a:p>
            <a:r>
              <a:t>$\displaystyle \Lambda(x)\;=\;\frac{\mu_{1}-\mu_{-1}}{\sigma^{2}}\left(x-\frac{\mu_{1}+\mu_{-1}}{2}\right)\qquad \mathrm{when}\ \sigma_{1}=\sigma_{-1}=\sigma$</a:t>
            </a:r>
          </a:p>
          <a:p/>
          <a:p>
            <a:r>
              <a:t>$\displaystyle \Lambda(x)&gt;T\quad\Longleftrightarrow\quad x&gt;x^{*}\;=\;\frac{\mu_{1}+\mu_{-1}}{2}+\frac{T\sigma^{2}}{\mu_{1}-\mu_{-1}}$</a:t>
            </a:r>
          </a:p>
          <a:p/>
          <a:p>
            <a:r>
              <a:t>$\displaystyle d'\;=\;\frac{\mu_{1}-\mu_{-1}}{\sigma}\qquad \mathrm{the\ separation\ measured\ in\ units\ of\ }\sigma$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H(T)=\int_{T}^{\infty}\! P(x\,|\,y=+1)\,dx\qquad\quad F(T)=\int_{T}^{\infty}\! P(x\,|\,y=-1)\,dx$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P(D\,|\,\gamma)\;=\;\prod_{i=1}^{N} P(x_i\,|\,\gamma)$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\begin{aligned}\hat{\gamma}\;&amp;=\;\arg\min_{\gamma}\;-\sum_{i}\log P(x_i\,|\,\gamma)&amp;&amp;\qquad \mathrm{ML}\\[7pt]\hat{\gamma}\;&amp;=\;\arg\min_{\gamma}\;-\Big\{\log P(\gamma)+\sum_{i}\log P(x_i\,|\,\gamma)\Big\}&amp;&amp;\qquad \mathrm{MAP}\end{aligned}$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R_{\mathrm{emp}}(\alpha)\;=\;\frac{1}{N}\sum_{i=1}^{N} L(\alpha(x_i),y_i)\;\longrightarrow\;R(\alpha)\quad \mathrm{as}\ N\to\infty$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$\displaystyle \hat{\alpha}(x)=\arg\max_{y} P(y\,|\,x;\theta)\qquad\qquad \hat{\theta}=\arg\min_{\theta}\;-\sum_{i}\log P(y_i\,|\,x_i;\theta)$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4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4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4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481328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62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Bayes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487168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62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Decision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773347"/>
            <a:ext cx="10058400" cy="6463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 September, 2026</a:t>
            </a:r>
            <a:endParaRPr lang="en-US" sz="2100" b="0" i="0" dirty="0">
              <a:solidFill>
                <a:srgbClr val="7C7C8C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sz="2100" b="0" i="0" dirty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 Decision Theory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6479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685505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lang="en-US"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Bayes decision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0848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Risk, loss, and the optimal 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6479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1685505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Probabilities</a:t>
            </a:r>
            <a:endParaRPr sz="2100" b="1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68896" y="20848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Likelihood, prior, posterior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296265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28620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Bayes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28269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MAP, ML, thresholds, likelihood ratios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96265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620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Signal detection theory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328269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Gaussians, d′, ROC curves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6112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16052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081233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the distributions</a:t>
            </a:r>
            <a:endParaRPr sz="2100" b="1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72768" y="4480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ML, MAP, empirical risk, CNNs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2240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16052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405993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limits of BDT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8896" y="4480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Where the framework breaks 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Bayes decision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probability distribution, a set of decision rules, and a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ingredients</a:t>
            </a:r>
            <a:endParaRPr lang="en-US" sz="3000" dirty="0"/>
          </a:p>
        </p:txBody>
      </p:sp>
      <p:pic>
        <p:nvPicPr>
          <p:cNvPr id="6" name="Image 0" descr="/home/claude/bdt/figs/f01_ingred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572768"/>
            <a:ext cx="9838944" cy="4069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5724144"/>
            <a:ext cx="9997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is empirical.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two are choices you must make.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and the Bayes rule that minimises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11535" cy="201168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0080" y="3977639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151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is the average cost of a rule over all examples.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151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 risk is never zero, because decisions cannot be perfect.</a:t>
            </a:r>
          </a:p>
          <a:p>
            <a:pPr marL="254000" indent="-254000">
              <a:lnSpc>
                <a:spcPct val="106000"/>
              </a:lnSpc>
              <a:spcAft>
                <a:spcPts val="151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 tasks can be formalized with this formula, evaluated with different losses.</a:t>
            </a:r>
            <a:endParaRPr lang="en-US" sz="1900" dirty="0"/>
          </a:p>
        </p:txBody>
      </p:sp>
      <p:pic>
        <p:nvPicPr>
          <p:cNvPr id="9" name="Picture 8" descr="s0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703" y="1888235"/>
            <a:ext cx="4733544" cy="729996"/>
          </a:xfrm>
          <a:prstGeom prst="rect">
            <a:avLst/>
          </a:prstGeom>
        </p:spPr>
      </p:pic>
      <p:pic>
        <p:nvPicPr>
          <p:cNvPr id="10" name="Picture 9" descr="s0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360" y="2834639"/>
            <a:ext cx="5666232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example of risk and decision rules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557784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 rule is the one with the smallest risk among the 2^3 decision rules.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Imperfection of decisions keeps that risk above zero.</a:t>
            </a:r>
            <a:endParaRPr lang="en-US" sz="1650" dirty="0"/>
          </a:p>
        </p:txBody>
      </p:sp>
      <p:pic>
        <p:nvPicPr>
          <p:cNvPr id="8" name="Picture 7" descr="fig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444752"/>
            <a:ext cx="105613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Bayes’ theorem turns the likelihood and the prior into the posterior.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represent the joint probability</a:t>
            </a:r>
            <a:endParaRPr lang="en-US" sz="3000" dirty="0"/>
          </a:p>
        </p:txBody>
      </p:sp>
      <p:pic>
        <p:nvPicPr>
          <p:cNvPr id="6" name="Image 0" descr="/home/claude/bdt/figs/f02_bayes_sl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371600"/>
            <a:ext cx="8805672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663440"/>
            <a:ext cx="10911535" cy="1024128"/>
          </a:xfrm>
          <a:prstGeom prst="roundRect">
            <a:avLst>
              <a:gd name="adj" fmla="val 10784"/>
            </a:avLst>
          </a:prstGeom>
          <a:solidFill>
            <a:srgbClr val="FBF1EC"/>
          </a:solidFill>
          <a:ln w="16510">
            <a:solidFill>
              <a:srgbClr val="F0D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1097280" y="5760720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denominator P(x) just normalises it, It does not affect which y is probable.</a:t>
            </a:r>
            <a:endParaRPr lang="en-US" sz="1650" dirty="0"/>
          </a:p>
        </p:txBody>
      </p:sp>
      <p:pic>
        <p:nvPicPr>
          <p:cNvPr id="10" name="Picture 9" descr="s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233" y="4770119"/>
            <a:ext cx="3872484" cy="8107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FFC37C-66F9-7694-7282-A477C387B91F}"/>
              </a:ext>
            </a:extLst>
          </p:cNvPr>
          <p:cNvSpPr txBox="1"/>
          <p:nvPr/>
        </p:nvSpPr>
        <p:spPr>
          <a:xfrm>
            <a:off x="914400" y="49364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Bayes’ theorem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Likelihood, prior, posterior</a:t>
            </a:r>
            <a:endParaRPr lang="en-US" sz="3000" dirty="0"/>
          </a:p>
        </p:txBody>
      </p:sp>
      <p:pic>
        <p:nvPicPr>
          <p:cNvPr id="6" name="Image 0" descr="/home/claude/bdt/figs/f04_prior_lik_p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444752"/>
            <a:ext cx="9674352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175504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| y) is what this observation says about y.</a:t>
            </a:r>
            <a:endParaRPr lang="en-US" sz="1700" dirty="0"/>
          </a:p>
          <a:p>
            <a:pPr marL="254000" indent="-2540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P(y) is what you knew independently of the observation.</a:t>
            </a:r>
            <a:endParaRPr lang="en-US" sz="1700" dirty="0"/>
          </a:p>
          <a:p>
            <a:pPr marL="254000" indent="-2540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 | x) is your belief after combining the two.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inverse problems need prior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10911535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172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vision, P(I|W) is the probability of generating an image I from a world state W.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172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process is what you can specify by computer graphics: geometry, lighting, projection and noise.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1720"/>
              </a:spcAft>
              <a:buSzPct val="100000"/>
              <a:buFontTx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 P(W|I) is </a:t>
            </a:r>
            <a:r>
              <a:rPr lang="en-US" dirty="0"/>
              <a:t>posterior distribution of the world state but ill-posed.</a:t>
            </a:r>
          </a:p>
          <a:p>
            <a:pPr marL="254000" indent="-254000">
              <a:lnSpc>
                <a:spcPct val="106000"/>
              </a:lnSpc>
              <a:spcAft>
                <a:spcPts val="1720"/>
              </a:spcAft>
              <a:buSzPct val="100000"/>
              <a:buChar char="•"/>
            </a:pP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611879"/>
            <a:ext cx="5717177" cy="2157549"/>
          </a:xfrm>
          <a:prstGeom prst="roundRect">
            <a:avLst>
              <a:gd name="adj" fmla="val 4681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32688" y="3794760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prior is needed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32689" y="4187952"/>
            <a:ext cx="5272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 P(W) supplies what the image alone leaves undetermined, making the inverse problem well posed.</a:t>
            </a:r>
            <a:endParaRPr lang="en-US" sz="1600" dirty="0"/>
          </a:p>
        </p:txBody>
      </p:sp>
      <p:pic>
        <p:nvPicPr>
          <p:cNvPr id="11" name="Picture 10" descr="A diagram of different types of objects&#10;&#10;AI-generated content may be incorrect.">
            <a:extLst>
              <a:ext uri="{FF2B5EF4-FFF2-40B4-BE49-F238E27FC236}">
                <a16:creationId xmlns:a16="http://schemas.microsoft.com/office/drawing/2014/main" id="{499176AA-76E0-B7A6-8466-CD94EF573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505" y="3179353"/>
            <a:ext cx="3771900" cy="3022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Bayes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From the posterior to a decision: MAP, ML, and the ratio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 rule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depends only on the posterior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11535" cy="1783080"/>
          </a:xfrm>
          <a:prstGeom prst="roundRect">
            <a:avLst>
              <a:gd name="adj" fmla="val 5641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0080" y="3721608"/>
            <a:ext cx="1091153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1767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sum minimises separately for each x, so the decision only depends on x.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1767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Specifically, it only depends on the posterior distribution P(</a:t>
            </a:r>
            <a:r>
              <a:rPr lang="en-US" sz="1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y|x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254000" indent="-254000">
              <a:lnSpc>
                <a:spcPct val="106000"/>
              </a:lnSpc>
              <a:spcAft>
                <a:spcPts val="1767"/>
              </a:spcAft>
              <a:buSzPct val="100000"/>
              <a:buChar char="•"/>
            </a:pPr>
            <a:r>
              <a:rPr lang="en-US" dirty="0"/>
              <a:t>Many researchers usually learn P(</a:t>
            </a:r>
            <a:r>
              <a:rPr lang="en-US" dirty="0" err="1"/>
              <a:t>y|x</a:t>
            </a:r>
            <a:r>
              <a:rPr lang="en-US" dirty="0"/>
              <a:t>) directly and skip the prior P(y) and likelihood P(</a:t>
            </a:r>
            <a:r>
              <a:rPr lang="en-US" dirty="0" err="1"/>
              <a:t>x|y</a:t>
            </a:r>
            <a:r>
              <a:rPr lang="en-US" dirty="0"/>
              <a:t>).</a:t>
            </a:r>
            <a:endParaRPr lang="en-US" sz="1900" dirty="0"/>
          </a:p>
        </p:txBody>
      </p:sp>
      <p:pic>
        <p:nvPicPr>
          <p:cNvPr id="11" name="Picture 10" descr="s1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757" y="1707642"/>
            <a:ext cx="6155436" cy="704088"/>
          </a:xfrm>
          <a:prstGeom prst="rect">
            <a:avLst/>
          </a:prstGeom>
        </p:spPr>
      </p:pic>
      <p:pic>
        <p:nvPicPr>
          <p:cNvPr id="12" name="Picture 11" descr="s1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713" y="2594610"/>
            <a:ext cx="5335524" cy="5897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 rule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special cases: MAP and ML</a:t>
            </a:r>
            <a:endParaRPr lang="en-US" sz="3000" dirty="0"/>
          </a:p>
        </p:txBody>
      </p:sp>
      <p:pic>
        <p:nvPicPr>
          <p:cNvPr id="6" name="Image 0" descr="/home/claude/bdt/figs/f06_map_vs_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481328"/>
            <a:ext cx="9116568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709160"/>
            <a:ext cx="10911535" cy="1417320"/>
          </a:xfrm>
          <a:prstGeom prst="roundRect">
            <a:avLst>
              <a:gd name="adj" fmla="val 7097"/>
            </a:avLst>
          </a:prstGeom>
          <a:solidFill>
            <a:srgbClr val="FBF1EC"/>
          </a:solidFill>
          <a:ln w="16510">
            <a:solidFill>
              <a:srgbClr val="F0D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Picture 7" descr="v3_s1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4644" y="4945380"/>
            <a:ext cx="7979664" cy="353568"/>
          </a:xfrm>
          <a:prstGeom prst="rect">
            <a:avLst/>
          </a:prstGeom>
        </p:spPr>
      </p:pic>
      <p:pic>
        <p:nvPicPr>
          <p:cNvPr id="9" name="Picture 8" descr="v3_s13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914" y="5536692"/>
            <a:ext cx="9755124" cy="3535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decisions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i="1" dirty="0">
                <a:solidFill>
                  <a:srgbClr val="A9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two classes the rule reduces to one likelihood ratio compared against one threshold T.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 rule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Targets, distractors, and four types of outcomes</a:t>
            </a:r>
            <a:endParaRPr lang="en-US" sz="3000" dirty="0"/>
          </a:p>
        </p:txBody>
      </p:sp>
      <p:pic>
        <p:nvPicPr>
          <p:cNvPr id="6" name="Image 0" descr="/home/claude/bdt/figs/f07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3721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874520"/>
            <a:ext cx="4434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convention:</a:t>
            </a:r>
          </a:p>
          <a:p>
            <a:pPr marL="711200" lvl="1" indent="-254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+1 is the </a:t>
            </a: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</a:p>
          <a:p>
            <a:pPr marL="711200" lvl="1" indent="-254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−1 the </a:t>
            </a: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</a:t>
            </a:r>
            <a:endParaRPr lang="en-US" b="1" dirty="0"/>
          </a:p>
          <a:p>
            <a:pPr marL="254000" indent="-254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errors:</a:t>
            </a:r>
          </a:p>
          <a:p>
            <a:pPr marL="711200" lvl="1" indent="-254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positive: you say target, the truth is distractor.</a:t>
            </a:r>
            <a:endParaRPr lang="en-US" dirty="0"/>
          </a:p>
          <a:p>
            <a:pPr marL="711200" lvl="1" indent="-254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negative: you say distractor, the truth is target.</a:t>
            </a:r>
            <a:endParaRPr lang="en-US" dirty="0"/>
          </a:p>
          <a:p>
            <a:pPr marL="254000" indent="-254000">
              <a:lnSpc>
                <a:spcPct val="106000"/>
              </a:lnSpc>
              <a:spcAft>
                <a:spcPts val="3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one of the two error rates raises the other.</a:t>
            </a:r>
            <a:endParaRPr lang="en-US" sz="18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091615F-14F6-C9F3-8C39-9274A849230D}"/>
              </a:ext>
            </a:extLst>
          </p:cNvPr>
          <p:cNvSpPr/>
          <p:nvPr/>
        </p:nvSpPr>
        <p:spPr>
          <a:xfrm>
            <a:off x="5684215" y="5290458"/>
            <a:ext cx="5882945" cy="827314"/>
          </a:xfrm>
          <a:prstGeom prst="roundRect">
            <a:avLst>
              <a:gd name="adj" fmla="val 4681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F6E89-BB7E-2E96-7A26-C367126C4553}"/>
              </a:ext>
            </a:extLst>
          </p:cNvPr>
          <p:cNvSpPr txBox="1"/>
          <p:nvPr/>
        </p:nvSpPr>
        <p:spPr>
          <a:xfrm>
            <a:off x="5684215" y="55206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outcome depends on the likelihood and the loss function.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 rule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why a positive test rarely means disease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sensitivity, 95% specificity, and a disease 1 person in 100 has.</a:t>
            </a:r>
            <a:endParaRPr lang="en-US" sz="1700" dirty="0"/>
          </a:p>
        </p:txBody>
      </p:sp>
      <p:pic>
        <p:nvPicPr>
          <p:cNvPr id="7" name="Image 0" descr="/home/claude/bdt/figs/f03_freq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19072"/>
            <a:ext cx="10177272" cy="3703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5559552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disease is rare, most positive tests come from the healthy group.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 rule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Bayes rule is a log-likelihood ratio test</a:t>
            </a:r>
            <a:endParaRPr lang="en-US" sz="3000" dirty="0"/>
          </a:p>
        </p:txBody>
      </p:sp>
      <p:pic>
        <p:nvPicPr>
          <p:cNvPr id="6" name="Image 0" descr="/home/claude/bdt/figs/f08_overlap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1417320"/>
            <a:ext cx="822960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590288"/>
            <a:ext cx="10911535" cy="1005840"/>
          </a:xfrm>
          <a:prstGeom prst="roundRect">
            <a:avLst>
              <a:gd name="adj" fmla="val 10784"/>
            </a:avLst>
          </a:prstGeom>
          <a:solidFill>
            <a:srgbClr val="FBF1EC"/>
          </a:solidFill>
          <a:ln w="16510">
            <a:solidFill>
              <a:srgbClr val="F0D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1097280" y="5705856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scalar T is a function of Loss and prior.</a:t>
            </a:r>
            <a:endParaRPr lang="en-US" sz="1650" dirty="0"/>
          </a:p>
        </p:txBody>
      </p:sp>
      <p:pic>
        <p:nvPicPr>
          <p:cNvPr id="10" name="Picture 9" descr="v3_s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4472" y="4687823"/>
            <a:ext cx="6160008" cy="8107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 rule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threshold comes from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11535" cy="1481328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502152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6510">
            <a:solidFill>
              <a:srgbClr val="E2E5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96112" y="3218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63931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observation says.</a:t>
            </a:r>
            <a:endParaRPr lang="en-US" sz="16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the two likelihoods alone.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3017520"/>
            <a:ext cx="3502152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6510">
            <a:solidFill>
              <a:srgbClr val="E2E5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599432" y="3218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loss term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63931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worse a miss is than a false alarm.</a:t>
            </a:r>
            <a:endParaRPr lang="en-US" sz="16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lowers T when misses are costly.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502152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6510">
            <a:solidFill>
              <a:srgbClr val="E2E5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302752" y="3218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A5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prior term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363931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rare the target was before you looked.</a:t>
            </a:r>
            <a:endParaRPr lang="en-US" sz="16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raises T when targets are rare.</a:t>
            </a:r>
            <a:endParaRPr lang="en-US" sz="1600" dirty="0"/>
          </a:p>
        </p:txBody>
      </p:sp>
      <p:pic>
        <p:nvPicPr>
          <p:cNvPr id="17" name="Picture 16" descr="v3_s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2333" y="1689354"/>
            <a:ext cx="6844284" cy="10652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 rule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the threshold, and what it costs</a:t>
            </a:r>
            <a:endParaRPr lang="en-US" sz="3000" dirty="0"/>
          </a:p>
        </p:txBody>
      </p:sp>
      <p:pic>
        <p:nvPicPr>
          <p:cNvPr id="6" name="Image 0" descr="/home/claude/bdt/figs/f09_threshold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444752"/>
            <a:ext cx="10058400" cy="3108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480060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 trades one shaded area for the other.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Signal detection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What the ratio test becomes when the likelihoods are Gaussian.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theory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likelihoods give a quadratic decision rule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10911535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205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book </a:t>
            </a: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theory and psychophysics 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(Green &amp; Swets, 1966)</a:t>
            </a:r>
            <a:r>
              <a:rPr lang="zh-CN" alt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the observer as a Bayesian decision maker.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205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likelihoods are assumed Gaussian, differing in their means and in their variances.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205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Substituting the two Gaussians into the </a:t>
            </a: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 ratio 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quadratic polynomial in x.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943350"/>
            <a:ext cx="10911535" cy="1664208"/>
          </a:xfrm>
          <a:prstGeom prst="roundRect">
            <a:avLst>
              <a:gd name="adj" fmla="val 9167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Picture 11" descr="s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4029456"/>
            <a:ext cx="7178040" cy="14919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theory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Unequal variances give two thresholds</a:t>
            </a:r>
            <a:endParaRPr lang="en-US" sz="3000" dirty="0"/>
          </a:p>
        </p:txBody>
      </p:sp>
      <p:pic>
        <p:nvPicPr>
          <p:cNvPr id="6" name="Image 0" descr="/home/claude/bdt/figs/f10_quadr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517904"/>
            <a:ext cx="9509760" cy="3566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5806440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extreme observation is evidence for the class with the larger variance.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theory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variances: everything reduces to d′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4096512"/>
            <a:ext cx="10911535" cy="2139696"/>
          </a:xfrm>
          <a:prstGeom prst="roundRect">
            <a:avLst>
              <a:gd name="adj" fmla="val 10000"/>
            </a:avLst>
          </a:prstGeom>
          <a:solidFill>
            <a:srgbClr val="FBF1EC"/>
          </a:solidFill>
          <a:ln w="16510">
            <a:solidFill>
              <a:srgbClr val="F0DCC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Picture 7" descr="s24_equal_v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928" y="1280160"/>
            <a:ext cx="8778240" cy="2697480"/>
          </a:xfrm>
          <a:prstGeom prst="rect">
            <a:avLst/>
          </a:prstGeom>
        </p:spPr>
      </p:pic>
      <p:pic>
        <p:nvPicPr>
          <p:cNvPr id="9" name="Picture 8" descr="v3_s22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7533" y="4111752"/>
            <a:ext cx="7453884" cy="629412"/>
          </a:xfrm>
          <a:prstGeom prst="rect">
            <a:avLst/>
          </a:prstGeom>
        </p:spPr>
      </p:pic>
      <p:pic>
        <p:nvPicPr>
          <p:cNvPr id="10" name="Picture 9" descr="v3_s2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9211" y="4869180"/>
            <a:ext cx="6510528" cy="685800"/>
          </a:xfrm>
          <a:prstGeom prst="rect">
            <a:avLst/>
          </a:prstGeom>
        </p:spPr>
      </p:pic>
      <p:pic>
        <p:nvPicPr>
          <p:cNvPr id="11" name="Picture 10" descr="v3_s2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2596" y="5682996"/>
            <a:ext cx="7223760" cy="5379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theory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Sweeping the threshold traces the ROC curve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4626864"/>
            <a:ext cx="10911535" cy="1298448"/>
          </a:xfrm>
          <a:prstGeom prst="roundRect">
            <a:avLst>
              <a:gd name="adj" fmla="val 11000"/>
            </a:avLst>
          </a:prstGeom>
          <a:solidFill>
            <a:srgbClr val="FBF1EC"/>
          </a:solidFill>
          <a:ln w="16510">
            <a:solidFill>
              <a:srgbClr val="F0D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1051560" y="4773168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each threshold T keeps a different fraction of each density.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that pair of fractions is one point, and sweeping T traces the curve.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d′ fixes which curve you are on, and T picks the point on it.</a:t>
            </a:r>
            <a:endParaRPr lang="en-US" sz="1650" dirty="0"/>
          </a:p>
        </p:txBody>
      </p:sp>
      <p:pic>
        <p:nvPicPr>
          <p:cNvPr id="10" name="Picture 9" descr="s25_r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1280160"/>
            <a:ext cx="10058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theory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theory came from</a:t>
            </a:r>
            <a:endParaRPr lang="en-US" sz="3000" dirty="0"/>
          </a:p>
        </p:txBody>
      </p:sp>
      <p:pic>
        <p:nvPicPr>
          <p:cNvPr id="6" name="Image 0" descr="/home/claude/bdt/figs/f21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74519"/>
            <a:ext cx="10881360" cy="269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5440680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Wartime code-breaking and radar; then psychophysics; then machine learning.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the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Estimate the distributions, or the decision rule, from N samples.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distributions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hand-designed distributions to learned ones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10911535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223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now P(x | y) and P(y) were assumed known.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223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 functional form P(x | γ) and estimate γ from a set D of N observed samples.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223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too that the data are independent and identically distributed</a:t>
            </a:r>
            <a:r>
              <a:rPr lang="zh-CN" alt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altLang="zh-CN" sz="1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i.i.d.</a:t>
            </a:r>
            <a:r>
              <a:rPr lang="en-US" altLang="zh-CN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911535" cy="1097280"/>
          </a:xfrm>
          <a:prstGeom prst="roundRect">
            <a:avLst>
              <a:gd name="adj" fmla="val 9565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10911535" cy="1188720"/>
          </a:xfrm>
          <a:prstGeom prst="roundRect">
            <a:avLst>
              <a:gd name="adj" fmla="val 8462"/>
            </a:avLst>
          </a:prstGeom>
          <a:solidFill>
            <a:srgbClr val="FBF1EC"/>
          </a:solidFill>
          <a:ln w="16510">
            <a:solidFill>
              <a:srgbClr val="F0D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32688" y="4846320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maximising the likelihood does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5266944"/>
            <a:ext cx="10326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 | γ) is the probability of the whole data set under a particular γ.</a:t>
            </a:r>
            <a:endParaRPr lang="en-US" sz="17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γ means picking the value that makes the observed data most probable.</a:t>
            </a:r>
            <a:endParaRPr lang="en-US" sz="1700" dirty="0"/>
          </a:p>
        </p:txBody>
      </p:sp>
      <p:pic>
        <p:nvPicPr>
          <p:cNvPr id="12" name="Picture 11" descr="s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722" y="3515868"/>
            <a:ext cx="3683508" cy="9235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distributions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likelihood, and what a prior adds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11535" cy="1737360"/>
          </a:xfrm>
          <a:prstGeom prst="roundRect">
            <a:avLst>
              <a:gd name="adj" fmla="val 5946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10911535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187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Bayes decision theory with a uniform prior over γ and all errors penalised equally.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187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prior term against N data terms, so the prior’s influence shrinks like 1/N.</a:t>
            </a:r>
            <a:r>
              <a:rPr lang="en-US" dirty="0"/>
              <a:t> </a:t>
            </a:r>
          </a:p>
          <a:p>
            <a:pPr marL="254000" indent="-254000">
              <a:lnSpc>
                <a:spcPct val="106000"/>
              </a:lnSpc>
              <a:spcAft>
                <a:spcPts val="1875"/>
              </a:spcAft>
              <a:buSzPct val="100000"/>
              <a:buChar char="•"/>
            </a:pPr>
            <a:r>
              <a:rPr lang="en-US" dirty="0"/>
              <a:t>You can learn by only a few example with a sophisticated prior (cognitive science theory for small N).</a:t>
            </a:r>
            <a:endParaRPr lang="en-US" sz="1900" dirty="0"/>
          </a:p>
        </p:txBody>
      </p:sp>
      <p:pic>
        <p:nvPicPr>
          <p:cNvPr id="9" name="Picture 8" descr="s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884" y="1709166"/>
            <a:ext cx="7187184" cy="14279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distributions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accumulates and the prior’s influence falls</a:t>
            </a:r>
            <a:endParaRPr lang="en-US" sz="3000" dirty="0"/>
          </a:p>
        </p:txBody>
      </p:sp>
      <p:pic>
        <p:nvPicPr>
          <p:cNvPr id="6" name="Image 0" descr="/home/claude/bdt/figs/f05_sequen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536192"/>
            <a:ext cx="7315200" cy="39776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783080"/>
            <a:ext cx="2862072" cy="3520440"/>
          </a:xfrm>
          <a:prstGeom prst="roundRect">
            <a:avLst>
              <a:gd name="adj" fmla="val 3514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8979408" y="1965960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priors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2386584"/>
            <a:ext cx="2276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or three observations the posterior is broad, and the prior still shifts where it sits.</a:t>
            </a:r>
            <a:endParaRPr lang="en-US" sz="1600" dirty="0"/>
          </a:p>
          <a:p>
            <a:pPr marL="0" indent="0">
              <a:lnSpc>
                <a:spcPct val="114000"/>
              </a:lnSpc>
              <a:buNone/>
            </a:pPr>
            <a:endParaRPr lang="en-US" sz="16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forty observations the data has decided, and the choice of prior no longer matters.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5669280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Statisticians resisted Bayesian methods because the prior is a choice; I. J. Good and Turing used them anyway.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distributions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prior matters only when data is scarce</a:t>
            </a:r>
            <a:endParaRPr lang="en-US" sz="3000" dirty="0"/>
          </a:p>
        </p:txBody>
      </p:sp>
      <p:pic>
        <p:nvPicPr>
          <p:cNvPr id="6" name="Image 0" descr="/home/claude/bdt/figs/f14_prior_vs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645920"/>
            <a:ext cx="8897112" cy="39776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5806440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prior makes you learn with less data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6A5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empirical risk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i="1" dirty="0">
                <a:solidFill>
                  <a:srgbClr val="A9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distributions and estimate the decision rule α directly from N labelled examples.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distributions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decision rule directly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11535" cy="1143000"/>
          </a:xfrm>
          <a:prstGeom prst="roundRect">
            <a:avLst>
              <a:gd name="adj" fmla="val 8800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home/claude/bdt/figs/f15_emp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761488"/>
            <a:ext cx="6537960" cy="31089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2971800"/>
            <a:ext cx="39136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Advocates argue that data is precious and should not be spent estimating distributions when only a rule is wanted.</a:t>
            </a:r>
            <a:endParaRPr lang="en-US" sz="1650" dirty="0"/>
          </a:p>
          <a:p>
            <a:pPr marL="254000" indent="-254000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joint P(x, y) is unknown, so the sample average of the loss replaces the expectation over it.</a:t>
            </a:r>
            <a:endParaRPr lang="en-US" sz="1650" dirty="0"/>
          </a:p>
          <a:p>
            <a:pPr marL="254000" indent="-254000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average converges to the true risk when the samples are i.i.d.</a:t>
            </a:r>
            <a:endParaRPr lang="en-US" sz="1650" dirty="0"/>
          </a:p>
        </p:txBody>
      </p:sp>
      <p:pic>
        <p:nvPicPr>
          <p:cNvPr id="10" name="Picture 9" descr="s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038" y="1714500"/>
            <a:ext cx="7008876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distributions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</a:t>
            </a:r>
            <a:endParaRPr lang="en-US" sz="3000" dirty="0"/>
          </a:p>
        </p:txBody>
      </p:sp>
      <p:pic>
        <p:nvPicPr>
          <p:cNvPr id="6" name="Image 0" descr="/home/claude/bdt/figs/f16_s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72768"/>
            <a:ext cx="5303520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783080"/>
            <a:ext cx="5440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396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is that estimating probabilities is wasteful: go straight for the boundary.</a:t>
            </a:r>
            <a:endParaRPr lang="en-US" sz="1800" dirty="0"/>
          </a:p>
          <a:p>
            <a:pPr marL="254000" indent="-254000">
              <a:lnSpc>
                <a:spcPct val="106000"/>
              </a:lnSpc>
              <a:spcAft>
                <a:spcPts val="396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fixed by a handful of points, the support vectors.</a:t>
            </a:r>
            <a:endParaRPr lang="en-US" sz="1800" dirty="0"/>
          </a:p>
          <a:p>
            <a:pPr marL="254000" indent="-254000">
              <a:lnSpc>
                <a:spcPct val="106000"/>
              </a:lnSpc>
              <a:spcAft>
                <a:spcPts val="396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far from the margin could be deleted without changing the answer.</a:t>
            </a:r>
            <a:endParaRPr lang="en-US" sz="1800" dirty="0"/>
          </a:p>
          <a:p>
            <a:pPr marL="254000" indent="-254000">
              <a:lnSpc>
                <a:spcPct val="106000"/>
              </a:lnSpc>
              <a:spcAft>
                <a:spcPts val="396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an efficient classifier that carries no model of how the data were generated.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distributions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 theory: capacity and generalization</a:t>
            </a:r>
            <a:endParaRPr lang="en-US" sz="3000" dirty="0"/>
          </a:p>
        </p:txBody>
      </p:sp>
      <p:pic>
        <p:nvPicPr>
          <p:cNvPr id="6" name="Image 0" descr="/home/claude/bdt/figs/f17_capa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5486400" cy="3200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92384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342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gives an upper bound on the data needed for the estimated rule to be close to the best rule in the class.</a:t>
            </a:r>
            <a:endParaRPr lang="en-US" sz="1800" dirty="0"/>
          </a:p>
          <a:p>
            <a:pPr marL="254000" indent="-254000">
              <a:lnSpc>
                <a:spcPct val="106000"/>
              </a:lnSpc>
              <a:spcAft>
                <a:spcPts val="342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more data than the capacity of the rule class, and regularization reduces that capacity.</a:t>
            </a:r>
            <a:endParaRPr lang="en-US" sz="1800" dirty="0"/>
          </a:p>
          <a:p>
            <a:pPr marL="254000" indent="-254000">
              <a:lnSpc>
                <a:spcPct val="106000"/>
              </a:lnSpc>
              <a:spcAft>
                <a:spcPts val="342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bounds are loose, and capacity is hard to measure except for simple rules.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distributions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the posterior directly is what CNNs 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11535" cy="1188720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0911535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1473"/>
              </a:spcAft>
              <a:buSzPct val="100000"/>
              <a:buChar char="•"/>
            </a:pPr>
            <a:r>
              <a:rPr lang="en-US" sz="1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is a parameterised family of distributions P(y | x ; θ).</a:t>
            </a:r>
            <a:endParaRPr lang="en-US" sz="1850" dirty="0"/>
          </a:p>
          <a:p>
            <a:pPr marL="254000" indent="-254000">
              <a:lnSpc>
                <a:spcPct val="106000"/>
              </a:lnSpc>
              <a:spcAft>
                <a:spcPts val="1473"/>
              </a:spcAft>
              <a:buSzPct val="100000"/>
              <a:buChar char="•"/>
            </a:pPr>
            <a:r>
              <a:rPr lang="en-US" sz="1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prior on θ and equal costs, Bayes decision theory recommends maximum likelihood, which is the cross-entropy loss.</a:t>
            </a:r>
            <a:endParaRPr lang="en-US" sz="1850" dirty="0"/>
          </a:p>
          <a:p>
            <a:pPr marL="254000" indent="-254000">
              <a:lnSpc>
                <a:spcPct val="106000"/>
              </a:lnSpc>
              <a:spcAft>
                <a:spcPts val="1473"/>
              </a:spcAft>
              <a:buSzPct val="100000"/>
              <a:buChar char="•"/>
            </a:pPr>
            <a:r>
              <a:rPr lang="en-US" sz="1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losses appear where they should: edge detection penalises a missed edge more.</a:t>
            </a:r>
            <a:endParaRPr lang="en-US" sz="1850" dirty="0"/>
          </a:p>
          <a:p>
            <a:pPr marL="254000" indent="-254000">
              <a:lnSpc>
                <a:spcPct val="106000"/>
              </a:lnSpc>
              <a:spcAft>
                <a:spcPts val="1473"/>
              </a:spcAft>
              <a:buSzPct val="100000"/>
              <a:buChar char="•"/>
            </a:pPr>
            <a:r>
              <a:rPr lang="en-US" sz="1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Over-parameterised networks can fit random labels and still generalize, which PAC capacity bounds do not explain.</a:t>
            </a:r>
            <a:endParaRPr lang="en-US" sz="18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76072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Bengio, Hardt, Recht &amp; Vinyals, Understanding Deep Learning Requires Rethinking Generalization, ICLR 2017.</a:t>
            </a:r>
            <a:endParaRPr lang="en-US" sz="1650" dirty="0"/>
          </a:p>
        </p:txBody>
      </p:sp>
      <p:pic>
        <p:nvPicPr>
          <p:cNvPr id="9" name="Picture 8" descr="s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34" y="1841754"/>
            <a:ext cx="8520684" cy="6141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limits of BDT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Every guarantee so far assumed an average over one fixed P(x, y).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BDT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BDT measures performance by the average case</a:t>
            </a:r>
            <a:endParaRPr lang="en-US" sz="3000" dirty="0"/>
          </a:p>
        </p:txBody>
      </p:sp>
      <p:pic>
        <p:nvPicPr>
          <p:cNvPr id="6" name="Image 0" descr="/home/claude/bdt/figs/f19_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28" y="1627632"/>
            <a:ext cx="8778240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5532120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55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can be optimal on average and still fail on every case that matters.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BDT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bias, and domain shift</a:t>
            </a:r>
            <a:endParaRPr lang="en-US" sz="3000" dirty="0"/>
          </a:p>
        </p:txBody>
      </p:sp>
      <p:pic>
        <p:nvPicPr>
          <p:cNvPr id="6" name="Image 0" descr="/home/claude/bdt/figs/f18_domain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44752"/>
            <a:ext cx="1051560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736592"/>
            <a:ext cx="10911535" cy="1170432"/>
          </a:xfrm>
          <a:prstGeom prst="roundRect">
            <a:avLst>
              <a:gd name="adj" fmla="val 8594"/>
            </a:avLst>
          </a:prstGeom>
          <a:solidFill>
            <a:srgbClr val="FBF1EC"/>
          </a:solidFill>
          <a:ln w="16510">
            <a:solidFill>
              <a:srgbClr val="F0D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932688" y="4843270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failure comes from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5263894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is optimal for the dataset’s P(x, y), and that distribution differs from the world’s.</a:t>
            </a:r>
            <a:endParaRPr lang="en-US" sz="17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crowds in New York, deploy in Beijing, the algorithm would perform badly.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BDT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for failure modes instead of averages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2148840"/>
          </a:xfrm>
          <a:prstGeom prst="roundRect">
            <a:avLst>
              <a:gd name="adj" fmla="val 4681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32688" y="184708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Average-case evaluation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377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 test set from the same distribution.</a:t>
            </a:r>
            <a:endParaRPr lang="en-US" sz="16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measures what usually happens.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6208" y="1600200"/>
            <a:ext cx="5349240" cy="2148840"/>
          </a:xfrm>
          <a:prstGeom prst="roundRect">
            <a:avLst>
              <a:gd name="adj" fmla="val 4681"/>
            </a:avLst>
          </a:prstGeom>
          <a:solidFill>
            <a:srgbClr val="FBF1EC"/>
          </a:solidFill>
          <a:ln w="16510">
            <a:solidFill>
              <a:srgbClr val="F0D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528816" y="184708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examination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528816" y="2377440"/>
            <a:ext cx="49120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stimulus space for inputs that make the rule fail.</a:t>
            </a:r>
            <a:endParaRPr lang="en-US" sz="16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measures what can happen.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23360"/>
            <a:ext cx="10911535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6000"/>
              </a:lnSpc>
              <a:spcAft>
                <a:spcPts val="367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examples: perturbations too small to see that flip the decision entirely.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367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vanishingly improbable, they cost almost nothing in risk.</a:t>
            </a:r>
            <a:endParaRPr lang="en-US" sz="1900" dirty="0"/>
          </a:p>
          <a:p>
            <a:pPr marL="254000" indent="-254000">
              <a:lnSpc>
                <a:spcPct val="106000"/>
              </a:lnSpc>
              <a:spcAft>
                <a:spcPts val="3675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Average-case optimality and worst-case fragility are perfectly compatible.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Decision Theory  ·  A. Yuille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20" dirty="0">
                <a:solidFill>
                  <a:srgbClr val="7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BDT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035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BDT sufficient?</a:t>
            </a:r>
            <a:endParaRPr lang="en-US" sz="3000" dirty="0"/>
          </a:p>
        </p:txBody>
      </p:sp>
      <p:pic>
        <p:nvPicPr>
          <p:cNvPr id="6" name="Image 0" descr="/home/claude/bdt/figs/f20_gen_vs_d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536192"/>
            <a:ext cx="100584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956048"/>
            <a:ext cx="10911535" cy="1133856"/>
          </a:xfrm>
          <a:prstGeom prst="roundRect">
            <a:avLst>
              <a:gd name="adj" fmla="val 9483"/>
            </a:avLst>
          </a:prstGeom>
          <a:solidFill>
            <a:srgbClr val="F2F4F9"/>
          </a:solidFill>
          <a:ln w="16510">
            <a:solidFill>
              <a:srgbClr val="DD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1051560" y="5102352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7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dataset could represent every possible image, estimating P(y | x) would be enough.</a:t>
            </a:r>
            <a:endParaRPr lang="en-US" sz="17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7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open world, we will need P(x | y) and P(y).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 Decision Theory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limits of BDT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809" cy="4016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Bayes decision theory has three ingredients: a joint distribution P(x, y), a set of decision rules, and a loss function.</a:t>
            </a:r>
            <a:endParaRPr lang="en-US"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endParaRPr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Bayes rule minimises the expected loss. It depends on the observation only through the posterior, which is what licenses learning the posterior directly.</a:t>
            </a:r>
            <a:endParaRPr lang="en-US"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endParaRPr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MAP and ML are the two special cases: equal costs, and equal costs with a uniform prior.</a:t>
            </a:r>
            <a:endParaRPr lang="en-US"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endParaRPr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two classes the rule is a log-likelihood ratio test. The threshold T carries the prior and the loss, and moving it trades one kind of error for the other.</a:t>
            </a:r>
            <a:endParaRPr lang="en-US"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endParaRPr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is Bayes decision theory again: maximum likelihood, the empirical risk and the cross-entropy loss all follow from it.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endParaRPr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guarantees are about the average over one fixed distribution. Dataset bias, domain shift and adversarial cases live outside that average.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2891</Words>
  <Application>Microsoft Macintosh PowerPoint</Application>
  <PresentationFormat>Widescreen</PresentationFormat>
  <Paragraphs>347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 Decision Theory</dc:title>
  <dc:subject>PptxGenJS Presentation</dc:subject>
  <dc:creator>Alan Yuille</dc:creator>
  <cp:lastModifiedBy>Jeremy Chen</cp:lastModifiedBy>
  <cp:revision>3</cp:revision>
  <dcterms:created xsi:type="dcterms:W3CDTF">2026-09-03T17:54:46Z</dcterms:created>
  <dcterms:modified xsi:type="dcterms:W3CDTF">2026-09-10T20:33:41Z</dcterms:modified>
</cp:coreProperties>
</file>