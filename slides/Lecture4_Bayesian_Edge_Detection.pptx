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71B594-FA1C-E042-B27C-1A343F115671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8F85EC-439B-0F4D-880A-A638ECB51A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6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$\mathrm{given\ } I : \quad \mathrm{decide\ } y(x) \in \{\, +1,\ -1 \,\} \ \ \mathrm{at\ every\ pixel\ } x \ \ \mathrm{from\ } f(I(x))$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$f(I(x)) \;=\; |\nabla I(x)| \;=\; \sqrt{\left(\frac{\partial I}{\partial x}\right)^{2} + \left(\frac{\partial I}{\partial y}\right)^{2}}$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$\mathrm{decide\ edge\ when} \quad \log \frac{P(f \mid y = +1)}{P(f \mid y = -1)} \;&gt;\; T$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$\alpha_T(x) \;=\; \arg\max_{y \in \{\pm 1\}}\; y \left\{ \log \frac{P(f_1,\dots,f_M \mid y = +1)}{P(f_1,\dots,f_M \mid y = -1)} \;-\; T \right\}$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$P(f_1,\dots,f_M \mid y) \;=\; \prod_{i=1}^{M} P(f_i \mid y)$</a:t>
            </a:r>
          </a:p>
          <a:p>
            <a:r>
              <a:t>$\log \frac{P(f_1,\dots,f_M \mid y = +1)}{P(f_1,\dots,f_M \mid y = -1)} \;=\; \sum_{i=1}^{M} \log \frac{P(f_i \mid y = +1)}{P(f_i \mid y = -1)}$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$P\left(\{f_i(I(x))\},\, f_0(I(x)) \mid y\right) \;=\; P\left(f_0(I(x)) \mid y\right)\, \prod_{i=1}^{M} P\left(f_i(I(x)) \mid f_0(I(x)),\, y\right)$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$\alpha(x) \;=\; \arg\max_{y \in \mathcal{Y}}\; P\left(\{f_i(I(x))\} \mid y\right)\; T_y$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554480" y="-2103120"/>
            <a:ext cx="6766560" cy="676656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778240" y="3931920"/>
            <a:ext cx="4754880" cy="4754880"/>
          </a:xfrm>
          <a:prstGeom prst="ellipse">
            <a:avLst/>
          </a:prstGeom>
          <a:solidFill>
            <a:srgbClr val="F2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62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Bayesian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487168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62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773347"/>
            <a:ext cx="10058400" cy="6463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 September, 2026</a:t>
            </a:r>
            <a:endParaRPr lang="en-US" sz="2100" b="0" i="0" dirty="0">
              <a:solidFill>
                <a:srgbClr val="7C7C8C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sz="2100" b="0" i="0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Alan Yuille   ·   Probabilistic Models of the Visual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this lecture covers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896112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176479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72768" y="1685505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en-US"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Edge detection p</a:t>
            </a: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20848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Label every pixel edge or non-edge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481328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92240" y="1764792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68896" y="1685505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observation</a:t>
            </a:r>
            <a:r>
              <a:rPr lang="en-US"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– Filte</a:t>
            </a:r>
            <a:r>
              <a:rPr lang="en-US" sz="2100" b="1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 response</a:t>
            </a:r>
            <a:endParaRPr sz="2100" b="1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68896" y="20848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From the image to one number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296265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72768" y="28620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Learning the distributions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328269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Two histograms from annotated 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6208" y="2679192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92240" y="2962656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2962656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86207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8896" y="328269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Likelihood ratio, prior, loss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Oval 25"/>
          <p:cNvSpPr/>
          <p:nvPr/>
        </p:nvSpPr>
        <p:spPr>
          <a:xfrm>
            <a:off x="896112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96112" y="41605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72768" y="4081233"/>
            <a:ext cx="4206240" cy="3231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Ambiguity and </a:t>
            </a:r>
            <a:r>
              <a:rPr lang="en-US" sz="21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multiple cues</a:t>
            </a:r>
            <a:endParaRPr sz="2100" b="1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572768" y="4480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Combining several filter responses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877056"/>
            <a:ext cx="5349240" cy="1097280"/>
          </a:xfrm>
          <a:prstGeom prst="roundRect">
            <a:avLst>
              <a:gd name="adj" fmla="val 60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6492240" y="4160520"/>
            <a:ext cx="512064" cy="51206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160520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21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68896" y="4059936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21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68896" y="448056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Many classes, and domain transfer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Recap: Bayes decision theory</a:t>
            </a:r>
          </a:p>
        </p:txBody>
      </p:sp>
      <p:pic>
        <p:nvPicPr>
          <p:cNvPr id="5" name="Picture 4" descr="f01_bdt_rec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333" y="1481328"/>
            <a:ext cx="9735302" cy="23957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4224528"/>
            <a:ext cx="10911809" cy="932688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4224528"/>
            <a:ext cx="1008884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new question is: what is the observation when the data is an image?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358384"/>
            <a:ext cx="10911809" cy="296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lang="en-US"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For an 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image, we discuss the two class-conditional distributions for edge and non-edge pixels.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Edge detection as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Label every pixel edge or non-edge:  y(x) ∈ {+1, −1}.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 decision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Definition of an edge</a:t>
            </a:r>
          </a:p>
        </p:txBody>
      </p:sp>
      <p:pic>
        <p:nvPicPr>
          <p:cNvPr id="6" name="Picture 5" descr="f02_what_is_an_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980" y="1417320"/>
            <a:ext cx="9472008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621104"/>
            <a:ext cx="9997409" cy="50783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5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Edges are object boundaries and significant texture changes. </a:t>
            </a:r>
            <a:endParaRPr lang="en-US" sz="1650" b="0" i="0" dirty="0">
              <a:solidFill>
                <a:srgbClr val="55555F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sz="165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Everything else, including strong internal texture, is background.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 decision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Large gradients are usually edges</a:t>
            </a:r>
          </a:p>
        </p:txBody>
      </p:sp>
      <p:pic>
        <p:nvPicPr>
          <p:cNvPr id="6" name="Picture 5" descr="f03_gradient_is_not_en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596" y="1371600"/>
            <a:ext cx="7710777" cy="3703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257800"/>
            <a:ext cx="10911809" cy="96012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257800"/>
            <a:ext cx="1008884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research question is: how to distinguish the edge from background in an image?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 decision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Formulation of the edge detection problem</a:t>
            </a:r>
          </a:p>
        </p:txBody>
      </p:sp>
      <p:pic>
        <p:nvPicPr>
          <p:cNvPr id="6" name="Picture 5" descr="f04_label_every_pix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7240" y="1371600"/>
            <a:ext cx="7717487" cy="223113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3767328"/>
            <a:ext cx="10911809" cy="100584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db81b028b70ad3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3856" y="4084320"/>
            <a:ext cx="8144256" cy="37185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992624"/>
            <a:ext cx="10911809" cy="60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One binary decision per pixel, which is the problem Bayes decision theory solves.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lang="en-US"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will elaborate on 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observation and the two class-conditional distributions.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496086"/>
            <a:ext cx="859536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en-US" sz="4400" b="1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Filter response as</a:t>
            </a: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A filter turns the image at pixel x into one number,  f(I(x)).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an image to a number</a:t>
            </a:r>
          </a:p>
        </p:txBody>
      </p:sp>
      <p:pic>
        <p:nvPicPr>
          <p:cNvPr id="6" name="Picture 5" descr="f05_measuremen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704" y="1389888"/>
            <a:ext cx="9746559" cy="274319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370832"/>
            <a:ext cx="10911809" cy="182880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553712"/>
            <a:ext cx="1032659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sz="19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Notation for the rest of the lecture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974336"/>
            <a:ext cx="10326593" cy="11155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endParaRPr/>
          </a:p>
        </p:txBody>
      </p:sp>
      <p:pic>
        <p:nvPicPr>
          <p:cNvPr id="10" name="Picture 9" descr="dbe9aea9000dc8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5023104"/>
            <a:ext cx="137160" cy="23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057400" y="4956048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pixel position</a:t>
            </a:r>
          </a:p>
        </p:txBody>
      </p:sp>
      <p:pic>
        <p:nvPicPr>
          <p:cNvPr id="12" name="Picture 11" descr="2134ca70a720d08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460" y="5418582"/>
            <a:ext cx="388620" cy="24536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57400" y="5358384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image intensity there</a:t>
            </a:r>
          </a:p>
        </p:txBody>
      </p:sp>
      <p:pic>
        <p:nvPicPr>
          <p:cNvPr id="14" name="Picture 13" descr="cca64da0463d2b8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1664" y="5820918"/>
            <a:ext cx="661416" cy="245363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57400" y="5760720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filter response, written f for short</a:t>
            </a:r>
          </a:p>
        </p:txBody>
      </p:sp>
      <p:pic>
        <p:nvPicPr>
          <p:cNvPr id="16" name="Picture 15" descr="6cf32ca96656b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5016246"/>
            <a:ext cx="923544" cy="24536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360" y="4956048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edge</a:t>
            </a:r>
          </a:p>
        </p:txBody>
      </p:sp>
      <p:pic>
        <p:nvPicPr>
          <p:cNvPr id="18" name="Picture 17" descr="96fac445db7e5ec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4496" y="5418582"/>
            <a:ext cx="923544" cy="24536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52360" y="5358384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non-edge</a:t>
            </a:r>
          </a:p>
        </p:txBody>
      </p:sp>
      <p:pic>
        <p:nvPicPr>
          <p:cNvPr id="20" name="Picture 19" descr="5ab57d1978fea6df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01256" y="5827776"/>
            <a:ext cx="176784" cy="23164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452360" y="57607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decision threshold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simplest filter: the derivative</a:t>
            </a:r>
          </a:p>
        </p:txBody>
      </p:sp>
      <p:pic>
        <p:nvPicPr>
          <p:cNvPr id="6" name="Picture 5" descr="f06_one_d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23" y="1325880"/>
            <a:ext cx="10868721" cy="42519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591556"/>
            <a:ext cx="999740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65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Scanning one row of pixels. The derivative is near zero inside a region and large where the intensity changes.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 two dimensions: the gradient</a:t>
            </a:r>
          </a:p>
        </p:txBody>
      </p:sp>
      <p:pic>
        <p:nvPicPr>
          <p:cNvPr id="6" name="Picture 5" descr="f07_two_d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85699"/>
            <a:ext cx="10911809" cy="313562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00016"/>
            <a:ext cx="10911809" cy="1078992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c3791aa2b58df0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7742" y="4930902"/>
            <a:ext cx="5396484" cy="6172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97280" y="5838444"/>
            <a:ext cx="999740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55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One number per pixel: how fast the intensity is changing, whichever way it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The observation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Filterbanks: orientation and scale</a:t>
            </a:r>
          </a:p>
        </p:txBody>
      </p:sp>
      <p:pic>
        <p:nvPicPr>
          <p:cNvPr id="6" name="Picture 5" descr="f08_filterb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04728"/>
            <a:ext cx="10911809" cy="36553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230368"/>
            <a:ext cx="10911809" cy="932688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427408"/>
            <a:ext cx="10088849" cy="5386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</a:t>
            </a:r>
            <a:r>
              <a:rPr sz="175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filterbank</a:t>
            </a: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is a set of filters at different orientations and scales.</a:t>
            </a:r>
            <a:endParaRPr lang="en-US" sz="175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lang="en-US" sz="175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We start from one filter for simplicity, and discuss the complex case.</a:t>
            </a:r>
            <a:endParaRPr sz="175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the two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Estimate P(f | y=+1) and P(f | y=−1) as histograms from annotated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the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9559"/>
            <a:ext cx="11051177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lang="en-US" sz="30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One filter produces two distributions for pixels</a:t>
            </a:r>
            <a:endParaRPr sz="3000" b="1" i="0" dirty="0">
              <a:solidFill>
                <a:srgbClr val="1A1A2E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6" name="Picture 5" descr="f09_learn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75" y="1371600"/>
            <a:ext cx="10449218" cy="37033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230368"/>
            <a:ext cx="10911809" cy="932688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562060"/>
            <a:ext cx="10088849" cy="2693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two distributions are estimated by counting filter responses</a:t>
            </a:r>
            <a:r>
              <a:rPr lang="en-US"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for a filter</a:t>
            </a: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on annotated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the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Reading the two distributions</a:t>
            </a:r>
          </a:p>
        </p:txBody>
      </p:sp>
      <p:pic>
        <p:nvPicPr>
          <p:cNvPr id="6" name="Picture 5" descr="f10_two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15" y="1243584"/>
            <a:ext cx="9607937" cy="45354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765292"/>
            <a:ext cx="9997409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5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Both curves are computed, on a scene whose edges are known by construction. Same axis, two conditions.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the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Why the non-edge curve piles up at zero</a:t>
            </a:r>
          </a:p>
        </p:txBody>
      </p:sp>
      <p:pic>
        <p:nvPicPr>
          <p:cNvPr id="6" name="Picture 5" descr="f11_natural_stati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1970" y="1371600"/>
            <a:ext cx="8668029" cy="34747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974336"/>
            <a:ext cx="10911809" cy="1298448"/>
          </a:xfrm>
          <a:prstGeom prst="roundRect">
            <a:avLst>
              <a:gd name="adj" fmla="val 8462"/>
            </a:avLst>
          </a:prstGeom>
          <a:solidFill>
            <a:srgbClr val="FBF1EC"/>
          </a:solidFill>
          <a:ln w="16510">
            <a:solidFill>
              <a:srgbClr val="F0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5157216"/>
            <a:ext cx="10326593" cy="8109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This heavy-tailed shape is a property of </a:t>
            </a:r>
            <a:r>
              <a:rPr sz="16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natural-image statistics</a:t>
            </a: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, which describe how photographs differ from noise.</a:t>
            </a:r>
            <a:endParaRPr lang="en-US" sz="1600" b="0" i="0" dirty="0">
              <a:solidFill>
                <a:srgbClr val="55555F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2000"/>
              </a:lnSpc>
              <a:buNone/>
            </a:pPr>
            <a:endParaRPr sz="1600" b="0" i="0" dirty="0">
              <a:solidFill>
                <a:srgbClr val="55555F"/>
              </a:solidFill>
              <a:latin typeface="Calibri"/>
              <a:ea typeface="Calibri"/>
              <a:cs typeface="Calibri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class prior </a:t>
            </a:r>
            <a:r>
              <a:rPr sz="1600" b="0" i="0" dirty="0">
                <a:solidFill>
                  <a:srgbClr val="55555F"/>
                </a:solidFill>
                <a:latin typeface="Cambria"/>
                <a:ea typeface="Cambria"/>
                <a:cs typeface="Cambria"/>
              </a:rPr>
              <a:t>P(y)</a:t>
            </a: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 is a separate quantity: it says how often a pixel is an edge.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Learning the distributions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Histograms assume nothing about the shape</a:t>
            </a:r>
          </a:p>
        </p:txBody>
      </p:sp>
      <p:pic>
        <p:nvPicPr>
          <p:cNvPr id="6" name="Picture 5" descr="f12_hist_vs_paramet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39327"/>
            <a:ext cx="10911809" cy="315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46320"/>
            <a:ext cx="10911809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histogram is non-parametric: it takes whatever shape the data has, including shapes no standard density would give.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price is data. With many filters this becomes the binding constraint.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likelihood ratio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Threshold the log-likelihood ratio at T, set by the prior and the loss.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Evaluating one response under both hypotheses</a:t>
            </a:r>
          </a:p>
        </p:txBody>
      </p:sp>
      <p:pic>
        <p:nvPicPr>
          <p:cNvPr id="6" name="Picture 5" descr="f13_one_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531" y="1371600"/>
            <a:ext cx="9700905" cy="374903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285232"/>
            <a:ext cx="10911809" cy="932688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285232"/>
            <a:ext cx="1008884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decision depends on which of the two densities is larger, and by how much.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likelihood ratio</a:t>
            </a:r>
          </a:p>
        </p:txBody>
      </p:sp>
      <p:pic>
        <p:nvPicPr>
          <p:cNvPr id="6" name="Picture 5" descr="f14_llr_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895" y="1417320"/>
            <a:ext cx="9874179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434840"/>
            <a:ext cx="10911809" cy="1783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ratio compares the same observation under the two hypotheses. Its logarithm turns “several times more likely” into a signed amount of evidence.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Positive means the response is more typical of edges; negative means it is more typical of background.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Bayesian test thresholds the likelihood ratio</a:t>
            </a:r>
          </a:p>
        </p:txBody>
      </p:sp>
      <p:pic>
        <p:nvPicPr>
          <p:cNvPr id="6" name="Picture 5" descr="f15_threshold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877" y="1417320"/>
            <a:ext cx="10066215" cy="365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230368"/>
            <a:ext cx="10911809" cy="932688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230368"/>
            <a:ext cx="10088849" cy="9326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likelihood ratio measures how much more likely the response is on an edge.</a:t>
            </a:r>
          </a:p>
          <a:p>
            <a:pPr marL="0" indent="0" algn="ctr">
              <a:buNone/>
            </a:pP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threshold T sets how much evidence is required.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threshold comes from the prior and the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809" cy="6067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Testing whether the log-likelihood ratio exceeds </a:t>
            </a:r>
            <a:r>
              <a:rPr sz="19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zero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assumes that edge and non-edge are equally likely, and that the two kinds of error cost the same.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95728"/>
            <a:ext cx="10911809" cy="111556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c14693fd83213c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0508" y="2656332"/>
            <a:ext cx="5330952" cy="594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3803904"/>
            <a:ext cx="10911809" cy="12266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prior.  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Most pixels are not edges, so a pixel has to be unusual before we call it one. This raises the threshold</a:t>
            </a:r>
            <a:r>
              <a:rPr lang="en-US"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T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loss.  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Missing a boundary usually costs more than a spurious one. If we would rather over-detect and clean up later with context, this lowers the threshold</a:t>
            </a:r>
            <a:r>
              <a:rPr lang="en-US"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T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504688"/>
            <a:ext cx="10911809" cy="786384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5767075"/>
            <a:ext cx="10088849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700" dirty="0">
                <a:solidFill>
                  <a:srgbClr val="1A1A2E"/>
                </a:solidFill>
                <a:ea typeface="Calibri"/>
                <a:cs typeface="Calibri"/>
              </a:rPr>
              <a:t>Similar to what it did in the previous lecture, </a:t>
            </a:r>
            <a:r>
              <a:rPr sz="17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Bayes decision theory sets T from the two factors.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Moving the threshold</a:t>
            </a:r>
          </a:p>
        </p:txBody>
      </p:sp>
      <p:pic>
        <p:nvPicPr>
          <p:cNvPr id="6" name="Picture 5" descr="f16_threshold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80708"/>
            <a:ext cx="10911809" cy="38222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358384"/>
            <a:ext cx="10911809" cy="91440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546279"/>
            <a:ext cx="10088849" cy="5386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Lowering T detects more edges and more texture with them. </a:t>
            </a:r>
            <a:endParaRPr lang="en-US" sz="175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Raising T keeps only the strongest evidence and loses real boundaries.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From evidence to a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full pipeline on one image</a:t>
            </a:r>
          </a:p>
        </p:txBody>
      </p:sp>
      <p:pic>
        <p:nvPicPr>
          <p:cNvPr id="6" name="Picture 5" descr="f17_detec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58739"/>
            <a:ext cx="10911809" cy="2991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074920"/>
            <a:ext cx="10911809" cy="96012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285675"/>
            <a:ext cx="10088849" cy="5386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third panel is the log-likelihood ratio computed at every pixel from the two learned distributions. </a:t>
            </a:r>
            <a:endParaRPr lang="en-US" sz="175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fourth is that map </a:t>
            </a:r>
            <a:r>
              <a:rPr sz="175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thresholded</a:t>
            </a:r>
            <a:r>
              <a:rPr sz="175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496086"/>
            <a:ext cx="8595360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Ambiguity and </a:t>
            </a:r>
            <a:r>
              <a:rPr lang="en-US" sz="44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multiple cues</a:t>
            </a:r>
            <a:endParaRPr sz="4400" b="1" i="0" dirty="0">
              <a:solidFill>
                <a:srgbClr val="1A1A2E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44368" y="3383280"/>
            <a:ext cx="85953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Combine M filter responses; the joint distribution is the difficulty.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Local evidence is ambiguous</a:t>
            </a:r>
          </a:p>
        </p:txBody>
      </p:sp>
      <p:pic>
        <p:nvPicPr>
          <p:cNvPr id="6" name="Picture 5" descr="f18_local_ambigu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69" y="1298448"/>
            <a:ext cx="10779030" cy="41879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5711486"/>
            <a:ext cx="9997409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5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Spatial context and object knowledge</a:t>
            </a:r>
            <a:r>
              <a:rPr lang="en-US" sz="1650" dirty="0">
                <a:solidFill>
                  <a:srgbClr val="55555F"/>
                </a:solidFill>
                <a:ea typeface="Calibri"/>
                <a:cs typeface="Calibri"/>
              </a:rPr>
              <a:t> can disambiguate local edge evidence</a:t>
            </a:r>
            <a:endParaRPr sz="1650" b="0" i="0" dirty="0">
              <a:solidFill>
                <a:srgbClr val="55555F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Many filters at one pixel</a:t>
            </a:r>
          </a:p>
        </p:txBody>
      </p:sp>
      <p:pic>
        <p:nvPicPr>
          <p:cNvPr id="6" name="Picture 5" descr="f19_many_fil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046" y="1353312"/>
            <a:ext cx="10513876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4700016"/>
            <a:ext cx="10911809" cy="120700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d71e8185c60b98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9310" y="4964430"/>
            <a:ext cx="6213348" cy="6781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Learning the joint distribution is hard</a:t>
            </a:r>
          </a:p>
        </p:txBody>
      </p:sp>
      <p:pic>
        <p:nvPicPr>
          <p:cNvPr id="6" name="Picture 5" descr="f20_cur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60" y="1353312"/>
            <a:ext cx="10354048" cy="331012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800600"/>
            <a:ext cx="10911809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joint histogram over M filters needs data in every cell, and the number of cells grows exponentially in M.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It is also opaque: a filled-in table gives the answer, but not which cue produced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Konishi et al., 2003</a:t>
            </a:r>
          </a:p>
        </p:txBody>
      </p:sp>
      <p:pic>
        <p:nvPicPr>
          <p:cNvPr id="6" name="Picture 5" descr="f29_dataset_thumb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918" y="1362456"/>
            <a:ext cx="3093284" cy="270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554480"/>
            <a:ext cx="7223760" cy="466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Sowerby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: one hundred pre-segmented </a:t>
            </a:r>
            <a:r>
              <a:rPr sz="19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colour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images of English country roads, with a great deal of vegetation.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1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South Florida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: fifty greyscale images, largely indoor, with very little background texture.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Cues: gradient magnitude, the Laplacian and the Nitzberg operator at several scales, and oriented </a:t>
            </a:r>
            <a:r>
              <a:rPr sz="1900" b="0" i="0" dirty="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filterbanks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61104"/>
            <a:ext cx="10911809" cy="173736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4443984"/>
            <a:ext cx="1032659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sz="19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What they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864608"/>
            <a:ext cx="10326593" cy="10241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On South Florida, where the background carries no texture, a single derivative cue is already enough.</a:t>
            </a:r>
          </a:p>
          <a:p>
            <a:pPr marL="0" indent="0">
              <a:lnSpc>
                <a:spcPct val="112000"/>
              </a:lnSpc>
              <a:buNone/>
            </a:pPr>
            <a:r>
              <a:rPr sz="16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On Sowerby the learned combination of cues wins: vegetation produces strong responses that one cue cannot tell from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71616"/>
            <a:ext cx="109118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Konishi, A. L. Yuille, J. M. Coughlan and S. C. Zhu, “Statistical Edge Detection: Learning and Evaluating Edge Cues,” IEEE TPAMI 25(1), 2003.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Why the two datasets behave differently</a:t>
            </a:r>
          </a:p>
        </p:txBody>
      </p:sp>
      <p:pic>
        <p:nvPicPr>
          <p:cNvPr id="6" name="Picture 5" descr="f21_datas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88327"/>
            <a:ext cx="10911809" cy="41544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797296"/>
            <a:ext cx="1091180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Dataset descriptions after Konishi et al., TPAMI 2003.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Independent cues: the evidence adds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300" b="1" i="0" spc="120">
                <a:solidFill>
                  <a:srgbClr val="6A51A3"/>
                </a:solidFill>
                <a:latin typeface="Calibri"/>
                <a:ea typeface="Calibri"/>
                <a:cs typeface="Calibri"/>
              </a:rPr>
              <a:t>OPTIONAL  ·  OUT OF SCOPE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44752"/>
            <a:ext cx="10911809" cy="1883664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8" name="Picture 7" descr="7264cf866cecc5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9668" y="1577340"/>
            <a:ext cx="3532632" cy="754380"/>
          </a:xfrm>
          <a:prstGeom prst="rect">
            <a:avLst/>
          </a:prstGeom>
        </p:spPr>
      </p:pic>
      <p:pic>
        <p:nvPicPr>
          <p:cNvPr id="9" name="Picture 8" descr="4346cef02ef9436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12" y="2441448"/>
            <a:ext cx="4428744" cy="754380"/>
          </a:xfrm>
          <a:prstGeom prst="rect">
            <a:avLst/>
          </a:prstGeom>
        </p:spPr>
      </p:pic>
      <p:pic>
        <p:nvPicPr>
          <p:cNvPr id="10" name="Picture 9" descr="f22_vot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4175" y="3474720"/>
            <a:ext cx="6403618" cy="22128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97280" y="5801085"/>
            <a:ext cx="9997409" cy="4770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55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Each filter casts a signed vote; the decision is the sign of their sum, offset by T. </a:t>
            </a:r>
            <a:endParaRPr lang="en-US" sz="1550" b="0" i="0" dirty="0">
              <a:solidFill>
                <a:srgbClr val="55555F"/>
              </a:solidFill>
              <a:latin typeface="Calibri"/>
              <a:ea typeface="Calibri"/>
              <a:cs typeface="Calibri"/>
            </a:endParaRPr>
          </a:p>
          <a:p>
            <a:pPr marL="0" indent="0" algn="ctr">
              <a:buNone/>
            </a:pPr>
            <a:r>
              <a:rPr sz="155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Each distribution can then be learned on its own.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Ambiguity and many cues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filters are correlated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300" b="1" i="0" spc="120">
                <a:solidFill>
                  <a:srgbClr val="6A51A3"/>
                </a:solidFill>
                <a:latin typeface="Calibri"/>
                <a:ea typeface="Calibri"/>
                <a:cs typeface="Calibri"/>
              </a:rPr>
              <a:t>OPTIONAL  ·  OUT OF SCOPE</a:t>
            </a:r>
          </a:p>
        </p:txBody>
      </p:sp>
      <p:pic>
        <p:nvPicPr>
          <p:cNvPr id="7" name="Picture 6" descr="f23_cond_inde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5716" y="1280160"/>
            <a:ext cx="6300536" cy="20299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19856"/>
            <a:ext cx="10911809" cy="27980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7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Every filter responds more strongly on a strong edge than on a weak one, so their responses rise and fall together.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7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Add one more filter </a:t>
            </a:r>
            <a:r>
              <a:rPr sz="1800" b="0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</a:t>
            </a:r>
            <a:r>
              <a:rPr sz="1800" b="0" i="0" baseline="-2500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0</a:t>
            </a:r>
            <a:r>
              <a:rPr sz="17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that measures the overall brightness, or strength, of the patch. Conditioned on it, the other filters come close to independent.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36592"/>
            <a:ext cx="10911809" cy="914400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" name="Picture 9" descr="855f728e1821f5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0002" y="4851654"/>
            <a:ext cx="7331963" cy="68427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5724144"/>
            <a:ext cx="1091180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C. Morrone and D. Burr, “Feature detection in human vision: a phase-dependent energy model,” Proc. R. Soc. Lond. B 235:221–245, 1988.   ·   C. A. Ramachandra and B. W. Mel, “Computing local edge probability in natural scenes from a population of oriented simple cells,” Journal of Vision, 2013.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2286000" cy="2011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1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360" y="2331720"/>
            <a:ext cx="859536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44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4368" y="3557126"/>
            <a:ext cx="8595360" cy="2923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900" b="0" i="0" dirty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same rule extends to many classes.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same machinery, more classes</a:t>
            </a:r>
          </a:p>
        </p:txBody>
      </p:sp>
      <p:pic>
        <p:nvPicPr>
          <p:cNvPr id="6" name="Picture 5" descr="f24_semantic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5988"/>
            <a:ext cx="10911809" cy="35116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074920"/>
            <a:ext cx="10911809" cy="96012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074920"/>
            <a:ext cx="10088849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5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Semantic segmentation gives every location in the image a class label, the way we have been giving every pixel an edge label.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multiclass rule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9344"/>
            <a:ext cx="10911809" cy="1481328"/>
          </a:xfrm>
          <a:prstGeom prst="roundRect">
            <a:avLst>
              <a:gd name="adj" fmla="val 5500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ce4f584d1d5da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8464" y="1994153"/>
            <a:ext cx="6035040" cy="7117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3456432"/>
            <a:ext cx="10911809" cy="15366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class set is now sky, vegetation, water, road and other, and one class-conditional distribution is learned for each of them.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</a:t>
            </a:r>
            <a:r>
              <a:rPr sz="1900" b="0" i="0" baseline="-2500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y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is one weight per class. It carries what the prior and the loss carried in the binary case: how common the class is, and what it costs to get it wrong.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With two classes and equal weights this reduces to the</a:t>
            </a:r>
            <a:r>
              <a:rPr lang="en-US"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previous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likelihood-ratio test.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From local classes to scene parsing</a:t>
            </a:r>
          </a:p>
        </p:txBody>
      </p:sp>
      <p:pic>
        <p:nvPicPr>
          <p:cNvPr id="6" name="Picture 5" descr="f25_2000_vs_2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09" y="1325880"/>
            <a:ext cx="10590750" cy="411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59280" y="5630918"/>
            <a:ext cx="8307977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0" i="1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S. Konishi and A. L. Yuille, “Statistical Cues for Domain Specific Image Segmentation with Performance Analysis,” CVPR 2000.  </a:t>
            </a:r>
            <a:endParaRPr lang="en-US" sz="1200" b="0" i="1" dirty="0">
              <a:solidFill>
                <a:srgbClr val="7C7C8C"/>
              </a:solidFill>
              <a:latin typeface="Calibri"/>
              <a:ea typeface="Calibri"/>
              <a:cs typeface="Calibri"/>
            </a:endParaRPr>
          </a:p>
          <a:p>
            <a:pPr marL="0" indent="0" algn="l">
              <a:buNone/>
            </a:pPr>
            <a:r>
              <a:rPr sz="1200" b="0" i="1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R. </a:t>
            </a:r>
            <a:r>
              <a:rPr sz="1200" b="0" i="1" dirty="0" err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Mottaghi</a:t>
            </a:r>
            <a:r>
              <a:rPr sz="1200" b="0" i="1" dirty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 et al., “The Role of Context for Object Detection and Semantic Segmentation in the Wild,” CVPR 2014.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Bayes versus direct prediction</a:t>
            </a:r>
          </a:p>
        </p:txBody>
      </p:sp>
      <p:pic>
        <p:nvPicPr>
          <p:cNvPr id="6" name="Picture 5" descr="f26_bayes_vs_discrimin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861" y="1549254"/>
            <a:ext cx="10086246" cy="3995927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What deep networks changed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809" cy="1846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 the statistical edge detectors the filters were chosen by hand: derivatives, Laplacians and Gabor functions. Only the distributions over their responses were learned.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 deep network learns the features as well: the response is </a:t>
            </a:r>
            <a:r>
              <a:rPr sz="1900" b="0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f(I; </a:t>
            </a:r>
            <a:r>
              <a:rPr sz="1900" b="0" i="0" dirty="0" err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ω</a:t>
            </a:r>
            <a:r>
              <a:rPr sz="1900" b="0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)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, a hierarchy of filters whose weights </a:t>
            </a:r>
            <a:r>
              <a:rPr sz="1900" b="0" i="0" dirty="0" err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ω</a:t>
            </a: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are fitted along with the classifier.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Given enough annotated data this is the stronger method, and it is the state of the art for edge detection.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24528"/>
            <a:ext cx="10911809" cy="137160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407408"/>
            <a:ext cx="10326593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sz="1900" b="1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What the Bayesian version still gives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4828032"/>
            <a:ext cx="10326593" cy="658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lnSpc>
                <a:spcPct val="112000"/>
              </a:lnSpc>
              <a:buNone/>
            </a:pPr>
            <a:r>
              <a:rPr sz="1600" b="0" i="0">
                <a:solidFill>
                  <a:srgbClr val="55555F"/>
                </a:solidFill>
                <a:latin typeface="Calibri"/>
                <a:ea typeface="Calibri"/>
                <a:cs typeface="Calibri"/>
              </a:rPr>
              <a:t>The model is factored into named pieces: one distribution for edges, one for the background, a prior and a loss. When something about the world changes, you can often say which piece changed.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53328"/>
            <a:ext cx="10911809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0" i="1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For the discriminative side: S. Xie and Z. Tu, “Holistically-Nested Edge Detection,” ICCV 2015.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9559"/>
            <a:ext cx="10911809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Domain transfer</a:t>
            </a:r>
            <a:r>
              <a:rPr lang="en-US" sz="3000" b="1" i="0" dirty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is a problem for vision algorithms</a:t>
            </a:r>
            <a:endParaRPr sz="3000" b="1" i="0" dirty="0">
              <a:solidFill>
                <a:srgbClr val="1A1A2E"/>
              </a:solidFill>
              <a:latin typeface="Cambria"/>
              <a:ea typeface="Cambria"/>
              <a:cs typeface="Cambria"/>
            </a:endParaRPr>
          </a:p>
        </p:txBody>
      </p:sp>
      <p:pic>
        <p:nvPicPr>
          <p:cNvPr id="6" name="Picture 5" descr="f27_domain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863" y="1353312"/>
            <a:ext cx="9986241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681728"/>
            <a:ext cx="10911809" cy="1536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An edge is an edge: the same contrast gives much the same response wherever the picture was taken.</a:t>
            </a: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background is domain-specific. Replace an indoor wall with vegetation and the off-edge distribution moves a long way to the right.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Domain transfer using the factorisation</a:t>
            </a:r>
          </a:p>
        </p:txBody>
      </p:sp>
      <p:pic>
        <p:nvPicPr>
          <p:cNvPr id="6" name="Picture 5" descr="f28_domai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93722"/>
            <a:ext cx="10911809" cy="376880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0080" y="5394960"/>
            <a:ext cx="10911809" cy="822960"/>
          </a:xfrm>
          <a:prstGeom prst="roundRect">
            <a:avLst>
              <a:gd name="adj" fmla="val 8462"/>
            </a:avLst>
          </a:prstGeom>
          <a:solidFill>
            <a:srgbClr val="F2F4F9"/>
          </a:solidFill>
          <a:ln w="16510">
            <a:solidFill>
              <a:srgbClr val="DDE1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5394960"/>
            <a:ext cx="10088849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1700" b="0" i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Konishi et al. report that distributions adapted between their two datasets lose very little accuracy.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231849" y="6400800"/>
            <a:ext cx="5486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00800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Bayesian Edge Detection  ·  A. Yuille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569" y="274320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r">
              <a:buNone/>
            </a:pPr>
            <a:r>
              <a:rPr sz="1300" b="0" i="0" spc="120">
                <a:solidFill>
                  <a:srgbClr val="7C7C8C"/>
                </a:solidFill>
                <a:latin typeface="Calibri"/>
                <a:ea typeface="Calibri"/>
                <a:cs typeface="Calibri"/>
              </a:rPr>
              <a:t>Semantic 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911809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>
              <a:buNone/>
            </a:pPr>
            <a:r>
              <a:rPr sz="3000" b="1" i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11809" cy="40162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Edge detection was written as a decision at every pixel: edge or non-edge.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observation is a filter response. The two class-conditional distributions were learned by counting responses on annotated images.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The decision compares the two distributions at the observed response, and thresholds that comparison. The threshold comes from the prior and the loss.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One filter is often ambiguous. Several filters can be combined, and spatial context and object knowledge are the next two ways out.</a:t>
            </a:r>
            <a:endParaRPr lang="en-US"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endParaRPr sz="1900" b="0" i="0" dirty="0">
              <a:solidFill>
                <a:srgbClr val="1A1A2E"/>
              </a:solidFill>
              <a:latin typeface="Calibri"/>
              <a:ea typeface="Calibri"/>
              <a:cs typeface="Calibri"/>
            </a:endParaRPr>
          </a:p>
          <a:p>
            <a:pPr marL="254203" indent="-254203">
              <a:lnSpc>
                <a:spcPct val="106000"/>
              </a:lnSpc>
              <a:buSzPct val="100000"/>
              <a:buChar char="•"/>
            </a:pPr>
            <a:r>
              <a:rPr sz="1900" b="0" i="0" dirty="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Because the model is written in named pieces, the background distribution can be re-estimated for a new domain while the edge distribution is kept.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2584</Words>
  <Application>Microsoft Macintosh PowerPoint</Application>
  <PresentationFormat>Widescreen</PresentationFormat>
  <Paragraphs>269</Paragraphs>
  <Slides>41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Bayes Decision Theory</dc:title>
  <dc:subject>PptxGenJS Presentation</dc:subject>
  <dc:creator>Alan Yuille</dc:creator>
  <cp:lastModifiedBy>Jeremy Chen</cp:lastModifiedBy>
  <cp:revision>3</cp:revision>
  <dcterms:created xsi:type="dcterms:W3CDTF">2026-09-03T17:54:46Z</dcterms:created>
  <dcterms:modified xsi:type="dcterms:W3CDTF">2026-09-10T04:52:30Z</dcterms:modified>
</cp:coreProperties>
</file>