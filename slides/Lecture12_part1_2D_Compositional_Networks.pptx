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  <p:sldId id="295" r:id="rId4"/>
    <p:sldId id="296" r:id="rId3"/>
    <p:sldId id="297" r:id="rId2"/>
    <p:sldId id="29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2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2D Compositional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Networks: Approximate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Analysis by Synthesis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Generalization under occlusion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Occluders are exponentially variable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vMF kernels, mixtures, inference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Outlier model and occluder localization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Context-aware CompNets, box voting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Patch attacks, amodal shapes, many objects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Explicit parts can be switched off when they are occluded</a:t>
            </a:r>
          </a:p>
        </p:txBody>
      </p:sp>
      <p:pic>
        <p:nvPicPr>
          <p:cNvPr id="5" name="f_recap.png" descr="f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59" y="1225296"/>
            <a:ext cx="10605977" cy="2025502"/>
          </a:xfrm>
          <a:prstGeom prst="rect">
            <a:avLst/>
          </a:prstGeom>
        </p:spPr>
      </p:pic>
      <p:sp>
        <p:nvSpPr>
          <p:cNvPr id="6" name="body 6"/>
          <p:cNvSpPr txBox="1"/>
          <p:nvPr/>
        </p:nvSpPr>
        <p:spPr>
          <a:xfrm>
            <a:off x="640080" y="341539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Lecture 11: visual concepts, clusters of deep-network feature vectors, are subparts of objects.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Compositional voting: present cues (green) vote for a semantic part; missing cues (red) give no vote.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Can we extend this to classify objects? 2D compositional networks (CompNets).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CompNet is a generative model of the features: it can explain which parts are occluded.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Generalization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under occlusion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Objects are partly hidden by highly variable occluders;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deep networks trained without occlusion generalize poorly.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Generalization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Analysis by synthesis inverts a generative model of images</a:t>
            </a:r>
          </a:p>
        </p:txBody>
      </p:sp>
      <p:pic>
        <p:nvPicPr>
          <p:cNvPr id="6" name="f_abs.png" descr="f_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407186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742210"/>
            <a:ext cx="10911535" cy="92899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bayes.png" descr="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697" y="3906802"/>
            <a:ext cx="4190301" cy="599813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817510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model P(I | W): a model for generating an image I from a state of the world W; prior P(W).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Synthesis means that we have models P(I | W) P(W) for generating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Analysis means that we can determine the world state W from the posterior P(W | I).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Yuille and D. Kersten, “Vision as Bayesian inference: analysis by synthesis?,” Trends in Cognitive Sciences, 10(7):301–308, 2006.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Generalization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Out-of-distribution tests are tougher than i.i.d. splits</a:t>
            </a:r>
          </a:p>
        </p:txBody>
      </p:sp>
      <p:pic>
        <p:nvPicPr>
          <p:cNvPr id="6" name="f_testing.png" descr="f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54489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34784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Usually vision models are tested by assuming i.i.d. (independent, identically distributed) samples.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train on half the data and test on the other half; this yields standard performance measures.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Claim: these are problematic for many reasons; e.g. the average case hides the weak points.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Tougher tests: out-of-distribution, domain transfer. Here: occluders that never appear in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Generalization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Generalization under occlusion is important</a:t>
            </a:r>
          </a:p>
        </p:txBody>
      </p:sp>
      <p:pic>
        <p:nvPicPr>
          <p:cNvPr id="6" name="s_motiv.png" descr="s_mot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3851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75040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natural images objects are surrounded and partially occluded by other objects.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Occluders are highly variable in terms of shape and texture: exponential complexity.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Vision systems must generalize in exponentially complex domains.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Generalization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Occlusion degrades DCNNs trained on unoccluded data</a:t>
            </a:r>
          </a:p>
        </p:txBody>
      </p:sp>
      <p:pic>
        <p:nvPicPr>
          <p:cNvPr id="6" name="s_dcnn.png" descr="s_d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1244906"/>
          </a:xfrm>
          <a:prstGeom prst="rect">
            <a:avLst/>
          </a:prstGeom>
        </p:spPr>
      </p:pic>
      <p:pic>
        <p:nvPicPr>
          <p:cNvPr id="7" name="t_dcnn.png" descr="t_dc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579930"/>
            <a:ext cx="10880271" cy="1311729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056251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DCNN: deep convolutional neural network; VGG-16 (Visual Geometry Group, 16 layers) is 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Training: unoccluded MS-COCO (Microsoft Common Objects in Context) vehicles; test: occluded ones.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L1 to L3: occlusion levels, the fraction of the object that is occluded.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What if we train with lots of augmented data? CutPaste pastes occluders into the training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Generative model of features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class is a mixture over viewpoints of spatial mixtures of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von Mises-Fisher (vMF) kernels; inference is a feed-forward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generative model of neural feature activations</a:t>
            </a:r>
          </a:p>
        </p:txBody>
      </p:sp>
      <p:pic>
        <p:nvPicPr>
          <p:cNvPr id="6" name="s_genmodel.png" descr="s_gen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252" y="1225296"/>
            <a:ext cx="7251192" cy="272034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10228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model generates F, the feature map of the last convolutional layer of a DCNN.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 has H × W positions p, each with a feature vector; this W is the width, unrelated to the world state.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replace the fully connected classification head of the DCNN.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Approximate analysis by synthesis: the features are invariant to low-level details of the image.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vMF kernels cluster the normalised feature vectors</a:t>
            </a:r>
          </a:p>
        </p:txBody>
      </p:sp>
      <p:pic>
        <p:nvPicPr>
          <p:cNvPr id="6" name="f_vmf.png" descr="f_v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03812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373144"/>
            <a:ext cx="10911535" cy="97872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vmf.png" descr="v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050" y="3537736"/>
            <a:ext cx="6293594" cy="649539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498172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feature vector is normalised to unit length: it is a point on a sphere (dots: samples).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von Mises-Fisher (vMF) distribution with mean direction μ is a Gaussian on the sphere (Lecture 8).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λ = {μ, σ}: μ is learnt; σ sets how tightly the vectors cluster around μ; Z(σ) normalises.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Banerjee, I. S. Dhillon, J. Ghosh and S. Sra, “Clustering on the unit hypersphere using von Mises-Fisher distributions,”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Journal of Machine Learning Research, 6:1345–1382, 2005.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object model mixes viewpoints and, per position, parts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234773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mix_class.png" descr="mix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848" y="1389888"/>
            <a:ext cx="7182000" cy="576000"/>
          </a:xfrm>
          <a:prstGeom prst="rect">
            <a:avLst/>
          </a:prstGeom>
        </p:spPr>
      </p:pic>
      <p:pic>
        <p:nvPicPr>
          <p:cNvPr id="8" name="mix_pos.png" descr="mix_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344" y="2093904"/>
            <a:ext cx="4803006" cy="603985"/>
          </a:xfrm>
          <a:prstGeom prst="rect">
            <a:avLst/>
          </a:prstGeom>
        </p:spPr>
      </p:pic>
      <p:pic>
        <p:nvPicPr>
          <p:cNvPr id="9" name="mix_kernel.png" descr="mix_ker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111" y="2825905"/>
            <a:ext cx="7057473" cy="582533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3719334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y labels the object class; m labels the mixture component (viewpoint); p labels the position in 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ν selects one of the M components; Θ holds all components of a class, θ one of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holds the α's at a position: which of the K vMF kernels (parts) are expected there; Λ: all kernels.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α's and μ's are learnt (σ is fixed), without viewpoint labels; given m, positions are independent.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Inference as a feed-forward neural network</a:t>
            </a:r>
          </a:p>
        </p:txBody>
      </p:sp>
      <p:pic>
        <p:nvPicPr>
          <p:cNvPr id="6" name="f_pipe_inf.png" descr="f_pipe_i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08461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419638"/>
            <a:ext cx="10911535" cy="190252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nf_1.png" descr="in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855" y="3584230"/>
            <a:ext cx="4921986" cy="337663"/>
          </a:xfrm>
          <a:prstGeom prst="rect">
            <a:avLst/>
          </a:prstGeom>
        </p:spPr>
      </p:pic>
      <p:pic>
        <p:nvPicPr>
          <p:cNvPr id="9" name="inf_2.png" descr="inf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486" y="4049909"/>
            <a:ext cx="6180724" cy="604434"/>
          </a:xfrm>
          <a:prstGeom prst="rect">
            <a:avLst/>
          </a:prstGeom>
        </p:spPr>
      </p:pic>
      <p:pic>
        <p:nvPicPr>
          <p:cNvPr id="10" name="inf_3.png" descr="inf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96" y="4782359"/>
            <a:ext cx="5553104" cy="375210"/>
          </a:xfrm>
          <a:prstGeom prst="rect">
            <a:avLst/>
          </a:prstGeom>
        </p:spPr>
      </p:pic>
      <p:sp>
        <p:nvSpPr>
          <p:cNvPr id="11" name="body 11"/>
          <p:cNvSpPr txBox="1"/>
          <p:nvPr/>
        </p:nvSpPr>
        <p:spPr>
          <a:xfrm>
            <a:off x="640080" y="5468464"/>
            <a:ext cx="1124712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Step 1 is a 1 × 1 convolution of F with the kernels μ; N(·) applies the exponential and 1/Z(σ), giving 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the model parameters with backpropagation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210955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loss.png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411" y="1389888"/>
            <a:ext cx="7318872" cy="290111"/>
          </a:xfrm>
          <a:prstGeom prst="rect">
            <a:avLst/>
          </a:prstGeom>
        </p:spPr>
      </p:pic>
      <p:pic>
        <p:nvPicPr>
          <p:cNvPr id="8" name="lvmf.png" descr="lv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691" y="1808015"/>
            <a:ext cx="6868313" cy="605017"/>
          </a:xfrm>
          <a:prstGeom prst="rect">
            <a:avLst/>
          </a:prstGeom>
        </p:spPr>
      </p:pic>
      <p:pic>
        <p:nvPicPr>
          <p:cNvPr id="9" name="lmix.png" descr="l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378" y="2541047"/>
            <a:ext cx="9048939" cy="629216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3481159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Class loss: cross-entropy of the prediction y′ against the true class y; the γ's weigh the losses.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Weight loss: weight decay of the backbone's weights, written W here; A: the α's of class 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vMF loss: pulls feature vectors and their closest kernels μ together, as k-means on the sphere.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Mixture loss: the best component of the true class must explain the feature map.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vMF kernels resemble part detectors</a:t>
            </a:r>
          </a:p>
        </p:txBody>
      </p:sp>
      <p:pic>
        <p:nvPicPr>
          <p:cNvPr id="6" name="s_patches.png" descr="s_p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54489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34784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patterns with the highest likelihood for four vMF kernels: each responds to one kind of part.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kernels are shared by all classes and viewpoints; the α's place them in each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Explainability: a detection can be explained by the parts which are present.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Mixture components model object pose</a:t>
            </a:r>
          </a:p>
        </p:txBody>
      </p:sp>
      <p:pic>
        <p:nvPicPr>
          <p:cNvPr id="6" name="s_pose_bike.png" descr="s_pose_b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302413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14018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Bicycles: training images with the highest likelihood for each of the four mixture components.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Below: their 3D viewpoints (azimuth), never used in training; bar length and colour count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Images with different 3D viewpoint are approximately separated into different components.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 of features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Aeroplane components also follow the background</a:t>
            </a:r>
          </a:p>
        </p:txBody>
      </p:sp>
      <p:pic>
        <p:nvPicPr>
          <p:cNvPr id="6" name="s_pose_plane.png" descr="s_pose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3007605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97493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Components 1 and 2 hold aeroplanes on the ground; components 3 and 4 hold aeroplanes in the sky.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split follows the background more than the viewpoint: the components also capture the context.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Robustness to occlusion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 outlier model competes with the object model at every position;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occlusion map shows where the occluders 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 outlier model explains the occluded positions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84498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occ_1.png" descr="oc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32" y="1389888"/>
            <a:ext cx="8658631" cy="606711"/>
          </a:xfrm>
          <a:prstGeom prst="rect">
            <a:avLst/>
          </a:prstGeom>
        </p:spPr>
      </p:pic>
      <p:pic>
        <p:nvPicPr>
          <p:cNvPr id="8" name="occ_2.png" descr="occ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150" y="2124615"/>
            <a:ext cx="4887395" cy="312950"/>
          </a:xfrm>
          <a:prstGeom prst="rect">
            <a:avLst/>
          </a:prstGeom>
        </p:spPr>
      </p:pic>
      <p:pic>
        <p:nvPicPr>
          <p:cNvPr id="9" name="occ_3.png" descr="occ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831" y="2565581"/>
            <a:ext cx="5570034" cy="340112"/>
          </a:xfrm>
          <a:prstGeom prst="rect">
            <a:avLst/>
          </a:prstGeom>
        </p:spPr>
      </p:pic>
      <p:sp>
        <p:nvSpPr>
          <p:cNvPr id="10" name="body 10"/>
          <p:cNvSpPr txBox="1"/>
          <p:nvPr/>
        </p:nvSpPr>
        <p:spPr>
          <a:xfrm>
            <a:off x="640080" y="3216589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 = 1 at a position if its feature vector is generated by the occluder; z = 0 if by the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occluder model p(f | β, Λ) uses the same vMF kernels with weights β that ignore the position.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p(z = 1), the prior probability that a position is occluded, is fixed in advance.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simple model of what the object does not look like; z picks the larger of the two terms.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outlier model is learnt from images without the objects</a:t>
            </a:r>
          </a:p>
        </p:txBody>
      </p:sp>
      <p:pic>
        <p:nvPicPr>
          <p:cNvPr id="6" name="s_bg.png" descr="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853807"/>
          </a:xfrm>
          <a:prstGeom prst="rect">
            <a:avLst/>
          </a:prstGeom>
        </p:spPr>
      </p:pic>
      <p:pic>
        <p:nvPicPr>
          <p:cNvPr id="7" name="f_pipe_occ.png" descr="f_pipe_o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188831"/>
            <a:ext cx="10880271" cy="2558143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911566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Occluder models: weights β on the vMF kernels, from clustered features of images without the objects.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component gives a class score and an occlusion map Z, the set of z's: where the outlier model wins.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object and outlier models compete at every position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4369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compete.png" descr="comp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70" y="1389888"/>
            <a:ext cx="5812555" cy="314507"/>
          </a:xfrm>
          <a:prstGeom prst="rect">
            <a:avLst/>
          </a:prstGeom>
        </p:spPr>
      </p:pic>
      <p:pic>
        <p:nvPicPr>
          <p:cNvPr id="8" name="s_compete.png" descr="s_comp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0" y="1978715"/>
            <a:ext cx="10956275" cy="2836843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980150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 each position the larger likelihood wins; the maps show the occlusion score (bright: occluder).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the Bayesian test of Lecture 4, applied to feature vectors instead of filter responses.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Occluders are localized well, natural objects least well</a:t>
            </a:r>
          </a:p>
        </p:txBody>
      </p:sp>
      <p:pic>
        <p:nvPicPr>
          <p:cNvPr id="6" name="s_occtypes.png" descr="s_occ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6" y="1225296"/>
            <a:ext cx="5330952" cy="3493008"/>
          </a:xfrm>
          <a:prstGeom prst="rect">
            <a:avLst/>
          </a:prstGeom>
        </p:spPr>
      </p:pic>
      <p:pic>
        <p:nvPicPr>
          <p:cNvPr id="7" name="f_roc.png" descr="f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1261872"/>
            <a:ext cx="4645152" cy="3419856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882896"/>
            <a:ext cx="11247120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Occluded-Vehicles: PASCAL3D+ (3D-annotated) vehicles with four kinds of artificial occluders.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ROC (receiver operating characteristic): positive = occluded position, as the threshold moves.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J. He, Q. Liu and A. L. Yuille, “Compositional convolutional neural networks: a deep architecture with innate robustness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to partial occlusion,” CVPR, 8940–8949,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Wang, Z. Zhang, C. Xie, J. Zhu, L. Xie and A. Yuille, “Detecting semantic parts on partially occluded objects,” BMVC, 2017.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can classify partially occluded vehicles robustly</a:t>
            </a:r>
          </a:p>
        </p:txBody>
      </p:sp>
      <p:pic>
        <p:nvPicPr>
          <p:cNvPr id="6" name="s_vehicles.png" descr="s_veh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787706"/>
          </a:xfrm>
          <a:prstGeom prst="rect">
            <a:avLst/>
          </a:prstGeom>
        </p:spPr>
      </p:pic>
      <p:pic>
        <p:nvPicPr>
          <p:cNvPr id="7" name="t_vehicles.png" descr="t_veh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2122730"/>
            <a:ext cx="10880271" cy="2155371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442693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on PASCAL3D+ vehicles without occlusion; tested on MS-COCO vehicles with real occlusion.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Backbones: VGG-16, ResNet-50 (residual network, 50 layers), ResNeXt (a ResNet with grouped layers).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Built on the same backbones, CompNets gain most where most of the object is occluded.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Xiang, R. Mottaghi and S. Savarese, “Beyond PASCAL: a benchmark for 3D object detection in the wild,” WACV, 75–82, 2014.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Robustness to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also gain on 50 occluded ImageNet classes</a:t>
            </a:r>
          </a:p>
        </p:txBody>
      </p:sp>
      <p:pic>
        <p:nvPicPr>
          <p:cNvPr id="6" name="s_imagenet.png" descr="s_image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1828800"/>
          </a:xfrm>
          <a:prstGeom prst="rect">
            <a:avLst/>
          </a:prstGeom>
        </p:spPr>
      </p:pic>
      <p:pic>
        <p:nvPicPr>
          <p:cNvPr id="7" name="t_imagenet.png" descr="t_imag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3163824"/>
            <a:ext cx="10880271" cy="1311729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640145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50 ImageNet classes (examples above), tested with artificial occluders, L1 to L3 as for vehicles.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CutOut erases random squares of the training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Best suited to object classes whose appearance a few mixture components can represent.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Detection under occlusion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Separate the context from the object,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and let the visible parts vote for the bounding box.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DCNNs for object detection also generalize poorly</a:t>
            </a:r>
          </a:p>
        </p:txBody>
      </p:sp>
      <p:pic>
        <p:nvPicPr>
          <p:cNvPr id="6" name="s_bikefence.png" descr="s_bikef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20" y="1225296"/>
            <a:ext cx="3877056" cy="28163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06240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bicycle behind a fence. Blue: ground truth; red: Faster R-CNN, a DCNN detector.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Green: a context-aware CompNet, which models the context separately from the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Faster R-CNN's box is far too large; the box of the context-aware CompNet is close to the truth.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Ren, K. He, R. Girshick and J. Sun, “Faster R-CNN: towards real-time object detection with region proposal networks,” NIPS, 91–99, 2015.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 has too much influence when object is occluded</a:t>
            </a:r>
          </a:p>
        </p:txBody>
      </p:sp>
      <p:pic>
        <p:nvPicPr>
          <p:cNvPr id="6" name="s_context.png" descr="s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40718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97074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Blue: ground truth; orange: the original CompNet; green: the context-aware CompNet.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Training aeroplanes (right) are surrounded by sky: the CompNet learns the sky as part of the aeroplane.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occluded aeroplane gets a box that covers the sky above it.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Context-aware CompNets separate context and object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82327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ctx.png" descr="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92" y="1389888"/>
            <a:ext cx="8135711" cy="653143"/>
          </a:xfrm>
          <a:prstGeom prst="rect">
            <a:avLst/>
          </a:prstGeom>
        </p:spPr>
      </p:pic>
      <p:pic>
        <p:nvPicPr>
          <p:cNvPr id="8" name="s_masks.png" descr="s_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672" y="2317351"/>
            <a:ext cx="5102352" cy="2162556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644499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χ: a mixture model of the context; ω weighs it. ω = 0.5 gives the original CompNet; ω = 0 drops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Segment the training images: features close to clusters of background features are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Masks: yellow positions are the object, purple positions the context.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Context-awareness improves localization</a:t>
            </a:r>
          </a:p>
        </p:txBody>
      </p:sp>
      <p:pic>
        <p:nvPicPr>
          <p:cNvPr id="6" name="s_heat.png" descr="s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60" y="1225296"/>
            <a:ext cx="6665976" cy="28163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0624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two maps are the probability of the object centre at each position, for ω = 0.5 and ω = 0.2.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ω = 0.5 the centre is pulled up into the sky; with ω = 0.2 it lies on the aeroplane.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Bounding box voting (BBV): the visible parts vote for the centre and two opposite corners of the box.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outlier model also localizes occluders in detection</a:t>
            </a:r>
          </a:p>
        </p:txBody>
      </p:sp>
      <p:pic>
        <p:nvPicPr>
          <p:cNvPr id="6" name="s_occdet.png" descr="s_occ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12" y="1225296"/>
            <a:ext cx="8577072" cy="287578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65676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Occlusion maps of the context-aware CompNet on MS-COCO; yellow: explained by the outlier model.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People in front of the bus, a cyclist in front of the car and a pillar in front of the train are found.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Boxes: blue ground truth, green CompNet, with the class label.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Kortylewski, Q. Liu, A. Wang, Y. Sun and A. Yuille, “Compositional convolutional neural networks: a robust and interpretable model for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object recognition under occlusion,” International Journal of Computer Vision, 129(3):736–760, 2021.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Context-aware CompNets detect occluded vehicles best</a:t>
            </a:r>
          </a:p>
        </p:txBody>
      </p:sp>
      <p:pic>
        <p:nvPicPr>
          <p:cNvPr id="6" name="t_det.png" descr="t_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86" y="1225296"/>
            <a:ext cx="9642324" cy="2486781"/>
          </a:xfrm>
          <a:prstGeom prst="rect">
            <a:avLst/>
          </a:prstGeom>
        </p:spPr>
      </p:pic>
      <p:pic>
        <p:nvPicPr>
          <p:cNvPr id="7" name="s_detex.png" descr="s_de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10" y="3821805"/>
            <a:ext cx="10956275" cy="1024569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5010966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 (average precision, %) on MS-COCO vehicles, by occlusion level from L0 (lightest) to L4 (heaviest).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Boxes: blue ground truth, red Faster R-CNN, yellow CompNet on proposed regions, green context-aware.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Wang, Y. Sun, A. Kortylewski and A. L. Yuille, “Robust object detection under occlusion with context-aware CompositionalNets,”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12645–12654, 2020.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Detection under occlusion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Prior knowledge in the network narrows the complexity gap</a:t>
            </a:r>
          </a:p>
        </p:txBody>
      </p:sp>
      <p:pic>
        <p:nvPicPr>
          <p:cNvPr id="6" name="s_compete_small.png" descr="s_compete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20" y="1225296"/>
            <a:ext cx="6391656" cy="16733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063240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Partial occlusion introduces exponential complexity in the data: a gap that no dataset covers.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gap can be overcome by prior knowledge about compositionality, occlusion and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Generalization beyond the training data in terms of partial occlusion and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High discriminative performance is retained thanks to end-to-end training.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Future work: articulated objects, 3D geometry, top-down reasoning, scale.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Three additional projects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CompNets resist patch attacks, segment amodal shapes without masks,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and reason about which object occludes which.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Patch attacks fool deep nets with a few textured patches</a:t>
            </a:r>
          </a:p>
        </p:txBody>
      </p:sp>
      <p:pic>
        <p:nvPicPr>
          <p:cNvPr id="6" name="s_patchloop.png" descr="s_patch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52" y="1225296"/>
            <a:ext cx="8851392" cy="318668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576572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Evaluate algorithms by modifying the input adaptively to make them fail: an adversarial examiner.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PatchAttack (Lecture 11): a black-box policy learnt by reinforcement; over 90 % targeted success.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suggests that deep nets lack knowledge of the spatial structure of objects.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Yang, A. Kortylewski, C. Xie, Y. Cao and A. Yuille, “PatchAttack: a black-box texture-based attack with reinforcement learning,”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ECCV, LNCS 12371, 681–698, 2020.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are robust to patch attacks out of the box</a:t>
            </a:r>
          </a:p>
        </p:txBody>
      </p:sp>
      <p:pic>
        <p:nvPicPr>
          <p:cNvPr id="6" name="t_patch.png" descr="t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1437894"/>
            <a:ext cx="7086600" cy="2249424"/>
          </a:xfrm>
          <a:prstGeom prst="rect">
            <a:avLst/>
          </a:prstGeom>
        </p:spPr>
      </p:pic>
      <p:pic>
        <p:nvPicPr>
          <p:cNvPr id="7" name="s_patchmap_small.png" descr="s_patchmap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072" y="1225296"/>
            <a:ext cx="3730752" cy="267462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064508"/>
            <a:ext cx="11247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know the spatial structure of objects; their outlier model can reject the attacking patches.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Targeted attacks on at most 10 % of the image: texture patches (TPA) or random search (Sparse-RS).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Both succeed an order of magnitude less often on CompNets than on VGG-16; the maps localize them.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Cosgrove, A. Kortylewski, C. Yang and A. Yuille, “Robustness out of the box: compositional representations naturally defend against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black-box patch attacks,” arXiv:2012.00558,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F. Croce, M. Andriushchenko, N. D. Singh, N. Flammarion and M. Hein, “Sparse-RS: a versatile framework for query-efficient sparse black-box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adversarial attacks,” AAAI, 36(6):6437–6445, 2022.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need finer detail for similar traffic signs</a:t>
            </a:r>
          </a:p>
        </p:txBody>
      </p:sp>
      <p:pic>
        <p:nvPicPr>
          <p:cNvPr id="6" name="t_gtsrb.png" descr="t_gts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9" y="1225296"/>
            <a:ext cx="10238198" cy="215757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547461"/>
            <a:ext cx="1124712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were less effective for fine-scale discrimination, e.g. speed limit 60 versus 80.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are generative on high-level features, invariant to low-level details: coarse geometry only.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Supplement coarse CompNets with fine-scale CompNets at lower levels, with more detailed geometry.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Bottom-up processing seeks invariant features; top-down is needed for higher resolution.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Cosgrove, A. Kortylewski, C. Yang and A. Yuille, “Robustness out of the box: compositional representations naturally defend against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black-box patch attacks,” arXiv:2012.00558,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Stallkamp, M. Schlipsing, J. Salmen and C. Igel, “Man vs. computer: benchmarking machine learning algorithms for traffic sign recognition,”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Networks, 32:323–332, 2012.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S. Lee and D. Mumford, “Hierarchical Bayesian inference in the visual cortex,” JOSA A, 20(7):1434–1448, 2003.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find modal and amodal boundaries without masks</a:t>
            </a:r>
          </a:p>
        </p:txBody>
      </p:sp>
      <p:pic>
        <p:nvPicPr>
          <p:cNvPr id="6" name="s_horse.png" descr="s_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88" y="1225296"/>
            <a:ext cx="10129520" cy="286512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55008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Modal boundaries are the ones you can see; amodal boundaries include the occluded parts (example).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on bounding boxes only, CompNets estimate the foreground by log-likelihood ratio tests.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amodal methods assume annotated visible segmentations in training; CompNets do not.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Sun, A. Kortylewski and A. Yuille, “Weakly-supervised amodal instance segmentation with compositional priors,” arXiv:2010.13175, 2020.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shape prior for each viewpoint completes occluded objects</a:t>
            </a:r>
          </a:p>
        </p:txBody>
      </p:sp>
      <p:pic>
        <p:nvPicPr>
          <p:cNvPr id="6" name="s_prior.png" descr="s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93048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20375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 a prior for the boundary of the object, conditioned on the mixture component (viewpoint).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EM (Lecture 8): initialize the modal and amodal boundaries from the foreground / background estimate.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(c) Boxes: visible (blue), amodal (green); pixels: blue object, red occluder, green context.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Sun, A. Kortylewski and A. Yuille, “Weakly-supervised amodal instance segmentation with compositional priors,” arXiv:2010.13175, 2020.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CompNets segment heavily occluded vehicles best</a:t>
            </a:r>
          </a:p>
        </p:txBody>
      </p:sp>
      <p:pic>
        <p:nvPicPr>
          <p:cNvPr id="6" name="t_kins.png" descr="t_k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2" y="1225296"/>
            <a:ext cx="8549640" cy="2011680"/>
          </a:xfrm>
          <a:prstGeom prst="rect">
            <a:avLst/>
          </a:prstGeom>
        </p:spPr>
      </p:pic>
      <p:pic>
        <p:nvPicPr>
          <p:cNvPr id="7" name="s_kinsex_small.png" descr="s_kinsex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512" y="1648206"/>
            <a:ext cx="2724912" cy="116586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401568"/>
            <a:ext cx="1124712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KINS: vehicles in KITTI street scenes (Karlsruhe and Toyota institutes), with amodal masks.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Mean IoU (intersection over union, %) of the amodal masks, by the occluded area of the vehicle.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Boxes: modal or amodal training boxes. PCNet-M (partial completion network) also needs masks.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Multi-task consistency: one model classifies the object and estimates its modal and amodal shape.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Sun, A. Kortylewski and A. Yuille, “Weakly-supervised amodal instance segmentation with compositional priors,” arXiv:2010.13175,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Qi, L. Jiang, S. Liu, X. Shen and J. Jia, “Amodal instance segmentation with KINS dataset,” CVPR, 3014–3023,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Zhan, X. Pan, B. Dai, Z. Liu, D. Lin and C. C. Loy, “Self-supervised scene de-occlusion,” CVPR, 3784–3792,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C.-C. Hsu, K.-J. Hsu, C.-C. Tsai, Y.-Y. Lin and Y.-Y. Chuang, “Weakly supervised instance segmentation using the bounding box tightness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prior,” NeurIPS, 6586–6597, 2019.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Multi-object occlusion is hard to resolve purely bottom-up</a:t>
            </a:r>
          </a:p>
        </p:txBody>
      </p:sp>
      <p:pic>
        <p:nvPicPr>
          <p:cNvPr id="6" name="f_moo.png" descr="f_m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39485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84745"/>
            <a:ext cx="11247120" cy="2340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assumed a single object, which could be occluded; often one object partly occludes another.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Bottom-up: a CompNet per box gives likelihood maps: blue object, red occluder, green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Top-down: the occlusion reasoning module (ORM) finds the most consistent interpretation.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relates to reading CAPTCHAs (distorted, overlapping letters); only boxes are annotated.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Yuan, A. Kortylewski, Y. Sun and A. Yuille, “Robust instance segmentation through reasoning about multi-object occlusion,”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11141–11150,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George, W. Lehrach, K. Kansky, M. Lázaro-Gredilla et al., “A generative vision model that trains with high data efficiency and breaks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text-based CAPTCHAs,” Science, 358(6368):eaag2612, 2017.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ORM resolves conflicts and recovers the occlusion order</a:t>
            </a:r>
          </a:p>
        </p:txBody>
      </p:sp>
      <p:pic>
        <p:nvPicPr>
          <p:cNvPr id="6" name="s_ormsteps.png" descr="s_orm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65067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40559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(I) Conflict (white): pixels that both car models claim as foreground, in the overlap of the boxes (yellow).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(II–III) Each conflict pixel goes to the more likely car model, or to the occluder model.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(IV) Order: the car that wins more of the conflict pixels is in front, the other is behind it.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Yuan, A. Kortylewski, Y. Sun and A. Yuille, “Robust instance segmentation through reasoning about multi-object occlusion,”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11141–11150,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Geiger, P. Lenz and R. Urtasun, “Are we ready for autonomous driving? The KITTI vision benchmark suite,” CVPR, 3354–3361, 2012.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Reasoning about occlusion improves the instance masks</a:t>
            </a:r>
          </a:p>
        </p:txBody>
      </p:sp>
      <p:pic>
        <p:nvPicPr>
          <p:cNvPr id="6" name="s_moovis.png" descr="s_moo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00" y="1440180"/>
            <a:ext cx="5833872" cy="1728216"/>
          </a:xfrm>
          <a:prstGeom prst="rect">
            <a:avLst/>
          </a:prstGeom>
        </p:spPr>
      </p:pic>
      <p:pic>
        <p:nvPicPr>
          <p:cNvPr id="7" name="t_moo.png" descr="t_m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72" y="1225296"/>
            <a:ext cx="4764024" cy="2157984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547872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Occlusion challenge: KITTI cars on random backgrounds: 2 cars, 4 cars, or 2 cars + unknown occluders.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Mean IoU over all occlusion levels; ORM: occlusion reasoning module.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 KINS, Mask R-CNN (a region-based DCNN trained with masks) is better on modal masks.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simpler than the methods used for CAPTCHAs; it needs extending to harder conditions.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Yuan, A. Kortylewski, Y. Sun and A. Yuille, “Robust instance segmentation through reasoning about multi-object occlusion,”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11141–11150,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He, G. Gkioxari, P. Dollár and R. Girshick, “Mask R-CNN,” ICCV, 2961–2969, 2017.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Three additional projects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Analysis by synthesis, approximately: CompNets are generative models of deep-network features.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Deep nets trained without occlusion fail under occlusion; augmentation closes only part of the gap.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CompNet mixes viewpoints of spatial mixtures of vMF kernels; the kernels resemble part detectors.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Inference is a feed-forward network; kernels and mixtures are trained end to end by backpropagation.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outlier model competes with the object model at every position and so localizes the occluders.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Separating context from object, and voting for the box, makes detection robust to occlusion.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resist patch attacks out of the box, but need finer detail for fine-grained classes.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Shape priors give amodal boundaries; occlusion reasoning orders several overlapping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Compositional Networks: Approximate Analysis by Synthesis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2026-10-05T12:00:00Z</dcterms:modified>
  <cp:category/>
</cp:coreProperties>
</file>