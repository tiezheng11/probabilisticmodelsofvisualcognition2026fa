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3532"/>
  </p:normalViewPr>
  <p:slideViewPr>
    <p:cSldViewPr snapToGrid="0" snapToObjects="1">
      <p:cViewPr varScale="1">
        <p:scale>
          <a:sx n="111" d="100"/>
          <a:sy n="111" d="100"/>
        </p:scale>
        <p:origin x="65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69CEB0-AA0B-D145-B4E6-35C9BFEBBA17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4D186F-95C8-254C-BBCD-188220FF3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164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554480" y="-2103120"/>
            <a:ext cx="6766560" cy="6766560"/>
          </a:xfrm>
          <a:prstGeom prst="ellipse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778240" y="3931920"/>
            <a:ext cx="4754880" cy="4754880"/>
          </a:xfrm>
          <a:prstGeom prst="ellipse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2487168"/>
            <a:ext cx="10187458" cy="14776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800" b="1" i="0" dirty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K-means, Expectation-</a:t>
            </a:r>
            <a:r>
              <a:rPr sz="4800" b="1" i="0" dirty="0" err="1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Maximisation</a:t>
            </a:r>
            <a:r>
              <a:rPr sz="4800" b="1" i="0" dirty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 and Boltzmann Machines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069994"/>
            <a:ext cx="10058400" cy="649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24 September, 2026</a:t>
            </a:r>
          </a:p>
          <a:p>
            <a:r>
              <a:rPr sz="21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Alan Yuille   ·   Probabilistic Models of the Visual Cortex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What this lecture covers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81328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96112" y="1764792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847088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714500"/>
            <a:ext cx="420624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Learning probabilities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112264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Maximum likelihood, batch and online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481328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92240" y="1764792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847088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68896" y="1714500"/>
            <a:ext cx="420624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Hidden variables and k-means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68896" y="2112264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Hard, online and soft clustering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79192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96112" y="2962656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044952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2912364"/>
            <a:ext cx="420624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Expectation-maximisation (EM)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3310128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E-step, M-step and a free energy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2679192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92240" y="2962656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3044952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912364"/>
            <a:ext cx="420624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Boltzmann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68896" y="3310128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Gibbs sampling and a Hebbian learning rule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877056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96112" y="4160520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6112" y="4242816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72768" y="4110228"/>
            <a:ext cx="420624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Learning as maximum likelihood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4507992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The rule as a generalised EM; restricted machines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From Markov models to learning probability distributions</a:t>
            </a:r>
          </a:p>
        </p:txBody>
      </p:sp>
      <p:pic>
        <p:nvPicPr>
          <p:cNvPr id="5" name="Picture 4" descr="f03_re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099" y="1225296"/>
            <a:ext cx="10423803" cy="210043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3453747"/>
            <a:ext cx="10911535" cy="932688"/>
          </a:xfrm>
          <a:prstGeom prst="roundRect">
            <a:avLst>
              <a:gd name="adj" fmla="val 8462"/>
            </a:avLst>
          </a:prstGeom>
          <a:solidFill>
            <a:srgbClr val="FBF1EC"/>
          </a:solidFill>
          <a:ln w="16510">
            <a:solidFill>
              <a:srgbClr val="F0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3453747"/>
            <a:ext cx="10088575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5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new question is: how do we learn these probability distributions, and can we learn them in ways that are neuronally plausible?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32739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 the last lecture the probability models were given, and inference estimated their hidden variables.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62507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Learning estimates the parameters of a model from training data, with or without hidden variables.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92275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K-means, and learning mixtures or Boltzmann machines, are all variants of expectation-maximisation (EM).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22043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weak membrane used EM too: the line processes it estimated were its hidden variables.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2377440"/>
            <a:ext cx="85953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Learning probabilities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44368" y="3401568"/>
            <a:ext cx="8595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Estimate the parameters α of a model P(x | α) from training data by maximum likelihood, in batch or online.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Learning probabilities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Neuronally plausible learning is local, like Hebb's rule</a:t>
            </a:r>
          </a:p>
        </p:txBody>
      </p:sp>
      <p:pic>
        <p:nvPicPr>
          <p:cNvPr id="6" name="Picture 5" descr="f05_he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11" y="1225296"/>
            <a:ext cx="10058378" cy="23744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3746004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Neuronally plausible: learnt by local operations, and ideally related to Hebb's rule.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75772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Hebb's rule: a synapse strengthens when the neurons on its two sides are active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05540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There is some empirical evidence for Hebb's rule, from Kandel's studies of the sea slug Aplysia.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35308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Most neural network learning algorithms can be formulated probabilistically, or closely approximated.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10796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D. O. Hebb, The Organization of Behavior, Wiley, 1949.</a:t>
            </a:r>
          </a:p>
          <a:p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E. R. Kandel, “The molecular biology of memory storage: a dialogue between genes and synapses,” Science, 294(5544):1030–1038, 2001.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Learning probabilities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Learning estimates the parameters α of a distribution</a:t>
            </a:r>
          </a:p>
        </p:txBody>
      </p:sp>
      <p:pic>
        <p:nvPicPr>
          <p:cNvPr id="6" name="Picture 5" descr="f06_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11" y="1225296"/>
            <a:ext cx="10058378" cy="2101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3454912"/>
            <a:ext cx="10911535" cy="1427277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06_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269" y="3637792"/>
            <a:ext cx="8321462" cy="106151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028493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 Bayes decision theory (BDT), learning parameterises the distribution and estimates its parameters α.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58261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simplest BDT criterion is maximum likelihood (ML), over n independent samples; here α is a mean 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88029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 edge detection, the distributions of filter responses were learnt in this way from annotated images.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Learning probabilities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Online learning updates α one datapoint at a time</a:t>
            </a:r>
          </a:p>
        </p:txBody>
      </p:sp>
      <p:pic>
        <p:nvPicPr>
          <p:cNvPr id="6" name="Picture 5" descr="f07_on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11" y="1225296"/>
            <a:ext cx="10058378" cy="187426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3227575"/>
            <a:ext cx="10911535" cy="900915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07_bo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87" y="3410455"/>
            <a:ext cx="9642427" cy="5351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274794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For a Gaussian, ML gives the sample mean and variance: batch learning, all the data used at once.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04562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Online learning, or stochastic gradient descent (SGD): at time t select a datapoint at random and update α.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34330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learning rate ζ is small and can decrease slowly with t; online methods are more neuronally plausible.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64098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Robbins-Monro theory: online learning converges if ζ decreases suitably; noise can help avoid poor minima.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039586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H. Robbins and S. Monro, “A stochastic approximation method,” Annals of Mathematical Statistics, 22(3):400–407, 1951.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Learning probabilities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prior matters most when there is little data</a:t>
            </a:r>
          </a:p>
        </p:txBody>
      </p:sp>
      <p:pic>
        <p:nvPicPr>
          <p:cNvPr id="6" name="Picture 5" descr="f08_p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11" y="1225296"/>
            <a:ext cx="10058378" cy="191973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3273043"/>
            <a:ext cx="10911535" cy="1383950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08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098" y="3455923"/>
            <a:ext cx="7985803" cy="10181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803296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With a prior, batch learning maximises the posterior (MAP): n likelihood terms and one prior term.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33064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Hence the prior is usually unimportant unless there is little data: a good prior lets you learn from less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708552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T. L. Griffiths, N. Chater and J. B. Tenenbaum, Bayesian Models of Cognition: Reverse Engineering the Mind, MIT Press, 2024.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Learning probabilities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Maximum likelihood minimises the KL divergence to the data</a:t>
            </a:r>
          </a:p>
        </p:txBody>
      </p:sp>
      <p:pic>
        <p:nvPicPr>
          <p:cNvPr id="6" name="Picture 5" descr="f09_k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11" y="1225296"/>
            <a:ext cx="10058378" cy="177827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3131589"/>
            <a:ext cx="10911535" cy="2263079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09_e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187" y="3314469"/>
            <a:ext cx="8717626" cy="706481"/>
          </a:xfrm>
          <a:prstGeom prst="rect">
            <a:avLst/>
          </a:prstGeom>
        </p:spPr>
      </p:pic>
      <p:pic>
        <p:nvPicPr>
          <p:cNvPr id="9" name="Picture 8" descr="e09_k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7700" y="4167254"/>
            <a:ext cx="9716599" cy="104453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540972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ML has an alternative interpretation related to the cross-entropy loss: we learn a probability for the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70740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first term is independent of α: minimising the Kullback-Leibler (KL) divergence is ML.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Learning probabilities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Deep networks learn conditional distributions P(y | x, α)</a:t>
            </a:r>
          </a:p>
        </p:txBody>
      </p:sp>
      <p:pic>
        <p:nvPicPr>
          <p:cNvPr id="6" name="Picture 5" descr="f10_condit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11" y="1225296"/>
            <a:ext cx="10058378" cy="20561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3409444"/>
            <a:ext cx="10911535" cy="1071914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10_co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615" y="3592324"/>
            <a:ext cx="9230769" cy="7061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627662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same approach learns a conditional distribution P(y | x, α) from training pairs (x, y).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57430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For neural networks the parameters are the weights; AlexNet, ResNet, transformers are different models.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87198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Online learning, SGD, is typically used: it is impractical to use all the training data in one batch.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16966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Networks for edge detection require loss functions that penalise failure to detect an edge.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2377440"/>
            <a:ext cx="85953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Hidden variables and k-means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44368" y="3401568"/>
            <a:ext cx="8595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Hidden variables are missing from the training data; k-means clusters data by alternating two steps, hard or soft.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Hidden variables and k-means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Hidden variables are missing from the training data</a:t>
            </a:r>
          </a:p>
        </p:txBody>
      </p:sp>
      <p:pic>
        <p:nvPicPr>
          <p:cNvPr id="6" name="Picture 5" descr="f12_hid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099" y="1225296"/>
            <a:ext cx="10423803" cy="22833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3654909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Hidden, latent or missing variables are not specified in the training data and need to be inferred.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84677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Statisticians found that statistical tables often have gaps, missing data, which need to be inferred.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14445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Engineers used hidden Markov models (HMMs) for speech: hidden meant not given by the training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44213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 vision, the line processes of the weak membrane were hidden variables: breaks that are never observed.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73981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Statisticians formulated EM; artificial intelligence researchers re-formulated it with a free energy.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49469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P. Dempster, N. M. Laird and D. B. Rubin, “Maximum likelihood from incomplete data via the EM algorithm,” J. Royal Statistical Society B, 39(1):1–38, 1977.</a:t>
            </a:r>
          </a:p>
          <a:p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R. M. Neal and G. E. Hinton, “A view of the EM algorithm that justifies incremental, sparse, and other variants,” in Learning in Graphical Models, Kluwer, 1998.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Hidden variables and k-means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K-means clusters data into classes without labels</a:t>
            </a:r>
          </a:p>
        </p:txBody>
      </p:sp>
      <p:pic>
        <p:nvPicPr>
          <p:cNvPr id="6" name="Picture 5" descr="f13_colou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099" y="1225296"/>
            <a:ext cx="10423803" cy="26490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020657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K-means is an important example of learning with hidden variables: a hard-assignment version of 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50425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It clusters data into different classes and is used for unsupervised learning: no labels are given.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80193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Neural networks, particularly transformers, can contain k-means as subcomponents (Yu et al., 2022).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09961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Example: the data are the colours of the pixels, and the class of each pixel is the hidden variable.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785449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Q. Yu, H. Wang, S. Qiao, M. Collins, Y. Zhu, H. Adam, A. Yuille and L.-C. Chen, “k-means mask transformer,” ECCV, 2022.</a:t>
            </a:r>
          </a:p>
          <a:p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Photograph: NASA (Eileen Collins), public domain.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Hidden variables and k-means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K-means minimises an energy of assignments and means</a:t>
            </a:r>
          </a:p>
        </p:txBody>
      </p:sp>
      <p:pic>
        <p:nvPicPr>
          <p:cNvPr id="6" name="Picture 5" descr="f14_ener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11" y="1225296"/>
            <a:ext cx="10058378" cy="214706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3500379"/>
            <a:ext cx="10911535" cy="1466402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14_ener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345" y="3683259"/>
            <a:ext cx="8565310" cy="11006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113085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input is a set of unlabelled data, to be decomposed into k disjoint classes, with k known.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42853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Class a has an unknown mean m; V is 1 when datapoint x belongs to class a and 0 otherwise, one 1 per row.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72621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 is non-convex: no known efficient algorithm finds its global minimum; k-means finds a local minimum.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Hidden variables and k-means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k-means algorithm alternates two steps</a:t>
            </a:r>
          </a:p>
        </p:txBody>
      </p:sp>
      <p:pic>
        <p:nvPicPr>
          <p:cNvPr id="6" name="Picture 5" descr="f15_it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099" y="1225296"/>
            <a:ext cx="10423803" cy="21474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3500772"/>
            <a:ext cx="10911535" cy="1382654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15_ste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910" y="3683652"/>
            <a:ext cx="9726179" cy="101689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029730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Step 1: initialise a partition of the data at random, or use k-means++, which spreads out the first means.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59498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Steps 2 and 3 are the stars and the shaded regions; step 4 repeats them until the assignment settles.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34986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D. Arthur and S. Vassilvitskii, “k-means++: the advantages of careful seeding,” Proc. ACM-SIAM Symposium on Discrete Algorithms, 1027–1035, 2007.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Hidden variables and k-means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Each step lowers the energy, down to a local minimum</a:t>
            </a:r>
          </a:p>
        </p:txBody>
      </p:sp>
      <p:pic>
        <p:nvPicPr>
          <p:cNvPr id="6" name="Picture 5" descr="f16_lo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11" y="1225296"/>
            <a:ext cx="10058378" cy="2101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3454912"/>
            <a:ext cx="10911535" cy="1361235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16_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375" y="3637792"/>
            <a:ext cx="9045249" cy="9954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962451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Step 2 minimises E over the means with V fixed; step 3 minimises E over V with the means fixed.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92219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So the energy decreases at every step until k-means stops at a local minimum of 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21987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Different initial partitions can stop in different local minima, with different energies.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Hidden variables and k-means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Online k-means is a winner-take-all neural network</a:t>
            </a:r>
          </a:p>
        </p:txBody>
      </p:sp>
      <p:pic>
        <p:nvPicPr>
          <p:cNvPr id="6" name="Picture 5" descr="f17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11" y="1225296"/>
            <a:ext cx="10058378" cy="228346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3636781"/>
            <a:ext cx="10911535" cy="931869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17_wi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128" y="3819661"/>
            <a:ext cx="9057743" cy="5661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714954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k output neurons have receptive fields, weights that set which inputs excite them: these are the means.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44722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Each output unit receives the weighted input; inhibition between them lets only the biggest one fire.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74490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input is matched to the winner; k indexes the output units and a the input components.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49978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J. Hertz, A. Krogh and R. G. Palmer, Introduction to the Theory of Neural Computation, Addison-Wesley, 1991.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Hidden variables and k-means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winning neuron moves its weights towards the input</a:t>
            </a:r>
          </a:p>
        </p:txBody>
      </p:sp>
      <p:pic>
        <p:nvPicPr>
          <p:cNvPr id="6" name="Picture 5" descr="f18_on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11" y="1225296"/>
            <a:ext cx="10058378" cy="223800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3591314"/>
            <a:ext cx="10911535" cy="632477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18_upd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6547" y="3774194"/>
            <a:ext cx="6838906" cy="26671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370095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Online k-means minimises E by steepest descent, one input at a time: stochastic gradient descent on 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99863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winner's weights change by the derivative of its squared distance to the input; the others remain fixed.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29631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Renormalising the winner keeps the weights unit length: that variant is spherical k-means.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659399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So the winner-take-all network finds the nearest mean.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Hidden variables and k-means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Soft k-means assigns datapoints to clusters with probabilities</a:t>
            </a:r>
          </a:p>
        </p:txBody>
      </p:sp>
      <p:pic>
        <p:nvPicPr>
          <p:cNvPr id="6" name="Picture 5" descr="f20_so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11" y="1225296"/>
            <a:ext cx="10058378" cy="201066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3363977"/>
            <a:ext cx="10911535" cy="1370298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20_so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0090" y="3546857"/>
            <a:ext cx="6951820" cy="10045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880579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softer version of k-means, and an example of the EM algorithm.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10347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hard-assign variable V is replaced by a soft-assign variable, and the probabilities sum to 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740115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σ² controls the softness: as σ² goes to 0 the assignment becomes binary, and soft k-means is k-means.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Hidden variables and k-means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Soft k-means assumes a mixture of Gaussians</a:t>
            </a:r>
          </a:p>
        </p:txBody>
      </p:sp>
      <p:pic>
        <p:nvPicPr>
          <p:cNvPr id="6" name="Picture 5" descr="f21_mix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11" y="1225296"/>
            <a:ext cx="10058378" cy="2101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3454912"/>
            <a:ext cx="10911535" cy="1380265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21_m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424" y="3637792"/>
            <a:ext cx="9941152" cy="1014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981481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data come from a mixture of Gaussian distributions with means {m} and covariance σ²I, I the identity.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11249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variable V identifies the mixture component that generated each datapoint.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41017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This needs a prior on V; it is natural to choose the uniform distribution over the assignments.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2377440"/>
            <a:ext cx="85953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Expectation-maximisation (EM)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44368" y="3401568"/>
            <a:ext cx="8595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EM learns with hidden variables: the E-step infers them, the M-step re-estimates the parameters, and a free energy falls.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Expectation-maximisation (EM)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EM estimates parameters when some variables are hidden</a:t>
            </a:r>
          </a:p>
        </p:txBody>
      </p:sp>
      <p:pic>
        <p:nvPicPr>
          <p:cNvPr id="6" name="Picture 5" descr="fem1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11" y="1225296"/>
            <a:ext cx="10058378" cy="187426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3227575"/>
            <a:ext cx="10911535" cy="1276342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_em_ma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394" y="3410455"/>
            <a:ext cx="9839212" cy="9105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650222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general model P(x, h | θ): observed data x, hidden variables h and parameters 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79990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Maximum likelihood uses the marginal P(x | θ), with h summed out; the log of a sum is hard to maximise.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09758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EM was designed for this: it estimates θ despite the missing h (Dempster, Laird and Rubin, 1977).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39526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From a high level, k-means and learning mixtures or Boltzmann machines are all variants of EM.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Expectation-maximisation (EM)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EM algorithm alternates an E-step and an M-step</a:t>
            </a:r>
          </a:p>
        </p:txBody>
      </p:sp>
      <p:pic>
        <p:nvPicPr>
          <p:cNvPr id="6" name="Picture 5" descr="fem2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11" y="1225296"/>
            <a:ext cx="10058378" cy="18287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3182108"/>
            <a:ext cx="10911535" cy="1293706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_em_ste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129" y="3364988"/>
            <a:ext cx="8627742" cy="92794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622118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Start from a guess of θ; each iteration makes one E-step and one M-step, until θ stops changing.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51886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E-step: with θ fixed, replace the missing h by its posterior probabilities Q(h).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81654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M-step: with Q fixed, choose θ to maximise the expected log-likelihood of the complete data (x, h).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11422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log-likelihood never decreases; EM converges, usually to a local maximum, not always the global one.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Expectation-maximisation (EM)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EM for a mixture of Gaussians is soft k-means</a:t>
            </a:r>
          </a:p>
        </p:txBody>
      </p:sp>
      <p:pic>
        <p:nvPicPr>
          <p:cNvPr id="6" name="Picture 5" descr="f22_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099" y="1225296"/>
            <a:ext cx="10423803" cy="21474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3500772"/>
            <a:ext cx="10911535" cy="1357079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_em_m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099" y="3683652"/>
            <a:ext cx="9761801" cy="9913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004155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model: equal weights 1/k and one fixed covariance σ²I; the component of each datapoint is hidden.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33923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E-step: Bayes rule gives Q, the soft assignments shown as colours; M-step: the weighted means, the stars.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63691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This is soft k-means; as σ² goes to 0 the E-step picks the nearest mean, and EM becomes hard k-means.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Expectation-maximisation (EM)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Normalised data lie on the unit sphere: von Mises-Fisher</a:t>
            </a:r>
          </a:p>
        </p:txBody>
      </p:sp>
      <p:pic>
        <p:nvPicPr>
          <p:cNvPr id="6" name="Picture 5" descr="f24_vm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099" y="1225296"/>
            <a:ext cx="10423803" cy="228330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3636621"/>
            <a:ext cx="10911535" cy="1320984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24_vm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874" y="3819501"/>
            <a:ext cx="9180253" cy="9552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103909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patch I varies with the light as cI + d, contrast c and background d; remove d and divide by the length.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33677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EM fits mixtures of von Mises-Fisher; hard assignments give spherical k-means, as for the 16 patch means.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09165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Banerjee, I. S. Dhillon, J. Ghosh and S. Sra, “Clustering on the unit hypersphere using von Mises-Fisher distributions,” JMLR, 6:1345–1382, 2005.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Expectation-maximisation (EM)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EM minimises a free energy of θ and Q alternately</a:t>
            </a:r>
          </a:p>
        </p:txBody>
      </p:sp>
      <p:pic>
        <p:nvPicPr>
          <p:cNvPr id="6" name="Picture 5" descr="fem4_f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11" y="1225296"/>
            <a:ext cx="10058378" cy="18287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3182108"/>
            <a:ext cx="10911535" cy="1274199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23_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334" y="3364988"/>
            <a:ext cx="9923331" cy="9084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602611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Q(h) is any distribution on h; F is the free energy of the last lecture, with energy −log P(x, h | θ).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32379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E-step: minimising F over Q gives Q(h) = P(h | x, θ); the KL gap closes and F is minus the log-likelihood.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62147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M-step: only the expected energy depends on θ; minimising it maximises the expected log-likelihood.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91915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So F falls at every half-step and the log-likelihood never decreases, until EM stops at a local minimum of F.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Expectation-maximisation (EM)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Partial E- and M-steps also lower the free energy</a:t>
            </a:r>
          </a:p>
        </p:txBody>
      </p:sp>
      <p:pic>
        <p:nvPicPr>
          <p:cNvPr id="6" name="Picture 5" descr="fem5_par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11" y="1225296"/>
            <a:ext cx="10058378" cy="201066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3363977"/>
            <a:ext cx="10911535" cy="793868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_em_part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703" y="3546857"/>
            <a:ext cx="5186595" cy="4281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304149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Partial M-steps also lower F (generalised EM); with exact E-steps the log-likelihood still never decreases.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33917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An approximate E-step, like mean field in the last lecture, lowers only the upper bound F on −log P(x | θ).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63685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EM stops at a local optimum: different starts can end in different optima, as for k-means.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93453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Boltzmann machines are learnt with such partial steps, with expectations estimated by sampling.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068941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R. M. Neal and G. E. Hinton, “A view of the EM algorithm that justifies incremental, sparse, and other variants,” in Learning in Graphical Models, Kluwer, 1998.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2377440"/>
            <a:ext cx="85953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Boltzmann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44368" y="3401568"/>
            <a:ext cx="8595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A Gibbs distribution on binary neurons whose weights are learnt by comparing clamped and free correlations.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The Boltzmann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Boltzmann machine is a Gibbs distribution on neurons</a:t>
            </a:r>
          </a:p>
        </p:txBody>
      </p:sp>
      <p:pic>
        <p:nvPicPr>
          <p:cNvPr id="6" name="Picture 5" descr="f26_b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11" y="1225296"/>
            <a:ext cx="10058378" cy="2101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3454912"/>
            <a:ext cx="10911535" cy="1374806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26_gib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722" y="3637792"/>
            <a:ext cx="9168557" cy="100904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976022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Each neuron takes the value 0 or 1, and S is the state of the whole machine: low energy, high probability.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05790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ω is a symmetric weight between two neurons, none from a neuron to itself: these are learnt.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35558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temperature T sets the sharpness: small T peaks at the lowest energy; as T grows the states even out.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The Boltzmann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Gibbs sampling updates one neuron at a time</a:t>
            </a:r>
          </a:p>
        </p:txBody>
      </p:sp>
      <p:pic>
        <p:nvPicPr>
          <p:cNvPr id="6" name="Picture 5" descr="f27_gib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11" y="1225296"/>
            <a:ext cx="10058378" cy="2101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3454912"/>
            <a:ext cx="10911535" cy="1406674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27_bo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771" y="3637792"/>
            <a:ext cx="8224457" cy="104091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007890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Inference seeks the most probable state; listing all the states is impossible when there are many neurons.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37658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Two approximations: Gibbs sampling with T lowered slowly (annealing), and mean field theory (MFT).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67426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Gibbs sampling: select a neuron at random, set it to 1 with this probability, a sigmoid of its input, repeat.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The Boltzmann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Averages over Gibbs samples approximate expectations</a:t>
            </a:r>
          </a:p>
        </p:txBody>
      </p:sp>
      <p:pic>
        <p:nvPicPr>
          <p:cNvPr id="6" name="Picture 5" descr="f28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11" y="1225296"/>
            <a:ext cx="10058378" cy="219253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3545846"/>
            <a:ext cx="10911535" cy="1150174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28_a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798" y="3728726"/>
            <a:ext cx="9228403" cy="78441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842325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At fixed T, Gibbs sampling converges to samples from P(S): probable states appear more often.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72093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For many neurons, samples need not lie near the most probable state, and successive ones are correlated.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701861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Importantly for learning, averages over the samples approximate expected statistics such as correlations.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The Boltzmann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Learning fits the observed nodes to the training data</a:t>
            </a:r>
          </a:p>
        </p:txBody>
      </p:sp>
      <p:pic>
        <p:nvPicPr>
          <p:cNvPr id="6" name="Picture 5" descr="f29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11" y="1225296"/>
            <a:ext cx="10058378" cy="191973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3273043"/>
            <a:ext cx="10911535" cy="1477921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29_bo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858" y="3455923"/>
            <a:ext cx="7080283" cy="11121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897267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Each node is either observed, taking the input, or hidden; the weights fit their marginal to the data 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27035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Boltzmann machines have been used to learn probability models for the primary visual cortex (V1).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02523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Y. Zhang, X. Li, J. M. Samonds and T. S. Lee, “Relating functional connectivity in V1 neural circuits and 3D natural scenes using</a:t>
            </a:r>
          </a:p>
          <a:p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Boltzmann machines,” Vision Research, 120:121–131, 2016.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The Boltzmann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learning rule compares clamped and free correlations</a:t>
            </a:r>
          </a:p>
        </p:txBody>
      </p:sp>
      <p:pic>
        <p:nvPicPr>
          <p:cNvPr id="6" name="Picture 5" descr="f30_ph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11" y="1225296"/>
            <a:ext cx="10058378" cy="2101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3454912"/>
            <a:ext cx="10911535" cy="1134513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30_r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477" y="3637792"/>
            <a:ext cx="9731045" cy="76875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735728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ζ is a small positive constant: the rule is gradient descent on the KL divergence.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65496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Clamped: the observed nodes are held at the training data, and the hidden nodes follow their conditional.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95264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Free: every node follows the model; each term is the correlation of the pair of nodes i and j.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70752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D. H. Ackley, G. E. Hinton and T. J. Sejnowski, “A learning algorithm for Boltzmann machines,” Cognitive Science, 9(1):147–169, 1985.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The Boltzmann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first term is Hebbian and the second anti-Hebbian</a:t>
            </a:r>
          </a:p>
        </p:txBody>
      </p:sp>
      <p:pic>
        <p:nvPicPr>
          <p:cNvPr id="6" name="Picture 5" descr="f31_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099" y="1225296"/>
            <a:ext cx="10423803" cy="205341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3406723"/>
            <a:ext cx="10911535" cy="1100645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31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204" y="3589603"/>
            <a:ext cx="9361591" cy="7348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653672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Clamped: pairs on together in the data strengthen (Hebb's rule); free: pairs on in free running weaken.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83440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wild speculation: Hebbian learning when awake; anti-Hebbian when asleep, sampling images: dreaming.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13208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Learning converges when clamped and free correlations are equal: the KL divergence has zero gradient.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42976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 is unknown, so it is approximated by the N training examples.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The Boltzmann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Gibbs sampling estimates both correlations</a:t>
            </a:r>
          </a:p>
        </p:txBody>
      </p:sp>
      <p:pic>
        <p:nvPicPr>
          <p:cNvPr id="6" name="Picture 5" descr="f32_sam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099" y="1225296"/>
            <a:ext cx="10423803" cy="182873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3182049"/>
            <a:ext cx="10911535" cy="1566750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32_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2618" y="3364929"/>
            <a:ext cx="4506764" cy="734970"/>
          </a:xfrm>
          <a:prstGeom prst="rect">
            <a:avLst/>
          </a:prstGeom>
        </p:spPr>
      </p:pic>
      <p:pic>
        <p:nvPicPr>
          <p:cNvPr id="9" name="Picture 8" descr="e32_phas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3122" y="4246203"/>
            <a:ext cx="8525755" cy="3197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4895103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Free: Gibbs sampling on the whole machine gives M samples, whose average approximates the correlation.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24871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Clamped: select a training example at random, then sample the hidden nodes given it by Gibbs sampling.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754639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Gibbs sampling is slow, so Boltzmann machines are hard to use in practice without extra ingredients.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2377440"/>
            <a:ext cx="85953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Learning as maximum likelihood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44368" y="3401568"/>
            <a:ext cx="8595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The learning rule is gradient descent on the KL divergence: maximum likelihood, carried out by a generalised EM.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Learning as maximum likelihood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learning rule is the gradient of the KL divergence</a:t>
            </a:r>
          </a:p>
        </p:txBody>
      </p:sp>
      <p:pic>
        <p:nvPicPr>
          <p:cNvPr id="6" name="Picture 5" descr="f34_deriv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11" y="1225296"/>
            <a:ext cx="10058378" cy="2101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3454912"/>
            <a:ext cx="10911535" cy="1406148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34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598" y="3637792"/>
            <a:ext cx="6458805" cy="10403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007363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KL divergence depends on the weights through the marginal of the observed nodes.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37131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That marginal is a sum over the hidden nodes, which gives the clamped term.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66899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normalisation log Z gives the free term, a sum over every state of the machine.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Learning as maximum likelihood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Boltzmann machine learning is maximum likelihood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11535" cy="2294537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e35_k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004" y="1554480"/>
            <a:ext cx="5583993" cy="977199"/>
          </a:xfrm>
          <a:prstGeom prst="rect">
            <a:avLst/>
          </a:prstGeom>
        </p:spPr>
      </p:pic>
      <p:pic>
        <p:nvPicPr>
          <p:cNvPr id="8" name="Picture 7" descr="e35_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833" y="2677983"/>
            <a:ext cx="8472333" cy="8052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812441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Only the second term depends on the weights, so the first can be ignored.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42209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With R from the training data, minimising the KL divergence is the maximum likelihood criterion.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71977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ML is a good strategy even if we do not know the correct form of the distribution: it seeks the best fit.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01745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observed marginal sums over hidden states and needs Z: it cannot be computed for large machines.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31513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EM turns the sum over hidden states into an E-step; Gibbs sampling estimates it and the free correlations.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Learning as maximum likelihood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Boltzmann machine learns by a generalised EM</a:t>
            </a:r>
          </a:p>
        </p:txBody>
      </p:sp>
      <p:pic>
        <p:nvPicPr>
          <p:cNvPr id="6" name="Picture 5" descr="f36_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11" y="1225296"/>
            <a:ext cx="10058378" cy="1596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2949720"/>
            <a:ext cx="10911535" cy="1539483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36_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350" y="3132600"/>
            <a:ext cx="7007299" cy="11737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635506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E-step minimises F over each Q, one per training image: the hidden nodes' distribution, data clamped.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65274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few steps of the learning rule lower F without minimising it: a partial M-step, as in generalised 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95042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Gibbs sampling is needed for each step; with sampled correlations F falls only on average.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24810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EM converges to a local optimum, which need not be the real maximum likelihood estimate.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Learning as maximum likelihood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restricted Boltzmann machine has a bipartite graph</a:t>
            </a:r>
          </a:p>
        </p:txBody>
      </p:sp>
      <p:pic>
        <p:nvPicPr>
          <p:cNvPr id="6" name="Picture 5" descr="f37_rb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11" y="1225296"/>
            <a:ext cx="10058378" cy="187426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3227575"/>
            <a:ext cx="10911535" cy="2120721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37_rb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939" y="3410455"/>
            <a:ext cx="9692121" cy="940606"/>
          </a:xfrm>
          <a:prstGeom prst="rect">
            <a:avLst/>
          </a:prstGeom>
        </p:spPr>
      </p:pic>
      <p:pic>
        <p:nvPicPr>
          <p:cNvPr id="9" name="Picture 8" descr="e37_co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4315" y="4497365"/>
            <a:ext cx="9343369" cy="6680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494600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Restricted Boltzmann machines (RBMs) have weights only between the observed and the hidden nodes.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24368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conditional of each layer given the other factorises: a whole layer is sampled at once, very rapidly.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Learning as maximum likelihood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RBMs sample a whole layer at once, and can be stacked</a:t>
            </a:r>
          </a:p>
        </p:txBody>
      </p:sp>
      <p:pic>
        <p:nvPicPr>
          <p:cNvPr id="6" name="Picture 5" descr="f38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11" y="1225296"/>
            <a:ext cx="10058378" cy="27431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114794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Clamped: the hidden layer given the data is sampled in one 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44562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Free: alternate between the two layers; each step is cheap, but the chain can still mix slowly.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74330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One RBM learns one layer of features; Hinton et al. (2006) stacked them into a deep network.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04098"/>
            <a:ext cx="109115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On images of handwritten digits, the stacked network learnt a generative model that also classified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79586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G. E. Hinton, S. Osindero and Y.-W. Teh, “A fast learning algorithm for deep belief nets,” Neural Computation, 18(7):1527–1554, 2006.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Learning as maximum likelihood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91153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Learning estimates the parameters of a distribution: maximum likelihood, in batch or online.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Maximum likelihood minimises the KL divergence to the data; a prior matters most when data are few.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Hidden variables are missing from the training data; k-means alternates assignments and means.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EM learns with hidden variables: the E-step infers them, the M-step re-estimates the parameters.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EM minimises a free energy; with exact E-steps the likelihood never decreases, up to a local optimum.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Soft k-means is EM for a mixture of Gaussians; hard k-means is its hard-assignment limit.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Boltzmann machine is a Gibbs distribution on neurons; Gibbs sampling estimates its correlations.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Its rule, clamped minus free correlations, is maximum likelihood carried out by a generalised 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</TotalTime>
  <Words>3779</Words>
  <Application>Microsoft Macintosh PowerPoint</Application>
  <PresentationFormat>Widescreen</PresentationFormat>
  <Paragraphs>330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Jeremy Chen</cp:lastModifiedBy>
  <cp:revision>4</cp:revision>
  <dcterms:created xsi:type="dcterms:W3CDTF">2013-01-27T09:14:16Z</dcterms:created>
  <dcterms:modified xsi:type="dcterms:W3CDTF">2026-09-22T20:04:32Z</dcterms:modified>
  <cp:category/>
</cp:coreProperties>
</file>