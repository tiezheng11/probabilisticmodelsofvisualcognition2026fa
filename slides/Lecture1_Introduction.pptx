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0"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6858000" cx="12192000"/>
  <p:notesSz cx="7023100" cy="9309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g/Px07usJ+S8046iBMGpwSga28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slide" Target="slides/slide41.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2300" y="4421800"/>
            <a:ext cx="5618475" cy="41890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5: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6: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7: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8: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0: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1: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2: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3: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4: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4: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5: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6: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6: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7: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8: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9: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0: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1: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1: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2: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2: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3: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4: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4: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5: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5: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6: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6: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7: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7: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8: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8: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9: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9: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0: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0: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1:notes"/>
          <p:cNvSpPr txBox="1"/>
          <p:nvPr>
            <p:ph idx="1" type="body"/>
          </p:nvPr>
        </p:nvSpPr>
        <p:spPr>
          <a:xfrm>
            <a:off x="702300" y="4421800"/>
            <a:ext cx="5618475" cy="41890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1:notes"/>
          <p:cNvSpPr/>
          <p:nvPr>
            <p:ph idx="2" type="sldImg"/>
          </p:nvPr>
        </p:nvSpPr>
        <p:spPr>
          <a:xfrm>
            <a:off x="1170750" y="698175"/>
            <a:ext cx="4682300" cy="3490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5183188" y="987425"/>
            <a:ext cx="6172200" cy="4873625"/>
          </a:xfrm>
          <a:prstGeom prst="rect">
            <a:avLst/>
          </a:prstGeom>
          <a:noFill/>
          <a:ln>
            <a:noFill/>
          </a:ln>
        </p:spPr>
      </p:sp>
      <p:sp>
        <p:nvSpPr>
          <p:cNvPr id="64" name="Google Shape;64;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9" name="Shape 89"/>
        <p:cNvGrpSpPr/>
        <p:nvPr/>
      </p:nvGrpSpPr>
      <p:grpSpPr>
        <a:xfrm>
          <a:off x="0" y="0"/>
          <a:ext cx="0" cy="0"/>
          <a:chOff x="0" y="0"/>
          <a:chExt cx="0" cy="0"/>
        </a:xfrm>
      </p:grpSpPr>
      <p:sp>
        <p:nvSpPr>
          <p:cNvPr id="90" name="Google Shape;90;p46"/>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46"/>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2" name="Google Shape;92;p46"/>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6"/>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6"/>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95" name="Shape 95"/>
        <p:cNvGrpSpPr/>
        <p:nvPr/>
      </p:nvGrpSpPr>
      <p:grpSpPr>
        <a:xfrm>
          <a:off x="0" y="0"/>
          <a:ext cx="0" cy="0"/>
          <a:chOff x="0" y="0"/>
          <a:chExt cx="0" cy="0"/>
        </a:xfrm>
      </p:grpSpPr>
      <p:grpSp>
        <p:nvGrpSpPr>
          <p:cNvPr id="96" name="Google Shape;96;p59"/>
          <p:cNvGrpSpPr/>
          <p:nvPr/>
        </p:nvGrpSpPr>
        <p:grpSpPr>
          <a:xfrm>
            <a:off x="-1380067" y="1552576"/>
            <a:ext cx="13572067" cy="5305425"/>
            <a:chOff x="-652" y="978"/>
            <a:chExt cx="6412" cy="3342"/>
          </a:xfrm>
        </p:grpSpPr>
        <p:sp>
          <p:nvSpPr>
            <p:cNvPr id="97" name="Google Shape;97;p59"/>
            <p:cNvSpPr/>
            <p:nvPr/>
          </p:nvSpPr>
          <p:spPr>
            <a:xfrm>
              <a:off x="2061" y="1707"/>
              <a:ext cx="3699" cy="2613"/>
            </a:xfrm>
            <a:custGeom>
              <a:rect b="b" l="l" r="r" t="t"/>
              <a:pathLst>
                <a:path extrusionOk="0" h="2613" w="3699">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a:gsLst>
                <a:gs pos="0">
                  <a:srgbClr val="2347B3"/>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98" name="Google Shape;98;p59"/>
            <p:cNvSpPr/>
            <p:nvPr/>
          </p:nvSpPr>
          <p:spPr>
            <a:xfrm>
              <a:off x="-652" y="978"/>
              <a:ext cx="4237" cy="3342"/>
            </a:xfrm>
            <a:custGeom>
              <a:rect b="b" l="l" r="r" t="t"/>
              <a:pathLst>
                <a:path extrusionOk="0" fill="none" h="21231" w="21600">
                  <a:moveTo>
                    <a:pt x="3976" y="0"/>
                  </a:moveTo>
                  <a:cubicBezTo>
                    <a:pt x="14194" y="1914"/>
                    <a:pt x="21600" y="10835"/>
                    <a:pt x="21600" y="21231"/>
                  </a:cubicBezTo>
                </a:path>
                <a:path extrusionOk="0" h="21231" w="21600">
                  <a:moveTo>
                    <a:pt x="3976" y="0"/>
                  </a:moveTo>
                  <a:cubicBezTo>
                    <a:pt x="14194" y="1914"/>
                    <a:pt x="21600" y="10835"/>
                    <a:pt x="21600" y="21231"/>
                  </a:cubicBezTo>
                  <a:lnTo>
                    <a:pt x="0" y="21231"/>
                  </a:lnTo>
                  <a:lnTo>
                    <a:pt x="3976"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
        <p:nvSpPr>
          <p:cNvPr id="99" name="Google Shape;99;p59"/>
          <p:cNvSpPr txBox="1"/>
          <p:nvPr>
            <p:ph type="ctrTitle"/>
          </p:nvPr>
        </p:nvSpPr>
        <p:spPr>
          <a:xfrm>
            <a:off x="1725084" y="762000"/>
            <a:ext cx="10363200" cy="11430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59"/>
          <p:cNvSpPr txBox="1"/>
          <p:nvPr>
            <p:ph idx="1" type="subTitle"/>
          </p:nvPr>
        </p:nvSpPr>
        <p:spPr>
          <a:xfrm>
            <a:off x="914400" y="3429000"/>
            <a:ext cx="8534400" cy="1752600"/>
          </a:xfrm>
          <a:prstGeom prst="rect">
            <a:avLst/>
          </a:prstGeom>
          <a:noFill/>
          <a:ln>
            <a:noFill/>
          </a:ln>
        </p:spPr>
        <p:txBody>
          <a:bodyPr anchorCtr="0" anchor="ctr" bIns="46025" lIns="92075" spcFirstLastPara="1" rIns="92075" wrap="square" tIns="46025">
            <a:noAutofit/>
          </a:bodyPr>
          <a:lstStyle>
            <a:lvl1pPr lvl="0" algn="ctr">
              <a:spcBef>
                <a:spcPts val="640"/>
              </a:spcBef>
              <a:spcAft>
                <a:spcPts val="0"/>
              </a:spcAft>
              <a:buSzPts val="2560"/>
              <a:buFont typeface="Noto Sans Symbols"/>
              <a:buNone/>
              <a:defRPr/>
            </a:lvl1pPr>
            <a:lvl2pPr lvl="1" algn="l">
              <a:spcBef>
                <a:spcPts val="360"/>
              </a:spcBef>
              <a:spcAft>
                <a:spcPts val="0"/>
              </a:spcAft>
              <a:buSzPts val="1620"/>
              <a:buChar char="–"/>
              <a:defRPr/>
            </a:lvl2pPr>
            <a:lvl3pPr lvl="2" algn="l">
              <a:spcBef>
                <a:spcPts val="360"/>
              </a:spcBef>
              <a:spcAft>
                <a:spcPts val="0"/>
              </a:spcAft>
              <a:buSzPts val="108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01" name="Google Shape;101;p59"/>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9"/>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9"/>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60"/>
          <p:cNvSpPr txBox="1"/>
          <p:nvPr>
            <p:ph type="title"/>
          </p:nvPr>
        </p:nvSpPr>
        <p:spPr>
          <a:xfrm>
            <a:off x="831851" y="1709739"/>
            <a:ext cx="10515600" cy="2852737"/>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60"/>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1920"/>
              <a:buNone/>
              <a:defRPr sz="2400"/>
            </a:lvl1pPr>
            <a:lvl2pPr indent="-228600" lvl="1" marL="914400" algn="l">
              <a:spcBef>
                <a:spcPts val="400"/>
              </a:spcBef>
              <a:spcAft>
                <a:spcPts val="0"/>
              </a:spcAft>
              <a:buSzPts val="1800"/>
              <a:buFont typeface="Times New Roman"/>
              <a:buNone/>
              <a:defRPr sz="2000"/>
            </a:lvl2pPr>
            <a:lvl3pPr indent="-228600" lvl="2" marL="1371600" algn="l">
              <a:spcBef>
                <a:spcPts val="360"/>
              </a:spcBef>
              <a:spcAft>
                <a:spcPts val="0"/>
              </a:spcAft>
              <a:buSzPts val="1080"/>
              <a:buNone/>
              <a:defRPr sz="1800"/>
            </a:lvl3pPr>
            <a:lvl4pPr indent="-228600" lvl="3" marL="1828800" algn="l">
              <a:spcBef>
                <a:spcPts val="320"/>
              </a:spcBef>
              <a:spcAft>
                <a:spcPts val="0"/>
              </a:spcAft>
              <a:buSzPts val="1600"/>
              <a:buFont typeface="Times New Roman"/>
              <a:buNone/>
              <a:defRPr sz="1600"/>
            </a:lvl4pPr>
            <a:lvl5pPr indent="-228600" lvl="4" marL="2286000" algn="l">
              <a:spcBef>
                <a:spcPts val="320"/>
              </a:spcBef>
              <a:spcAft>
                <a:spcPts val="0"/>
              </a:spcAft>
              <a:buSzPts val="1600"/>
              <a:buFont typeface="Times New Roman"/>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107" name="Google Shape;107;p60"/>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60"/>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60"/>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61"/>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61"/>
          <p:cNvSpPr txBox="1"/>
          <p:nvPr>
            <p:ph idx="1" type="body"/>
          </p:nvPr>
        </p:nvSpPr>
        <p:spPr>
          <a:xfrm>
            <a:off x="914400" y="1981200"/>
            <a:ext cx="50800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 name="Google Shape;113;p61"/>
          <p:cNvSpPr txBox="1"/>
          <p:nvPr>
            <p:ph idx="2"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4" name="Google Shape;114;p61"/>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61"/>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1"/>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62"/>
          <p:cNvSpPr txBox="1"/>
          <p:nvPr>
            <p:ph type="title"/>
          </p:nvPr>
        </p:nvSpPr>
        <p:spPr>
          <a:xfrm>
            <a:off x="840317" y="365126"/>
            <a:ext cx="10515600" cy="1325563"/>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62"/>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800"/>
              <a:buFont typeface="Times New Roman"/>
              <a:buNone/>
              <a:defRPr b="1" sz="2000"/>
            </a:lvl2pPr>
            <a:lvl3pPr indent="-228600" lvl="2" marL="1371600" algn="l">
              <a:spcBef>
                <a:spcPts val="360"/>
              </a:spcBef>
              <a:spcAft>
                <a:spcPts val="0"/>
              </a:spcAft>
              <a:buSzPts val="108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0" name="Google Shape;120;p62"/>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1" name="Google Shape;121;p62"/>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800"/>
              <a:buFont typeface="Times New Roman"/>
              <a:buNone/>
              <a:defRPr b="1" sz="2000"/>
            </a:lvl2pPr>
            <a:lvl3pPr indent="-228600" lvl="2" marL="1371600" algn="l">
              <a:spcBef>
                <a:spcPts val="360"/>
              </a:spcBef>
              <a:spcAft>
                <a:spcPts val="0"/>
              </a:spcAft>
              <a:buSzPts val="108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62"/>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3" name="Google Shape;123;p62"/>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62"/>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62"/>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63"/>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8" name="Google Shape;128;p63"/>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63"/>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3"/>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64"/>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4"/>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4"/>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65"/>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7" name="Google Shape;137;p65"/>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391160" lvl="0" marL="457200" algn="l">
              <a:spcBef>
                <a:spcPts val="640"/>
              </a:spcBef>
              <a:spcAft>
                <a:spcPts val="0"/>
              </a:spcAft>
              <a:buSzPts val="2560"/>
              <a:buChar char="●"/>
              <a:defRPr sz="3200"/>
            </a:lvl1pPr>
            <a:lvl2pPr indent="-388620" lvl="1" marL="914400" algn="l">
              <a:spcBef>
                <a:spcPts val="560"/>
              </a:spcBef>
              <a:spcAft>
                <a:spcPts val="0"/>
              </a:spcAft>
              <a:buSzPts val="2520"/>
              <a:buFont typeface="Times New Roman"/>
              <a:buChar char="–"/>
              <a:defRPr sz="2800"/>
            </a:lvl2pPr>
            <a:lvl3pPr indent="-320040" lvl="2" marL="1371600" algn="l">
              <a:spcBef>
                <a:spcPts val="480"/>
              </a:spcBef>
              <a:spcAft>
                <a:spcPts val="0"/>
              </a:spcAft>
              <a:buSzPts val="1440"/>
              <a:buChar char="●"/>
              <a:defRPr sz="2400"/>
            </a:lvl3pPr>
            <a:lvl4pPr indent="-355600" lvl="3" marL="1828800" algn="l">
              <a:spcBef>
                <a:spcPts val="400"/>
              </a:spcBef>
              <a:spcAft>
                <a:spcPts val="0"/>
              </a:spcAft>
              <a:buSzPts val="2000"/>
              <a:buFont typeface="Times New Roman"/>
              <a:buChar char="–"/>
              <a:defRPr sz="2000"/>
            </a:lvl4pPr>
            <a:lvl5pPr indent="-355600" lvl="4" marL="2286000" algn="l">
              <a:spcBef>
                <a:spcPts val="400"/>
              </a:spcBef>
              <a:spcAft>
                <a:spcPts val="0"/>
              </a:spcAft>
              <a:buSzPts val="2000"/>
              <a:buFont typeface="Times New Roman"/>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138" name="Google Shape;138;p65"/>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280"/>
              <a:buNone/>
              <a:defRPr sz="1600"/>
            </a:lvl1pPr>
            <a:lvl2pPr indent="-228600" lvl="1" marL="914400" algn="l">
              <a:spcBef>
                <a:spcPts val="280"/>
              </a:spcBef>
              <a:spcAft>
                <a:spcPts val="0"/>
              </a:spcAft>
              <a:buSzPts val="1260"/>
              <a:buFont typeface="Times New Roman"/>
              <a:buNone/>
              <a:defRPr sz="1400"/>
            </a:lvl2pPr>
            <a:lvl3pPr indent="-228600" lvl="2" marL="1371600" algn="l">
              <a:spcBef>
                <a:spcPts val="240"/>
              </a:spcBef>
              <a:spcAft>
                <a:spcPts val="0"/>
              </a:spcAft>
              <a:buSzPts val="72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9" name="Google Shape;139;p65"/>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65"/>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65"/>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66"/>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 name="Google Shape;144;p66"/>
          <p:cNvSpPr/>
          <p:nvPr>
            <p:ph idx="2" type="pic"/>
          </p:nvPr>
        </p:nvSpPr>
        <p:spPr>
          <a:xfrm>
            <a:off x="5183717" y="987426"/>
            <a:ext cx="6172200" cy="4873625"/>
          </a:xfrm>
          <a:prstGeom prst="rect">
            <a:avLst/>
          </a:prstGeom>
          <a:noFill/>
          <a:ln>
            <a:noFill/>
          </a:ln>
        </p:spPr>
      </p:sp>
      <p:sp>
        <p:nvSpPr>
          <p:cNvPr id="145" name="Google Shape;145;p66"/>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280"/>
              <a:buNone/>
              <a:defRPr sz="1600"/>
            </a:lvl1pPr>
            <a:lvl2pPr indent="-228600" lvl="1" marL="914400" algn="l">
              <a:spcBef>
                <a:spcPts val="280"/>
              </a:spcBef>
              <a:spcAft>
                <a:spcPts val="0"/>
              </a:spcAft>
              <a:buSzPts val="1260"/>
              <a:buFont typeface="Times New Roman"/>
              <a:buNone/>
              <a:defRPr sz="1400"/>
            </a:lvl2pPr>
            <a:lvl3pPr indent="-228600" lvl="2" marL="1371600" algn="l">
              <a:spcBef>
                <a:spcPts val="240"/>
              </a:spcBef>
              <a:spcAft>
                <a:spcPts val="0"/>
              </a:spcAft>
              <a:buSzPts val="72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46" name="Google Shape;146;p66"/>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66"/>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66"/>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67"/>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1" name="Google Shape;151;p67"/>
          <p:cNvSpPr txBox="1"/>
          <p:nvPr>
            <p:ph idx="1" type="body"/>
          </p:nvPr>
        </p:nvSpPr>
        <p:spPr>
          <a:xfrm rot="5400000">
            <a:off x="4038600" y="-1143000"/>
            <a:ext cx="4114800" cy="103632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2" name="Google Shape;152;p67"/>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67"/>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67"/>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68"/>
          <p:cNvSpPr txBox="1"/>
          <p:nvPr>
            <p:ph type="title"/>
          </p:nvPr>
        </p:nvSpPr>
        <p:spPr>
          <a:xfrm rot="5400000">
            <a:off x="7239000" y="2057400"/>
            <a:ext cx="5486400" cy="25908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7" name="Google Shape;157;p68"/>
          <p:cNvSpPr txBox="1"/>
          <p:nvPr>
            <p:ph idx="1" type="body"/>
          </p:nvPr>
        </p:nvSpPr>
        <p:spPr>
          <a:xfrm rot="5400000">
            <a:off x="1955800" y="-431800"/>
            <a:ext cx="5486400" cy="75692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8" name="Google Shape;158;p68"/>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68"/>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68"/>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rgbClr val="FFFFFF"/>
                </a:solidFill>
                <a:latin typeface="Times New Roman"/>
                <a:ea typeface="Times New Roman"/>
                <a:cs typeface="Times New Roman"/>
                <a:sym typeface="Times New Roman"/>
              </a:defRPr>
            </a:lvl1pPr>
            <a:lvl2pPr indent="0" lvl="1" marL="0" marR="0" algn="r">
              <a:spcBef>
                <a:spcPts val="0"/>
              </a:spcBef>
              <a:buNone/>
              <a:defRPr sz="1400">
                <a:solidFill>
                  <a:srgbClr val="FFFFFF"/>
                </a:solidFill>
                <a:latin typeface="Times New Roman"/>
                <a:ea typeface="Times New Roman"/>
                <a:cs typeface="Times New Roman"/>
                <a:sym typeface="Times New Roman"/>
              </a:defRPr>
            </a:lvl2pPr>
            <a:lvl3pPr indent="0" lvl="2" marL="0" marR="0" algn="r">
              <a:spcBef>
                <a:spcPts val="0"/>
              </a:spcBef>
              <a:buNone/>
              <a:defRPr sz="1400">
                <a:solidFill>
                  <a:srgbClr val="FFFFFF"/>
                </a:solidFill>
                <a:latin typeface="Times New Roman"/>
                <a:ea typeface="Times New Roman"/>
                <a:cs typeface="Times New Roman"/>
                <a:sym typeface="Times New Roman"/>
              </a:defRPr>
            </a:lvl3pPr>
            <a:lvl4pPr indent="0" lvl="3" marL="0" marR="0" algn="r">
              <a:spcBef>
                <a:spcPts val="0"/>
              </a:spcBef>
              <a:buNone/>
              <a:defRPr sz="1400">
                <a:solidFill>
                  <a:srgbClr val="FFFFFF"/>
                </a:solidFill>
                <a:latin typeface="Times New Roman"/>
                <a:ea typeface="Times New Roman"/>
                <a:cs typeface="Times New Roman"/>
                <a:sym typeface="Times New Roman"/>
              </a:defRPr>
            </a:lvl4pPr>
            <a:lvl5pPr indent="0" lvl="4" marL="0" marR="0" algn="r">
              <a:spcBef>
                <a:spcPts val="0"/>
              </a:spcBef>
              <a:buNone/>
              <a:defRPr sz="1400">
                <a:solidFill>
                  <a:srgbClr val="FFFFFF"/>
                </a:solidFill>
                <a:latin typeface="Times New Roman"/>
                <a:ea typeface="Times New Roman"/>
                <a:cs typeface="Times New Roman"/>
                <a:sym typeface="Times New Roman"/>
              </a:defRPr>
            </a:lvl5pPr>
            <a:lvl6pPr indent="0" lvl="5" marL="0" marR="0" algn="r">
              <a:spcBef>
                <a:spcPts val="0"/>
              </a:spcBef>
              <a:buNone/>
              <a:defRPr sz="1400">
                <a:solidFill>
                  <a:srgbClr val="FFFFFF"/>
                </a:solidFill>
                <a:latin typeface="Times New Roman"/>
                <a:ea typeface="Times New Roman"/>
                <a:cs typeface="Times New Roman"/>
                <a:sym typeface="Times New Roman"/>
              </a:defRPr>
            </a:lvl6pPr>
            <a:lvl7pPr indent="0" lvl="6" marL="0" marR="0" algn="r">
              <a:spcBef>
                <a:spcPts val="0"/>
              </a:spcBef>
              <a:buNone/>
              <a:defRPr sz="1400">
                <a:solidFill>
                  <a:srgbClr val="FFFFFF"/>
                </a:solidFill>
                <a:latin typeface="Times New Roman"/>
                <a:ea typeface="Times New Roman"/>
                <a:cs typeface="Times New Roman"/>
                <a:sym typeface="Times New Roman"/>
              </a:defRPr>
            </a:lvl7pPr>
            <a:lvl8pPr indent="0" lvl="7" marL="0" marR="0" algn="r">
              <a:spcBef>
                <a:spcPts val="0"/>
              </a:spcBef>
              <a:buNone/>
              <a:defRPr sz="1400">
                <a:solidFill>
                  <a:srgbClr val="FFFFFF"/>
                </a:solidFill>
                <a:latin typeface="Times New Roman"/>
                <a:ea typeface="Times New Roman"/>
                <a:cs typeface="Times New Roman"/>
                <a:sym typeface="Times New Roman"/>
              </a:defRPr>
            </a:lvl8pPr>
            <a:lvl9pPr indent="0" lvl="8" marL="0" marR="0" algn="r">
              <a:spcBef>
                <a:spcPts val="0"/>
              </a:spcBef>
              <a:buNone/>
              <a:defRPr sz="14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0" name="Shape 170"/>
        <p:cNvGrpSpPr/>
        <p:nvPr/>
      </p:nvGrpSpPr>
      <p:grpSpPr>
        <a:xfrm>
          <a:off x="0" y="0"/>
          <a:ext cx="0" cy="0"/>
          <a:chOff x="0" y="0"/>
          <a:chExt cx="0" cy="0"/>
        </a:xfrm>
      </p:grpSpPr>
      <p:sp>
        <p:nvSpPr>
          <p:cNvPr id="171" name="Google Shape;171;p48"/>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2" name="Google Shape;172;p48"/>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48"/>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48"/>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5" name="Shape 175"/>
        <p:cNvGrpSpPr/>
        <p:nvPr/>
      </p:nvGrpSpPr>
      <p:grpSpPr>
        <a:xfrm>
          <a:off x="0" y="0"/>
          <a:ext cx="0" cy="0"/>
          <a:chOff x="0" y="0"/>
          <a:chExt cx="0" cy="0"/>
        </a:xfrm>
      </p:grpSpPr>
      <p:sp>
        <p:nvSpPr>
          <p:cNvPr id="176" name="Google Shape;176;p49"/>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7" name="Google Shape;177;p49"/>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78" name="Google Shape;178;p49"/>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9"/>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9"/>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1" name="Shape 181"/>
        <p:cNvGrpSpPr/>
        <p:nvPr/>
      </p:nvGrpSpPr>
      <p:grpSpPr>
        <a:xfrm>
          <a:off x="0" y="0"/>
          <a:ext cx="0" cy="0"/>
          <a:chOff x="0" y="0"/>
          <a:chExt cx="0" cy="0"/>
        </a:xfrm>
      </p:grpSpPr>
      <p:grpSp>
        <p:nvGrpSpPr>
          <p:cNvPr id="182" name="Google Shape;182;p69"/>
          <p:cNvGrpSpPr/>
          <p:nvPr/>
        </p:nvGrpSpPr>
        <p:grpSpPr>
          <a:xfrm>
            <a:off x="-1380067" y="1552576"/>
            <a:ext cx="13572067" cy="5305425"/>
            <a:chOff x="-652" y="978"/>
            <a:chExt cx="6412" cy="3342"/>
          </a:xfrm>
        </p:grpSpPr>
        <p:sp>
          <p:nvSpPr>
            <p:cNvPr id="183" name="Google Shape;183;p69"/>
            <p:cNvSpPr/>
            <p:nvPr/>
          </p:nvSpPr>
          <p:spPr>
            <a:xfrm>
              <a:off x="2061" y="1707"/>
              <a:ext cx="3699" cy="2613"/>
            </a:xfrm>
            <a:custGeom>
              <a:rect b="b" l="l" r="r" t="t"/>
              <a:pathLst>
                <a:path extrusionOk="0" h="2613" w="3699">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a:gsLst>
                <a:gs pos="0">
                  <a:srgbClr val="2347B3"/>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84" name="Google Shape;184;p69"/>
            <p:cNvSpPr/>
            <p:nvPr/>
          </p:nvSpPr>
          <p:spPr>
            <a:xfrm>
              <a:off x="-652" y="978"/>
              <a:ext cx="4237" cy="3342"/>
            </a:xfrm>
            <a:custGeom>
              <a:rect b="b" l="l" r="r" t="t"/>
              <a:pathLst>
                <a:path extrusionOk="0" fill="none" h="21231" w="21600">
                  <a:moveTo>
                    <a:pt x="3976" y="0"/>
                  </a:moveTo>
                  <a:cubicBezTo>
                    <a:pt x="14194" y="1914"/>
                    <a:pt x="21600" y="10835"/>
                    <a:pt x="21600" y="21231"/>
                  </a:cubicBezTo>
                </a:path>
                <a:path extrusionOk="0" h="21231" w="21600">
                  <a:moveTo>
                    <a:pt x="3976" y="0"/>
                  </a:moveTo>
                  <a:cubicBezTo>
                    <a:pt x="14194" y="1914"/>
                    <a:pt x="21600" y="10835"/>
                    <a:pt x="21600" y="21231"/>
                  </a:cubicBezTo>
                  <a:lnTo>
                    <a:pt x="0" y="21231"/>
                  </a:lnTo>
                  <a:lnTo>
                    <a:pt x="3976"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
        <p:nvSpPr>
          <p:cNvPr id="185" name="Google Shape;185;p69"/>
          <p:cNvSpPr txBox="1"/>
          <p:nvPr>
            <p:ph type="ctrTitle"/>
          </p:nvPr>
        </p:nvSpPr>
        <p:spPr>
          <a:xfrm>
            <a:off x="1725084" y="762000"/>
            <a:ext cx="10363200" cy="11430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6" name="Google Shape;186;p69"/>
          <p:cNvSpPr txBox="1"/>
          <p:nvPr>
            <p:ph idx="1" type="subTitle"/>
          </p:nvPr>
        </p:nvSpPr>
        <p:spPr>
          <a:xfrm>
            <a:off x="914400" y="3429000"/>
            <a:ext cx="8534400" cy="1752600"/>
          </a:xfrm>
          <a:prstGeom prst="rect">
            <a:avLst/>
          </a:prstGeom>
          <a:noFill/>
          <a:ln>
            <a:noFill/>
          </a:ln>
        </p:spPr>
        <p:txBody>
          <a:bodyPr anchorCtr="0" anchor="ctr" bIns="46025" lIns="92075" spcFirstLastPara="1" rIns="92075" wrap="square" tIns="46025">
            <a:noAutofit/>
          </a:bodyPr>
          <a:lstStyle>
            <a:lvl1pPr lvl="0" algn="ctr">
              <a:spcBef>
                <a:spcPts val="640"/>
              </a:spcBef>
              <a:spcAft>
                <a:spcPts val="0"/>
              </a:spcAft>
              <a:buSzPts val="2560"/>
              <a:buFont typeface="Noto Sans Symbols"/>
              <a:buNone/>
              <a:defRPr/>
            </a:lvl1pPr>
            <a:lvl2pPr lvl="1" algn="l">
              <a:spcBef>
                <a:spcPts val="360"/>
              </a:spcBef>
              <a:spcAft>
                <a:spcPts val="0"/>
              </a:spcAft>
              <a:buSzPts val="1620"/>
              <a:buChar char="–"/>
              <a:defRPr/>
            </a:lvl2pPr>
            <a:lvl3pPr lvl="2" algn="l">
              <a:spcBef>
                <a:spcPts val="360"/>
              </a:spcBef>
              <a:spcAft>
                <a:spcPts val="0"/>
              </a:spcAft>
              <a:buSzPts val="108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87" name="Google Shape;187;p69"/>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69"/>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69"/>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0" name="Shape 190"/>
        <p:cNvGrpSpPr/>
        <p:nvPr/>
      </p:nvGrpSpPr>
      <p:grpSpPr>
        <a:xfrm>
          <a:off x="0" y="0"/>
          <a:ext cx="0" cy="0"/>
          <a:chOff x="0" y="0"/>
          <a:chExt cx="0" cy="0"/>
        </a:xfrm>
      </p:grpSpPr>
      <p:sp>
        <p:nvSpPr>
          <p:cNvPr id="191" name="Google Shape;191;p70"/>
          <p:cNvSpPr txBox="1"/>
          <p:nvPr>
            <p:ph type="title"/>
          </p:nvPr>
        </p:nvSpPr>
        <p:spPr>
          <a:xfrm>
            <a:off x="831851" y="1709739"/>
            <a:ext cx="10515600" cy="2852737"/>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2" name="Google Shape;192;p70"/>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1920"/>
              <a:buNone/>
              <a:defRPr sz="2400"/>
            </a:lvl1pPr>
            <a:lvl2pPr indent="-228600" lvl="1" marL="914400" algn="l">
              <a:spcBef>
                <a:spcPts val="400"/>
              </a:spcBef>
              <a:spcAft>
                <a:spcPts val="0"/>
              </a:spcAft>
              <a:buSzPts val="1800"/>
              <a:buFont typeface="Times New Roman"/>
              <a:buNone/>
              <a:defRPr sz="2000"/>
            </a:lvl2pPr>
            <a:lvl3pPr indent="-228600" lvl="2" marL="1371600" algn="l">
              <a:spcBef>
                <a:spcPts val="360"/>
              </a:spcBef>
              <a:spcAft>
                <a:spcPts val="0"/>
              </a:spcAft>
              <a:buSzPts val="1080"/>
              <a:buNone/>
              <a:defRPr sz="1800"/>
            </a:lvl3pPr>
            <a:lvl4pPr indent="-228600" lvl="3" marL="1828800" algn="l">
              <a:spcBef>
                <a:spcPts val="320"/>
              </a:spcBef>
              <a:spcAft>
                <a:spcPts val="0"/>
              </a:spcAft>
              <a:buSzPts val="1600"/>
              <a:buFont typeface="Times New Roman"/>
              <a:buNone/>
              <a:defRPr sz="1600"/>
            </a:lvl4pPr>
            <a:lvl5pPr indent="-228600" lvl="4" marL="2286000" algn="l">
              <a:spcBef>
                <a:spcPts val="320"/>
              </a:spcBef>
              <a:spcAft>
                <a:spcPts val="0"/>
              </a:spcAft>
              <a:buSzPts val="1600"/>
              <a:buFont typeface="Times New Roman"/>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193" name="Google Shape;193;p70"/>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70"/>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70"/>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6" name="Shape 196"/>
        <p:cNvGrpSpPr/>
        <p:nvPr/>
      </p:nvGrpSpPr>
      <p:grpSpPr>
        <a:xfrm>
          <a:off x="0" y="0"/>
          <a:ext cx="0" cy="0"/>
          <a:chOff x="0" y="0"/>
          <a:chExt cx="0" cy="0"/>
        </a:xfrm>
      </p:grpSpPr>
      <p:sp>
        <p:nvSpPr>
          <p:cNvPr id="197" name="Google Shape;197;p71"/>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8" name="Google Shape;198;p71"/>
          <p:cNvSpPr txBox="1"/>
          <p:nvPr>
            <p:ph idx="1" type="body"/>
          </p:nvPr>
        </p:nvSpPr>
        <p:spPr>
          <a:xfrm>
            <a:off x="914400" y="1981200"/>
            <a:ext cx="50800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71"/>
          <p:cNvSpPr txBox="1"/>
          <p:nvPr>
            <p:ph idx="2"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0" name="Google Shape;200;p71"/>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71"/>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71"/>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3" name="Shape 203"/>
        <p:cNvGrpSpPr/>
        <p:nvPr/>
      </p:nvGrpSpPr>
      <p:grpSpPr>
        <a:xfrm>
          <a:off x="0" y="0"/>
          <a:ext cx="0" cy="0"/>
          <a:chOff x="0" y="0"/>
          <a:chExt cx="0" cy="0"/>
        </a:xfrm>
      </p:grpSpPr>
      <p:sp>
        <p:nvSpPr>
          <p:cNvPr id="204" name="Google Shape;204;p72"/>
          <p:cNvSpPr txBox="1"/>
          <p:nvPr>
            <p:ph type="title"/>
          </p:nvPr>
        </p:nvSpPr>
        <p:spPr>
          <a:xfrm>
            <a:off x="840317" y="365126"/>
            <a:ext cx="10515600" cy="1325563"/>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5" name="Google Shape;205;p72"/>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800"/>
              <a:buFont typeface="Times New Roman"/>
              <a:buNone/>
              <a:defRPr b="1" sz="2000"/>
            </a:lvl2pPr>
            <a:lvl3pPr indent="-228600" lvl="2" marL="1371600" algn="l">
              <a:spcBef>
                <a:spcPts val="360"/>
              </a:spcBef>
              <a:spcAft>
                <a:spcPts val="0"/>
              </a:spcAft>
              <a:buSzPts val="108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06" name="Google Shape;206;p72"/>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7" name="Google Shape;207;p72"/>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920"/>
              <a:buNone/>
              <a:defRPr b="1" sz="2400"/>
            </a:lvl1pPr>
            <a:lvl2pPr indent="-228600" lvl="1" marL="914400" algn="l">
              <a:spcBef>
                <a:spcPts val="400"/>
              </a:spcBef>
              <a:spcAft>
                <a:spcPts val="0"/>
              </a:spcAft>
              <a:buSzPts val="1800"/>
              <a:buFont typeface="Times New Roman"/>
              <a:buNone/>
              <a:defRPr b="1" sz="2000"/>
            </a:lvl2pPr>
            <a:lvl3pPr indent="-228600" lvl="2" marL="1371600" algn="l">
              <a:spcBef>
                <a:spcPts val="360"/>
              </a:spcBef>
              <a:spcAft>
                <a:spcPts val="0"/>
              </a:spcAft>
              <a:buSzPts val="108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08" name="Google Shape;208;p72"/>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9" name="Google Shape;209;p72"/>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72"/>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72"/>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2" name="Shape 212"/>
        <p:cNvGrpSpPr/>
        <p:nvPr/>
      </p:nvGrpSpPr>
      <p:grpSpPr>
        <a:xfrm>
          <a:off x="0" y="0"/>
          <a:ext cx="0" cy="0"/>
          <a:chOff x="0" y="0"/>
          <a:chExt cx="0" cy="0"/>
        </a:xfrm>
      </p:grpSpPr>
      <p:sp>
        <p:nvSpPr>
          <p:cNvPr id="213" name="Google Shape;213;p73"/>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73"/>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73"/>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6" name="Shape 216"/>
        <p:cNvGrpSpPr/>
        <p:nvPr/>
      </p:nvGrpSpPr>
      <p:grpSpPr>
        <a:xfrm>
          <a:off x="0" y="0"/>
          <a:ext cx="0" cy="0"/>
          <a:chOff x="0" y="0"/>
          <a:chExt cx="0" cy="0"/>
        </a:xfrm>
      </p:grpSpPr>
      <p:sp>
        <p:nvSpPr>
          <p:cNvPr id="217" name="Google Shape;217;p74"/>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8" name="Google Shape;218;p74"/>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391160" lvl="0" marL="457200" algn="l">
              <a:spcBef>
                <a:spcPts val="640"/>
              </a:spcBef>
              <a:spcAft>
                <a:spcPts val="0"/>
              </a:spcAft>
              <a:buSzPts val="2560"/>
              <a:buChar char="●"/>
              <a:defRPr sz="3200"/>
            </a:lvl1pPr>
            <a:lvl2pPr indent="-388620" lvl="1" marL="914400" algn="l">
              <a:spcBef>
                <a:spcPts val="560"/>
              </a:spcBef>
              <a:spcAft>
                <a:spcPts val="0"/>
              </a:spcAft>
              <a:buSzPts val="2520"/>
              <a:buFont typeface="Times New Roman"/>
              <a:buChar char="–"/>
              <a:defRPr sz="2800"/>
            </a:lvl2pPr>
            <a:lvl3pPr indent="-320040" lvl="2" marL="1371600" algn="l">
              <a:spcBef>
                <a:spcPts val="480"/>
              </a:spcBef>
              <a:spcAft>
                <a:spcPts val="0"/>
              </a:spcAft>
              <a:buSzPts val="1440"/>
              <a:buChar char="●"/>
              <a:defRPr sz="2400"/>
            </a:lvl3pPr>
            <a:lvl4pPr indent="-355600" lvl="3" marL="1828800" algn="l">
              <a:spcBef>
                <a:spcPts val="400"/>
              </a:spcBef>
              <a:spcAft>
                <a:spcPts val="0"/>
              </a:spcAft>
              <a:buSzPts val="2000"/>
              <a:buFont typeface="Times New Roman"/>
              <a:buChar char="–"/>
              <a:defRPr sz="2000"/>
            </a:lvl4pPr>
            <a:lvl5pPr indent="-355600" lvl="4" marL="2286000" algn="l">
              <a:spcBef>
                <a:spcPts val="400"/>
              </a:spcBef>
              <a:spcAft>
                <a:spcPts val="0"/>
              </a:spcAft>
              <a:buSzPts val="2000"/>
              <a:buFont typeface="Times New Roman"/>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219" name="Google Shape;219;p74"/>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280"/>
              <a:buNone/>
              <a:defRPr sz="1600"/>
            </a:lvl1pPr>
            <a:lvl2pPr indent="-228600" lvl="1" marL="914400" algn="l">
              <a:spcBef>
                <a:spcPts val="280"/>
              </a:spcBef>
              <a:spcAft>
                <a:spcPts val="0"/>
              </a:spcAft>
              <a:buSzPts val="1260"/>
              <a:buFont typeface="Times New Roman"/>
              <a:buNone/>
              <a:defRPr sz="1400"/>
            </a:lvl2pPr>
            <a:lvl3pPr indent="-228600" lvl="2" marL="1371600" algn="l">
              <a:spcBef>
                <a:spcPts val="240"/>
              </a:spcBef>
              <a:spcAft>
                <a:spcPts val="0"/>
              </a:spcAft>
              <a:buSzPts val="72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20" name="Google Shape;220;p74"/>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74"/>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74"/>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3" name="Shape 223"/>
        <p:cNvGrpSpPr/>
        <p:nvPr/>
      </p:nvGrpSpPr>
      <p:grpSpPr>
        <a:xfrm>
          <a:off x="0" y="0"/>
          <a:ext cx="0" cy="0"/>
          <a:chOff x="0" y="0"/>
          <a:chExt cx="0" cy="0"/>
        </a:xfrm>
      </p:grpSpPr>
      <p:sp>
        <p:nvSpPr>
          <p:cNvPr id="224" name="Google Shape;224;p75"/>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5" name="Google Shape;225;p75"/>
          <p:cNvSpPr/>
          <p:nvPr>
            <p:ph idx="2" type="pic"/>
          </p:nvPr>
        </p:nvSpPr>
        <p:spPr>
          <a:xfrm>
            <a:off x="5183717" y="987426"/>
            <a:ext cx="6172200" cy="4873625"/>
          </a:xfrm>
          <a:prstGeom prst="rect">
            <a:avLst/>
          </a:prstGeom>
          <a:noFill/>
          <a:ln>
            <a:noFill/>
          </a:ln>
        </p:spPr>
      </p:sp>
      <p:sp>
        <p:nvSpPr>
          <p:cNvPr id="226" name="Google Shape;226;p75"/>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280"/>
              <a:buNone/>
              <a:defRPr sz="1600"/>
            </a:lvl1pPr>
            <a:lvl2pPr indent="-228600" lvl="1" marL="914400" algn="l">
              <a:spcBef>
                <a:spcPts val="280"/>
              </a:spcBef>
              <a:spcAft>
                <a:spcPts val="0"/>
              </a:spcAft>
              <a:buSzPts val="1260"/>
              <a:buFont typeface="Times New Roman"/>
              <a:buNone/>
              <a:defRPr sz="1400"/>
            </a:lvl2pPr>
            <a:lvl3pPr indent="-228600" lvl="2" marL="1371600" algn="l">
              <a:spcBef>
                <a:spcPts val="240"/>
              </a:spcBef>
              <a:spcAft>
                <a:spcPts val="0"/>
              </a:spcAft>
              <a:buSzPts val="72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27" name="Google Shape;227;p75"/>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75"/>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75"/>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0" name="Shape 230"/>
        <p:cNvGrpSpPr/>
        <p:nvPr/>
      </p:nvGrpSpPr>
      <p:grpSpPr>
        <a:xfrm>
          <a:off x="0" y="0"/>
          <a:ext cx="0" cy="0"/>
          <a:chOff x="0" y="0"/>
          <a:chExt cx="0" cy="0"/>
        </a:xfrm>
      </p:grpSpPr>
      <p:sp>
        <p:nvSpPr>
          <p:cNvPr id="231" name="Google Shape;231;p76"/>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2" name="Google Shape;232;p76"/>
          <p:cNvSpPr txBox="1"/>
          <p:nvPr>
            <p:ph idx="1" type="body"/>
          </p:nvPr>
        </p:nvSpPr>
        <p:spPr>
          <a:xfrm rot="5400000">
            <a:off x="4038600" y="-1143000"/>
            <a:ext cx="4114800" cy="103632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3" name="Google Shape;233;p76"/>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76"/>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76"/>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6" name="Shape 236"/>
        <p:cNvGrpSpPr/>
        <p:nvPr/>
      </p:nvGrpSpPr>
      <p:grpSpPr>
        <a:xfrm>
          <a:off x="0" y="0"/>
          <a:ext cx="0" cy="0"/>
          <a:chOff x="0" y="0"/>
          <a:chExt cx="0" cy="0"/>
        </a:xfrm>
      </p:grpSpPr>
      <p:sp>
        <p:nvSpPr>
          <p:cNvPr id="237" name="Google Shape;237;p77"/>
          <p:cNvSpPr txBox="1"/>
          <p:nvPr>
            <p:ph type="title"/>
          </p:nvPr>
        </p:nvSpPr>
        <p:spPr>
          <a:xfrm rot="5400000">
            <a:off x="7239000" y="2057400"/>
            <a:ext cx="5486400" cy="25908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8" name="Google Shape;238;p77"/>
          <p:cNvSpPr txBox="1"/>
          <p:nvPr>
            <p:ph idx="1" type="body"/>
          </p:nvPr>
        </p:nvSpPr>
        <p:spPr>
          <a:xfrm rot="5400000">
            <a:off x="1955800" y="-431800"/>
            <a:ext cx="5486400" cy="75692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70" lvl="1" marL="914400" algn="l">
              <a:spcBef>
                <a:spcPts val="360"/>
              </a:spcBef>
              <a:spcAft>
                <a:spcPts val="0"/>
              </a:spcAft>
              <a:buSzPts val="1620"/>
              <a:buChar char="–"/>
              <a:defRPr/>
            </a:lvl2pPr>
            <a:lvl3pPr indent="-297180" lvl="2" marL="1371600" algn="l">
              <a:spcBef>
                <a:spcPts val="360"/>
              </a:spcBef>
              <a:spcAft>
                <a:spcPts val="0"/>
              </a:spcAft>
              <a:buSzPts val="108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9" name="Google Shape;239;p77"/>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77"/>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77"/>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algn="r">
              <a:spcBef>
                <a:spcPts val="0"/>
              </a:spcBef>
              <a:buNone/>
              <a:defRPr sz="1400">
                <a:solidFill>
                  <a:schemeClr val="lt1"/>
                </a:solidFill>
                <a:latin typeface="Times New Roman"/>
                <a:ea typeface="Times New Roman"/>
                <a:cs typeface="Times New Roman"/>
                <a:sym typeface="Times New Roman"/>
              </a:defRPr>
            </a:lvl1pPr>
            <a:lvl2pPr indent="0" lvl="1" marL="0" marR="0" algn="r">
              <a:spcBef>
                <a:spcPts val="0"/>
              </a:spcBef>
              <a:buNone/>
              <a:defRPr sz="1400">
                <a:solidFill>
                  <a:schemeClr val="lt1"/>
                </a:solidFill>
                <a:latin typeface="Times New Roman"/>
                <a:ea typeface="Times New Roman"/>
                <a:cs typeface="Times New Roman"/>
                <a:sym typeface="Times New Roman"/>
              </a:defRPr>
            </a:lvl2pPr>
            <a:lvl3pPr indent="0" lvl="2" marL="0" marR="0" algn="r">
              <a:spcBef>
                <a:spcPts val="0"/>
              </a:spcBef>
              <a:buNone/>
              <a:defRPr sz="1400">
                <a:solidFill>
                  <a:schemeClr val="lt1"/>
                </a:solidFill>
                <a:latin typeface="Times New Roman"/>
                <a:ea typeface="Times New Roman"/>
                <a:cs typeface="Times New Roman"/>
                <a:sym typeface="Times New Roman"/>
              </a:defRPr>
            </a:lvl3pPr>
            <a:lvl4pPr indent="0" lvl="3" marL="0" marR="0" algn="r">
              <a:spcBef>
                <a:spcPts val="0"/>
              </a:spcBef>
              <a:buNone/>
              <a:defRPr sz="1400">
                <a:solidFill>
                  <a:schemeClr val="lt1"/>
                </a:solidFill>
                <a:latin typeface="Times New Roman"/>
                <a:ea typeface="Times New Roman"/>
                <a:cs typeface="Times New Roman"/>
                <a:sym typeface="Times New Roman"/>
              </a:defRPr>
            </a:lvl4pPr>
            <a:lvl5pPr indent="0" lvl="4" marL="0" marR="0" algn="r">
              <a:spcBef>
                <a:spcPts val="0"/>
              </a:spcBef>
              <a:buNone/>
              <a:defRPr sz="1400">
                <a:solidFill>
                  <a:schemeClr val="lt1"/>
                </a:solidFill>
                <a:latin typeface="Times New Roman"/>
                <a:ea typeface="Times New Roman"/>
                <a:cs typeface="Times New Roman"/>
                <a:sym typeface="Times New Roman"/>
              </a:defRPr>
            </a:lvl5pPr>
            <a:lvl6pPr indent="0" lvl="5" marL="0" marR="0" algn="r">
              <a:spcBef>
                <a:spcPts val="0"/>
              </a:spcBef>
              <a:buNone/>
              <a:defRPr sz="1400">
                <a:solidFill>
                  <a:schemeClr val="lt1"/>
                </a:solidFill>
                <a:latin typeface="Times New Roman"/>
                <a:ea typeface="Times New Roman"/>
                <a:cs typeface="Times New Roman"/>
                <a:sym typeface="Times New Roman"/>
              </a:defRPr>
            </a:lvl6pPr>
            <a:lvl7pPr indent="0" lvl="6" marL="0" marR="0" algn="r">
              <a:spcBef>
                <a:spcPts val="0"/>
              </a:spcBef>
              <a:buNone/>
              <a:defRPr sz="1400">
                <a:solidFill>
                  <a:schemeClr val="lt1"/>
                </a:solidFill>
                <a:latin typeface="Times New Roman"/>
                <a:ea typeface="Times New Roman"/>
                <a:cs typeface="Times New Roman"/>
                <a:sym typeface="Times New Roman"/>
              </a:defRPr>
            </a:lvl7pPr>
            <a:lvl8pPr indent="0" lvl="7" marL="0" marR="0" algn="r">
              <a:spcBef>
                <a:spcPts val="0"/>
              </a:spcBef>
              <a:buNone/>
              <a:defRPr sz="1400">
                <a:solidFill>
                  <a:schemeClr val="lt1"/>
                </a:solidFill>
                <a:latin typeface="Times New Roman"/>
                <a:ea typeface="Times New Roman"/>
                <a:cs typeface="Times New Roman"/>
                <a:sym typeface="Times New Roman"/>
              </a:defRPr>
            </a:lvl8pPr>
            <a:lvl9pPr indent="0" lvl="8" marL="0" marR="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chemeClr val="dk1"/>
            </a:gs>
          </a:gsLst>
          <a:lin ang="0" scaled="0"/>
        </a:gradFill>
      </p:bgPr>
    </p:bg>
    <p:spTree>
      <p:nvGrpSpPr>
        <p:cNvPr id="80" name="Shape 80"/>
        <p:cNvGrpSpPr/>
        <p:nvPr/>
      </p:nvGrpSpPr>
      <p:grpSpPr>
        <a:xfrm>
          <a:off x="0" y="0"/>
          <a:ext cx="0" cy="0"/>
          <a:chOff x="0" y="0"/>
          <a:chExt cx="0" cy="0"/>
        </a:xfrm>
      </p:grpSpPr>
      <p:grpSp>
        <p:nvGrpSpPr>
          <p:cNvPr id="81" name="Google Shape;81;p45"/>
          <p:cNvGrpSpPr/>
          <p:nvPr/>
        </p:nvGrpSpPr>
        <p:grpSpPr>
          <a:xfrm>
            <a:off x="0" y="1588"/>
            <a:ext cx="12177184" cy="6845300"/>
            <a:chOff x="0" y="1"/>
            <a:chExt cx="5753" cy="4312"/>
          </a:xfrm>
        </p:grpSpPr>
        <p:sp>
          <p:nvSpPr>
            <p:cNvPr id="82" name="Google Shape;82;p45"/>
            <p:cNvSpPr/>
            <p:nvPr/>
          </p:nvSpPr>
          <p:spPr>
            <a:xfrm>
              <a:off x="3394" y="999"/>
              <a:ext cx="2359" cy="3314"/>
            </a:xfrm>
            <a:custGeom>
              <a:rect b="b" l="l" r="r" t="t"/>
              <a:pathLst>
                <a:path extrusionOk="0" h="3314" w="2359">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a:gsLst>
                <a:gs pos="0">
                  <a:srgbClr val="2347B3"/>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83" name="Google Shape;83;p45"/>
            <p:cNvSpPr/>
            <p:nvPr/>
          </p:nvSpPr>
          <p:spPr>
            <a:xfrm>
              <a:off x="0" y="1"/>
              <a:ext cx="5298" cy="4312"/>
            </a:xfrm>
            <a:custGeom>
              <a:rect b="b" l="l" r="r" t="t"/>
              <a:pathLst>
                <a:path extrusionOk="0" fill="none" h="21600" w="21600">
                  <a:moveTo>
                    <a:pt x="0" y="0"/>
                  </a:moveTo>
                  <a:cubicBezTo>
                    <a:pt x="11929" y="0"/>
                    <a:pt x="21600" y="9670"/>
                    <a:pt x="21600" y="21600"/>
                  </a:cubicBezTo>
                </a:path>
                <a:path extrusionOk="0" h="21600" w="21600">
                  <a:moveTo>
                    <a:pt x="0" y="0"/>
                  </a:moveTo>
                  <a:cubicBezTo>
                    <a:pt x="11929" y="0"/>
                    <a:pt x="21600" y="9670"/>
                    <a:pt x="21600" y="21600"/>
                  </a:cubicBezTo>
                  <a:lnTo>
                    <a:pt x="0" y="21600"/>
                  </a:lnTo>
                  <a:lnTo>
                    <a:pt x="0"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
        <p:nvSpPr>
          <p:cNvPr id="84" name="Google Shape;84;p45"/>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9pPr>
          </a:lstStyle>
          <a:p/>
        </p:txBody>
      </p:sp>
      <p:sp>
        <p:nvSpPr>
          <p:cNvPr id="85" name="Google Shape;85;p45"/>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marR="0" rtl="0" algn="l">
              <a:spcBef>
                <a:spcPts val="0"/>
              </a:spcBef>
              <a:spcAft>
                <a:spcPts val="0"/>
              </a:spcAft>
              <a:buSzPts val="1400"/>
              <a:buNone/>
              <a:defRPr sz="1400">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9pPr>
          </a:lstStyle>
          <a:p/>
        </p:txBody>
      </p:sp>
      <p:sp>
        <p:nvSpPr>
          <p:cNvPr id="86" name="Google Shape;86;p45"/>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sz="1400">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9pPr>
          </a:lstStyle>
          <a:p/>
        </p:txBody>
      </p:sp>
      <p:sp>
        <p:nvSpPr>
          <p:cNvPr id="87" name="Google Shape;87;p45"/>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rtl="0" algn="r">
              <a:spcBef>
                <a:spcPts val="0"/>
              </a:spcBef>
              <a:buNone/>
              <a:defRPr b="0" sz="1400" u="none">
                <a:solidFill>
                  <a:srgbClr val="FFFFFF"/>
                </a:solidFill>
                <a:latin typeface="Times New Roman"/>
                <a:ea typeface="Times New Roman"/>
                <a:cs typeface="Times New Roman"/>
                <a:sym typeface="Times New Roman"/>
              </a:defRPr>
            </a:lvl1pPr>
            <a:lvl2pPr indent="0" lvl="1" marL="0" marR="0" rtl="0" algn="r">
              <a:spcBef>
                <a:spcPts val="0"/>
              </a:spcBef>
              <a:buNone/>
              <a:defRPr b="0" sz="1400" u="none">
                <a:solidFill>
                  <a:srgbClr val="FFFFFF"/>
                </a:solidFill>
                <a:latin typeface="Times New Roman"/>
                <a:ea typeface="Times New Roman"/>
                <a:cs typeface="Times New Roman"/>
                <a:sym typeface="Times New Roman"/>
              </a:defRPr>
            </a:lvl2pPr>
            <a:lvl3pPr indent="0" lvl="2" marL="0" marR="0" rtl="0" algn="r">
              <a:spcBef>
                <a:spcPts val="0"/>
              </a:spcBef>
              <a:buNone/>
              <a:defRPr b="0" sz="1400" u="none">
                <a:solidFill>
                  <a:srgbClr val="FFFFFF"/>
                </a:solidFill>
                <a:latin typeface="Times New Roman"/>
                <a:ea typeface="Times New Roman"/>
                <a:cs typeface="Times New Roman"/>
                <a:sym typeface="Times New Roman"/>
              </a:defRPr>
            </a:lvl3pPr>
            <a:lvl4pPr indent="0" lvl="3" marL="0" marR="0" rtl="0" algn="r">
              <a:spcBef>
                <a:spcPts val="0"/>
              </a:spcBef>
              <a:buNone/>
              <a:defRPr b="0" sz="1400" u="none">
                <a:solidFill>
                  <a:srgbClr val="FFFFFF"/>
                </a:solidFill>
                <a:latin typeface="Times New Roman"/>
                <a:ea typeface="Times New Roman"/>
                <a:cs typeface="Times New Roman"/>
                <a:sym typeface="Times New Roman"/>
              </a:defRPr>
            </a:lvl4pPr>
            <a:lvl5pPr indent="0" lvl="4" marL="0" marR="0" rtl="0" algn="r">
              <a:spcBef>
                <a:spcPts val="0"/>
              </a:spcBef>
              <a:buNone/>
              <a:defRPr b="0" sz="1400" u="none">
                <a:solidFill>
                  <a:srgbClr val="FFFFFF"/>
                </a:solidFill>
                <a:latin typeface="Times New Roman"/>
                <a:ea typeface="Times New Roman"/>
                <a:cs typeface="Times New Roman"/>
                <a:sym typeface="Times New Roman"/>
              </a:defRPr>
            </a:lvl5pPr>
            <a:lvl6pPr indent="0" lvl="5" marL="0" marR="0" rtl="0" algn="r">
              <a:spcBef>
                <a:spcPts val="0"/>
              </a:spcBef>
              <a:buNone/>
              <a:defRPr b="0" sz="1400" u="none">
                <a:solidFill>
                  <a:srgbClr val="FFFFFF"/>
                </a:solidFill>
                <a:latin typeface="Times New Roman"/>
                <a:ea typeface="Times New Roman"/>
                <a:cs typeface="Times New Roman"/>
                <a:sym typeface="Times New Roman"/>
              </a:defRPr>
            </a:lvl6pPr>
            <a:lvl7pPr indent="0" lvl="6" marL="0" marR="0" rtl="0" algn="r">
              <a:spcBef>
                <a:spcPts val="0"/>
              </a:spcBef>
              <a:buNone/>
              <a:defRPr b="0" sz="1400" u="none">
                <a:solidFill>
                  <a:srgbClr val="FFFFFF"/>
                </a:solidFill>
                <a:latin typeface="Times New Roman"/>
                <a:ea typeface="Times New Roman"/>
                <a:cs typeface="Times New Roman"/>
                <a:sym typeface="Times New Roman"/>
              </a:defRPr>
            </a:lvl7pPr>
            <a:lvl8pPr indent="0" lvl="7" marL="0" marR="0" rtl="0" algn="r">
              <a:spcBef>
                <a:spcPts val="0"/>
              </a:spcBef>
              <a:buNone/>
              <a:defRPr b="0" sz="1400" u="none">
                <a:solidFill>
                  <a:srgbClr val="FFFFFF"/>
                </a:solidFill>
                <a:latin typeface="Times New Roman"/>
                <a:ea typeface="Times New Roman"/>
                <a:cs typeface="Times New Roman"/>
                <a:sym typeface="Times New Roman"/>
              </a:defRPr>
            </a:lvl8pPr>
            <a:lvl9pPr indent="0" lvl="8" marL="0" marR="0" rtl="0" algn="r">
              <a:spcBef>
                <a:spcPts val="0"/>
              </a:spcBef>
              <a:buNone/>
              <a:defRPr b="0" sz="14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45"/>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391160" lvl="0" marL="457200" marR="0" rtl="0" algn="l">
              <a:spcBef>
                <a:spcPts val="640"/>
              </a:spcBef>
              <a:spcAft>
                <a:spcPts val="0"/>
              </a:spcAft>
              <a:buClr>
                <a:schemeClr val="accent2"/>
              </a:buClr>
              <a:buSzPts val="2560"/>
              <a:buFont typeface="Noto Sans Symbols"/>
              <a:buChar char="●"/>
              <a:defRPr b="0" i="0" sz="3200" u="none" cap="none" strike="noStrike">
                <a:solidFill>
                  <a:schemeClr val="lt1"/>
                </a:solidFill>
                <a:latin typeface="Times New Roman"/>
                <a:ea typeface="Times New Roman"/>
                <a:cs typeface="Times New Roman"/>
                <a:sym typeface="Times New Roman"/>
              </a:defRPr>
            </a:lvl1pPr>
            <a:lvl2pPr indent="-388620" lvl="1" marL="914400" marR="0" rtl="0" algn="l">
              <a:spcBef>
                <a:spcPts val="560"/>
              </a:spcBef>
              <a:spcAft>
                <a:spcPts val="0"/>
              </a:spcAft>
              <a:buClr>
                <a:schemeClr val="lt1"/>
              </a:buClr>
              <a:buSzPts val="2520"/>
              <a:buFont typeface="Times New Roman"/>
              <a:buChar char="–"/>
              <a:defRPr b="0" i="0" sz="2800" u="none" cap="none" strike="noStrike">
                <a:solidFill>
                  <a:schemeClr val="lt1"/>
                </a:solidFill>
                <a:latin typeface="Times New Roman"/>
                <a:ea typeface="Times New Roman"/>
                <a:cs typeface="Times New Roman"/>
                <a:sym typeface="Times New Roman"/>
              </a:defRPr>
            </a:lvl2pPr>
            <a:lvl3pPr indent="-320040" lvl="2" marL="1371600" marR="0" rtl="0" algn="l">
              <a:spcBef>
                <a:spcPts val="480"/>
              </a:spcBef>
              <a:spcAft>
                <a:spcPts val="0"/>
              </a:spcAft>
              <a:buClr>
                <a:schemeClr val="accent1"/>
              </a:buClr>
              <a:buSzPts val="1440"/>
              <a:buFont typeface="Noto Sans Symbols"/>
              <a:buChar char="●"/>
              <a:defRPr b="0" i="0" sz="2400" u="none" cap="none" strike="noStrike">
                <a:solidFill>
                  <a:schemeClr val="lt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accen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chemeClr val="dk1"/>
            </a:gs>
          </a:gsLst>
          <a:lin ang="0" scaled="0"/>
        </a:gradFill>
      </p:bgPr>
    </p:bg>
    <p:spTree>
      <p:nvGrpSpPr>
        <p:cNvPr id="161" name="Shape 161"/>
        <p:cNvGrpSpPr/>
        <p:nvPr/>
      </p:nvGrpSpPr>
      <p:grpSpPr>
        <a:xfrm>
          <a:off x="0" y="0"/>
          <a:ext cx="0" cy="0"/>
          <a:chOff x="0" y="0"/>
          <a:chExt cx="0" cy="0"/>
        </a:xfrm>
      </p:grpSpPr>
      <p:grpSp>
        <p:nvGrpSpPr>
          <p:cNvPr id="162" name="Google Shape;162;p47"/>
          <p:cNvGrpSpPr/>
          <p:nvPr/>
        </p:nvGrpSpPr>
        <p:grpSpPr>
          <a:xfrm>
            <a:off x="0" y="1588"/>
            <a:ext cx="12177184" cy="6845300"/>
            <a:chOff x="0" y="1"/>
            <a:chExt cx="5753" cy="4312"/>
          </a:xfrm>
        </p:grpSpPr>
        <p:sp>
          <p:nvSpPr>
            <p:cNvPr id="163" name="Google Shape;163;p47"/>
            <p:cNvSpPr/>
            <p:nvPr/>
          </p:nvSpPr>
          <p:spPr>
            <a:xfrm>
              <a:off x="3394" y="999"/>
              <a:ext cx="2359" cy="3314"/>
            </a:xfrm>
            <a:custGeom>
              <a:rect b="b" l="l" r="r" t="t"/>
              <a:pathLst>
                <a:path extrusionOk="0" h="3314" w="2359">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a:gsLst>
                <a:gs pos="0">
                  <a:srgbClr val="2347B3"/>
                </a:gs>
                <a:gs pos="100000">
                  <a:schemeClr val="accent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64" name="Google Shape;164;p47"/>
            <p:cNvSpPr/>
            <p:nvPr/>
          </p:nvSpPr>
          <p:spPr>
            <a:xfrm>
              <a:off x="0" y="1"/>
              <a:ext cx="5298" cy="4312"/>
            </a:xfrm>
            <a:custGeom>
              <a:rect b="b" l="l" r="r" t="t"/>
              <a:pathLst>
                <a:path extrusionOk="0" fill="none" h="21600" w="21600">
                  <a:moveTo>
                    <a:pt x="0" y="0"/>
                  </a:moveTo>
                  <a:cubicBezTo>
                    <a:pt x="11929" y="0"/>
                    <a:pt x="21600" y="9670"/>
                    <a:pt x="21600" y="21600"/>
                  </a:cubicBezTo>
                </a:path>
                <a:path extrusionOk="0" h="21600" w="21600">
                  <a:moveTo>
                    <a:pt x="0" y="0"/>
                  </a:moveTo>
                  <a:cubicBezTo>
                    <a:pt x="11929" y="0"/>
                    <a:pt x="21600" y="9670"/>
                    <a:pt x="21600" y="21600"/>
                  </a:cubicBezTo>
                  <a:lnTo>
                    <a:pt x="0" y="21600"/>
                  </a:lnTo>
                  <a:lnTo>
                    <a:pt x="0" y="0"/>
                  </a:lnTo>
                  <a:close/>
                </a:path>
              </a:pathLst>
            </a:custGeom>
            <a:no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
        <p:nvSpPr>
          <p:cNvPr id="165" name="Google Shape;165;p47"/>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lt2"/>
                </a:solidFill>
                <a:latin typeface="Arial"/>
                <a:ea typeface="Arial"/>
                <a:cs typeface="Arial"/>
                <a:sym typeface="Arial"/>
              </a:defRPr>
            </a:lvl9pPr>
          </a:lstStyle>
          <a:p/>
        </p:txBody>
      </p:sp>
      <p:sp>
        <p:nvSpPr>
          <p:cNvPr id="166" name="Google Shape;166;p47"/>
          <p:cNvSpPr txBox="1"/>
          <p:nvPr>
            <p:ph idx="10" type="dt"/>
          </p:nvPr>
        </p:nvSpPr>
        <p:spPr>
          <a:xfrm>
            <a:off x="914400" y="6248400"/>
            <a:ext cx="2540000" cy="457200"/>
          </a:xfrm>
          <a:prstGeom prst="rect">
            <a:avLst/>
          </a:prstGeom>
          <a:noFill/>
          <a:ln>
            <a:noFill/>
          </a:ln>
        </p:spPr>
        <p:txBody>
          <a:bodyPr anchorCtr="0" anchor="ctr" bIns="46025" lIns="92075" spcFirstLastPara="1" rIns="92075" wrap="square" tIns="46025">
            <a:noAutofit/>
          </a:bodyPr>
          <a:lstStyle>
            <a:lvl1pPr lvl="0" marR="0" rtl="0" algn="l">
              <a:spcBef>
                <a:spcPts val="0"/>
              </a:spcBef>
              <a:spcAft>
                <a:spcPts val="0"/>
              </a:spcAft>
              <a:buSzPts val="1400"/>
              <a:buNone/>
              <a:defRPr sz="1400">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9pPr>
          </a:lstStyle>
          <a:p/>
        </p:txBody>
      </p:sp>
      <p:sp>
        <p:nvSpPr>
          <p:cNvPr id="167" name="Google Shape;167;p47"/>
          <p:cNvSpPr txBox="1"/>
          <p:nvPr>
            <p:ph idx="11" type="ftr"/>
          </p:nvPr>
        </p:nvSpPr>
        <p:spPr>
          <a:xfrm>
            <a:off x="4165600" y="6248400"/>
            <a:ext cx="3860800" cy="4572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sz="1400">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lt1"/>
                </a:solidFill>
                <a:latin typeface="Times New Roman"/>
                <a:ea typeface="Times New Roman"/>
                <a:cs typeface="Times New Roman"/>
                <a:sym typeface="Times New Roman"/>
              </a:defRPr>
            </a:lvl9pPr>
          </a:lstStyle>
          <a:p/>
        </p:txBody>
      </p:sp>
      <p:sp>
        <p:nvSpPr>
          <p:cNvPr id="168" name="Google Shape;168;p47"/>
          <p:cNvSpPr txBox="1"/>
          <p:nvPr>
            <p:ph idx="12" type="sldNum"/>
          </p:nvPr>
        </p:nvSpPr>
        <p:spPr>
          <a:xfrm>
            <a:off x="8737600" y="6248400"/>
            <a:ext cx="2540000" cy="457200"/>
          </a:xfrm>
          <a:prstGeom prst="rect">
            <a:avLst/>
          </a:prstGeom>
          <a:noFill/>
          <a:ln>
            <a:noFill/>
          </a:ln>
        </p:spPr>
        <p:txBody>
          <a:bodyPr anchorCtr="0" anchor="ctr" bIns="46025" lIns="92075" spcFirstLastPara="1" rIns="92075" wrap="square" tIns="46025">
            <a:noAutofit/>
          </a:bodyPr>
          <a:lstStyle>
            <a:lvl1pPr indent="0" lvl="0" marL="0" marR="0" rtl="0" algn="r">
              <a:spcBef>
                <a:spcPts val="0"/>
              </a:spcBef>
              <a:buNone/>
              <a:defRPr sz="1400">
                <a:solidFill>
                  <a:schemeClr val="lt1"/>
                </a:solidFill>
                <a:latin typeface="Times New Roman"/>
                <a:ea typeface="Times New Roman"/>
                <a:cs typeface="Times New Roman"/>
                <a:sym typeface="Times New Roman"/>
              </a:defRPr>
            </a:lvl1pPr>
            <a:lvl2pPr indent="0" lvl="1" marL="0" marR="0" rtl="0" algn="r">
              <a:spcBef>
                <a:spcPts val="0"/>
              </a:spcBef>
              <a:buNone/>
              <a:defRPr sz="1400">
                <a:solidFill>
                  <a:schemeClr val="lt1"/>
                </a:solidFill>
                <a:latin typeface="Times New Roman"/>
                <a:ea typeface="Times New Roman"/>
                <a:cs typeface="Times New Roman"/>
                <a:sym typeface="Times New Roman"/>
              </a:defRPr>
            </a:lvl2pPr>
            <a:lvl3pPr indent="0" lvl="2" marL="0" marR="0" rtl="0" algn="r">
              <a:spcBef>
                <a:spcPts val="0"/>
              </a:spcBef>
              <a:buNone/>
              <a:defRPr sz="1400">
                <a:solidFill>
                  <a:schemeClr val="lt1"/>
                </a:solidFill>
                <a:latin typeface="Times New Roman"/>
                <a:ea typeface="Times New Roman"/>
                <a:cs typeface="Times New Roman"/>
                <a:sym typeface="Times New Roman"/>
              </a:defRPr>
            </a:lvl3pPr>
            <a:lvl4pPr indent="0" lvl="3" marL="0" marR="0" rtl="0" algn="r">
              <a:spcBef>
                <a:spcPts val="0"/>
              </a:spcBef>
              <a:buNone/>
              <a:defRPr sz="1400">
                <a:solidFill>
                  <a:schemeClr val="lt1"/>
                </a:solidFill>
                <a:latin typeface="Times New Roman"/>
                <a:ea typeface="Times New Roman"/>
                <a:cs typeface="Times New Roman"/>
                <a:sym typeface="Times New Roman"/>
              </a:defRPr>
            </a:lvl4pPr>
            <a:lvl5pPr indent="0" lvl="4" marL="0" marR="0" rtl="0" algn="r">
              <a:spcBef>
                <a:spcPts val="0"/>
              </a:spcBef>
              <a:buNone/>
              <a:defRPr sz="1400">
                <a:solidFill>
                  <a:schemeClr val="lt1"/>
                </a:solidFill>
                <a:latin typeface="Times New Roman"/>
                <a:ea typeface="Times New Roman"/>
                <a:cs typeface="Times New Roman"/>
                <a:sym typeface="Times New Roman"/>
              </a:defRPr>
            </a:lvl5pPr>
            <a:lvl6pPr indent="0" lvl="5" marL="0" marR="0" rtl="0" algn="r">
              <a:spcBef>
                <a:spcPts val="0"/>
              </a:spcBef>
              <a:buNone/>
              <a:defRPr sz="1400">
                <a:solidFill>
                  <a:schemeClr val="lt1"/>
                </a:solidFill>
                <a:latin typeface="Times New Roman"/>
                <a:ea typeface="Times New Roman"/>
                <a:cs typeface="Times New Roman"/>
                <a:sym typeface="Times New Roman"/>
              </a:defRPr>
            </a:lvl6pPr>
            <a:lvl7pPr indent="0" lvl="6" marL="0" marR="0" rtl="0" algn="r">
              <a:spcBef>
                <a:spcPts val="0"/>
              </a:spcBef>
              <a:buNone/>
              <a:defRPr sz="1400">
                <a:solidFill>
                  <a:schemeClr val="lt1"/>
                </a:solidFill>
                <a:latin typeface="Times New Roman"/>
                <a:ea typeface="Times New Roman"/>
                <a:cs typeface="Times New Roman"/>
                <a:sym typeface="Times New Roman"/>
              </a:defRPr>
            </a:lvl7pPr>
            <a:lvl8pPr indent="0" lvl="7" marL="0" marR="0" rtl="0" algn="r">
              <a:spcBef>
                <a:spcPts val="0"/>
              </a:spcBef>
              <a:buNone/>
              <a:defRPr sz="1400">
                <a:solidFill>
                  <a:schemeClr val="lt1"/>
                </a:solidFill>
                <a:latin typeface="Times New Roman"/>
                <a:ea typeface="Times New Roman"/>
                <a:cs typeface="Times New Roman"/>
                <a:sym typeface="Times New Roman"/>
              </a:defRPr>
            </a:lvl8pPr>
            <a:lvl9pPr indent="0" lvl="8" marL="0" marR="0" rtl="0" algn="r">
              <a:spcBef>
                <a:spcPts val="0"/>
              </a:spcBef>
              <a:buNone/>
              <a:defRPr sz="14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69" name="Google Shape;169;p47"/>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391160" lvl="0" marL="457200" marR="0" rtl="0" algn="l">
              <a:spcBef>
                <a:spcPts val="640"/>
              </a:spcBef>
              <a:spcAft>
                <a:spcPts val="0"/>
              </a:spcAft>
              <a:buClr>
                <a:schemeClr val="accent2"/>
              </a:buClr>
              <a:buSzPts val="2560"/>
              <a:buFont typeface="Noto Sans Symbols"/>
              <a:buChar char="●"/>
              <a:defRPr b="0" i="0" sz="3200" u="none" cap="none" strike="noStrike">
                <a:solidFill>
                  <a:schemeClr val="lt1"/>
                </a:solidFill>
                <a:latin typeface="Times New Roman"/>
                <a:ea typeface="Times New Roman"/>
                <a:cs typeface="Times New Roman"/>
                <a:sym typeface="Times New Roman"/>
              </a:defRPr>
            </a:lvl1pPr>
            <a:lvl2pPr indent="-388620" lvl="1" marL="914400" marR="0" rtl="0" algn="l">
              <a:spcBef>
                <a:spcPts val="560"/>
              </a:spcBef>
              <a:spcAft>
                <a:spcPts val="0"/>
              </a:spcAft>
              <a:buClr>
                <a:schemeClr val="lt1"/>
              </a:buClr>
              <a:buSzPts val="2520"/>
              <a:buFont typeface="Times New Roman"/>
              <a:buChar char="–"/>
              <a:defRPr b="0" i="0" sz="2800" u="none" cap="none" strike="noStrike">
                <a:solidFill>
                  <a:schemeClr val="lt1"/>
                </a:solidFill>
                <a:latin typeface="Times New Roman"/>
                <a:ea typeface="Times New Roman"/>
                <a:cs typeface="Times New Roman"/>
                <a:sym typeface="Times New Roman"/>
              </a:defRPr>
            </a:lvl2pPr>
            <a:lvl3pPr indent="-320040" lvl="2" marL="1371600" marR="0" rtl="0" algn="l">
              <a:spcBef>
                <a:spcPts val="480"/>
              </a:spcBef>
              <a:spcAft>
                <a:spcPts val="0"/>
              </a:spcAft>
              <a:buClr>
                <a:schemeClr val="accent1"/>
              </a:buClr>
              <a:buSzPts val="1440"/>
              <a:buFont typeface="Noto Sans Symbols"/>
              <a:buChar char="●"/>
              <a:defRPr b="0" i="0" sz="2400" u="none" cap="none" strike="noStrike">
                <a:solidFill>
                  <a:schemeClr val="lt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l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accent1"/>
              </a:buClr>
              <a:buSzPts val="2000"/>
              <a:buFont typeface="Times New Roman"/>
              <a:buChar char="•"/>
              <a:defRPr b="0" i="0" sz="2000" u="none" cap="none" strike="noStrike">
                <a:solidFill>
                  <a:schemeClr val="lt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tiezheng11.github.io/ProbabilisticModelsOfVisualCognition2026F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youtube.com/watch?v=e_UvpGOW-cc" TargetMode="Externa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www.youtube.com/watch?v=vJG698U2Mvo" TargetMode="Externa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www.michaelbach.de/o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7.png"/><Relationship Id="rId6"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2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
          <p:cNvSpPr txBox="1"/>
          <p:nvPr>
            <p:ph type="ctrTitle"/>
          </p:nvPr>
        </p:nvSpPr>
        <p:spPr>
          <a:xfrm>
            <a:off x="1082180" y="1122363"/>
            <a:ext cx="958582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i="1" lang="en-US"/>
              <a:t>Probabilistic Models of the Visual Cortex</a:t>
            </a:r>
            <a:br>
              <a:rPr i="1" lang="en-US"/>
            </a:br>
            <a:r>
              <a:rPr i="1" lang="en-US"/>
              <a:t>Fall 2026</a:t>
            </a:r>
            <a:endParaRPr/>
          </a:p>
        </p:txBody>
      </p:sp>
      <p:sp>
        <p:nvSpPr>
          <p:cNvPr id="247" name="Google Shape;247;p1"/>
          <p:cNvSpPr txBox="1"/>
          <p:nvPr>
            <p:ph idx="1" type="subTitle"/>
          </p:nvPr>
        </p:nvSpPr>
        <p:spPr>
          <a:xfrm>
            <a:off x="1015068" y="3602038"/>
            <a:ext cx="9652932"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rPr i="1" lang="en-US"/>
              <a:t>Alan Yuille</a:t>
            </a:r>
            <a:endParaRPr/>
          </a:p>
          <a:p>
            <a:pPr indent="0" lvl="0" marL="0" rtl="0" algn="ctr">
              <a:lnSpc>
                <a:spcPct val="90000"/>
              </a:lnSpc>
              <a:spcBef>
                <a:spcPts val="1000"/>
              </a:spcBef>
              <a:spcAft>
                <a:spcPts val="0"/>
              </a:spcAft>
              <a:buClr>
                <a:schemeClr val="dk1"/>
              </a:buClr>
              <a:buSzPts val="2400"/>
              <a:buNone/>
            </a:pPr>
            <a:r>
              <a:rPr lang="en-US"/>
              <a:t>Course Website:</a:t>
            </a:r>
            <a:endParaRPr/>
          </a:p>
          <a:p>
            <a:pPr indent="0" lvl="0" marL="0" rtl="0" algn="ctr">
              <a:lnSpc>
                <a:spcPct val="90000"/>
              </a:lnSpc>
              <a:spcBef>
                <a:spcPts val="1000"/>
              </a:spcBef>
              <a:spcAft>
                <a:spcPts val="0"/>
              </a:spcAft>
              <a:buClr>
                <a:schemeClr val="dk1"/>
              </a:buClr>
              <a:buSzPts val="2400"/>
              <a:buNone/>
            </a:pPr>
            <a:r>
              <a:rPr lang="en-US" u="sng">
                <a:solidFill>
                  <a:schemeClr val="hlink"/>
                </a:solidFill>
                <a:hlinkClick r:id="rId3"/>
              </a:rPr>
              <a:t>https://tiezheng11.github.io/ProbabilisticModelsOfVisualCognition2026FA/</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
          <p:cNvSpPr txBox="1"/>
          <p:nvPr>
            <p:ph idx="1" type="body"/>
          </p:nvPr>
        </p:nvSpPr>
        <p:spPr>
          <a:xfrm>
            <a:off x="838199" y="1825625"/>
            <a:ext cx="1111827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relationship between the study of AI &amp; NI is at a critical. AI is booming, but it is likely that taking AI to the level of human performance will require better understanding of NI – meaning Human and Primate Intelligence. Cognitive Science inspired AI.</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goal of unifying AI and NI should yield: (i) Scientific Understanding of Intelligence and (ii) the development of more advanced AI systems that can augment human intelligence, cooperate with humans, and in some situations replace humans.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53" name="Google Shape;253;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1: Artificial and Natural Intelligence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1. Big Data and Brute Force AI</a:t>
            </a:r>
            <a:endParaRPr/>
          </a:p>
        </p:txBody>
      </p:sp>
      <p:sp>
        <p:nvSpPr>
          <p:cNvPr id="259" name="Google Shape;259;p3"/>
          <p:cNvSpPr txBox="1"/>
          <p:nvPr>
            <p:ph idx="1" type="body"/>
          </p:nvPr>
        </p:nvSpPr>
        <p:spPr>
          <a:xfrm>
            <a:off x="726056" y="1578634"/>
            <a:ext cx="10515600" cy="467596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Current AI relies heavily on brute force black-box methods trained on webscale data. These models have spectacular successes but also unpredictable failure modes.</a:t>
            </a:r>
            <a:endParaRPr/>
          </a:p>
          <a:p>
            <a:pPr indent="-228600" lvl="0" marL="228600" rtl="0" algn="l">
              <a:lnSpc>
                <a:spcPct val="90000"/>
              </a:lnSpc>
              <a:spcBef>
                <a:spcPts val="1000"/>
              </a:spcBef>
              <a:spcAft>
                <a:spcPts val="0"/>
              </a:spcAft>
              <a:buClr>
                <a:schemeClr val="dk1"/>
              </a:buClr>
              <a:buSzPct val="100000"/>
              <a:buChar char="•"/>
            </a:pPr>
            <a:r>
              <a:rPr lang="en-US"/>
              <a:t>This type of Intelligence is arguably orthogonal to Human Intelligence. A modern AI system relies on, and can exploit, much more data than a Human can absorb in a lifetime.</a:t>
            </a:r>
            <a:endParaRPr/>
          </a:p>
          <a:p>
            <a:pPr indent="-228600" lvl="0" marL="228600" rtl="0" algn="l">
              <a:lnSpc>
                <a:spcPct val="90000"/>
              </a:lnSpc>
              <a:spcBef>
                <a:spcPts val="1000"/>
              </a:spcBef>
              <a:spcAft>
                <a:spcPts val="0"/>
              </a:spcAft>
              <a:buClr>
                <a:schemeClr val="dk1"/>
              </a:buClr>
              <a:buSzPct val="100000"/>
              <a:buChar char="•"/>
            </a:pPr>
            <a:r>
              <a:rPr lang="en-US"/>
              <a:t>But Humans outperform AI for Vision Tasks, with a few exceptions, and do this with little training data.  Arguably because Humans have Mental World Models, Structured Compositional Representations, and Causality.</a:t>
            </a:r>
            <a:endParaRPr/>
          </a:p>
          <a:p>
            <a:pPr indent="-228600" lvl="0" marL="228600" rtl="0" algn="l">
              <a:lnSpc>
                <a:spcPct val="90000"/>
              </a:lnSpc>
              <a:spcBef>
                <a:spcPts val="1000"/>
              </a:spcBef>
              <a:spcAft>
                <a:spcPts val="0"/>
              </a:spcAft>
              <a:buClr>
                <a:schemeClr val="dk1"/>
              </a:buClr>
              <a:buSzPct val="100000"/>
              <a:buChar char="•"/>
            </a:pPr>
            <a:r>
              <a:rPr lang="en-US"/>
              <a:t>A new generation of AI that embraces these Cognitive Science concepts will produce AI that is Interpretable, Reliable, with well understood failure modes.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2. What is Vision?</a:t>
            </a:r>
            <a:endParaRPr/>
          </a:p>
        </p:txBody>
      </p:sp>
      <p:sp>
        <p:nvSpPr>
          <p:cNvPr id="265" name="Google Shape;265;p4"/>
          <p:cNvSpPr txBox="1"/>
          <p:nvPr>
            <p:ph idx="1" type="body"/>
          </p:nvPr>
        </p:nvSpPr>
        <p:spPr>
          <a:xfrm>
            <a:off x="672947" y="1605287"/>
            <a:ext cx="10515600" cy="5032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goal of Vision is to extract information from the environment in order to take action, starting with estimating the physical properties of the 3D world from light rays that reach our eyes (or cameras).</a:t>
            </a:r>
            <a:endParaRPr/>
          </a:p>
          <a:p>
            <a:pPr indent="-228600" lvl="0" marL="228600" rtl="0" algn="l">
              <a:lnSpc>
                <a:spcPct val="90000"/>
              </a:lnSpc>
              <a:spcBef>
                <a:spcPts val="1000"/>
              </a:spcBef>
              <a:spcAft>
                <a:spcPts val="0"/>
              </a:spcAft>
              <a:buClr>
                <a:schemeClr val="dk1"/>
              </a:buClr>
              <a:buSzPts val="2800"/>
              <a:buChar char="•"/>
            </a:pPr>
            <a:r>
              <a:rPr lang="en-US"/>
              <a:t>These physical properties vary from coarse interpretations of an image -- a horse in a field -- to more detailed -- the hair on the horse, is the horse young or old, sick or healthy, and what is it doing.</a:t>
            </a:r>
            <a:endParaRPr/>
          </a:p>
          <a:p>
            <a:pPr indent="-228600" lvl="0" marL="228600" rtl="0" algn="l">
              <a:lnSpc>
                <a:spcPct val="90000"/>
              </a:lnSpc>
              <a:spcBef>
                <a:spcPts val="1000"/>
              </a:spcBef>
              <a:spcAft>
                <a:spcPts val="0"/>
              </a:spcAft>
              <a:buClr>
                <a:schemeClr val="dk1"/>
              </a:buClr>
              <a:buSzPts val="2800"/>
              <a:buChar char="•"/>
            </a:pPr>
            <a:r>
              <a:rPr lang="en-US"/>
              <a:t>Images are generated from the 3D physical world. Computer graphics and Generative AI describes how images are generated in terms of the lighting, the geometry and material properties of objects.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2: What is Vision?</a:t>
            </a:r>
            <a:endParaRPr/>
          </a:p>
        </p:txBody>
      </p:sp>
      <p:sp>
        <p:nvSpPr>
          <p:cNvPr id="271" name="Google Shape;27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Vision is a miracle. It is human’s underappreciated superpower. From a set of light rays/waves we construct a representation of the 3D world. By contrast, we cannot estimate the 3D world from water waves in a swimming pool (Richard Feynman).</a:t>
            </a:r>
            <a:endParaRPr/>
          </a:p>
          <a:p>
            <a:pPr indent="-228600" lvl="0" marL="228600" rtl="0" algn="l">
              <a:lnSpc>
                <a:spcPct val="90000"/>
              </a:lnSpc>
              <a:spcBef>
                <a:spcPts val="1000"/>
              </a:spcBef>
              <a:spcAft>
                <a:spcPts val="0"/>
              </a:spcAft>
              <a:buClr>
                <a:schemeClr val="dk1"/>
              </a:buClr>
              <a:buSzPts val="2800"/>
              <a:buChar char="•"/>
            </a:pPr>
            <a:r>
              <a:rPr lang="en-US"/>
              <a:t>Vision is subdivided into tasks which can be addressed by separate  modules -- object recognition, object detection, depth estimation. But this is partly for convenience of Vision researchers for simplification.</a:t>
            </a:r>
            <a:endParaRPr/>
          </a:p>
          <a:p>
            <a:pPr indent="-228600" lvl="0" marL="228600" rtl="0" algn="l">
              <a:lnSpc>
                <a:spcPct val="90000"/>
              </a:lnSpc>
              <a:spcBef>
                <a:spcPts val="1000"/>
              </a:spcBef>
              <a:spcAft>
                <a:spcPts val="0"/>
              </a:spcAft>
              <a:buClr>
                <a:schemeClr val="dk1"/>
              </a:buClr>
              <a:buSzPts val="2800"/>
              <a:buChar char="•"/>
            </a:pPr>
            <a:r>
              <a:rPr lang="en-US"/>
              <a:t>A full AI system needs to couple these modules together. The human visual systems performs many tasks at the same time.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2: What is Vision</a:t>
            </a:r>
            <a:endParaRPr/>
          </a:p>
        </p:txBody>
      </p:sp>
      <p:sp>
        <p:nvSpPr>
          <p:cNvPr id="277" name="Google Shape;27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Computer Vision is increasingly conceived as part of a bigger Perception (Vision), Reasoning, and Action system.</a:t>
            </a:r>
            <a:endParaRPr/>
          </a:p>
          <a:p>
            <a:pPr indent="-228600" lvl="0" marL="228600" rtl="0" algn="l">
              <a:lnSpc>
                <a:spcPct val="90000"/>
              </a:lnSpc>
              <a:spcBef>
                <a:spcPts val="1000"/>
              </a:spcBef>
              <a:spcAft>
                <a:spcPts val="0"/>
              </a:spcAft>
              <a:buClr>
                <a:schemeClr val="dk1"/>
              </a:buClr>
              <a:buSzPts val="2800"/>
              <a:buChar char="•"/>
            </a:pPr>
            <a:r>
              <a:rPr lang="en-US"/>
              <a:t>This is partly due to the availability of Large Language Models (LLMs) as general purpose reasoning and action systems which can take advantage of the enormous knowledge stored in text. </a:t>
            </a:r>
            <a:endParaRPr/>
          </a:p>
          <a:p>
            <a:pPr indent="-228600" lvl="0" marL="228600" rtl="0" algn="l">
              <a:lnSpc>
                <a:spcPct val="90000"/>
              </a:lnSpc>
              <a:spcBef>
                <a:spcPts val="1000"/>
              </a:spcBef>
              <a:spcAft>
                <a:spcPts val="0"/>
              </a:spcAft>
              <a:buClr>
                <a:schemeClr val="dk1"/>
              </a:buClr>
              <a:buSzPts val="2800"/>
              <a:buChar char="•"/>
            </a:pPr>
            <a:r>
              <a:rPr lang="en-US"/>
              <a:t>This results in impressive systems – from Open AI, Google Deep Mind, and Anthropic – but lacks the mental world models possessed by Humans.</a:t>
            </a:r>
            <a:endParaRPr/>
          </a:p>
          <a:p>
            <a:pPr indent="-228600" lvl="0" marL="228600" rtl="0" algn="l">
              <a:lnSpc>
                <a:spcPct val="90000"/>
              </a:lnSpc>
              <a:spcBef>
                <a:spcPts val="1000"/>
              </a:spcBef>
              <a:spcAft>
                <a:spcPts val="0"/>
              </a:spcAft>
              <a:buClr>
                <a:schemeClr val="dk1"/>
              </a:buClr>
              <a:buSzPts val="2800"/>
              <a:buChar char="•"/>
            </a:pPr>
            <a:r>
              <a:rPr lang="en-US"/>
              <a:t> If you add Communication to Perception/Reasoning/Action that you have much of Full AI and core Human Intelligence.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2. The Full AI problem</a:t>
            </a:r>
            <a:endParaRPr/>
          </a:p>
        </p:txBody>
      </p:sp>
      <p:sp>
        <p:nvSpPr>
          <p:cNvPr id="283" name="Google Shape;283;p7"/>
          <p:cNvSpPr txBox="1"/>
          <p:nvPr>
            <p:ph idx="1" type="body"/>
          </p:nvPr>
        </p:nvSpPr>
        <p:spPr>
          <a:xfrm>
            <a:off x="461010" y="1875691"/>
            <a:ext cx="5095728" cy="469763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Understanding of objects, scenes, and events. Describing them in language. </a:t>
            </a:r>
            <a:endParaRPr/>
          </a:p>
          <a:p>
            <a:pPr indent="-228600" lvl="0" marL="228600" rtl="0" algn="l">
              <a:lnSpc>
                <a:spcPct val="90000"/>
              </a:lnSpc>
              <a:spcBef>
                <a:spcPts val="1000"/>
              </a:spcBef>
              <a:spcAft>
                <a:spcPts val="0"/>
              </a:spcAft>
              <a:buClr>
                <a:schemeClr val="dk1"/>
              </a:buClr>
              <a:buSzPct val="100000"/>
              <a:buChar char="•"/>
            </a:pPr>
            <a:r>
              <a:rPr lang="en-US"/>
              <a:t>Reasoning about the functions and roles of objects, the goals and intentions of agents, and predicting the outcomes of events</a:t>
            </a:r>
            <a:endParaRPr/>
          </a:p>
          <a:p>
            <a:pPr indent="-228600" lvl="0" marL="228600" rtl="0" algn="l">
              <a:lnSpc>
                <a:spcPct val="90000"/>
              </a:lnSpc>
              <a:spcBef>
                <a:spcPts val="1000"/>
              </a:spcBef>
              <a:spcAft>
                <a:spcPts val="0"/>
              </a:spcAft>
              <a:buClr>
                <a:schemeClr val="dk1"/>
              </a:buClr>
              <a:buSzPct val="100000"/>
              <a:buChar char="•"/>
            </a:pPr>
            <a:r>
              <a:rPr lang="en-US"/>
              <a:t>Planning and taking actions to achieve goals.</a:t>
            </a:r>
            <a:endParaRPr/>
          </a:p>
          <a:p>
            <a:pPr indent="-228600" lvl="0" marL="228600" rtl="0" algn="l">
              <a:lnSpc>
                <a:spcPct val="90000"/>
              </a:lnSpc>
              <a:spcBef>
                <a:spcPts val="1000"/>
              </a:spcBef>
              <a:spcAft>
                <a:spcPts val="0"/>
              </a:spcAft>
              <a:buClr>
                <a:schemeClr val="dk1"/>
              </a:buClr>
              <a:buSzPct val="100000"/>
              <a:buChar char="•"/>
            </a:pPr>
            <a:r>
              <a:rPr lang="en-US"/>
              <a:t>Communicating and coordinating these plans/actions with humans and agents (robots).</a:t>
            </a:r>
            <a:endParaRPr/>
          </a:p>
        </p:txBody>
      </p:sp>
      <p:pic>
        <p:nvPicPr>
          <p:cNvPr id="284" name="Google Shape;284;p7"/>
          <p:cNvPicPr preferRelativeResize="0"/>
          <p:nvPr/>
        </p:nvPicPr>
        <p:blipFill rotWithShape="1">
          <a:blip r:embed="rId3">
            <a:alphaModFix/>
          </a:blip>
          <a:srcRect b="0" l="0" r="0" t="0"/>
          <a:stretch/>
        </p:blipFill>
        <p:spPr>
          <a:xfrm>
            <a:off x="5752888" y="1875691"/>
            <a:ext cx="5742218" cy="353864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3. Why is Vision Hard? Complexity.</a:t>
            </a:r>
            <a:endParaRPr/>
          </a:p>
        </p:txBody>
      </p:sp>
      <p:sp>
        <p:nvSpPr>
          <p:cNvPr id="290" name="Google Shape;290;p8"/>
          <p:cNvSpPr txBox="1"/>
          <p:nvPr>
            <p:ph idx="1" type="body"/>
          </p:nvPr>
        </p:nvSpPr>
        <p:spPr>
          <a:xfrm>
            <a:off x="838200" y="1402714"/>
            <a:ext cx="10515600" cy="54552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set of images is enormous. If each pixel value to take 256 possible values (as in a digital camera), then there are more images of size 10x10 than have been seen by all mankind over all history and pre-history. Humans see at most 10^9 each year. </a:t>
            </a:r>
            <a:endParaRPr/>
          </a:p>
          <a:p>
            <a:pPr indent="-228600" lvl="0" marL="228600" rtl="0" algn="l">
              <a:lnSpc>
                <a:spcPct val="90000"/>
              </a:lnSpc>
              <a:spcBef>
                <a:spcPts val="1000"/>
              </a:spcBef>
              <a:spcAft>
                <a:spcPts val="0"/>
              </a:spcAft>
              <a:buClr>
                <a:schemeClr val="dk1"/>
              </a:buClr>
              <a:buSzPts val="2800"/>
              <a:buChar char="•"/>
            </a:pPr>
            <a:r>
              <a:rPr lang="en-US"/>
              <a:t>These are imaged from world scenes consisting of objects in  environments. For a single object – allowing 13 viewing factors which take 1,000 values we reach 10^39 images for a single object.</a:t>
            </a:r>
            <a:endParaRPr/>
          </a:p>
          <a:p>
            <a:pPr indent="-228600" lvl="0" marL="228600" rtl="0" algn="l">
              <a:lnSpc>
                <a:spcPct val="90000"/>
              </a:lnSpc>
              <a:spcBef>
                <a:spcPts val="1000"/>
              </a:spcBef>
              <a:spcAft>
                <a:spcPts val="0"/>
              </a:spcAft>
              <a:buClr>
                <a:schemeClr val="dk1"/>
              </a:buClr>
              <a:buSzPts val="2800"/>
              <a:buChar char="•"/>
            </a:pPr>
            <a:r>
              <a:rPr lang="en-US"/>
              <a:t>A scene can be composed from objects in a combinatorial number of ways – placing N possible objects into M possible positions – yielding M^N possible ways to build a scene (more if you also include lighting, texture patterns, material). </a:t>
            </a:r>
            <a:endParaRPr/>
          </a:p>
          <a:p>
            <a:pPr indent="-228600" lvl="0" marL="228600" rtl="0" algn="l">
              <a:lnSpc>
                <a:spcPct val="90000"/>
              </a:lnSpc>
              <a:spcBef>
                <a:spcPts val="1000"/>
              </a:spcBef>
              <a:spcAft>
                <a:spcPts val="0"/>
              </a:spcAft>
              <a:buClr>
                <a:schemeClr val="dk1"/>
              </a:buClr>
              <a:buSzPts val="2800"/>
              <a:buChar char="•"/>
            </a:pPr>
            <a:r>
              <a:rPr lang="en-US"/>
              <a:t>The complexity increases further for image sequences.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3. Why is Vision Hard? Complexity.</a:t>
            </a:r>
            <a:endParaRPr/>
          </a:p>
        </p:txBody>
      </p:sp>
      <p:sp>
        <p:nvSpPr>
          <p:cNvPr id="296" name="Google Shape;296;p9"/>
          <p:cNvSpPr txBox="1"/>
          <p:nvPr>
            <p:ph idx="1" type="body"/>
          </p:nvPr>
        </p:nvSpPr>
        <p:spPr>
          <a:xfrm>
            <a:off x="838200" y="1825625"/>
            <a:ext cx="580263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set of images in any dataset are only an infinitesimal fraction of all images. The tip of the iceberg.</a:t>
            </a:r>
            <a:endParaRPr/>
          </a:p>
          <a:p>
            <a:pPr indent="-228600" lvl="0" marL="228600" rtl="0" algn="l">
              <a:lnSpc>
                <a:spcPct val="90000"/>
              </a:lnSpc>
              <a:spcBef>
                <a:spcPts val="1000"/>
              </a:spcBef>
              <a:spcAft>
                <a:spcPts val="0"/>
              </a:spcAft>
              <a:buClr>
                <a:schemeClr val="dk1"/>
              </a:buClr>
              <a:buSzPts val="2800"/>
              <a:buChar char="•"/>
            </a:pPr>
            <a:r>
              <a:rPr lang="en-US"/>
              <a:t>Image of a single object is a function of 13 parameters – camera pose (4),</a:t>
            </a:r>
            <a:endParaRPr/>
          </a:p>
          <a:p>
            <a:pPr indent="0" lvl="0" marL="0" rtl="0" algn="l">
              <a:lnSpc>
                <a:spcPct val="90000"/>
              </a:lnSpc>
              <a:spcBef>
                <a:spcPts val="1000"/>
              </a:spcBef>
              <a:spcAft>
                <a:spcPts val="0"/>
              </a:spcAft>
              <a:buClr>
                <a:schemeClr val="dk1"/>
              </a:buClr>
              <a:buSzPts val="2800"/>
              <a:buNone/>
            </a:pPr>
            <a:r>
              <a:rPr lang="en-US"/>
              <a:t>Lighting (4), material (1), scene (3).</a:t>
            </a:r>
            <a:endParaRPr/>
          </a:p>
        </p:txBody>
      </p:sp>
      <p:pic>
        <p:nvPicPr>
          <p:cNvPr id="297" name="Google Shape;297;p9"/>
          <p:cNvPicPr preferRelativeResize="0"/>
          <p:nvPr/>
        </p:nvPicPr>
        <p:blipFill rotWithShape="1">
          <a:blip r:embed="rId3">
            <a:alphaModFix/>
          </a:blip>
          <a:srcRect b="0" l="0" r="0" t="0"/>
          <a:stretch/>
        </p:blipFill>
        <p:spPr>
          <a:xfrm>
            <a:off x="1363109" y="4547643"/>
            <a:ext cx="4214298" cy="2003718"/>
          </a:xfrm>
          <a:prstGeom prst="rect">
            <a:avLst/>
          </a:prstGeom>
          <a:noFill/>
          <a:ln>
            <a:noFill/>
          </a:ln>
        </p:spPr>
      </p:pic>
      <p:pic>
        <p:nvPicPr>
          <p:cNvPr id="298" name="Google Shape;298;p9"/>
          <p:cNvPicPr preferRelativeResize="0"/>
          <p:nvPr/>
        </p:nvPicPr>
        <p:blipFill rotWithShape="1">
          <a:blip r:embed="rId4">
            <a:alphaModFix/>
          </a:blip>
          <a:srcRect b="0" l="0" r="0" t="0"/>
          <a:stretch/>
        </p:blipFill>
        <p:spPr>
          <a:xfrm>
            <a:off x="7547424" y="1381900"/>
            <a:ext cx="4022594" cy="51694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3. Why is Vision Hard? Local Ambiguity.</a:t>
            </a:r>
            <a:endParaRPr/>
          </a:p>
        </p:txBody>
      </p:sp>
      <p:sp>
        <p:nvSpPr>
          <p:cNvPr id="304" name="Google Shape;304;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is ambiguity in how images are generated as functions of the geometry and material properties of the objects and the lighting.</a:t>
            </a:r>
            <a:endParaRPr/>
          </a:p>
          <a:p>
            <a:pPr indent="-228600" lvl="0" marL="228600" rtl="0" algn="l">
              <a:lnSpc>
                <a:spcPct val="90000"/>
              </a:lnSpc>
              <a:spcBef>
                <a:spcPts val="1000"/>
              </a:spcBef>
              <a:spcAft>
                <a:spcPts val="0"/>
              </a:spcAft>
              <a:buClr>
                <a:schemeClr val="dk1"/>
              </a:buClr>
              <a:buSzPts val="2800"/>
              <a:buChar char="•"/>
            </a:pPr>
            <a:r>
              <a:rPr lang="en-US"/>
              <a:t>This can result in global ambiguity. We can confuse material properties for geometry, or  geometry for material properties (Demo later).</a:t>
            </a:r>
            <a:endParaRPr/>
          </a:p>
          <a:p>
            <a:pPr indent="-228600" lvl="0" marL="228600" rtl="0" algn="l">
              <a:lnSpc>
                <a:spcPct val="90000"/>
              </a:lnSpc>
              <a:spcBef>
                <a:spcPts val="1000"/>
              </a:spcBef>
              <a:spcAft>
                <a:spcPts val="0"/>
              </a:spcAft>
              <a:buClr>
                <a:schemeClr val="dk1"/>
              </a:buClr>
              <a:buSzPts val="2800"/>
              <a:buChar char="•"/>
            </a:pPr>
            <a:r>
              <a:rPr lang="en-US"/>
              <a:t>Local ambiguity – subregions of images are often locally ambiguous and need context to disambiguate them.</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3. Why is Vision Hard? Global Ambiguity.</a:t>
            </a:r>
            <a:endParaRPr/>
          </a:p>
        </p:txBody>
      </p:sp>
      <p:sp>
        <p:nvSpPr>
          <p:cNvPr id="310" name="Google Shape;310;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Ambiguity – geometry, material properties, lighting. C. von der Malsburg.</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1" name="Google Shape;311;p11"/>
          <p:cNvPicPr preferRelativeResize="0"/>
          <p:nvPr/>
        </p:nvPicPr>
        <p:blipFill rotWithShape="1">
          <a:blip r:embed="rId3">
            <a:alphaModFix/>
          </a:blip>
          <a:srcRect b="0" l="0" r="0" t="0"/>
          <a:stretch/>
        </p:blipFill>
        <p:spPr>
          <a:xfrm>
            <a:off x="838200" y="2858282"/>
            <a:ext cx="4769168" cy="3699681"/>
          </a:xfrm>
          <a:prstGeom prst="rect">
            <a:avLst/>
          </a:prstGeom>
          <a:noFill/>
          <a:ln>
            <a:noFill/>
          </a:ln>
        </p:spPr>
      </p:pic>
      <p:pic>
        <p:nvPicPr>
          <p:cNvPr id="312" name="Google Shape;312;p11"/>
          <p:cNvPicPr preferRelativeResize="0"/>
          <p:nvPr/>
        </p:nvPicPr>
        <p:blipFill rotWithShape="1">
          <a:blip r:embed="rId4">
            <a:alphaModFix/>
          </a:blip>
          <a:srcRect b="0" l="0" r="0" t="0"/>
          <a:stretch/>
        </p:blipFill>
        <p:spPr>
          <a:xfrm>
            <a:off x="5993131" y="2858282"/>
            <a:ext cx="4522470" cy="36579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3. Why is Vision Hard</a:t>
            </a:r>
            <a:endParaRPr/>
          </a:p>
        </p:txBody>
      </p:sp>
      <p:sp>
        <p:nvSpPr>
          <p:cNvPr id="318" name="Google Shape;318;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Global Ambiguity – Honda Visual Illusions.</a:t>
            </a:r>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3"/>
              </a:rPr>
              <a:t>https://www.youtube.com/watch?v=e_UvpGOW-cc</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9" name="Google Shape;319;p12"/>
          <p:cNvPicPr preferRelativeResize="0"/>
          <p:nvPr/>
        </p:nvPicPr>
        <p:blipFill rotWithShape="1">
          <a:blip r:embed="rId4">
            <a:alphaModFix/>
          </a:blip>
          <a:srcRect b="0" l="0" r="0" t="0"/>
          <a:stretch/>
        </p:blipFill>
        <p:spPr>
          <a:xfrm>
            <a:off x="2095757" y="3007497"/>
            <a:ext cx="6544112" cy="36777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descr="18_21_s_29.bmp" id="324" name="Google Shape;324;p13"/>
          <p:cNvPicPr preferRelativeResize="0"/>
          <p:nvPr/>
        </p:nvPicPr>
        <p:blipFill rotWithShape="1">
          <a:blip r:embed="rId3">
            <a:alphaModFix/>
          </a:blip>
          <a:srcRect b="0" l="0" r="0" t="0"/>
          <a:stretch/>
        </p:blipFill>
        <p:spPr>
          <a:xfrm>
            <a:off x="3595688" y="1758951"/>
            <a:ext cx="6019800" cy="4164013"/>
          </a:xfrm>
          <a:prstGeom prst="rect">
            <a:avLst/>
          </a:prstGeom>
          <a:noFill/>
          <a:ln>
            <a:noFill/>
          </a:ln>
        </p:spPr>
      </p:pic>
      <p:pic>
        <p:nvPicPr>
          <p:cNvPr descr="18_21_s.bmp" id="325" name="Google Shape;325;p13"/>
          <p:cNvPicPr preferRelativeResize="0"/>
          <p:nvPr/>
        </p:nvPicPr>
        <p:blipFill rotWithShape="1">
          <a:blip r:embed="rId4">
            <a:alphaModFix/>
          </a:blip>
          <a:srcRect b="0" l="0" r="0" t="0"/>
          <a:stretch/>
        </p:blipFill>
        <p:spPr>
          <a:xfrm>
            <a:off x="3581400" y="1752601"/>
            <a:ext cx="6019800" cy="4164013"/>
          </a:xfrm>
          <a:prstGeom prst="rect">
            <a:avLst/>
          </a:prstGeom>
          <a:noFill/>
          <a:ln>
            <a:noFill/>
          </a:ln>
        </p:spPr>
      </p:pic>
      <p:sp>
        <p:nvSpPr>
          <p:cNvPr id="326" name="Google Shape;326;p13"/>
          <p:cNvSpPr txBox="1"/>
          <p:nvPr/>
        </p:nvSpPr>
        <p:spPr>
          <a:xfrm>
            <a:off x="1524000" y="3200400"/>
            <a:ext cx="2209800" cy="16319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Airplane</a:t>
            </a:r>
            <a:endParaRPr/>
          </a:p>
          <a:p>
            <a:pPr indent="0" lvl="0" marL="0" marR="0" rtl="0" algn="ctr">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Car</a:t>
            </a:r>
            <a:endParaRPr/>
          </a:p>
          <a:p>
            <a:pPr indent="0" lvl="0" marL="0" marR="0" rtl="0" algn="ctr">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Boat</a:t>
            </a:r>
            <a:endParaRPr/>
          </a:p>
          <a:p>
            <a:pPr indent="0" lvl="0" marL="0" marR="0" rtl="0" algn="ctr">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Sign</a:t>
            </a:r>
            <a:endParaRPr/>
          </a:p>
          <a:p>
            <a:pPr indent="0" lvl="0" marL="0" marR="0" rtl="0" algn="ctr">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Building</a:t>
            </a:r>
            <a:endParaRPr/>
          </a:p>
        </p:txBody>
      </p:sp>
      <p:sp>
        <p:nvSpPr>
          <p:cNvPr id="327" name="Google Shape;327;p13"/>
          <p:cNvSpPr txBox="1"/>
          <p:nvPr>
            <p:ph type="title"/>
          </p:nvPr>
        </p:nvSpPr>
        <p:spPr>
          <a:xfrm>
            <a:off x="457200" y="609600"/>
            <a:ext cx="11593902"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solidFill>
                  <a:srgbClr val="FF0000"/>
                </a:solidFill>
              </a:rPr>
              <a:t>Part 3. Why is Vision Hard. Local Ambiguity.</a:t>
            </a:r>
            <a:endParaRPr/>
          </a:p>
        </p:txBody>
      </p:sp>
      <p:sp>
        <p:nvSpPr>
          <p:cNvPr id="328" name="Google Shape;328;p13"/>
          <p:cNvSpPr txBox="1"/>
          <p:nvPr>
            <p:ph idx="1" type="body"/>
          </p:nvPr>
        </p:nvSpPr>
        <p:spPr>
          <a:xfrm>
            <a:off x="1009290" y="3499450"/>
            <a:ext cx="10363200" cy="4114800"/>
          </a:xfrm>
          <a:prstGeom prst="rect">
            <a:avLst/>
          </a:prstGeom>
          <a:noFill/>
          <a:ln>
            <a:noFill/>
          </a:ln>
        </p:spPr>
        <p:txBody>
          <a:bodyPr anchorCtr="0" anchor="t" bIns="45700" lIns="91425" spcFirstLastPara="1" rIns="91425" wrap="square" tIns="45700">
            <a:noAutofit/>
          </a:bodyPr>
          <a:lstStyle/>
          <a:p>
            <a:pPr indent="-180340" lvl="0" marL="342900" rtl="0" algn="l">
              <a:spcBef>
                <a:spcPts val="0"/>
              </a:spcBef>
              <a:spcAft>
                <a:spcPts val="0"/>
              </a:spcAft>
              <a:buSzPts val="256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2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i="1" lang="en-US"/>
              <a:t>Part 3: Why is Vision Hard? The more you look the more you see.</a:t>
            </a:r>
            <a:br>
              <a:rPr lang="en-US"/>
            </a:br>
            <a:endParaRPr/>
          </a:p>
        </p:txBody>
      </p:sp>
      <p:sp>
        <p:nvSpPr>
          <p:cNvPr id="334" name="Google Shape;334;p14"/>
          <p:cNvSpPr txBox="1"/>
          <p:nvPr>
            <p:ph idx="1" type="body"/>
          </p:nvPr>
        </p:nvSpPr>
        <p:spPr>
          <a:xfrm>
            <a:off x="838200" y="1825624"/>
            <a:ext cx="5676900" cy="492950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“There is a fox in the garden” (coarse).</a:t>
            </a:r>
            <a:endParaRPr/>
          </a:p>
          <a:p>
            <a:pPr indent="-228600" lvl="0" marL="228600" rtl="0" algn="l">
              <a:lnSpc>
                <a:spcPct val="90000"/>
              </a:lnSpc>
              <a:spcBef>
                <a:spcPts val="1000"/>
              </a:spcBef>
              <a:spcAft>
                <a:spcPts val="0"/>
              </a:spcAft>
              <a:buClr>
                <a:schemeClr val="dk1"/>
              </a:buClr>
              <a:buSzPts val="2800"/>
              <a:buChar char="•"/>
            </a:pPr>
            <a:r>
              <a:rPr lang="en-US"/>
              <a:t>“There is a young fox emerging from behind the base of a tree not far from the view point, it  is heading right, stepping through short grass, and moving quickly. Its body fur is fluffy, reddish-brown, light in color, but with some variation. It has darker colored front legs and a dark patch above the mouth. Most of the body hairs flow from front to back.” (detailed).</a:t>
            </a:r>
            <a:endParaRPr/>
          </a:p>
        </p:txBody>
      </p:sp>
      <p:pic>
        <p:nvPicPr>
          <p:cNvPr id="335" name="Google Shape;335;p14"/>
          <p:cNvPicPr preferRelativeResize="0"/>
          <p:nvPr/>
        </p:nvPicPr>
        <p:blipFill rotWithShape="1">
          <a:blip r:embed="rId3">
            <a:alphaModFix/>
          </a:blip>
          <a:srcRect b="0" l="0" r="0" t="0"/>
          <a:stretch/>
        </p:blipFill>
        <p:spPr>
          <a:xfrm>
            <a:off x="7029450" y="1825624"/>
            <a:ext cx="4076426" cy="46331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4. How can Humans do Vision?</a:t>
            </a:r>
            <a:endParaRPr/>
          </a:p>
        </p:txBody>
      </p:sp>
      <p:sp>
        <p:nvSpPr>
          <p:cNvPr id="341" name="Google Shape;341;p15"/>
          <p:cNvSpPr txBox="1"/>
          <p:nvPr>
            <p:ph idx="1" type="body"/>
          </p:nvPr>
        </p:nvSpPr>
        <p:spPr>
          <a:xfrm>
            <a:off x="838200" y="1825624"/>
            <a:ext cx="10877550" cy="5032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Humans and Primates devote an enormous amount of neural resources to do vision. </a:t>
            </a:r>
            <a:r>
              <a:rPr i="1" lang="en-US"/>
              <a:t>Roughly 40-60% of the cortex is involved in vision.</a:t>
            </a:r>
            <a:endParaRPr/>
          </a:p>
          <a:p>
            <a:pPr indent="-228600" lvl="0" marL="228600" rtl="0" algn="l">
              <a:lnSpc>
                <a:spcPct val="90000"/>
              </a:lnSpc>
              <a:spcBef>
                <a:spcPts val="1000"/>
              </a:spcBef>
              <a:spcAft>
                <a:spcPts val="0"/>
              </a:spcAft>
              <a:buClr>
                <a:schemeClr val="dk1"/>
              </a:buClr>
              <a:buSzPts val="2800"/>
              <a:buChar char="•"/>
            </a:pPr>
            <a:r>
              <a:rPr lang="en-US"/>
              <a:t>The cortex is the “intelligent part” of our brain – perception, reasoning, and decision making. </a:t>
            </a:r>
            <a:r>
              <a:rPr i="1" lang="en-US"/>
              <a:t>It is roughly 80% of our brain (20% for mice). It grew rapidly over the last 3 million years, nearly quadrupling in volume as hominid brains grew from about 350 grams to over 1,300 grams.</a:t>
            </a:r>
            <a:endParaRPr/>
          </a:p>
          <a:p>
            <a:pPr indent="-228600" lvl="0" marL="228600" rtl="0" algn="l">
              <a:lnSpc>
                <a:spcPct val="90000"/>
              </a:lnSpc>
              <a:spcBef>
                <a:spcPts val="1000"/>
              </a:spcBef>
              <a:spcAft>
                <a:spcPts val="0"/>
              </a:spcAft>
              <a:buClr>
                <a:schemeClr val="dk1"/>
              </a:buClr>
              <a:buSzPts val="2800"/>
              <a:buChar char="•"/>
            </a:pPr>
            <a:r>
              <a:rPr lang="en-US"/>
              <a:t>Humans are visual machines – we have evolved to see and take action.</a:t>
            </a:r>
            <a:endParaRPr/>
          </a:p>
          <a:p>
            <a:pPr indent="-228600" lvl="0" marL="228600" rtl="0" algn="l">
              <a:lnSpc>
                <a:spcPct val="90000"/>
              </a:lnSpc>
              <a:spcBef>
                <a:spcPts val="1000"/>
              </a:spcBef>
              <a:spcAft>
                <a:spcPts val="0"/>
              </a:spcAft>
              <a:buClr>
                <a:schemeClr val="dk1"/>
              </a:buClr>
              <a:buSzPts val="2800"/>
              <a:buChar char="•"/>
            </a:pPr>
            <a:r>
              <a:rPr lang="en-US"/>
              <a:t>Humans are skilled at fine-detailed tasks (due to our opposable thumbs) at long distance travel (running 3,000 miles in 60 days), at tracking and chasing animals for food. </a:t>
            </a:r>
            <a:r>
              <a:rPr i="1" lang="en-US"/>
              <a:t>All these tasks are impossible with an advanced visual system. We are born to see.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4. How can Humans do Vision?</a:t>
            </a:r>
            <a:endParaRPr/>
          </a:p>
        </p:txBody>
      </p:sp>
      <p:sp>
        <p:nvSpPr>
          <p:cNvPr id="347" name="Google Shape;34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The human visual system is extremely complex. The number of neurons is enormous  -- </a:t>
            </a:r>
            <a:r>
              <a:rPr i="1" lang="en-US"/>
              <a:t>more than all the trees in the Amazon rain forest</a:t>
            </a:r>
            <a:r>
              <a:rPr lang="en-US"/>
              <a:t> -- and their connections are bigger than </a:t>
            </a:r>
            <a:r>
              <a:rPr i="1" lang="en-US"/>
              <a:t>the number of leaves in the Amazon rainforest</a:t>
            </a:r>
            <a:r>
              <a:rPr lang="en-US"/>
              <a:t>. They would </a:t>
            </a:r>
            <a:r>
              <a:rPr i="1" lang="en-US"/>
              <a:t>reach to the moon and back</a:t>
            </a:r>
            <a:r>
              <a:rPr lang="en-US"/>
              <a:t>.</a:t>
            </a:r>
            <a:endParaRPr/>
          </a:p>
          <a:p>
            <a:pPr indent="-228600" lvl="0" marL="228600" rtl="0" algn="l">
              <a:lnSpc>
                <a:spcPct val="90000"/>
              </a:lnSpc>
              <a:spcBef>
                <a:spcPts val="1000"/>
              </a:spcBef>
              <a:spcAft>
                <a:spcPts val="0"/>
              </a:spcAft>
              <a:buClr>
                <a:schemeClr val="dk1"/>
              </a:buClr>
              <a:buSzPct val="100000"/>
              <a:buChar char="•"/>
            </a:pPr>
            <a:r>
              <a:rPr lang="en-US"/>
              <a:t>Real neurons are very complex and variable. Many types of cells with a large diversity of morphology (shapes). Complex dendritic structures, maybe internal states (in the cell body), and ways to rapidly change synaptic strength. </a:t>
            </a:r>
            <a:r>
              <a:rPr i="1" lang="en-US"/>
              <a:t>They could be an order of magnitude (or more) complicated than artificial neurons. </a:t>
            </a:r>
            <a:endParaRPr/>
          </a:p>
          <a:p>
            <a:pPr indent="-228600" lvl="0" marL="228600" rtl="0" algn="l">
              <a:lnSpc>
                <a:spcPct val="90000"/>
              </a:lnSpc>
              <a:spcBef>
                <a:spcPts val="1000"/>
              </a:spcBef>
              <a:spcAft>
                <a:spcPts val="0"/>
              </a:spcAft>
              <a:buClr>
                <a:schemeClr val="dk1"/>
              </a:buClr>
              <a:buSzPct val="100000"/>
              <a:buChar char="•"/>
            </a:pPr>
            <a:r>
              <a:rPr lang="en-US"/>
              <a:t>We have limited understanding of real neurons. There are many scientific conjectures about neurons which are hard to test. Computations on dendrites (Koch and Poggio), rapidly changing synapses (Crick).</a:t>
            </a:r>
            <a:endParaRPr/>
          </a:p>
          <a:p>
            <a:pPr indent="-228600" lvl="0" marL="228600" rtl="0" algn="l">
              <a:lnSpc>
                <a:spcPct val="90000"/>
              </a:lnSpc>
              <a:spcBef>
                <a:spcPts val="1000"/>
              </a:spcBef>
              <a:spcAft>
                <a:spcPts val="0"/>
              </a:spcAft>
              <a:buClr>
                <a:schemeClr val="dk1"/>
              </a:buClr>
              <a:buSzPct val="100000"/>
              <a:buChar char="•"/>
            </a:pPr>
            <a:r>
              <a:rPr i="1" lang="en-US"/>
              <a:t>The human brain is the most complicated physical system that we know of.</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4: How can Humans do Vision?</a:t>
            </a:r>
            <a:endParaRPr/>
          </a:p>
        </p:txBody>
      </p:sp>
      <p:sp>
        <p:nvSpPr>
          <p:cNvPr id="353" name="Google Shape;35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This course ignores neuroscience – despite the title. </a:t>
            </a:r>
            <a:r>
              <a:rPr i="1" lang="en-US"/>
              <a:t>Neuroscience is an extremely complex and important subject. </a:t>
            </a:r>
            <a:r>
              <a:rPr lang="en-US"/>
              <a:t>But it is also extremely difficult and very hard to test the types of theories we will describe.</a:t>
            </a:r>
            <a:endParaRPr/>
          </a:p>
          <a:p>
            <a:pPr indent="-228600" lvl="0" marL="228600" rtl="0" algn="l">
              <a:lnSpc>
                <a:spcPct val="90000"/>
              </a:lnSpc>
              <a:spcBef>
                <a:spcPts val="1000"/>
              </a:spcBef>
              <a:spcAft>
                <a:spcPts val="0"/>
              </a:spcAft>
              <a:buClr>
                <a:schemeClr val="dk1"/>
              </a:buClr>
              <a:buSzPct val="100000"/>
              <a:buChar char="•"/>
            </a:pPr>
            <a:r>
              <a:rPr lang="en-US"/>
              <a:t>Instead, for reasons of time and clarity, this course concentrates on AI and Cog-Sci inspired AI, with occasional remarks about Neuroscience.</a:t>
            </a:r>
            <a:endParaRPr/>
          </a:p>
          <a:p>
            <a:pPr indent="-228600" lvl="0" marL="228600" rtl="0" algn="l">
              <a:lnSpc>
                <a:spcPct val="90000"/>
              </a:lnSpc>
              <a:spcBef>
                <a:spcPts val="1000"/>
              </a:spcBef>
              <a:spcAft>
                <a:spcPts val="0"/>
              </a:spcAft>
              <a:buClr>
                <a:schemeClr val="dk1"/>
              </a:buClr>
              <a:buSzPct val="100000"/>
              <a:buChar char="•"/>
            </a:pPr>
            <a:r>
              <a:rPr lang="en-US"/>
              <a:t>Cog-Sci inspired means the AI is motivated by </a:t>
            </a:r>
            <a:r>
              <a:rPr i="1" lang="en-US"/>
              <a:t>a conceptual big picture of Human Intelligence </a:t>
            </a:r>
            <a:r>
              <a:rPr lang="en-US"/>
              <a:t>and how it differs from current AI. </a:t>
            </a:r>
            <a:endParaRPr/>
          </a:p>
          <a:p>
            <a:pPr indent="-228600" lvl="0" marL="228600" rtl="0" algn="l">
              <a:lnSpc>
                <a:spcPct val="90000"/>
              </a:lnSpc>
              <a:spcBef>
                <a:spcPts val="1000"/>
              </a:spcBef>
              <a:spcAft>
                <a:spcPts val="0"/>
              </a:spcAft>
              <a:buClr>
                <a:schemeClr val="dk1"/>
              </a:buClr>
              <a:buSzPct val="100000"/>
              <a:buChar char="•"/>
            </a:pPr>
            <a:r>
              <a:rPr lang="en-US"/>
              <a:t>Care must be taken with building theories based on Cog-Sci experiments. They are typically done, by necessity, on simplified stimuli – </a:t>
            </a:r>
            <a:r>
              <a:rPr i="1" lang="en-US"/>
              <a:t>toy worlds </a:t>
            </a:r>
            <a:r>
              <a:rPr lang="en-US"/>
              <a:t>– and their findings may not generalize to the complexity of the real world. </a:t>
            </a:r>
            <a:r>
              <a:rPr i="1" lang="en-US"/>
              <a:t>Many famous theories only work for the stimuli in the lab.</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5. What is Human Vision Good and Bad at?</a:t>
            </a:r>
            <a:endParaRPr/>
          </a:p>
        </p:txBody>
      </p:sp>
      <p:sp>
        <p:nvSpPr>
          <p:cNvPr id="359" name="Google Shape;359;p18"/>
          <p:cNvSpPr txBox="1"/>
          <p:nvPr>
            <p:ph idx="1" type="body"/>
          </p:nvPr>
        </p:nvSpPr>
        <p:spPr>
          <a:xfrm>
            <a:off x="838200" y="1825625"/>
            <a:ext cx="1122045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Brains are much more energy efficient than computers. </a:t>
            </a:r>
            <a:r>
              <a:rPr i="1" lang="en-US"/>
              <a:t>The Brain uses 1 watt for computation (20 more watts to stay alive) while a computer with 4GPUS uses 1,500 watts. </a:t>
            </a:r>
            <a:r>
              <a:rPr lang="en-US"/>
              <a:t>But brains need to sleep and computers do not.</a:t>
            </a:r>
            <a:endParaRPr/>
          </a:p>
          <a:p>
            <a:pPr indent="-228600" lvl="0" marL="228600" rtl="0" algn="l">
              <a:lnSpc>
                <a:spcPct val="90000"/>
              </a:lnSpc>
              <a:spcBef>
                <a:spcPts val="1000"/>
              </a:spcBef>
              <a:spcAft>
                <a:spcPts val="0"/>
              </a:spcAft>
              <a:buClr>
                <a:schemeClr val="dk1"/>
              </a:buClr>
              <a:buSzPts val="2800"/>
              <a:buChar char="•"/>
            </a:pPr>
            <a:r>
              <a:rPr i="1" lang="en-US"/>
              <a:t>Human vision is much more general purpose and adaptive than AI Vision.  Humans can perform a large number of visual tasks consistently. </a:t>
            </a:r>
            <a:r>
              <a:rPr lang="en-US"/>
              <a:t>Humans can quickly generalize to visual stimuli they have not seen before.</a:t>
            </a:r>
            <a:endParaRPr/>
          </a:p>
          <a:p>
            <a:pPr indent="-228600" lvl="0" marL="228600" rtl="0" algn="l">
              <a:lnSpc>
                <a:spcPct val="90000"/>
              </a:lnSpc>
              <a:spcBef>
                <a:spcPts val="1000"/>
              </a:spcBef>
              <a:spcAft>
                <a:spcPts val="0"/>
              </a:spcAft>
              <a:buClr>
                <a:schemeClr val="dk1"/>
              </a:buClr>
              <a:buSzPts val="2800"/>
              <a:buChar char="•"/>
            </a:pPr>
            <a:r>
              <a:rPr lang="en-US"/>
              <a:t>Comparisons between Human and AI Vision are often poorly done and can be misleading.  </a:t>
            </a:r>
            <a:r>
              <a:rPr i="1" lang="en-US"/>
              <a:t>Arguably many current performance criteria miss-measure Human and AI performance.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5. What is Human Vision Good and Bad at?</a:t>
            </a:r>
            <a:endParaRPr/>
          </a:p>
        </p:txBody>
      </p:sp>
      <p:sp>
        <p:nvSpPr>
          <p:cNvPr id="365" name="Google Shape;365;p19"/>
          <p:cNvSpPr txBox="1"/>
          <p:nvPr>
            <p:ph idx="1" type="body"/>
          </p:nvPr>
        </p:nvSpPr>
        <p:spPr>
          <a:xfrm>
            <a:off x="838200" y="1825624"/>
            <a:ext cx="10515600" cy="503237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i="1" lang="en-US"/>
              <a:t>Perceptual Organization. Gestalt Grouping.</a:t>
            </a:r>
            <a:endParaRPr/>
          </a:p>
          <a:p>
            <a:pPr indent="-228600" lvl="0" marL="228600" rtl="0" algn="l">
              <a:lnSpc>
                <a:spcPct val="90000"/>
              </a:lnSpc>
              <a:spcBef>
                <a:spcPts val="1000"/>
              </a:spcBef>
              <a:spcAft>
                <a:spcPts val="0"/>
              </a:spcAft>
              <a:buClr>
                <a:schemeClr val="dk1"/>
              </a:buClr>
              <a:buSzPts val="2800"/>
              <a:buChar char="•"/>
            </a:pPr>
            <a:r>
              <a:rPr lang="en-US"/>
              <a:t>Humans have also the ability to see patterns and to group basic elements into more complex structures. This was studied by Gestalt psychologists (e.g., Wertheimer, Kanisza). </a:t>
            </a:r>
            <a:endParaRPr/>
          </a:p>
          <a:p>
            <a:pPr indent="-228600" lvl="0" marL="228600" rtl="0" algn="l">
              <a:lnSpc>
                <a:spcPct val="90000"/>
              </a:lnSpc>
              <a:spcBef>
                <a:spcPts val="1000"/>
              </a:spcBef>
              <a:spcAft>
                <a:spcPts val="0"/>
              </a:spcAft>
              <a:buClr>
                <a:schemeClr val="dk1"/>
              </a:buClr>
              <a:buSzPts val="2800"/>
              <a:buChar char="•"/>
            </a:pPr>
            <a:r>
              <a:rPr lang="en-US"/>
              <a:t>This can be illustrated by various grouping properties – accidental alignment, common fate, etc. (the phenomena are so strong – everybody gets the same perception) that demonstrations are sufficient.</a:t>
            </a:r>
            <a:endParaRPr/>
          </a:p>
          <a:p>
            <a:pPr indent="-228600" lvl="0" marL="228600" rtl="0" algn="l">
              <a:lnSpc>
                <a:spcPct val="90000"/>
              </a:lnSpc>
              <a:spcBef>
                <a:spcPts val="1000"/>
              </a:spcBef>
              <a:spcAft>
                <a:spcPts val="0"/>
              </a:spcAft>
              <a:buClr>
                <a:schemeClr val="dk1"/>
              </a:buClr>
              <a:buSzPts val="2800"/>
              <a:buChar char="•"/>
            </a:pPr>
            <a:r>
              <a:rPr lang="en-US"/>
              <a:t>The ability to group patterns, of highly variable components, shows that human vision can deal with abstraction.</a:t>
            </a:r>
            <a:endParaRPr/>
          </a:p>
          <a:p>
            <a:pPr indent="-228600" lvl="0" marL="228600" rtl="0" algn="l">
              <a:lnSpc>
                <a:spcPct val="90000"/>
              </a:lnSpc>
              <a:spcBef>
                <a:spcPts val="1000"/>
              </a:spcBef>
              <a:spcAft>
                <a:spcPts val="0"/>
              </a:spcAft>
              <a:buClr>
                <a:schemeClr val="dk1"/>
              </a:buClr>
              <a:buSzPts val="2800"/>
              <a:buChar char="•"/>
            </a:pPr>
            <a:r>
              <a:rPr lang="en-US"/>
              <a:t>Certain types of grouping (e.g., Kanisza) shows that human vision is aware of geometry and occlusion (independent of object knowledge)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5. What is Human Vision Good and Bad at?</a:t>
            </a:r>
            <a:endParaRPr/>
          </a:p>
        </p:txBody>
      </p:sp>
      <p:sp>
        <p:nvSpPr>
          <p:cNvPr id="371" name="Google Shape;37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Examples from Kanisza’s book. Organization in Vision.</a:t>
            </a:r>
            <a:endParaRPr/>
          </a:p>
          <a:p>
            <a:pPr indent="-228600" lvl="0" marL="228600" rtl="0" algn="l">
              <a:lnSpc>
                <a:spcPct val="90000"/>
              </a:lnSpc>
              <a:spcBef>
                <a:spcPts val="1000"/>
              </a:spcBef>
              <a:spcAft>
                <a:spcPts val="0"/>
              </a:spcAft>
              <a:buClr>
                <a:schemeClr val="dk1"/>
              </a:buClr>
              <a:buSzPts val="2800"/>
              <a:buChar char="•"/>
            </a:pPr>
            <a:r>
              <a:rPr lang="en-US"/>
              <a:t>Something humans can do which is not addressed well by AI vision.</a:t>
            </a:r>
            <a:endParaRPr/>
          </a:p>
        </p:txBody>
      </p:sp>
      <p:pic>
        <p:nvPicPr>
          <p:cNvPr id="372" name="Google Shape;372;p20"/>
          <p:cNvPicPr preferRelativeResize="0"/>
          <p:nvPr/>
        </p:nvPicPr>
        <p:blipFill rotWithShape="1">
          <a:blip r:embed="rId3">
            <a:alphaModFix/>
          </a:blip>
          <a:srcRect b="0" l="0" r="0" t="0"/>
          <a:stretch/>
        </p:blipFill>
        <p:spPr>
          <a:xfrm>
            <a:off x="570536" y="2951225"/>
            <a:ext cx="11418887" cy="29215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5. What is Human Vision Good and Bad at?</a:t>
            </a:r>
            <a:endParaRPr/>
          </a:p>
        </p:txBody>
      </p:sp>
      <p:sp>
        <p:nvSpPr>
          <p:cNvPr id="378" name="Google Shape;378;p21"/>
          <p:cNvSpPr txBox="1"/>
          <p:nvPr>
            <p:ph idx="1" type="body"/>
          </p:nvPr>
        </p:nvSpPr>
        <p:spPr>
          <a:xfrm>
            <a:off x="838199" y="1494154"/>
            <a:ext cx="10893725" cy="495236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Many human failures result from limited computational resources and low resolution outside the fovea. These result in selective attention, short-cuts taken by the brain, which are sensible most of the time. </a:t>
            </a:r>
            <a:endParaRPr/>
          </a:p>
          <a:p>
            <a:pPr indent="-228600" lvl="0" marL="228600" rtl="0" algn="l">
              <a:lnSpc>
                <a:spcPct val="90000"/>
              </a:lnSpc>
              <a:spcBef>
                <a:spcPts val="1000"/>
              </a:spcBef>
              <a:spcAft>
                <a:spcPts val="0"/>
              </a:spcAft>
              <a:buClr>
                <a:schemeClr val="dk1"/>
              </a:buClr>
              <a:buSzPct val="100000"/>
              <a:buChar char="•"/>
            </a:pPr>
            <a:r>
              <a:rPr i="1" lang="en-US"/>
              <a:t>Inattention Blindness </a:t>
            </a:r>
            <a:r>
              <a:rPr lang="en-US"/>
              <a:t>– the Gorilla in the Room (next slide).</a:t>
            </a:r>
            <a:endParaRPr/>
          </a:p>
          <a:p>
            <a:pPr indent="-228600" lvl="0" marL="228600" rtl="0" algn="l">
              <a:lnSpc>
                <a:spcPct val="90000"/>
              </a:lnSpc>
              <a:spcBef>
                <a:spcPts val="1000"/>
              </a:spcBef>
              <a:spcAft>
                <a:spcPts val="0"/>
              </a:spcAft>
              <a:buClr>
                <a:schemeClr val="dk1"/>
              </a:buClr>
              <a:buSzPct val="100000"/>
              <a:buChar char="•"/>
            </a:pPr>
            <a:r>
              <a:rPr i="1" lang="en-US"/>
              <a:t>Change Blindness – </a:t>
            </a:r>
            <a:r>
              <a:rPr lang="en-US"/>
              <a:t>blindness to changes in the visual periphery.</a:t>
            </a:r>
            <a:endParaRPr/>
          </a:p>
          <a:p>
            <a:pPr indent="-228600" lvl="0" marL="228600" rtl="0" algn="l">
              <a:lnSpc>
                <a:spcPct val="90000"/>
              </a:lnSpc>
              <a:spcBef>
                <a:spcPts val="1000"/>
              </a:spcBef>
              <a:spcAft>
                <a:spcPts val="0"/>
              </a:spcAft>
              <a:buClr>
                <a:schemeClr val="dk1"/>
              </a:buClr>
              <a:buSzPct val="100000"/>
              <a:buChar char="•"/>
            </a:pPr>
            <a:r>
              <a:rPr i="1" lang="en-US"/>
              <a:t>Crowding in visual periphery -- </a:t>
            </a:r>
            <a:r>
              <a:rPr lang="en-US"/>
              <a:t>recognize objects but not their position</a:t>
            </a:r>
            <a:r>
              <a:rPr i="1" lang="en-US"/>
              <a:t>.</a:t>
            </a:r>
            <a:endParaRPr/>
          </a:p>
          <a:p>
            <a:pPr indent="-228600" lvl="0" marL="228600" rtl="0" algn="l">
              <a:lnSpc>
                <a:spcPct val="90000"/>
              </a:lnSpc>
              <a:spcBef>
                <a:spcPts val="1000"/>
              </a:spcBef>
              <a:spcAft>
                <a:spcPts val="0"/>
              </a:spcAft>
              <a:buClr>
                <a:schemeClr val="dk1"/>
              </a:buClr>
              <a:buSzPct val="100000"/>
              <a:buChar char="•"/>
            </a:pPr>
            <a:r>
              <a:rPr i="1" lang="en-US"/>
              <a:t>Failures of Consistency – </a:t>
            </a:r>
            <a:r>
              <a:rPr lang="en-US"/>
              <a:t>inconsistent interpretation of entire image.</a:t>
            </a:r>
            <a:endParaRPr/>
          </a:p>
          <a:p>
            <a:pPr indent="-228600" lvl="0" marL="228600" rtl="0" algn="l">
              <a:lnSpc>
                <a:spcPct val="90000"/>
              </a:lnSpc>
              <a:spcBef>
                <a:spcPts val="1000"/>
              </a:spcBef>
              <a:spcAft>
                <a:spcPts val="0"/>
              </a:spcAft>
              <a:buClr>
                <a:schemeClr val="dk1"/>
              </a:buClr>
              <a:buSzPct val="100000"/>
              <a:buChar char="•"/>
            </a:pPr>
            <a:r>
              <a:rPr i="1" lang="en-US"/>
              <a:t>Accidental Alignment -- </a:t>
            </a:r>
            <a:endParaRPr/>
          </a:p>
          <a:p>
            <a:pPr indent="-228600" lvl="0" marL="228600" rtl="0" algn="l">
              <a:lnSpc>
                <a:spcPct val="90000"/>
              </a:lnSpc>
              <a:spcBef>
                <a:spcPts val="1000"/>
              </a:spcBef>
              <a:spcAft>
                <a:spcPts val="0"/>
              </a:spcAft>
              <a:buClr>
                <a:schemeClr val="dk1"/>
              </a:buClr>
              <a:buSzPct val="100000"/>
              <a:buChar char="•"/>
            </a:pPr>
            <a:r>
              <a:rPr i="1" lang="en-US"/>
              <a:t>Limited tracking of objects </a:t>
            </a:r>
            <a:r>
              <a:rPr lang="en-US"/>
              <a:t>– humans cannot track more than five objects, and perhaps less if they have complex interactions.</a:t>
            </a:r>
            <a:endParaRPr/>
          </a:p>
          <a:p>
            <a:pPr indent="-228600" lvl="0" marL="228600" rtl="0" algn="l">
              <a:lnSpc>
                <a:spcPct val="90000"/>
              </a:lnSpc>
              <a:spcBef>
                <a:spcPts val="1000"/>
              </a:spcBef>
              <a:spcAft>
                <a:spcPts val="0"/>
              </a:spcAft>
              <a:buClr>
                <a:schemeClr val="dk1"/>
              </a:buClr>
              <a:buSzPct val="100000"/>
              <a:buChar char="•"/>
            </a:pPr>
            <a:r>
              <a:rPr b="1" lang="en-US"/>
              <a:t>Other effects </a:t>
            </a:r>
            <a:r>
              <a:rPr lang="en-US"/>
              <a:t>– e.g., after-effects may be due to “tired neurons” or a sensible strategy for the system to self-callibrate. </a:t>
            </a:r>
            <a:endParaRPr/>
          </a:p>
          <a:p>
            <a:pPr indent="0" lvl="0" marL="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2"/>
          <p:cNvSpPr txBox="1"/>
          <p:nvPr>
            <p:ph type="title"/>
          </p:nvPr>
        </p:nvSpPr>
        <p:spPr>
          <a:xfrm>
            <a:off x="517585" y="365125"/>
            <a:ext cx="1083621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5. What is Human Vision Good and Bad at?</a:t>
            </a:r>
            <a:endParaRPr/>
          </a:p>
        </p:txBody>
      </p:sp>
      <p:sp>
        <p:nvSpPr>
          <p:cNvPr id="384" name="Google Shape;384;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Inattention Blindness. Gorilla in the Room. We fail to see gorilla’s if our visual attention is directed elsewhere. Skilled illusionists perform tricks by diverting the observers attention.</a:t>
            </a:r>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3"/>
              </a:rPr>
              <a:t>https://www.youtube.com/watch?v=vJG698U2Mvo</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85" name="Google Shape;385;p22"/>
          <p:cNvPicPr preferRelativeResize="0"/>
          <p:nvPr/>
        </p:nvPicPr>
        <p:blipFill rotWithShape="1">
          <a:blip r:embed="rId4">
            <a:alphaModFix/>
          </a:blip>
          <a:srcRect b="0" l="0" r="0" t="0"/>
          <a:stretch/>
        </p:blipFill>
        <p:spPr>
          <a:xfrm>
            <a:off x="1343645" y="4098824"/>
            <a:ext cx="5224935" cy="24841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3"/>
          <p:cNvSpPr txBox="1"/>
          <p:nvPr>
            <p:ph type="title"/>
          </p:nvPr>
        </p:nvSpPr>
        <p:spPr>
          <a:xfrm>
            <a:off x="319177" y="365125"/>
            <a:ext cx="1103462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5. What is Human Vision Good and Bad at?</a:t>
            </a:r>
            <a:endParaRPr/>
          </a:p>
        </p:txBody>
      </p:sp>
      <p:sp>
        <p:nvSpPr>
          <p:cNvPr id="391" name="Google Shape;39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Change Blindness. Humans are bad at noticing differences between images (provided they have similar semantic content). We are bad at noticing changes outside our center of gaze.</a:t>
            </a:r>
            <a:endParaRPr/>
          </a:p>
        </p:txBody>
      </p:sp>
      <p:pic>
        <p:nvPicPr>
          <p:cNvPr id="392" name="Google Shape;392;p23"/>
          <p:cNvPicPr preferRelativeResize="0"/>
          <p:nvPr/>
        </p:nvPicPr>
        <p:blipFill rotWithShape="1">
          <a:blip r:embed="rId3">
            <a:alphaModFix/>
          </a:blip>
          <a:srcRect b="0" l="0" r="0" t="0"/>
          <a:stretch/>
        </p:blipFill>
        <p:spPr>
          <a:xfrm>
            <a:off x="1347034" y="3500537"/>
            <a:ext cx="4194412" cy="2097206"/>
          </a:xfrm>
          <a:prstGeom prst="rect">
            <a:avLst/>
          </a:prstGeom>
          <a:noFill/>
          <a:ln>
            <a:noFill/>
          </a:ln>
        </p:spPr>
      </p:pic>
      <p:pic>
        <p:nvPicPr>
          <p:cNvPr id="393" name="Google Shape;393;p23"/>
          <p:cNvPicPr preferRelativeResize="0"/>
          <p:nvPr/>
        </p:nvPicPr>
        <p:blipFill rotWithShape="1">
          <a:blip r:embed="rId4">
            <a:alphaModFix/>
          </a:blip>
          <a:srcRect b="0" l="0" r="0" t="0"/>
          <a:stretch/>
        </p:blipFill>
        <p:spPr>
          <a:xfrm>
            <a:off x="6650556" y="3122763"/>
            <a:ext cx="4236117" cy="35972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4"/>
          <p:cNvSpPr txBox="1"/>
          <p:nvPr>
            <p:ph type="title"/>
          </p:nvPr>
        </p:nvSpPr>
        <p:spPr>
          <a:xfrm>
            <a:off x="565037" y="365125"/>
            <a:ext cx="1078876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5. What is Human Vision Good and Bad at?</a:t>
            </a:r>
            <a:endParaRPr/>
          </a:p>
        </p:txBody>
      </p:sp>
      <p:sp>
        <p:nvSpPr>
          <p:cNvPr id="399" name="Google Shape;399;p24"/>
          <p:cNvSpPr txBox="1"/>
          <p:nvPr>
            <p:ph idx="1" type="body"/>
          </p:nvPr>
        </p:nvSpPr>
        <p:spPr>
          <a:xfrm>
            <a:off x="838200" y="1825625"/>
            <a:ext cx="630555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Failures of consistency. </a:t>
            </a:r>
            <a:r>
              <a:rPr lang="en-US"/>
              <a:t>Without careful attention we may fail to notice the inconsistency. Probably a sensible efficient (i.e. lazy) strategy</a:t>
            </a:r>
            <a:endParaRPr/>
          </a:p>
        </p:txBody>
      </p:sp>
      <p:pic>
        <p:nvPicPr>
          <p:cNvPr id="400" name="Google Shape;400;p24"/>
          <p:cNvPicPr preferRelativeResize="0"/>
          <p:nvPr/>
        </p:nvPicPr>
        <p:blipFill rotWithShape="1">
          <a:blip r:embed="rId3">
            <a:alphaModFix/>
          </a:blip>
          <a:srcRect b="0" l="0" r="0" t="0"/>
          <a:stretch/>
        </p:blipFill>
        <p:spPr>
          <a:xfrm>
            <a:off x="7844178" y="1537468"/>
            <a:ext cx="3782785" cy="5631083"/>
          </a:xfrm>
          <a:prstGeom prst="rect">
            <a:avLst/>
          </a:prstGeom>
          <a:noFill/>
          <a:ln>
            <a:noFill/>
          </a:ln>
        </p:spPr>
      </p:pic>
      <p:pic>
        <p:nvPicPr>
          <p:cNvPr id="401" name="Google Shape;401;p24"/>
          <p:cNvPicPr preferRelativeResize="0"/>
          <p:nvPr/>
        </p:nvPicPr>
        <p:blipFill rotWithShape="1">
          <a:blip r:embed="rId4">
            <a:alphaModFix/>
          </a:blip>
          <a:srcRect b="0" l="0" r="0" t="0"/>
          <a:stretch/>
        </p:blipFill>
        <p:spPr>
          <a:xfrm>
            <a:off x="1111363" y="3707544"/>
            <a:ext cx="4443413" cy="33814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5"/>
          <p:cNvSpPr txBox="1"/>
          <p:nvPr>
            <p:ph type="title"/>
          </p:nvPr>
        </p:nvSpPr>
        <p:spPr>
          <a:xfrm>
            <a:off x="414068" y="365125"/>
            <a:ext cx="1093973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5. What is Human Vision Good and Bad at?</a:t>
            </a:r>
            <a:endParaRPr/>
          </a:p>
        </p:txBody>
      </p:sp>
      <p:sp>
        <p:nvSpPr>
          <p:cNvPr id="407" name="Google Shape;40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Accidental Alignment. This may also  result from a sensible visual strategy that is correct most of the time. (Far right – eye in the kitchen sink).</a:t>
            </a:r>
            <a:endParaRPr/>
          </a:p>
        </p:txBody>
      </p:sp>
      <p:pic>
        <p:nvPicPr>
          <p:cNvPr id="408" name="Google Shape;408;p25"/>
          <p:cNvPicPr preferRelativeResize="0"/>
          <p:nvPr/>
        </p:nvPicPr>
        <p:blipFill rotWithShape="1">
          <a:blip r:embed="rId3">
            <a:alphaModFix/>
          </a:blip>
          <a:srcRect b="0" l="0" r="0" t="0"/>
          <a:stretch/>
        </p:blipFill>
        <p:spPr>
          <a:xfrm>
            <a:off x="121016" y="3000282"/>
            <a:ext cx="2868364" cy="3097195"/>
          </a:xfrm>
          <a:prstGeom prst="rect">
            <a:avLst/>
          </a:prstGeom>
          <a:noFill/>
          <a:ln>
            <a:noFill/>
          </a:ln>
        </p:spPr>
      </p:pic>
      <p:pic>
        <p:nvPicPr>
          <p:cNvPr id="409" name="Google Shape;409;p25"/>
          <p:cNvPicPr preferRelativeResize="0"/>
          <p:nvPr/>
        </p:nvPicPr>
        <p:blipFill rotWithShape="1">
          <a:blip r:embed="rId4">
            <a:alphaModFix/>
          </a:blip>
          <a:srcRect b="0" l="0" r="0" t="0"/>
          <a:stretch/>
        </p:blipFill>
        <p:spPr>
          <a:xfrm>
            <a:off x="2989380" y="2984062"/>
            <a:ext cx="4931610" cy="3192901"/>
          </a:xfrm>
          <a:prstGeom prst="rect">
            <a:avLst/>
          </a:prstGeom>
          <a:noFill/>
          <a:ln>
            <a:noFill/>
          </a:ln>
        </p:spPr>
      </p:pic>
      <p:pic>
        <p:nvPicPr>
          <p:cNvPr id="410" name="Google Shape;410;p25"/>
          <p:cNvPicPr preferRelativeResize="0"/>
          <p:nvPr/>
        </p:nvPicPr>
        <p:blipFill rotWithShape="1">
          <a:blip r:embed="rId5">
            <a:alphaModFix/>
          </a:blip>
          <a:srcRect b="0" l="0" r="0" t="0"/>
          <a:stretch/>
        </p:blipFill>
        <p:spPr>
          <a:xfrm>
            <a:off x="8087692" y="2957680"/>
            <a:ext cx="3266108" cy="32456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6"/>
          <p:cNvSpPr txBox="1"/>
          <p:nvPr>
            <p:ph type="title"/>
          </p:nvPr>
        </p:nvSpPr>
        <p:spPr>
          <a:xfrm>
            <a:off x="838199" y="365125"/>
            <a:ext cx="107470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5. What is Human Vision Good and Bad at?</a:t>
            </a:r>
            <a:endParaRPr/>
          </a:p>
        </p:txBody>
      </p:sp>
      <p:sp>
        <p:nvSpPr>
          <p:cNvPr id="416" name="Google Shape;416;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Michael Bach’s webpage gives a huge set of visual illusions with discussions and possible explanations. </a:t>
            </a:r>
            <a:r>
              <a:rPr lang="en-US" u="sng">
                <a:solidFill>
                  <a:schemeClr val="hlink"/>
                </a:solidFill>
                <a:hlinkClick r:id="rId3"/>
              </a:rPr>
              <a:t>http://www.michaelbach.de/ot/</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Most of these can be explained as sensible visual strategies in Bayesian terms (see next lecture) -- which are effective most of the time but can make mistakes particularly due to impoverished stimuli.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Consciousness, Visual Awareness, and Blindsight. It is argued that we can sometimes see things but not be consciously aware of them. If asked to guess, we guess correctly. This effect is debatable.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6: The big picture of CogSci and AI </a:t>
            </a:r>
            <a:endParaRPr/>
          </a:p>
        </p:txBody>
      </p:sp>
      <p:sp>
        <p:nvSpPr>
          <p:cNvPr id="422" name="Google Shape;422;p27"/>
          <p:cNvSpPr txBox="1"/>
          <p:nvPr>
            <p:ph idx="1" type="body"/>
          </p:nvPr>
        </p:nvSpPr>
        <p:spPr>
          <a:xfrm>
            <a:off x="367748" y="158046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Humans can perform multiple visual tasks consistently. </a:t>
            </a:r>
            <a:endParaRPr/>
          </a:p>
          <a:p>
            <a:pPr indent="-228600" lvl="0" marL="228600" rtl="0" algn="l">
              <a:lnSpc>
                <a:spcPct val="90000"/>
              </a:lnSpc>
              <a:spcBef>
                <a:spcPts val="1000"/>
              </a:spcBef>
              <a:spcAft>
                <a:spcPts val="0"/>
              </a:spcAft>
              <a:buClr>
                <a:schemeClr val="dk1"/>
              </a:buClr>
              <a:buSzPts val="2800"/>
              <a:buChar char="•"/>
            </a:pPr>
            <a:r>
              <a:rPr i="1" lang="en-US"/>
              <a:t>As we can look round the room and see multiple objects (chairs, pictures, books, a robot dog, carpets, clothes, a sleeping cat, an empty wine glass, a projector, an exercise machine, and many others). </a:t>
            </a:r>
            <a:endParaRPr/>
          </a:p>
          <a:p>
            <a:pPr indent="-228600" lvl="0" marL="228600" rtl="0" algn="l">
              <a:lnSpc>
                <a:spcPct val="90000"/>
              </a:lnSpc>
              <a:spcBef>
                <a:spcPts val="1000"/>
              </a:spcBef>
              <a:spcAft>
                <a:spcPts val="0"/>
              </a:spcAft>
              <a:buClr>
                <a:schemeClr val="dk1"/>
              </a:buClr>
              <a:buSzPts val="2800"/>
              <a:buChar char="•"/>
            </a:pPr>
            <a:r>
              <a:rPr lang="en-US"/>
              <a:t>For all of them, we can estimate their shape, their position in the world, and the positions and shapes of their parts. We can also describe their properties, like the age of the carpet and how recently it has been cleaned.</a:t>
            </a:r>
            <a:br>
              <a:rPr lang="en-US"/>
            </a:b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6: The big picture of CogSci and AI </a:t>
            </a:r>
            <a:endParaRPr/>
          </a:p>
        </p:txBody>
      </p:sp>
      <p:sp>
        <p:nvSpPr>
          <p:cNvPr id="428" name="Google Shape;428;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Humans contain mental models of the world. These contain enormous world knowledge obtained from infancy. We learn to model the world during development using multiple sensing cues – sight, touch, taste, sound – and by interacting with it. </a:t>
            </a:r>
            <a:r>
              <a:rPr i="1" lang="en-US"/>
              <a:t>Babies/infants are tiny scientists who learn about the world by making predictions.</a:t>
            </a:r>
            <a:r>
              <a:rPr lang="en-US"/>
              <a:t> </a:t>
            </a:r>
            <a:endParaRPr/>
          </a:p>
          <a:p>
            <a:pPr indent="-228600" lvl="0" marL="228600" rtl="0" algn="l">
              <a:lnSpc>
                <a:spcPct val="90000"/>
              </a:lnSpc>
              <a:spcBef>
                <a:spcPts val="1000"/>
              </a:spcBef>
              <a:spcAft>
                <a:spcPts val="0"/>
              </a:spcAft>
              <a:buClr>
                <a:schemeClr val="dk1"/>
              </a:buClr>
              <a:buSzPct val="100000"/>
              <a:buChar char="•"/>
            </a:pPr>
            <a:r>
              <a:rPr lang="en-US"/>
              <a:t>This differs enormously from Machine Learning which is the basis of much recent AI. </a:t>
            </a:r>
            <a:endParaRPr/>
          </a:p>
          <a:p>
            <a:pPr indent="-228600" lvl="0" marL="228600" rtl="0" algn="l">
              <a:lnSpc>
                <a:spcPct val="90000"/>
              </a:lnSpc>
              <a:spcBef>
                <a:spcPts val="1000"/>
              </a:spcBef>
              <a:spcAft>
                <a:spcPts val="0"/>
              </a:spcAft>
              <a:buClr>
                <a:schemeClr val="dk1"/>
              </a:buClr>
              <a:buSzPct val="100000"/>
              <a:buChar char="•"/>
            </a:pPr>
            <a:r>
              <a:rPr lang="en-US"/>
              <a:t>Humans have structured compositional representations and causal knowledge about the world.  This mental world knowledge gives humans the ability to perform induction – to learn rapidly in new domains and perform novel tasks. </a:t>
            </a:r>
            <a:endParaRPr/>
          </a:p>
          <a:p>
            <a:pPr indent="-228600" lvl="0" marL="228600" rtl="0" algn="l">
              <a:lnSpc>
                <a:spcPct val="90000"/>
              </a:lnSpc>
              <a:spcBef>
                <a:spcPts val="1000"/>
              </a:spcBef>
              <a:spcAft>
                <a:spcPts val="0"/>
              </a:spcAft>
              <a:buClr>
                <a:schemeClr val="dk1"/>
              </a:buClr>
              <a:buSzPct val="100000"/>
              <a:buChar char="•"/>
            </a:pPr>
            <a:r>
              <a:rPr lang="en-US"/>
              <a:t>Humans can imagine the world and make counterfactual – what if? – predictions. We may have a computer graphics simulator in our head (J.B. Tenenbaum).</a:t>
            </a:r>
            <a:endParaRPr/>
          </a:p>
          <a:p>
            <a:pPr indent="-228600" lvl="0" marL="228600" rtl="0" algn="l">
              <a:lnSpc>
                <a:spcPct val="90000"/>
              </a:lnSpc>
              <a:spcBef>
                <a:spcPts val="1000"/>
              </a:spcBef>
              <a:spcAft>
                <a:spcPts val="0"/>
              </a:spcAft>
              <a:buClr>
                <a:schemeClr val="dk1"/>
              </a:buClr>
              <a:buSzPct val="100000"/>
              <a:buChar char="•"/>
            </a:pPr>
            <a:r>
              <a:rPr lang="en-US"/>
              <a:t>This is a modern update to the classic ideas of “Vision as Inference” (Helmholz, Gregory).“Vision is not just a passive acceptance of stimuli, but  an active process involving memory and other internal processes”. </a:t>
            </a:r>
            <a:endParaRPr/>
          </a:p>
          <a:p>
            <a:pPr indent="-228600" lvl="0" marL="228600" rtl="0" algn="l">
              <a:lnSpc>
                <a:spcPct val="90000"/>
              </a:lnSpc>
              <a:spcBef>
                <a:spcPts val="1000"/>
              </a:spcBef>
              <a:spcAft>
                <a:spcPts val="0"/>
              </a:spcAft>
              <a:buClr>
                <a:schemeClr val="dk1"/>
              </a:buClr>
              <a:buSzPct val="100000"/>
              <a:buChar char="•"/>
            </a:pPr>
            <a:r>
              <a:rPr lang="en-US"/>
              <a:t>This can be formulated by </a:t>
            </a:r>
            <a:r>
              <a:rPr i="1" lang="en-US"/>
              <a:t>Bayesian Theories of Vision </a:t>
            </a:r>
            <a:r>
              <a:rPr lang="en-US"/>
              <a:t>which combine </a:t>
            </a:r>
            <a:r>
              <a:rPr i="1" lang="en-US"/>
              <a:t>Analysis</a:t>
            </a:r>
            <a:r>
              <a:rPr lang="en-US"/>
              <a:t> – understanding images – with </a:t>
            </a:r>
            <a:r>
              <a:rPr i="1" lang="en-US"/>
              <a:t>Synthesis</a:t>
            </a:r>
            <a:r>
              <a:rPr lang="en-US"/>
              <a:t> – generating them. This estimate properties of the 3D world.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6: The big picture of CogSci and AI</a:t>
            </a:r>
            <a:r>
              <a:rPr lang="en-US"/>
              <a:t> </a:t>
            </a:r>
            <a:endParaRPr/>
          </a:p>
        </p:txBody>
      </p:sp>
      <p:sp>
        <p:nvSpPr>
          <p:cNvPr id="434" name="Google Shape;434;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see in 3D by  assuming normal 3D structure (ground planes, shadows, and 3D structure), but are fooled sometimes.</a:t>
            </a:r>
            <a:endParaRPr/>
          </a:p>
        </p:txBody>
      </p:sp>
      <p:pic>
        <p:nvPicPr>
          <p:cNvPr id="435" name="Google Shape;435;p29"/>
          <p:cNvPicPr preferRelativeResize="0"/>
          <p:nvPr/>
        </p:nvPicPr>
        <p:blipFill rotWithShape="1">
          <a:blip r:embed="rId3">
            <a:alphaModFix/>
          </a:blip>
          <a:srcRect b="0" l="0" r="0" t="0"/>
          <a:stretch/>
        </p:blipFill>
        <p:spPr>
          <a:xfrm>
            <a:off x="854562" y="2903943"/>
            <a:ext cx="3594764" cy="1808686"/>
          </a:xfrm>
          <a:prstGeom prst="rect">
            <a:avLst/>
          </a:prstGeom>
          <a:noFill/>
          <a:ln>
            <a:noFill/>
          </a:ln>
        </p:spPr>
      </p:pic>
      <p:pic>
        <p:nvPicPr>
          <p:cNvPr id="436" name="Google Shape;436;p29"/>
          <p:cNvPicPr preferRelativeResize="0"/>
          <p:nvPr/>
        </p:nvPicPr>
        <p:blipFill rotWithShape="1">
          <a:blip r:embed="rId4">
            <a:alphaModFix/>
          </a:blip>
          <a:srcRect b="0" l="0" r="0" t="0"/>
          <a:stretch/>
        </p:blipFill>
        <p:spPr>
          <a:xfrm>
            <a:off x="1277504" y="4989415"/>
            <a:ext cx="6254866" cy="1868585"/>
          </a:xfrm>
          <a:prstGeom prst="rect">
            <a:avLst/>
          </a:prstGeom>
          <a:noFill/>
          <a:ln>
            <a:noFill/>
          </a:ln>
        </p:spPr>
      </p:pic>
      <p:pic>
        <p:nvPicPr>
          <p:cNvPr id="437" name="Google Shape;437;p29"/>
          <p:cNvPicPr preferRelativeResize="0"/>
          <p:nvPr/>
        </p:nvPicPr>
        <p:blipFill rotWithShape="1">
          <a:blip r:embed="rId5">
            <a:alphaModFix/>
          </a:blip>
          <a:srcRect b="0" l="0" r="0" t="0"/>
          <a:stretch/>
        </p:blipFill>
        <p:spPr>
          <a:xfrm>
            <a:off x="4988379" y="2839696"/>
            <a:ext cx="3049637" cy="1872933"/>
          </a:xfrm>
          <a:prstGeom prst="rect">
            <a:avLst/>
          </a:prstGeom>
          <a:noFill/>
          <a:ln>
            <a:noFill/>
          </a:ln>
        </p:spPr>
      </p:pic>
      <p:pic>
        <p:nvPicPr>
          <p:cNvPr id="438" name="Google Shape;438;p29"/>
          <p:cNvPicPr preferRelativeResize="0"/>
          <p:nvPr/>
        </p:nvPicPr>
        <p:blipFill rotWithShape="1">
          <a:blip r:embed="rId6">
            <a:alphaModFix/>
          </a:blip>
          <a:srcRect b="0" l="0" r="0" t="0"/>
          <a:stretch/>
        </p:blipFill>
        <p:spPr>
          <a:xfrm>
            <a:off x="8610477" y="2772228"/>
            <a:ext cx="2834886" cy="352379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0"/>
          <p:cNvSpPr txBox="1"/>
          <p:nvPr>
            <p:ph type="title"/>
          </p:nvPr>
        </p:nvSpPr>
        <p:spPr>
          <a:xfrm>
            <a:off x="914400" y="609600"/>
            <a:ext cx="103632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sz="3200">
                <a:solidFill>
                  <a:srgbClr val="FF0000"/>
                </a:solidFill>
              </a:rPr>
              <a:t>Part 7: Which square is brighter? </a:t>
            </a:r>
            <a:endParaRPr/>
          </a:p>
        </p:txBody>
      </p:sp>
      <p:pic>
        <p:nvPicPr>
          <p:cNvPr descr="Aldelson_checkershadow" id="444" name="Google Shape;444;p30"/>
          <p:cNvPicPr preferRelativeResize="0"/>
          <p:nvPr/>
        </p:nvPicPr>
        <p:blipFill rotWithShape="1">
          <a:blip r:embed="rId3">
            <a:alphaModFix/>
          </a:blip>
          <a:srcRect b="0" l="0" r="0" t="0"/>
          <a:stretch/>
        </p:blipFill>
        <p:spPr>
          <a:xfrm>
            <a:off x="3648075" y="1884364"/>
            <a:ext cx="5500688" cy="3533775"/>
          </a:xfrm>
          <a:prstGeom prst="rect">
            <a:avLst/>
          </a:prstGeom>
          <a:noFill/>
          <a:ln>
            <a:noFill/>
          </a:ln>
        </p:spPr>
      </p:pic>
      <p:sp>
        <p:nvSpPr>
          <p:cNvPr id="445" name="Google Shape;445;p30"/>
          <p:cNvSpPr/>
          <p:nvPr/>
        </p:nvSpPr>
        <p:spPr>
          <a:xfrm>
            <a:off x="5562600" y="1828800"/>
            <a:ext cx="3657600" cy="3581400"/>
          </a:xfrm>
          <a:custGeom>
            <a:rect b="b" l="l" r="r" t="t"/>
            <a:pathLst>
              <a:path extrusionOk="0" h="2240" w="2248">
                <a:moveTo>
                  <a:pt x="208" y="0"/>
                </a:moveTo>
                <a:lnTo>
                  <a:pt x="208" y="824"/>
                </a:lnTo>
                <a:lnTo>
                  <a:pt x="0" y="1000"/>
                </a:lnTo>
                <a:lnTo>
                  <a:pt x="8" y="1528"/>
                </a:lnTo>
                <a:lnTo>
                  <a:pt x="304" y="1560"/>
                </a:lnTo>
                <a:lnTo>
                  <a:pt x="528" y="1384"/>
                </a:lnTo>
                <a:lnTo>
                  <a:pt x="888" y="1496"/>
                </a:lnTo>
                <a:lnTo>
                  <a:pt x="680" y="1656"/>
                </a:lnTo>
                <a:lnTo>
                  <a:pt x="312" y="1584"/>
                </a:lnTo>
                <a:lnTo>
                  <a:pt x="8" y="1544"/>
                </a:lnTo>
                <a:lnTo>
                  <a:pt x="0" y="2240"/>
                </a:lnTo>
                <a:lnTo>
                  <a:pt x="2248" y="2240"/>
                </a:lnTo>
                <a:lnTo>
                  <a:pt x="2248" y="24"/>
                </a:lnTo>
                <a:lnTo>
                  <a:pt x="208" y="0"/>
                </a:lnTo>
                <a:close/>
              </a:path>
            </a:pathLst>
          </a:custGeom>
          <a:solidFill>
            <a:schemeClr val="accen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Times New Roman"/>
              <a:ea typeface="Times New Roman"/>
              <a:cs typeface="Times New Roman"/>
              <a:sym typeface="Times New Roman"/>
            </a:endParaRPr>
          </a:p>
        </p:txBody>
      </p:sp>
      <p:sp>
        <p:nvSpPr>
          <p:cNvPr id="446" name="Google Shape;446;p30"/>
          <p:cNvSpPr/>
          <p:nvPr/>
        </p:nvSpPr>
        <p:spPr>
          <a:xfrm>
            <a:off x="3657600" y="1905000"/>
            <a:ext cx="2247900" cy="3505200"/>
          </a:xfrm>
          <a:custGeom>
            <a:rect b="b" l="l" r="r" t="t"/>
            <a:pathLst>
              <a:path extrusionOk="0" h="2240" w="1416">
                <a:moveTo>
                  <a:pt x="8" y="0"/>
                </a:moveTo>
                <a:lnTo>
                  <a:pt x="0" y="2240"/>
                </a:lnTo>
                <a:lnTo>
                  <a:pt x="1224" y="2240"/>
                </a:lnTo>
                <a:lnTo>
                  <a:pt x="1216" y="984"/>
                </a:lnTo>
                <a:lnTo>
                  <a:pt x="856" y="872"/>
                </a:lnTo>
                <a:lnTo>
                  <a:pt x="1072" y="704"/>
                </a:lnTo>
                <a:lnTo>
                  <a:pt x="1416" y="808"/>
                </a:lnTo>
                <a:lnTo>
                  <a:pt x="1416" y="0"/>
                </a:lnTo>
                <a:lnTo>
                  <a:pt x="8" y="0"/>
                </a:lnTo>
                <a:close/>
              </a:path>
            </a:pathLst>
          </a:custGeom>
          <a:solidFill>
            <a:schemeClr val="accen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500"/>
                                        <p:tgtEl>
                                          <p:spTgt spid="4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500"/>
                                        <p:tgtEl>
                                          <p:spTgt spid="44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1"/>
          <p:cNvSpPr txBox="1"/>
          <p:nvPr>
            <p:ph type="title"/>
          </p:nvPr>
        </p:nvSpPr>
        <p:spPr>
          <a:xfrm>
            <a:off x="388620" y="560388"/>
            <a:ext cx="1157859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i="1" lang="en-US">
                <a:solidFill>
                  <a:srgbClr val="FF0000"/>
                </a:solidFill>
              </a:rPr>
              <a:t>Part 6: The big picture of CogSci and AI </a:t>
            </a:r>
            <a:endParaRPr/>
          </a:p>
        </p:txBody>
      </p:sp>
      <p:sp>
        <p:nvSpPr>
          <p:cNvPr id="452" name="Google Shape;452;p31"/>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lang="en-US"/>
              <a:t>There are an infinite number of ways that images can be formed. </a:t>
            </a:r>
            <a:endParaRPr/>
          </a:p>
          <a:p>
            <a:pPr indent="-342900" lvl="0" marL="342900" rtl="0" algn="l">
              <a:spcBef>
                <a:spcPts val="640"/>
              </a:spcBef>
              <a:spcAft>
                <a:spcPts val="0"/>
              </a:spcAft>
              <a:buSzPts val="2560"/>
              <a:buChar char="●"/>
            </a:pPr>
            <a:r>
              <a:rPr lang="en-US"/>
              <a:t>Why do we see a cube?</a:t>
            </a:r>
            <a:endParaRPr/>
          </a:p>
          <a:p>
            <a:pPr indent="-342900" lvl="0" marL="342900" rtl="0" algn="l">
              <a:spcBef>
                <a:spcPts val="640"/>
              </a:spcBef>
              <a:spcAft>
                <a:spcPts val="0"/>
              </a:spcAft>
              <a:buSzPts val="2560"/>
              <a:buChar char="●"/>
            </a:pPr>
            <a:r>
              <a:rPr lang="en-US"/>
              <a:t>The likelihood P(I|S) rules</a:t>
            </a:r>
            <a:endParaRPr/>
          </a:p>
          <a:p>
            <a:pPr indent="-342900" lvl="0" marL="342900" rtl="0" algn="l">
              <a:spcBef>
                <a:spcPts val="640"/>
              </a:spcBef>
              <a:spcAft>
                <a:spcPts val="0"/>
              </a:spcAft>
              <a:buSzPts val="2560"/>
              <a:buChar char="●"/>
            </a:pPr>
            <a:r>
              <a:rPr lang="en-US"/>
              <a:t>out some interpetations S</a:t>
            </a:r>
            <a:endParaRPr/>
          </a:p>
          <a:p>
            <a:pPr indent="-342900" lvl="0" marL="342900" rtl="0" algn="l">
              <a:spcBef>
                <a:spcPts val="640"/>
              </a:spcBef>
              <a:spcAft>
                <a:spcPts val="0"/>
              </a:spcAft>
              <a:buSzPts val="2560"/>
              <a:buChar char="●"/>
            </a:pPr>
            <a:r>
              <a:rPr lang="en-US"/>
              <a:t>Prior P(S)– cubes are more</a:t>
            </a:r>
            <a:endParaRPr/>
          </a:p>
          <a:p>
            <a:pPr indent="-342900" lvl="0" marL="342900" rtl="0" algn="l">
              <a:spcBef>
                <a:spcPts val="640"/>
              </a:spcBef>
              <a:spcAft>
                <a:spcPts val="0"/>
              </a:spcAft>
              <a:buSzPts val="2560"/>
              <a:buFont typeface="Noto Sans Symbols"/>
              <a:buNone/>
            </a:pPr>
            <a:r>
              <a:rPr lang="en-US"/>
              <a:t>   likely than other shapes</a:t>
            </a:r>
            <a:endParaRPr/>
          </a:p>
          <a:p>
            <a:pPr indent="-342900" lvl="0" marL="342900" rtl="0" algn="l">
              <a:spcBef>
                <a:spcPts val="640"/>
              </a:spcBef>
              <a:spcAft>
                <a:spcPts val="0"/>
              </a:spcAft>
              <a:buSzPts val="2560"/>
              <a:buFont typeface="Noto Sans Symbols"/>
              <a:buNone/>
            </a:pPr>
            <a:r>
              <a:rPr lang="en-US"/>
              <a:t>   consistent with the image.</a:t>
            </a:r>
            <a:endParaRPr/>
          </a:p>
          <a:p>
            <a:pPr indent="-180340" lvl="0" marL="342900" rtl="0" algn="l">
              <a:spcBef>
                <a:spcPts val="640"/>
              </a:spcBef>
              <a:spcAft>
                <a:spcPts val="0"/>
              </a:spcAft>
              <a:buSzPts val="2560"/>
              <a:buNone/>
            </a:pPr>
            <a:r>
              <a:t/>
            </a:r>
            <a:endParaRPr/>
          </a:p>
          <a:p>
            <a:pPr indent="-342900" lvl="0" marL="342900" rtl="0" algn="l">
              <a:spcBef>
                <a:spcPts val="640"/>
              </a:spcBef>
              <a:spcAft>
                <a:spcPts val="0"/>
              </a:spcAft>
              <a:buSzPts val="2560"/>
              <a:buFont typeface="Noto Sans Symbols"/>
              <a:buNone/>
            </a:pPr>
            <a:r>
              <a:rPr lang="en-US"/>
              <a:t>. </a:t>
            </a:r>
            <a:endParaRPr/>
          </a:p>
        </p:txBody>
      </p:sp>
      <p:pic>
        <p:nvPicPr>
          <p:cNvPr id="453" name="Google Shape;453;p31"/>
          <p:cNvPicPr preferRelativeResize="0"/>
          <p:nvPr/>
        </p:nvPicPr>
        <p:blipFill rotWithShape="1">
          <a:blip r:embed="rId3">
            <a:alphaModFix/>
          </a:blip>
          <a:srcRect b="0" l="0" r="0" t="0"/>
          <a:stretch/>
        </p:blipFill>
        <p:spPr>
          <a:xfrm>
            <a:off x="7086600" y="2667000"/>
            <a:ext cx="3771900" cy="30241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Human Vision</a:t>
            </a:r>
            <a:endParaRPr/>
          </a:p>
        </p:txBody>
      </p:sp>
      <p:sp>
        <p:nvSpPr>
          <p:cNvPr id="459" name="Google Shape;45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Cues and Modularity.</a:t>
            </a:r>
            <a:endParaRPr/>
          </a:p>
          <a:p>
            <a:pPr indent="-228600" lvl="0" marL="228600" rtl="0" algn="l">
              <a:lnSpc>
                <a:spcPct val="90000"/>
              </a:lnSpc>
              <a:spcBef>
                <a:spcPts val="1000"/>
              </a:spcBef>
              <a:spcAft>
                <a:spcPts val="0"/>
              </a:spcAft>
              <a:buClr>
                <a:schemeClr val="dk1"/>
              </a:buClr>
              <a:buSzPts val="2800"/>
              <a:buChar char="•"/>
            </a:pPr>
            <a:r>
              <a:rPr lang="en-US"/>
              <a:t>The study of human vision has identified visual cues which are sufficient for performing visual tasks in restricted (toy environments). </a:t>
            </a:r>
            <a:endParaRPr/>
          </a:p>
          <a:p>
            <a:pPr indent="-228600" lvl="0" marL="228600" rtl="0" algn="l">
              <a:lnSpc>
                <a:spcPct val="90000"/>
              </a:lnSpc>
              <a:spcBef>
                <a:spcPts val="1000"/>
              </a:spcBef>
              <a:spcAft>
                <a:spcPts val="0"/>
              </a:spcAft>
              <a:buClr>
                <a:schemeClr val="dk1"/>
              </a:buClr>
              <a:buSzPts val="2800"/>
              <a:buChar char="•"/>
            </a:pPr>
            <a:r>
              <a:rPr lang="en-US"/>
              <a:t>E.g., Shape from shading, texture, contour, focus, and perspective. </a:t>
            </a:r>
            <a:endParaRPr/>
          </a:p>
          <a:p>
            <a:pPr indent="-228600" lvl="0" marL="228600" rtl="0" algn="l">
              <a:lnSpc>
                <a:spcPct val="90000"/>
              </a:lnSpc>
              <a:spcBef>
                <a:spcPts val="1000"/>
              </a:spcBef>
              <a:spcAft>
                <a:spcPts val="0"/>
              </a:spcAft>
              <a:buClr>
                <a:schemeClr val="dk1"/>
              </a:buClr>
              <a:buSzPts val="2800"/>
              <a:buChar char="•"/>
            </a:pPr>
            <a:r>
              <a:rPr lang="en-US"/>
              <a:t>These cues are effective in simplified domains (toy worlds) although extending them to work in the complexity of real images is often extremely challenging. </a:t>
            </a:r>
            <a:endParaRPr/>
          </a:p>
          <a:p>
            <a:pPr indent="-228600" lvl="0" marL="228600" rtl="0" algn="l">
              <a:lnSpc>
                <a:spcPct val="90000"/>
              </a:lnSpc>
              <a:spcBef>
                <a:spcPts val="1000"/>
              </a:spcBef>
              <a:spcAft>
                <a:spcPts val="0"/>
              </a:spcAft>
              <a:buClr>
                <a:schemeClr val="dk1"/>
              </a:buClr>
              <a:buSzPts val="2800"/>
              <a:buChar char="•"/>
            </a:pPr>
            <a:r>
              <a:rPr lang="en-US"/>
              <a:t>Many of these cues are now embedded in AI-Vision models, but many are not.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Vision</a:t>
            </a:r>
            <a:endParaRPr/>
          </a:p>
        </p:txBody>
      </p:sp>
      <p:sp>
        <p:nvSpPr>
          <p:cNvPr id="465" name="Google Shape;465;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i="1" lang="en-US"/>
              <a:t>Abstraction and Domain Transfer.</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Humans can understand an object from an image, from a drawing, from an highly abstract sketch. This is, in AI-vision terminology, an extreme form of domain transfer. </a:t>
            </a:r>
            <a:endParaRPr/>
          </a:p>
          <a:p>
            <a:pPr indent="-228600" lvl="0" marL="228600" rtl="0" algn="l">
              <a:lnSpc>
                <a:spcPct val="90000"/>
              </a:lnSpc>
              <a:spcBef>
                <a:spcPts val="1000"/>
              </a:spcBef>
              <a:spcAft>
                <a:spcPts val="0"/>
              </a:spcAft>
              <a:buClr>
                <a:schemeClr val="dk1"/>
              </a:buClr>
              <a:buSzPct val="100000"/>
              <a:buChar char="•"/>
            </a:pPr>
            <a:r>
              <a:rPr lang="en-US"/>
              <a:t>Humans can factor shape and geometry – and recognize a blue tree, even if they have never seen one before.</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Humans can perform analogical reasoning. We can not only recognize visual similarity between objects, but also relationships (e.g., part-whole: paw to cat, hand to person), and functional relations (e.g., hammer is in toolbox, notebook is in backpack), and other relations (e.g., woman chases child is like cat chases mouse – but only in some ways!).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Domain Transfer &amp; Analogies</a:t>
            </a:r>
            <a:endParaRPr/>
          </a:p>
        </p:txBody>
      </p:sp>
      <p:sp>
        <p:nvSpPr>
          <p:cNvPr id="471" name="Google Shape;471;p34"/>
          <p:cNvSpPr txBox="1"/>
          <p:nvPr>
            <p:ph idx="1" type="body"/>
          </p:nvPr>
        </p:nvSpPr>
        <p:spPr>
          <a:xfrm>
            <a:off x="1012508" y="152844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Domain Transfer. Analogies.</a:t>
            </a:r>
            <a:endParaRPr/>
          </a:p>
        </p:txBody>
      </p:sp>
      <p:pic>
        <p:nvPicPr>
          <p:cNvPr id="472" name="Google Shape;472;p34"/>
          <p:cNvPicPr preferRelativeResize="0"/>
          <p:nvPr/>
        </p:nvPicPr>
        <p:blipFill rotWithShape="1">
          <a:blip r:embed="rId3">
            <a:alphaModFix/>
          </a:blip>
          <a:srcRect b="0" l="0" r="0" t="0"/>
          <a:stretch/>
        </p:blipFill>
        <p:spPr>
          <a:xfrm>
            <a:off x="273843" y="1905000"/>
            <a:ext cx="2981325" cy="2819400"/>
          </a:xfrm>
          <a:prstGeom prst="rect">
            <a:avLst/>
          </a:prstGeom>
          <a:noFill/>
          <a:ln>
            <a:noFill/>
          </a:ln>
        </p:spPr>
      </p:pic>
      <p:pic>
        <p:nvPicPr>
          <p:cNvPr id="473" name="Google Shape;473;p34"/>
          <p:cNvPicPr preferRelativeResize="0"/>
          <p:nvPr/>
        </p:nvPicPr>
        <p:blipFill rotWithShape="1">
          <a:blip r:embed="rId4">
            <a:alphaModFix/>
          </a:blip>
          <a:srcRect b="0" l="0" r="0" t="0"/>
          <a:stretch/>
        </p:blipFill>
        <p:spPr>
          <a:xfrm>
            <a:off x="3255168" y="1991451"/>
            <a:ext cx="2616997" cy="2489099"/>
          </a:xfrm>
          <a:prstGeom prst="rect">
            <a:avLst/>
          </a:prstGeom>
          <a:noFill/>
          <a:ln>
            <a:noFill/>
          </a:ln>
        </p:spPr>
      </p:pic>
      <p:pic>
        <p:nvPicPr>
          <p:cNvPr id="474" name="Google Shape;474;p34"/>
          <p:cNvPicPr preferRelativeResize="0"/>
          <p:nvPr/>
        </p:nvPicPr>
        <p:blipFill rotWithShape="1">
          <a:blip r:embed="rId5">
            <a:alphaModFix/>
          </a:blip>
          <a:srcRect b="0" l="0" r="0" t="0"/>
          <a:stretch/>
        </p:blipFill>
        <p:spPr>
          <a:xfrm>
            <a:off x="5704992" y="1991451"/>
            <a:ext cx="2263055" cy="2922103"/>
          </a:xfrm>
          <a:prstGeom prst="rect">
            <a:avLst/>
          </a:prstGeom>
          <a:noFill/>
          <a:ln>
            <a:noFill/>
          </a:ln>
        </p:spPr>
      </p:pic>
      <p:pic>
        <p:nvPicPr>
          <p:cNvPr id="475" name="Google Shape;475;p34"/>
          <p:cNvPicPr preferRelativeResize="0"/>
          <p:nvPr/>
        </p:nvPicPr>
        <p:blipFill rotWithShape="1">
          <a:blip r:embed="rId6">
            <a:alphaModFix/>
          </a:blip>
          <a:srcRect b="0" l="0" r="0" t="0"/>
          <a:stretch/>
        </p:blipFill>
        <p:spPr>
          <a:xfrm>
            <a:off x="8203404" y="1817369"/>
            <a:ext cx="3560061" cy="467756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Vision</a:t>
            </a:r>
            <a:endParaRPr/>
          </a:p>
        </p:txBody>
      </p:sp>
      <p:sp>
        <p:nvSpPr>
          <p:cNvPr id="481" name="Google Shape;48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i="1" lang="en-US"/>
              <a:t>Internal representations of parts. Vision is explainable. </a:t>
            </a:r>
            <a:endParaRPr/>
          </a:p>
          <a:p>
            <a:pPr indent="-228600" lvl="0" marL="228600" rtl="0" algn="l">
              <a:lnSpc>
                <a:spcPct val="90000"/>
              </a:lnSpc>
              <a:spcBef>
                <a:spcPts val="1000"/>
              </a:spcBef>
              <a:spcAft>
                <a:spcPts val="0"/>
              </a:spcAft>
              <a:buClr>
                <a:schemeClr val="dk1"/>
              </a:buClr>
              <a:buSzPct val="100000"/>
              <a:buChar char="•"/>
            </a:pPr>
            <a:r>
              <a:rPr lang="en-US"/>
              <a:t>These parts can be detected without context. They can also be described by language. </a:t>
            </a:r>
            <a:endParaRPr/>
          </a:p>
          <a:p>
            <a:pPr indent="-228600" lvl="0" marL="228600" rtl="0" algn="l">
              <a:lnSpc>
                <a:spcPct val="90000"/>
              </a:lnSpc>
              <a:spcBef>
                <a:spcPts val="1000"/>
              </a:spcBef>
              <a:spcAft>
                <a:spcPts val="0"/>
              </a:spcAft>
              <a:buClr>
                <a:schemeClr val="dk1"/>
              </a:buClr>
              <a:buSzPct val="100000"/>
              <a:buChar char="•"/>
            </a:pPr>
            <a:r>
              <a:rPr lang="en-US"/>
              <a:t>Humans can explain why they have recognized an object – this is a car because I can see the wheels, the chassis, the doors, etc – and they satisfy the correct spatial relationships. </a:t>
            </a:r>
            <a:endParaRPr/>
          </a:p>
          <a:p>
            <a:pPr indent="-228600" lvl="0" marL="228600" rtl="0" algn="l">
              <a:lnSpc>
                <a:spcPct val="90000"/>
              </a:lnSpc>
              <a:spcBef>
                <a:spcPts val="1000"/>
              </a:spcBef>
              <a:spcAft>
                <a:spcPts val="0"/>
              </a:spcAft>
              <a:buClr>
                <a:schemeClr val="dk1"/>
              </a:buClr>
              <a:buSzPct val="100000"/>
              <a:buChar char="•"/>
            </a:pPr>
            <a:r>
              <a:rPr lang="en-US"/>
              <a:t>These parts can also be abstract – i.e. we can recognize a fish even if it is constructed from bicycle parts. </a:t>
            </a:r>
            <a:endParaRPr/>
          </a:p>
          <a:p>
            <a:pPr indent="-228600" lvl="0" marL="228600" rtl="0" algn="l">
              <a:lnSpc>
                <a:spcPct val="90000"/>
              </a:lnSpc>
              <a:spcBef>
                <a:spcPts val="1000"/>
              </a:spcBef>
              <a:spcAft>
                <a:spcPts val="0"/>
              </a:spcAft>
              <a:buClr>
                <a:schemeClr val="dk1"/>
              </a:buClr>
              <a:buSzPct val="100000"/>
              <a:buChar char="•"/>
            </a:pPr>
            <a:r>
              <a:rPr lang="en-US"/>
              <a:t>Humans have the ability to deal with the complexity of vision and to answer many different tasks using the same underlying representation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Human Vision</a:t>
            </a:r>
            <a:endParaRPr/>
          </a:p>
        </p:txBody>
      </p:sp>
      <p:sp>
        <p:nvSpPr>
          <p:cNvPr id="487" name="Google Shape;48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Part Examples (from von der Malsburg)</a:t>
            </a:r>
            <a:endParaRPr/>
          </a:p>
        </p:txBody>
      </p:sp>
      <p:pic>
        <p:nvPicPr>
          <p:cNvPr id="488" name="Google Shape;488;p36"/>
          <p:cNvPicPr preferRelativeResize="0"/>
          <p:nvPr/>
        </p:nvPicPr>
        <p:blipFill rotWithShape="1">
          <a:blip r:embed="rId3">
            <a:alphaModFix/>
          </a:blip>
          <a:srcRect b="0" l="0" r="0" t="0"/>
          <a:stretch/>
        </p:blipFill>
        <p:spPr>
          <a:xfrm>
            <a:off x="1960392" y="2745252"/>
            <a:ext cx="6290922" cy="296483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Vision</a:t>
            </a:r>
            <a:endParaRPr/>
          </a:p>
        </p:txBody>
      </p:sp>
      <p:sp>
        <p:nvSpPr>
          <p:cNvPr id="494" name="Google Shape;494;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Parts. And Abstractions. </a:t>
            </a:r>
            <a:r>
              <a:rPr lang="en-US"/>
              <a:t>Beethoven constructed from Humans. </a:t>
            </a:r>
            <a:endParaRPr/>
          </a:p>
        </p:txBody>
      </p:sp>
      <p:pic>
        <p:nvPicPr>
          <p:cNvPr id="495" name="Google Shape;495;p37"/>
          <p:cNvPicPr preferRelativeResize="0"/>
          <p:nvPr/>
        </p:nvPicPr>
        <p:blipFill rotWithShape="1">
          <a:blip r:embed="rId3">
            <a:alphaModFix/>
          </a:blip>
          <a:srcRect b="0" l="0" r="0" t="0"/>
          <a:stretch/>
        </p:blipFill>
        <p:spPr>
          <a:xfrm>
            <a:off x="1215390" y="2530822"/>
            <a:ext cx="3002280" cy="4080480"/>
          </a:xfrm>
          <a:prstGeom prst="rect">
            <a:avLst/>
          </a:prstGeom>
          <a:noFill/>
          <a:ln>
            <a:noFill/>
          </a:ln>
        </p:spPr>
      </p:pic>
      <p:pic>
        <p:nvPicPr>
          <p:cNvPr descr="Image result for fish made from bicycle parts" id="496" name="Google Shape;496;p37"/>
          <p:cNvPicPr preferRelativeResize="0"/>
          <p:nvPr/>
        </p:nvPicPr>
        <p:blipFill rotWithShape="1">
          <a:blip r:embed="rId4">
            <a:alphaModFix/>
          </a:blip>
          <a:srcRect b="0" l="0" r="0" t="0"/>
          <a:stretch/>
        </p:blipFill>
        <p:spPr>
          <a:xfrm>
            <a:off x="4748847" y="2530822"/>
            <a:ext cx="6073775" cy="405474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7: Key Aspects of Human Vision</a:t>
            </a:r>
            <a:endParaRPr/>
          </a:p>
        </p:txBody>
      </p:sp>
      <p:sp>
        <p:nvSpPr>
          <p:cNvPr id="502" name="Google Shape;502;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Humans have the ability to deal with the complexity of vision and to answer many different tasks using the same underlying representation. </a:t>
            </a:r>
            <a:endParaRPr/>
          </a:p>
          <a:p>
            <a:pPr indent="-228600" lvl="0" marL="228600" rtl="0" algn="l">
              <a:lnSpc>
                <a:spcPct val="90000"/>
              </a:lnSpc>
              <a:spcBef>
                <a:spcPts val="1000"/>
              </a:spcBef>
              <a:spcAft>
                <a:spcPts val="0"/>
              </a:spcAft>
              <a:buClr>
                <a:schemeClr val="dk1"/>
              </a:buClr>
              <a:buSzPts val="2800"/>
              <a:buChar char="•"/>
            </a:pPr>
            <a:r>
              <a:rPr lang="en-US"/>
              <a:t>Compositionality is an strategy for doing this. Objects are composed hierarchically in terms of basic elements. This gives the ability to construct an enormous number of objects from basic elements.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8. How To Test Vision Theories</a:t>
            </a:r>
            <a:endParaRPr/>
          </a:p>
        </p:txBody>
      </p:sp>
      <p:sp>
        <p:nvSpPr>
          <p:cNvPr id="508" name="Google Shape;508;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Currently we test AI by average case performance for simgle over large annotated datasets. </a:t>
            </a:r>
            <a:r>
              <a:rPr i="1" lang="en-US"/>
              <a:t>But this is not tough enough and mismeasures AI because these datasets are not big enough. </a:t>
            </a:r>
            <a:r>
              <a:rPr lang="en-US"/>
              <a:t>The AI may do brilliantly on big datasets but suffer from inexplicable failure modes if we modify the images only slightly.  AI can take short-cuts for single tasks resulting in catastrophic failures. </a:t>
            </a:r>
            <a:endParaRPr/>
          </a:p>
          <a:p>
            <a:pPr indent="-228600" lvl="0" marL="228600" rtl="0" algn="l">
              <a:lnSpc>
                <a:spcPct val="90000"/>
              </a:lnSpc>
              <a:spcBef>
                <a:spcPts val="1000"/>
              </a:spcBef>
              <a:spcAft>
                <a:spcPts val="0"/>
              </a:spcAft>
              <a:buClr>
                <a:schemeClr val="dk1"/>
              </a:buClr>
              <a:buSzPct val="100000"/>
              <a:buChar char="•"/>
            </a:pPr>
            <a:r>
              <a:rPr i="1" lang="en-US"/>
              <a:t>This is a very important issue which we will keep returning to in this course. </a:t>
            </a:r>
            <a:endParaRPr/>
          </a:p>
          <a:p>
            <a:pPr indent="-228600" lvl="0" marL="228600" rtl="0" algn="l">
              <a:lnSpc>
                <a:spcPct val="90000"/>
              </a:lnSpc>
              <a:spcBef>
                <a:spcPts val="1000"/>
              </a:spcBef>
              <a:spcAft>
                <a:spcPts val="0"/>
              </a:spcAft>
              <a:buClr>
                <a:schemeClr val="dk1"/>
              </a:buClr>
              <a:buSzPct val="100000"/>
              <a:buChar char="•"/>
            </a:pPr>
            <a:r>
              <a:rPr lang="en-US"/>
              <a:t>Ideal: test theories for all  visual tasks on all possible stimuli with a controlled strategy and an Adversarial approach.  This is now practical due to advances in Computer Graphic tools – Blender and Unreal Engine 5 --  and Generative AI.</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8. How To Test Vision Theories</a:t>
            </a:r>
            <a:endParaRPr/>
          </a:p>
        </p:txBody>
      </p:sp>
      <p:sp>
        <p:nvSpPr>
          <p:cNvPr id="514" name="Google Shape;514;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is even worse for Biological Vision because it is impractical to show humans, or animals, many images. </a:t>
            </a:r>
            <a:endParaRPr/>
          </a:p>
          <a:p>
            <a:pPr indent="-228600" lvl="0" marL="228600" rtl="0" algn="l">
              <a:lnSpc>
                <a:spcPct val="90000"/>
              </a:lnSpc>
              <a:spcBef>
                <a:spcPts val="1000"/>
              </a:spcBef>
              <a:spcAft>
                <a:spcPts val="0"/>
              </a:spcAft>
              <a:buClr>
                <a:schemeClr val="dk1"/>
              </a:buClr>
              <a:buSzPts val="2800"/>
              <a:buChar char="•"/>
            </a:pPr>
            <a:r>
              <a:rPr lang="en-US"/>
              <a:t>Many experiments on Biological Vision are run on small datasets (toy datasets), their results are only true on these datasets, and often do not generalize outside the datasets.</a:t>
            </a:r>
            <a:endParaRPr/>
          </a:p>
          <a:p>
            <a:pPr indent="-228600" lvl="0" marL="228600" rtl="0" algn="l">
              <a:lnSpc>
                <a:spcPct val="90000"/>
              </a:lnSpc>
              <a:spcBef>
                <a:spcPts val="1000"/>
              </a:spcBef>
              <a:spcAft>
                <a:spcPts val="0"/>
              </a:spcAft>
              <a:buClr>
                <a:schemeClr val="dk1"/>
              </a:buClr>
              <a:buSzPts val="2800"/>
              <a:buChar char="•"/>
            </a:pPr>
            <a:r>
              <a:rPr lang="en-US"/>
              <a:t> Also many experiments lack rigorous controls or have too many. This means that many of the most well known biological vision experiments can be very misleading. </a:t>
            </a:r>
            <a:endParaRPr/>
          </a:p>
          <a:p>
            <a:pPr indent="-228600" lvl="0" marL="228600" rtl="0" algn="l">
              <a:lnSpc>
                <a:spcPct val="90000"/>
              </a:lnSpc>
              <a:spcBef>
                <a:spcPts val="1000"/>
              </a:spcBef>
              <a:spcAft>
                <a:spcPts val="0"/>
              </a:spcAft>
              <a:buClr>
                <a:schemeClr val="dk1"/>
              </a:buClr>
              <a:buSzPts val="2800"/>
              <a:buChar char="•"/>
            </a:pPr>
            <a:r>
              <a:rPr lang="en-US"/>
              <a:t>They may best be thought of as demonstrations than as rigorous proofs. Always ask what dataset has been used for the experiment.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Part 9. This course.</a:t>
            </a:r>
            <a:endParaRPr/>
          </a:p>
        </p:txBody>
      </p:sp>
      <p:sp>
        <p:nvSpPr>
          <p:cNvPr id="520" name="Google Shape;520;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course is converging to CogSci inspired AI. There will be changes to previous years – some material removed and new material added.</a:t>
            </a:r>
            <a:endParaRPr/>
          </a:p>
          <a:p>
            <a:pPr indent="-228600" lvl="0" marL="228600" rtl="0" algn="l">
              <a:lnSpc>
                <a:spcPct val="90000"/>
              </a:lnSpc>
              <a:spcBef>
                <a:spcPts val="1000"/>
              </a:spcBef>
              <a:spcAft>
                <a:spcPts val="0"/>
              </a:spcAft>
              <a:buClr>
                <a:schemeClr val="dk1"/>
              </a:buClr>
              <a:buSzPts val="2800"/>
              <a:buChar char="•"/>
            </a:pPr>
            <a:r>
              <a:rPr lang="en-US"/>
              <a:t>This course will be complimented by my Spring course on Vision as Bayesian Inference. Some topics briefly summarized in this course will be presented in detail in my Spring course – and vice versa.</a:t>
            </a:r>
            <a:endParaRPr/>
          </a:p>
          <a:p>
            <a:pPr indent="-228600" lvl="0" marL="228600" rtl="0" algn="l">
              <a:lnSpc>
                <a:spcPct val="90000"/>
              </a:lnSpc>
              <a:spcBef>
                <a:spcPts val="1000"/>
              </a:spcBef>
              <a:spcAft>
                <a:spcPts val="0"/>
              </a:spcAft>
              <a:buClr>
                <a:schemeClr val="dk1"/>
              </a:buClr>
              <a:buSzPts val="2800"/>
              <a:buChar char="•"/>
            </a:pPr>
            <a:r>
              <a:rPr lang="en-US"/>
              <a:t>I am excited that CogSci inspired AI will serve both as a theory for Human Perception and for general purpose AI.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2019-09-01T17:13:10Z</dcterms:created>
  <dc:creator>Alan Yuille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0x010100328E39F3389FDF41B1B7EC1F69F8F109</vt:lpwstr>
  </property>
</Properties>
</file>