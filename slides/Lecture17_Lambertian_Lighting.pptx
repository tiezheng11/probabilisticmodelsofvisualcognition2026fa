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4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6"/>
    <p:sldId id="294" r:id="rId5"/>
    <p:sldId id="295" r:id="rId4"/>
    <p:sldId id="296" r:id="rId3"/>
    <p:sldId id="297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3532"/>
  </p:normalViewPr>
  <p:slideViewPr>
    <p:cSldViewPr snapToGrid="0" snapToObjects="1">
      <p:cViewPr varScale="1">
        <p:scale>
          <a:sx n="111" d="100"/>
          <a:sy n="111" d="100"/>
        </p:scale>
        <p:origin x="656" y="2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42.xml"/><Relationship Id="rId3" Type="http://schemas.openxmlformats.org/officeDocument/2006/relationships/slide" Target="slides/slide41.xml"/><Relationship Id="rId4" Type="http://schemas.openxmlformats.org/officeDocument/2006/relationships/slide" Target="slides/slide40.xml"/><Relationship Id="rId5" Type="http://schemas.openxmlformats.org/officeDocument/2006/relationships/slide" Target="slides/slide39.xml"/><Relationship Id="rId6" Type="http://schemas.openxmlformats.org/officeDocument/2006/relationships/slide" Target="slides/slide38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notesMaster" Target="notesMasters/notesMaster1.xml"/><Relationship Id="rId45" Type="http://schemas.openxmlformats.org/officeDocument/2006/relationships/presProps" Target="presProps.xml"/><Relationship Id="rId46" Type="http://schemas.openxmlformats.org/officeDocument/2006/relationships/viewProps" Target="viewProps.xml"/><Relationship Id="rId47" Type="http://schemas.openxmlformats.org/officeDocument/2006/relationships/theme" Target="theme/theme1.xml"/><Relationship Id="rId4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69CEB0-AA0B-D145-B4E6-35C9BFEBBA17}" type="datetimeFigureOut">
              <a:rPr lang="en-US" smtClean="0"/>
              <a:t>9/22/26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4D186F-95C8-254C-BBCD-188220FF3D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51645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Relationship Id="rId4" Type="http://schemas.openxmlformats.org/officeDocument/2006/relationships/image" Target="../media/image3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Relationship Id="rId4" Type="http://schemas.openxmlformats.org/officeDocument/2006/relationships/image" Target="../media/image37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Relationship Id="rId3" Type="http://schemas.openxmlformats.org/officeDocument/2006/relationships/image" Target="../media/image44.png"/><Relationship Id="rId4" Type="http://schemas.openxmlformats.org/officeDocument/2006/relationships/image" Target="../media/image45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Relationship Id="rId3" Type="http://schemas.openxmlformats.org/officeDocument/2006/relationships/image" Target="../media/image47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png"/><Relationship Id="rId3" Type="http://schemas.openxmlformats.org/officeDocument/2006/relationships/image" Target="../media/image49.png"/><Relationship Id="rId4" Type="http://schemas.openxmlformats.org/officeDocument/2006/relationships/image" Target="../media/image50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png"/><Relationship Id="rId3" Type="http://schemas.openxmlformats.org/officeDocument/2006/relationships/image" Target="../media/image52.png"/><Relationship Id="rId4" Type="http://schemas.openxmlformats.org/officeDocument/2006/relationships/image" Target="../media/image53.png"/><Relationship Id="rId5" Type="http://schemas.openxmlformats.org/officeDocument/2006/relationships/image" Target="../media/image54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png"/><Relationship Id="rId3" Type="http://schemas.openxmlformats.org/officeDocument/2006/relationships/image" Target="../media/image58.png"/><Relationship Id="rId4" Type="http://schemas.openxmlformats.org/officeDocument/2006/relationships/image" Target="../media/image59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.png"/><Relationship Id="rId3" Type="http://schemas.openxmlformats.org/officeDocument/2006/relationships/image" Target="../media/image61.png"/><Relationship Id="rId4" Type="http://schemas.openxmlformats.org/officeDocument/2006/relationships/image" Target="../media/image62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3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4.png"/><Relationship Id="rId3" Type="http://schemas.openxmlformats.org/officeDocument/2006/relationships/image" Target="../media/image65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png"/><Relationship Id="rId3" Type="http://schemas.openxmlformats.org/officeDocument/2006/relationships/image" Target="../media/image67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8.png"/><Relationship Id="rId3" Type="http://schemas.openxmlformats.org/officeDocument/2006/relationships/image" Target="../media/image69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1 2"/>
          <p:cNvSpPr/>
          <p:nvPr/>
        </p:nvSpPr>
        <p:spPr>
          <a:xfrm>
            <a:off x="-1554480" y="-2103120"/>
            <a:ext cx="6766560" cy="6766560"/>
          </a:xfrm>
          <a:prstGeom prst="ellipse">
            <a:avLst/>
          </a:prstGeom>
          <a:solidFill>
            <a:srgbClr val="F2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2 3"/>
          <p:cNvSpPr/>
          <p:nvPr/>
        </p:nvSpPr>
        <p:spPr>
          <a:xfrm>
            <a:off x="8778240" y="3931920"/>
            <a:ext cx="4754880" cy="4754880"/>
          </a:xfrm>
          <a:prstGeom prst="ellipse">
            <a:avLst/>
          </a:prstGeom>
          <a:solidFill>
            <a:srgbClr val="F2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title 4"/>
          <p:cNvSpPr txBox="1"/>
          <p:nvPr/>
        </p:nvSpPr>
        <p:spPr>
          <a:xfrm>
            <a:off x="1051560" y="411480"/>
            <a:ext cx="10515600" cy="347472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r>
              <a:rPr sz="48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Lambertian Models of</a:t>
            </a:r>
            <a:br>
              <a:rPr sz="48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</a:br>
            <a:r>
              <a:rPr sz="48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Reflectance and Rendering</a:t>
            </a:r>
          </a:p>
        </p:txBody>
      </p:sp>
      <p:sp>
        <p:nvSpPr>
          <p:cNvPr id="5" name="tdate 5"/>
          <p:cNvSpPr txBox="1"/>
          <p:nvPr/>
        </p:nvSpPr>
        <p:spPr>
          <a:xfrm>
            <a:off x="1097280" y="4160520"/>
            <a:ext cx="10058400" cy="6492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1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29 October, 2026</a:t>
            </a:r>
          </a:p>
          <a:p>
            <a:r>
              <a:rPr sz="21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Alan Yuille   ·   Probabilistic Models of the Visual Cortex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Geometry and Vision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4" name="title 4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What this lecture covers</a:t>
            </a:r>
          </a:p>
        </p:txBody>
      </p:sp>
      <p:sp>
        <p:nvSpPr>
          <p:cNvPr id="5" name="card 5"/>
          <p:cNvSpPr/>
          <p:nvPr/>
        </p:nvSpPr>
        <p:spPr>
          <a:xfrm>
            <a:off x="640080" y="1481328"/>
            <a:ext cx="5349240" cy="1097280"/>
          </a:xfrm>
          <a:prstGeom prst="roundRect">
            <a:avLst>
              <a:gd name="adj" fmla="val 6000"/>
            </a:avLst>
          </a:prstGeom>
          <a:solidFill>
            <a:srgbClr val="F2F4F9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cardoval 6"/>
          <p:cNvSpPr/>
          <p:nvPr/>
        </p:nvSpPr>
        <p:spPr>
          <a:xfrm>
            <a:off x="896112" y="1764792"/>
            <a:ext cx="512064" cy="512064"/>
          </a:xfrm>
          <a:prstGeom prst="ellipse">
            <a:avLst/>
          </a:prstGeom>
          <a:solidFill>
            <a:srgbClr val="FFFFFF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cardnum 7"/>
          <p:cNvSpPr txBox="1"/>
          <p:nvPr/>
        </p:nvSpPr>
        <p:spPr>
          <a:xfrm>
            <a:off x="896112" y="1847088"/>
            <a:ext cx="512064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1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1</a:t>
            </a:r>
          </a:p>
        </p:txBody>
      </p:sp>
      <p:sp>
        <p:nvSpPr>
          <p:cNvPr id="8" name="cardtitle 8"/>
          <p:cNvSpPr txBox="1"/>
          <p:nvPr/>
        </p:nvSpPr>
        <p:spPr>
          <a:xfrm>
            <a:off x="1572768" y="1714500"/>
            <a:ext cx="4343400" cy="3227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100" b="1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Light and the Lambertian model</a:t>
            </a:r>
          </a:p>
        </p:txBody>
      </p:sp>
      <p:sp>
        <p:nvSpPr>
          <p:cNvPr id="9" name="cardsub 9"/>
          <p:cNvSpPr txBox="1"/>
          <p:nvPr/>
        </p:nvSpPr>
        <p:spPr>
          <a:xfrm>
            <a:off x="1572768" y="2112264"/>
            <a:ext cx="434340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0" i="0">
                <a:solidFill>
                  <a:srgbClr val="55555F"/>
                </a:solidFill>
                <a:latin typeface="Calibri"/>
                <a:ea typeface="Calibri"/>
                <a:cs typeface="Calibri"/>
              </a:rPr>
              <a:t>Mirrors, diffuse surfaces, the cosine law</a:t>
            </a:r>
          </a:p>
        </p:txBody>
      </p:sp>
      <p:sp>
        <p:nvSpPr>
          <p:cNvPr id="10" name="card 10"/>
          <p:cNvSpPr/>
          <p:nvPr/>
        </p:nvSpPr>
        <p:spPr>
          <a:xfrm>
            <a:off x="6236208" y="1481328"/>
            <a:ext cx="5349240" cy="1097280"/>
          </a:xfrm>
          <a:prstGeom prst="roundRect">
            <a:avLst>
              <a:gd name="adj" fmla="val 6000"/>
            </a:avLst>
          </a:prstGeom>
          <a:solidFill>
            <a:srgbClr val="F2F4F9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cardoval 11"/>
          <p:cNvSpPr/>
          <p:nvPr/>
        </p:nvSpPr>
        <p:spPr>
          <a:xfrm>
            <a:off x="6492240" y="1764792"/>
            <a:ext cx="512064" cy="512064"/>
          </a:xfrm>
          <a:prstGeom prst="ellipse">
            <a:avLst/>
          </a:prstGeom>
          <a:solidFill>
            <a:srgbClr val="FFFFFF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cardnum 12"/>
          <p:cNvSpPr txBox="1"/>
          <p:nvPr/>
        </p:nvSpPr>
        <p:spPr>
          <a:xfrm>
            <a:off x="6492240" y="1847088"/>
            <a:ext cx="512064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1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2</a:t>
            </a:r>
          </a:p>
        </p:txBody>
      </p:sp>
      <p:sp>
        <p:nvSpPr>
          <p:cNvPr id="13" name="cardtitle 13"/>
          <p:cNvSpPr txBox="1"/>
          <p:nvPr/>
        </p:nvSpPr>
        <p:spPr>
          <a:xfrm>
            <a:off x="7168896" y="1714500"/>
            <a:ext cx="4343400" cy="3227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100" b="1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Photometric stereo, bas-relief</a:t>
            </a:r>
          </a:p>
        </p:txBody>
      </p:sp>
      <p:sp>
        <p:nvSpPr>
          <p:cNvPr id="14" name="cardsub 14"/>
          <p:cNvSpPr txBox="1"/>
          <p:nvPr/>
        </p:nvSpPr>
        <p:spPr>
          <a:xfrm>
            <a:off x="7168896" y="2112264"/>
            <a:ext cx="434340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0" i="0">
                <a:solidFill>
                  <a:srgbClr val="55555F"/>
                </a:solidFill>
                <a:latin typeface="Calibri"/>
                <a:ea typeface="Calibri"/>
                <a:cs typeface="Calibri"/>
              </a:rPr>
              <a:t>Factorization, integrability, bas-relief</a:t>
            </a:r>
          </a:p>
        </p:txBody>
      </p:sp>
      <p:sp>
        <p:nvSpPr>
          <p:cNvPr id="15" name="card 15"/>
          <p:cNvSpPr/>
          <p:nvPr/>
        </p:nvSpPr>
        <p:spPr>
          <a:xfrm>
            <a:off x="640080" y="2679192"/>
            <a:ext cx="5349240" cy="1097280"/>
          </a:xfrm>
          <a:prstGeom prst="roundRect">
            <a:avLst>
              <a:gd name="adj" fmla="val 6000"/>
            </a:avLst>
          </a:prstGeom>
          <a:solidFill>
            <a:srgbClr val="F2F4F9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cardoval 16"/>
          <p:cNvSpPr/>
          <p:nvPr/>
        </p:nvSpPr>
        <p:spPr>
          <a:xfrm>
            <a:off x="896112" y="2962656"/>
            <a:ext cx="512064" cy="512064"/>
          </a:xfrm>
          <a:prstGeom prst="ellipse">
            <a:avLst/>
          </a:prstGeom>
          <a:solidFill>
            <a:srgbClr val="FFFFFF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cardnum 17"/>
          <p:cNvSpPr txBox="1"/>
          <p:nvPr/>
        </p:nvSpPr>
        <p:spPr>
          <a:xfrm>
            <a:off x="896112" y="3044952"/>
            <a:ext cx="512064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1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3</a:t>
            </a:r>
          </a:p>
        </p:txBody>
      </p:sp>
      <p:sp>
        <p:nvSpPr>
          <p:cNvPr id="18" name="cardtitle 18"/>
          <p:cNvSpPr txBox="1"/>
          <p:nvPr/>
        </p:nvSpPr>
        <p:spPr>
          <a:xfrm>
            <a:off x="1572768" y="2912364"/>
            <a:ext cx="4343400" cy="3227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100" b="1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Shape from shading</a:t>
            </a:r>
          </a:p>
        </p:txBody>
      </p:sp>
      <p:sp>
        <p:nvSpPr>
          <p:cNvPr id="19" name="cardsub 19"/>
          <p:cNvSpPr txBox="1"/>
          <p:nvPr/>
        </p:nvSpPr>
        <p:spPr>
          <a:xfrm>
            <a:off x="1572768" y="3310128"/>
            <a:ext cx="434340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0" i="0">
                <a:solidFill>
                  <a:srgbClr val="55555F"/>
                </a:solidFill>
                <a:latin typeface="Calibri"/>
                <a:ea typeface="Calibri"/>
                <a:cs typeface="Calibri"/>
              </a:rPr>
              <a:t>Eikonal equation, fast marching, priors</a:t>
            </a:r>
          </a:p>
        </p:txBody>
      </p:sp>
      <p:sp>
        <p:nvSpPr>
          <p:cNvPr id="20" name="card 20"/>
          <p:cNvSpPr/>
          <p:nvPr/>
        </p:nvSpPr>
        <p:spPr>
          <a:xfrm>
            <a:off x="6236208" y="2679192"/>
            <a:ext cx="5349240" cy="1097280"/>
          </a:xfrm>
          <a:prstGeom prst="roundRect">
            <a:avLst>
              <a:gd name="adj" fmla="val 6000"/>
            </a:avLst>
          </a:prstGeom>
          <a:solidFill>
            <a:srgbClr val="F2F4F9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cardoval 21"/>
          <p:cNvSpPr/>
          <p:nvPr/>
        </p:nvSpPr>
        <p:spPr>
          <a:xfrm>
            <a:off x="6492240" y="2962656"/>
            <a:ext cx="512064" cy="512064"/>
          </a:xfrm>
          <a:prstGeom prst="ellipse">
            <a:avLst/>
          </a:prstGeom>
          <a:solidFill>
            <a:srgbClr val="FFFFFF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cardnum 22"/>
          <p:cNvSpPr txBox="1"/>
          <p:nvPr/>
        </p:nvSpPr>
        <p:spPr>
          <a:xfrm>
            <a:off x="6492240" y="3044952"/>
            <a:ext cx="512064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1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4</a:t>
            </a:r>
          </a:p>
        </p:txBody>
      </p:sp>
      <p:sp>
        <p:nvSpPr>
          <p:cNvPr id="23" name="cardtitle 23"/>
          <p:cNvSpPr txBox="1"/>
          <p:nvPr/>
        </p:nvSpPr>
        <p:spPr>
          <a:xfrm>
            <a:off x="7168896" y="2912364"/>
            <a:ext cx="4343400" cy="3227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100" b="1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Harmonic analysis of lighting</a:t>
            </a:r>
          </a:p>
        </p:txBody>
      </p:sp>
      <p:sp>
        <p:nvSpPr>
          <p:cNvPr id="24" name="cardsub 24"/>
          <p:cNvSpPr txBox="1"/>
          <p:nvPr/>
        </p:nvSpPr>
        <p:spPr>
          <a:xfrm>
            <a:off x="7168896" y="3310128"/>
            <a:ext cx="434340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0" i="0">
                <a:solidFill>
                  <a:srgbClr val="55555F"/>
                </a:solidFill>
                <a:latin typeface="Calibri"/>
                <a:ea typeface="Calibri"/>
                <a:cs typeface="Calibri"/>
              </a:rPr>
              <a:t>Illumination cone, spherical harmonics</a:t>
            </a:r>
          </a:p>
        </p:txBody>
      </p:sp>
      <p:sp>
        <p:nvSpPr>
          <p:cNvPr id="25" name="card 25"/>
          <p:cNvSpPr/>
          <p:nvPr/>
        </p:nvSpPr>
        <p:spPr>
          <a:xfrm>
            <a:off x="640080" y="3877056"/>
            <a:ext cx="5349240" cy="1097280"/>
          </a:xfrm>
          <a:prstGeom prst="roundRect">
            <a:avLst>
              <a:gd name="adj" fmla="val 6000"/>
            </a:avLst>
          </a:prstGeom>
          <a:solidFill>
            <a:srgbClr val="F2F4F9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cardoval 26"/>
          <p:cNvSpPr/>
          <p:nvPr/>
        </p:nvSpPr>
        <p:spPr>
          <a:xfrm>
            <a:off x="896112" y="4160520"/>
            <a:ext cx="512064" cy="512064"/>
          </a:xfrm>
          <a:prstGeom prst="ellipse">
            <a:avLst/>
          </a:prstGeom>
          <a:solidFill>
            <a:srgbClr val="FFFFFF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cardnum 27"/>
          <p:cNvSpPr txBox="1"/>
          <p:nvPr/>
        </p:nvSpPr>
        <p:spPr>
          <a:xfrm>
            <a:off x="896112" y="4242816"/>
            <a:ext cx="512064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1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5</a:t>
            </a:r>
          </a:p>
        </p:txBody>
      </p:sp>
      <p:sp>
        <p:nvSpPr>
          <p:cNvPr id="28" name="cardtitle 28"/>
          <p:cNvSpPr txBox="1"/>
          <p:nvPr/>
        </p:nvSpPr>
        <p:spPr>
          <a:xfrm>
            <a:off x="1572768" y="4110228"/>
            <a:ext cx="4343400" cy="3227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100" b="1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Rendering</a:t>
            </a:r>
          </a:p>
        </p:txBody>
      </p:sp>
      <p:sp>
        <p:nvSpPr>
          <p:cNvPr id="29" name="cardsub 29"/>
          <p:cNvSpPr txBox="1"/>
          <p:nvPr/>
        </p:nvSpPr>
        <p:spPr>
          <a:xfrm>
            <a:off x="1572768" y="4507992"/>
            <a:ext cx="434340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0" i="0">
                <a:solidFill>
                  <a:srgbClr val="55555F"/>
                </a:solidFill>
                <a:latin typeface="Calibri"/>
                <a:ea typeface="Calibri"/>
                <a:cs typeface="Calibri"/>
              </a:rPr>
              <a:t>Meshes, rasterization, ray tracing, Phong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Geometry and Vision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4" name="divnum 4"/>
          <p:cNvSpPr txBox="1"/>
          <p:nvPr/>
        </p:nvSpPr>
        <p:spPr>
          <a:xfrm>
            <a:off x="640080" y="1874520"/>
            <a:ext cx="228600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1</a:t>
            </a:r>
          </a:p>
        </p:txBody>
      </p:sp>
      <p:sp>
        <p:nvSpPr>
          <p:cNvPr id="5" name="divname 5"/>
          <p:cNvSpPr txBox="1"/>
          <p:nvPr/>
        </p:nvSpPr>
        <p:spPr>
          <a:xfrm>
            <a:off x="2880360" y="822960"/>
            <a:ext cx="9052560" cy="2212848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r>
              <a:rPr sz="44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Light and the</a:t>
            </a:r>
            <a:br>
              <a:rPr sz="44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</a:br>
            <a:r>
              <a:rPr sz="44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Lambertian model</a:t>
            </a:r>
          </a:p>
        </p:txBody>
      </p:sp>
      <p:sp>
        <p:nvSpPr>
          <p:cNvPr id="6" name="divsub 6"/>
          <p:cNvSpPr txBox="1"/>
          <p:nvPr/>
        </p:nvSpPr>
        <p:spPr>
          <a:xfrm>
            <a:off x="2944368" y="3401568"/>
            <a:ext cx="8961120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900" b="0" i="0">
                <a:solidFill>
                  <a:srgbClr val="55555F"/>
                </a:solidFill>
                <a:latin typeface="Calibri"/>
                <a:ea typeface="Calibri"/>
                <a:cs typeface="Calibri"/>
              </a:rPr>
              <a:t>A Lambertian surface reflects light equally in all directions: the image is the</a:t>
            </a:r>
            <a:br>
              <a:rPr sz="1900" b="0" i="0">
                <a:solidFill>
                  <a:srgbClr val="55555F"/>
                </a:solidFill>
                <a:latin typeface="Calibri"/>
                <a:ea typeface="Calibri"/>
                <a:cs typeface="Calibri"/>
              </a:rPr>
            </a:br>
            <a:r>
              <a:rPr sz="1900" b="0" i="0">
                <a:solidFill>
                  <a:srgbClr val="55555F"/>
                </a:solidFill>
                <a:latin typeface="Calibri"/>
                <a:ea typeface="Calibri"/>
                <a:cs typeface="Calibri"/>
              </a:rPr>
              <a:t>albedo times normal dot light, linear in the light apart from shadows.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Geometry and Vision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Light and the Lambertian model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Lighting and pose change the appearance of objects</a:t>
            </a:r>
          </a:p>
        </p:txBody>
      </p:sp>
      <p:pic>
        <p:nvPicPr>
          <p:cNvPr id="6" name="r_vary.png" descr="r_v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9264" y="1225296"/>
            <a:ext cx="4773168" cy="2798064"/>
          </a:xfrm>
          <a:prstGeom prst="rect">
            <a:avLst/>
          </a:prstGeom>
        </p:spPr>
      </p:pic>
      <p:sp>
        <p:nvSpPr>
          <p:cNvPr id="7" name="body 7"/>
          <p:cNvSpPr txBox="1"/>
          <p:nvPr/>
        </p:nvSpPr>
        <p:spPr>
          <a:xfrm>
            <a:off x="640080" y="4187952"/>
            <a:ext cx="11247120" cy="2075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Each column shows one object in two images: the Sphinx, Notre-Dame and an actor’s face.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Lighting changes the shading, the shadows and the highlights; pose changes which parts are seen.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For faces, two images of one person under different lighting can differ more than two people.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Understanding the effect of lighting is challenging, but can lead to better interpretation of images.</a:t>
            </a:r>
          </a:p>
          <a:p>
            <a:pPr marL="0" indent="0">
              <a:spcBef>
                <a:spcPts val="36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Y. Adini, Y. Moses and S. Ullman, “Face recognition: the problem of compensating for changes in illumination direction,” IEEE TPAMI, 19(7):721–732,</a:t>
            </a:r>
            <a:b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</a:b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1997.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Geometry and Vision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Light and the Lambertian model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Shading reveals the shape of smooth surfaces</a:t>
            </a:r>
          </a:p>
        </p:txBody>
      </p:sp>
      <p:pic>
        <p:nvPicPr>
          <p:cNvPr id="6" name="f_edges.png" descr="f_edg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712" y="1225296"/>
            <a:ext cx="10880271" cy="3015343"/>
          </a:xfrm>
          <a:prstGeom prst="rect">
            <a:avLst/>
          </a:prstGeom>
        </p:spPr>
      </p:pic>
      <p:sp>
        <p:nvSpPr>
          <p:cNvPr id="7" name="body 7"/>
          <p:cNvSpPr txBox="1"/>
          <p:nvPr/>
        </p:nvSpPr>
        <p:spPr>
          <a:xfrm>
            <a:off x="640080" y="4405231"/>
            <a:ext cx="11247120" cy="19019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Edges capture the outlines and the markings of objects such as the car.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On smooth surfaces, such as a face, the edges miss most of the shape.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The relief on the sculpture (circled) has no edges: only its shading shows it.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Shading depends on the shape of the surface, how it reflects light, and the lighting.</a:t>
            </a:r>
          </a:p>
          <a:p>
            <a:pPr marL="0" indent="0">
              <a:spcBef>
                <a:spcPts val="36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Sculpture by Dumitru Verdianu.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Geometry and Vision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Light and the Lambertian model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Smooth surfaces reflect like mirrors, rough ones diffusely</a:t>
            </a:r>
          </a:p>
        </p:txBody>
      </p:sp>
      <p:pic>
        <p:nvPicPr>
          <p:cNvPr id="6" name="f_reflect.png" descr="f_refle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712" y="1225296"/>
            <a:ext cx="10880271" cy="2797629"/>
          </a:xfrm>
          <a:prstGeom prst="rect">
            <a:avLst/>
          </a:prstGeom>
        </p:spPr>
      </p:pic>
      <p:sp>
        <p:nvSpPr>
          <p:cNvPr id="7" name="body 7"/>
          <p:cNvSpPr txBox="1"/>
          <p:nvPr/>
        </p:nvSpPr>
        <p:spPr>
          <a:xfrm>
            <a:off x="640080" y="4187517"/>
            <a:ext cx="11247120" cy="20299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Rays travel from sources to objects, where they are absorbed or reflected, losing energy at each bounce.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The camera captures the rays through its focal center; we assume that its response is linear.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A smooth surface reflects light in the mirror direction: at equal angles on both sides of the normal.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On a slightly rough surface the reflected light falls off around the specular direction.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A very rough surface may reflect light equally in all directions.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Geometry and Vision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7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Light and the Lambertian model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The BRDF gives the light reflected toward each direction</a:t>
            </a:r>
          </a:p>
        </p:txBody>
      </p:sp>
      <p:sp>
        <p:nvSpPr>
          <p:cNvPr id="6" name="panel 6"/>
          <p:cNvSpPr/>
          <p:nvPr/>
        </p:nvSpPr>
        <p:spPr>
          <a:xfrm>
            <a:off x="640080" y="1225296"/>
            <a:ext cx="10911535" cy="611874"/>
          </a:xfrm>
          <a:prstGeom prst="roundRect">
            <a:avLst>
              <a:gd name="adj" fmla="val 5500"/>
            </a:avLst>
          </a:prstGeom>
          <a:solidFill>
            <a:srgbClr val="F2F4F9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e_brdf.png" descr="e_brd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6573" y="1389888"/>
            <a:ext cx="3158549" cy="282690"/>
          </a:xfrm>
          <a:prstGeom prst="rect">
            <a:avLst/>
          </a:prstGeom>
        </p:spPr>
      </p:pic>
      <p:pic>
        <p:nvPicPr>
          <p:cNvPr id="8" name="f_brdf.png" descr="f_brd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4008" y="1946898"/>
            <a:ext cx="6583680" cy="2578608"/>
          </a:xfrm>
          <a:prstGeom prst="rect">
            <a:avLst/>
          </a:prstGeom>
        </p:spPr>
      </p:pic>
      <p:sp>
        <p:nvSpPr>
          <p:cNvPr id="9" name="body 9"/>
          <p:cNvSpPr txBox="1"/>
          <p:nvPr/>
        </p:nvSpPr>
        <p:spPr>
          <a:xfrm>
            <a:off x="640080" y="4690098"/>
            <a:ext cx="11247120" cy="1600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Bidirectional Reflectance Distribution Function (BRDF): it specifies how a surface reflects light.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For a unit of incoming light in a direction (θ_in, φ_in), f is the light reflected in direction (θ_out, φ_out).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A ploughed field looks bright with light from the front (behind the viewer), dark with light from the back.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Expanded in a series, the BRDF starts with the Lambertian: the only term independent of the viewpoint.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Geometry and Vision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8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Light and the Lambertian model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Lambertian surfaces follow the cosine law</a:t>
            </a:r>
          </a:p>
        </p:txBody>
      </p:sp>
      <p:sp>
        <p:nvSpPr>
          <p:cNvPr id="6" name="panel 6"/>
          <p:cNvSpPr/>
          <p:nvPr/>
        </p:nvSpPr>
        <p:spPr>
          <a:xfrm>
            <a:off x="640080" y="1225296"/>
            <a:ext cx="10911535" cy="660920"/>
          </a:xfrm>
          <a:prstGeom prst="roundRect">
            <a:avLst>
              <a:gd name="adj" fmla="val 5500"/>
            </a:avLst>
          </a:prstGeom>
          <a:solidFill>
            <a:srgbClr val="F2F4F9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e_lambert.png" descr="e_lambe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3457" y="1389888"/>
            <a:ext cx="8484781" cy="331736"/>
          </a:xfrm>
          <a:prstGeom prst="rect">
            <a:avLst/>
          </a:prstGeom>
        </p:spPr>
      </p:pic>
      <p:pic>
        <p:nvPicPr>
          <p:cNvPr id="8" name="f_cosine.png" descr="f_cos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1473" y="1995944"/>
            <a:ext cx="9688749" cy="2217906"/>
          </a:xfrm>
          <a:prstGeom prst="rect">
            <a:avLst/>
          </a:prstGeom>
        </p:spPr>
      </p:pic>
      <p:sp>
        <p:nvSpPr>
          <p:cNvPr id="9" name="body 9"/>
          <p:cNvSpPr txBox="1"/>
          <p:nvPr/>
        </p:nvSpPr>
        <p:spPr>
          <a:xfrm>
            <a:off x="640080" y="4378442"/>
            <a:ext cx="11247120" cy="19019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A Lambertian surface reflects equally in all directions: it looks equally bright from every viewpoint.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A beam at angle θ to the normal covers 1/cos θ times the area: each point gets cos θ as much light.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E is the strength of the light, ρ the albedo (the fraction of light reflected), θ the angle to the normal.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In vector form the light is l = E l̂ and the scaled normal is n = ρ n̂.</a:t>
            </a:r>
          </a:p>
          <a:p>
            <a:pPr marL="0" indent="0">
              <a:spcBef>
                <a:spcPts val="36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J. H. Lambert, Photometria, sive de mensura et gradibus luminis, colorum et umbrae, Eberhard Klett, Augsburg, 1760.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Geometry and Vision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9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Light and the Lambertian model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The Lambertian model is the simplest model of imaging</a:t>
            </a:r>
          </a:p>
        </p:txBody>
      </p:sp>
      <p:sp>
        <p:nvSpPr>
          <p:cNvPr id="6" name="panel 6"/>
          <p:cNvSpPr/>
          <p:nvPr/>
        </p:nvSpPr>
        <p:spPr>
          <a:xfrm>
            <a:off x="640080" y="1225296"/>
            <a:ext cx="10911535" cy="612056"/>
          </a:xfrm>
          <a:prstGeom prst="roundRect">
            <a:avLst>
              <a:gd name="adj" fmla="val 5500"/>
            </a:avLst>
          </a:prstGeom>
          <a:solidFill>
            <a:srgbClr val="F2F4F9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e_lam.png" descr="e_l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3042" y="1389888"/>
            <a:ext cx="4385612" cy="282872"/>
          </a:xfrm>
          <a:prstGeom prst="rect">
            <a:avLst/>
          </a:prstGeom>
        </p:spPr>
      </p:pic>
      <p:pic>
        <p:nvPicPr>
          <p:cNvPr id="8" name="f_model.png" descr="f_mod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3968" y="1947080"/>
            <a:ext cx="7223760" cy="2560320"/>
          </a:xfrm>
          <a:prstGeom prst="rect">
            <a:avLst/>
          </a:prstGeom>
        </p:spPr>
      </p:pic>
      <p:sp>
        <p:nvSpPr>
          <p:cNvPr id="9" name="body 9"/>
          <p:cNvSpPr txBox="1"/>
          <p:nvPr/>
        </p:nvSpPr>
        <p:spPr>
          <a:xfrm>
            <a:off x="640080" y="4671992"/>
            <a:ext cx="11247120" cy="1600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I(x): image; a(x): albedo; n(x): unit surface normal; |s|: strength and s/|s|: direction of the light.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It is called the cosine rule: the image depends on the cosine between the normal and the light direction.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It is Lambert’s law with a = ρ and s = l. It ignores specularity and inter-reflection.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It is a good approximation much of the time and easy to analyze; BRDF models are much harder.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Geometry and Vision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10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Light and the Lambertian model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Without shadows, the image is linear in the light source</a:t>
            </a:r>
          </a:p>
        </p:txBody>
      </p:sp>
      <p:sp>
        <p:nvSpPr>
          <p:cNvPr id="6" name="panel 6"/>
          <p:cNvSpPr/>
          <p:nvPr/>
        </p:nvSpPr>
        <p:spPr>
          <a:xfrm>
            <a:off x="640080" y="1225296"/>
            <a:ext cx="10911535" cy="614934"/>
          </a:xfrm>
          <a:prstGeom prst="roundRect">
            <a:avLst>
              <a:gd name="adj" fmla="val 5500"/>
            </a:avLst>
          </a:prstGeom>
          <a:solidFill>
            <a:srgbClr val="F2F4F9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e_linear.png" descr="e_line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7635" y="1389888"/>
            <a:ext cx="9496425" cy="285750"/>
          </a:xfrm>
          <a:prstGeom prst="rect">
            <a:avLst/>
          </a:prstGeom>
        </p:spPr>
      </p:pic>
      <p:pic>
        <p:nvPicPr>
          <p:cNvPr id="8" name="f_linear.png" descr="f_line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1048" y="1949958"/>
            <a:ext cx="8229600" cy="2560320"/>
          </a:xfrm>
          <a:prstGeom prst="rect">
            <a:avLst/>
          </a:prstGeom>
        </p:spPr>
      </p:pic>
      <p:sp>
        <p:nvSpPr>
          <p:cNvPr id="9" name="body 9"/>
          <p:cNvSpPr txBox="1"/>
          <p:nvPr/>
        </p:nvSpPr>
        <p:spPr>
          <a:xfrm>
            <a:off x="640080" y="4674870"/>
            <a:ext cx="11247120" cy="1600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Two lights add: the image under both is the sum of the two images.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The two lights come from the upper left and the upper right; no point of the face turns away from either.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Most importantly, the image does not depend directly on the viewpoint.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A mirror is different: its image depends on the viewpoint, the light direction and its orientation.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Geometry and Vision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11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Light and the Lambertian model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Convex lit from above looks like concave lit from below</a:t>
            </a:r>
          </a:p>
        </p:txBody>
      </p:sp>
      <p:pic>
        <p:nvPicPr>
          <p:cNvPr id="6" name="f_bumpdip.png" descr="f_bumpd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712" y="1225296"/>
            <a:ext cx="10880271" cy="2960914"/>
          </a:xfrm>
          <a:prstGeom prst="rect">
            <a:avLst/>
          </a:prstGeom>
        </p:spPr>
      </p:pic>
      <p:sp>
        <p:nvSpPr>
          <p:cNvPr id="7" name="body 7"/>
          <p:cNvSpPr txBox="1"/>
          <p:nvPr/>
        </p:nvSpPr>
        <p:spPr>
          <a:xfrm>
            <a:off x="640080" y="4350802"/>
            <a:ext cx="11247120" cy="19019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It is impossible to distinguish a convex object lit from above from a concave object lit from below.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Humans resolve this ambiguity by tending to perceive objects to be convex.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Surprisingly, an inverted face mask appears to be a real face, even with stereo or motion cues present.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In the computed pair, a bump z lit from above and the dip −z lit from below give identical images.</a:t>
            </a:r>
          </a:p>
          <a:p>
            <a:pPr marL="0" indent="0">
              <a:spcBef>
                <a:spcPts val="36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R. L. Gregory, “Knowledge in perception and illusion,” Phil. Trans. R. Soc. Lond. B, 352(1358):1121–1127, 1997.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Geometry and Vision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12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Light and the Lambertian model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Attached and cast shadows break the linear model</a:t>
            </a:r>
          </a:p>
        </p:txBody>
      </p:sp>
      <p:sp>
        <p:nvSpPr>
          <p:cNvPr id="6" name="panel 6"/>
          <p:cNvSpPr/>
          <p:nvPr/>
        </p:nvSpPr>
        <p:spPr>
          <a:xfrm>
            <a:off x="640080" y="1225296"/>
            <a:ext cx="10911535" cy="946476"/>
          </a:xfrm>
          <a:prstGeom prst="roundRect">
            <a:avLst>
              <a:gd name="adj" fmla="val 5500"/>
            </a:avLst>
          </a:prstGeom>
          <a:solidFill>
            <a:srgbClr val="F2F4F9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e_shadow.png" descr="e_shad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7074" y="1389888"/>
            <a:ext cx="5757547" cy="617292"/>
          </a:xfrm>
          <a:prstGeom prst="rect">
            <a:avLst/>
          </a:prstGeom>
        </p:spPr>
      </p:pic>
      <p:pic>
        <p:nvPicPr>
          <p:cNvPr id="8" name="f_shadows.png" descr="f_shadow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712" y="2281500"/>
            <a:ext cx="10880271" cy="2226129"/>
          </a:xfrm>
          <a:prstGeom prst="rect">
            <a:avLst/>
          </a:prstGeom>
        </p:spPr>
      </p:pic>
      <p:sp>
        <p:nvSpPr>
          <p:cNvPr id="9" name="body 9"/>
          <p:cNvSpPr txBox="1"/>
          <p:nvPr/>
        </p:nvSpPr>
        <p:spPr>
          <a:xfrm>
            <a:off x="640080" y="4672221"/>
            <a:ext cx="11247120" cy="1600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Attached shadow: the surface faces away from the light (a n · s &lt; 0); cast shadow: the light is occluded.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With attached shadows the image is no longer linear in the light sources: harder to analyze, still possible.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A mountain top and a mineshaft bottom: same normal and albedo, same Lambertian intensity.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Yet the bottom of the shaft is much darker: it is occluded from most of the light sources.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Geometry and Vision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13</a:t>
            </a:r>
          </a:p>
        </p:txBody>
      </p:sp>
      <p:sp>
        <p:nvSpPr>
          <p:cNvPr id="4" name="divnum 4"/>
          <p:cNvSpPr txBox="1"/>
          <p:nvPr/>
        </p:nvSpPr>
        <p:spPr>
          <a:xfrm>
            <a:off x="640080" y="1874520"/>
            <a:ext cx="228600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2</a:t>
            </a:r>
          </a:p>
        </p:txBody>
      </p:sp>
      <p:sp>
        <p:nvSpPr>
          <p:cNvPr id="5" name="divname 5"/>
          <p:cNvSpPr txBox="1"/>
          <p:nvPr/>
        </p:nvSpPr>
        <p:spPr>
          <a:xfrm>
            <a:off x="2880360" y="822960"/>
            <a:ext cx="9052560" cy="2212848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r>
              <a:rPr sz="44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Photometric stereo, bas-relief</a:t>
            </a:r>
          </a:p>
        </p:txBody>
      </p:sp>
      <p:sp>
        <p:nvSpPr>
          <p:cNvPr id="6" name="divsub 6"/>
          <p:cNvSpPr txBox="1"/>
          <p:nvPr/>
        </p:nvSpPr>
        <p:spPr>
          <a:xfrm>
            <a:off x="2944368" y="3401568"/>
            <a:ext cx="8961120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900" b="0" i="0">
                <a:solidFill>
                  <a:srgbClr val="55555F"/>
                </a:solidFill>
                <a:latin typeface="Calibri"/>
                <a:ea typeface="Calibri"/>
                <a:cs typeface="Calibri"/>
              </a:rPr>
              <a:t>Images under several lights have rank three: factorizing them gives shape and</a:t>
            </a:r>
            <a:br>
              <a:rPr sz="1900" b="0" i="0">
                <a:solidFill>
                  <a:srgbClr val="55555F"/>
                </a:solidFill>
                <a:latin typeface="Calibri"/>
                <a:ea typeface="Calibri"/>
                <a:cs typeface="Calibri"/>
              </a:rPr>
            </a:br>
            <a:r>
              <a:rPr sz="1900" b="0" i="0">
                <a:solidFill>
                  <a:srgbClr val="55555F"/>
                </a:solidFill>
                <a:latin typeface="Calibri"/>
                <a:ea typeface="Calibri"/>
                <a:cs typeface="Calibri"/>
              </a:rPr>
              <a:t>lights up to a 3 × 3 matrix; integrability leaves only the bas-relief ambiguity.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Geometry and Vision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14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Photometric stereo, bas-relief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With known lights, photometric stereo finds the normals</a:t>
            </a:r>
          </a:p>
        </p:txBody>
      </p:sp>
      <p:pic>
        <p:nvPicPr>
          <p:cNvPr id="6" name="r_heads.png" descr="r_hea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25296"/>
            <a:ext cx="5084064" cy="2542032"/>
          </a:xfrm>
          <a:prstGeom prst="rect">
            <a:avLst/>
          </a:prstGeom>
        </p:spPr>
      </p:pic>
      <p:sp>
        <p:nvSpPr>
          <p:cNvPr id="7" name="panel 7"/>
          <p:cNvSpPr/>
          <p:nvPr/>
        </p:nvSpPr>
        <p:spPr>
          <a:xfrm>
            <a:off x="6044184" y="1705526"/>
            <a:ext cx="5507431" cy="1581571"/>
          </a:xfrm>
          <a:prstGeom prst="roundRect">
            <a:avLst>
              <a:gd name="adj" fmla="val 5500"/>
            </a:avLst>
          </a:prstGeom>
          <a:solidFill>
            <a:srgbClr val="F2F4F9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e_ps.png" descr="e_p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9152" y="1870118"/>
            <a:ext cx="5237495" cy="1252387"/>
          </a:xfrm>
          <a:prstGeom prst="rect">
            <a:avLst/>
          </a:prstGeom>
        </p:spPr>
      </p:pic>
      <p:sp>
        <p:nvSpPr>
          <p:cNvPr id="9" name="body 9"/>
          <p:cNvSpPr txBox="1"/>
          <p:nvPr/>
        </p:nvSpPr>
        <p:spPr>
          <a:xfrm>
            <a:off x="640080" y="3931920"/>
            <a:ext cx="11247120" cy="19019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Given several images of a Lambertian object under varying lighting, a single directional source each.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M: f images (rows) of p pixels; rows of L: the f lights l; columns of S: scaled normals n = ρ n̂.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We can solve for S if L is known, by least squares at every pixel (Woodham); then ρ = |n| and n̂ = n/ρ.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This algorithm extends to more complex reflectance models (if known) through a lookup table.</a:t>
            </a:r>
          </a:p>
          <a:p>
            <a:pPr marL="0" indent="0">
              <a:spcBef>
                <a:spcPts val="36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R. J. Woodham, “Photometric method for determining surface orientation from multiple images,” Optical Engineering, 19(1):139–144, 1980.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Geometry and Vision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15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Photometric stereo, bas-relief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With unknown lights, shape and lighting are fitted together</a:t>
            </a:r>
          </a:p>
        </p:txBody>
      </p:sp>
      <p:sp>
        <p:nvSpPr>
          <p:cNvPr id="6" name="panel 6"/>
          <p:cNvSpPr/>
          <p:nvPr/>
        </p:nvSpPr>
        <p:spPr>
          <a:xfrm>
            <a:off x="640080" y="1361864"/>
            <a:ext cx="7189927" cy="2031151"/>
          </a:xfrm>
          <a:prstGeom prst="roundRect">
            <a:avLst>
              <a:gd name="adj" fmla="val 5500"/>
            </a:avLst>
          </a:prstGeom>
          <a:solidFill>
            <a:srgbClr val="F2F4F9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e_gibbs.png" descr="e_gibb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478" y="1526456"/>
            <a:ext cx="6901132" cy="790180"/>
          </a:xfrm>
          <a:prstGeom prst="rect">
            <a:avLst/>
          </a:prstGeom>
        </p:spPr>
      </p:pic>
      <p:pic>
        <p:nvPicPr>
          <p:cNvPr id="8" name="e_EBS.png" descr="e_EB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4980" y="2444652"/>
            <a:ext cx="5120128" cy="783771"/>
          </a:xfrm>
          <a:prstGeom prst="rect">
            <a:avLst/>
          </a:prstGeom>
        </p:spPr>
      </p:pic>
      <p:pic>
        <p:nvPicPr>
          <p:cNvPr id="9" name="f_jbs.png" descr="f_jb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0047" y="1225296"/>
            <a:ext cx="3401568" cy="2304288"/>
          </a:xfrm>
          <a:prstGeom prst="rect">
            <a:avLst/>
          </a:prstGeom>
        </p:spPr>
      </p:pic>
      <p:sp>
        <p:nvSpPr>
          <p:cNvPr id="10" name="body 10"/>
          <p:cNvSpPr txBox="1"/>
          <p:nvPr/>
        </p:nvSpPr>
        <p:spPr>
          <a:xfrm>
            <a:off x="640080" y="3694176"/>
            <a:ext cx="11247120" cy="2075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Write b(x) = a(x) n(x): the albedo is a(x) = |b(x)| and the surface normal is n(x) = b(x)/a(x).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J holds the N images as columns (pixels p, images μ), B the vectors b (p × 3), S the N lights (3 × N).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In the letters of photometric stereo, J = M^T, B = S^T and S = L^T: here S holds the lights.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E[b] is an energy and Z normalizes P; minimizing E is solved, up to an ambiguity, by linear algebra.</a:t>
            </a:r>
          </a:p>
          <a:p>
            <a:pPr marL="0" indent="0">
              <a:spcBef>
                <a:spcPts val="36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A. L. Yuille, D. Snow, R. Epstein and P. N. Belhumeur, “Determining generative models of objects under varying illumination:</a:t>
            </a:r>
            <a:b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</a:b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shape and albedo from multiple images using SVD and integrability,” IJCV, 35(3):203–222, 1999.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Geometry and Vision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16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Photometric stereo, bas-relief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The singular value decomposition (SVD) gives the rank-3 fit</a:t>
            </a:r>
          </a:p>
        </p:txBody>
      </p:sp>
      <p:sp>
        <p:nvSpPr>
          <p:cNvPr id="6" name="panel 6"/>
          <p:cNvSpPr/>
          <p:nvPr/>
        </p:nvSpPr>
        <p:spPr>
          <a:xfrm>
            <a:off x="640080" y="1397397"/>
            <a:ext cx="7573975" cy="1960086"/>
          </a:xfrm>
          <a:prstGeom prst="roundRect">
            <a:avLst>
              <a:gd name="adj" fmla="val 5500"/>
            </a:avLst>
          </a:prstGeom>
          <a:solidFill>
            <a:srgbClr val="F2F4F9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e_svd.png" descr="e_sv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6259" y="1561989"/>
            <a:ext cx="6381617" cy="300537"/>
          </a:xfrm>
          <a:prstGeom prst="rect">
            <a:avLst/>
          </a:prstGeom>
        </p:spPr>
      </p:pic>
      <p:pic>
        <p:nvPicPr>
          <p:cNvPr id="8" name="e_svdsol.png" descr="e_svdso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6425" y="1990542"/>
            <a:ext cx="4701285" cy="761608"/>
          </a:xfrm>
          <a:prstGeom prst="rect">
            <a:avLst/>
          </a:prstGeom>
        </p:spPr>
      </p:pic>
      <p:pic>
        <p:nvPicPr>
          <p:cNvPr id="9" name="e_svdcond.png" descr="e_svdcon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00096" y="2880166"/>
            <a:ext cx="3653942" cy="312725"/>
          </a:xfrm>
          <a:prstGeom prst="rect">
            <a:avLst/>
          </a:prstGeom>
        </p:spPr>
      </p:pic>
      <p:pic>
        <p:nvPicPr>
          <p:cNvPr id="10" name="f_sv.png" descr="f_sv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34095" y="1225296"/>
            <a:ext cx="3017520" cy="2304288"/>
          </a:xfrm>
          <a:prstGeom prst="rect">
            <a:avLst/>
          </a:prstGeom>
        </p:spPr>
      </p:pic>
      <p:sp>
        <p:nvSpPr>
          <p:cNvPr id="11" name="body 11"/>
          <p:cNvSpPr txBox="1"/>
          <p:nvPr/>
        </p:nvSpPr>
        <p:spPr>
          <a:xfrm>
            <a:off x="640080" y="3694176"/>
            <a:ext cx="11247120" cy="2075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Without shadows the images lie in a three-dimensional space: J has rank three (Shashua).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U, V: eigenvectors of J J^T and J^T J, eigenvalues D_ii² (I: identity); e_k, f_k: their first three columns.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The leftover energy, the sum of D_ii² for i ≥ 4, is zero exactly when J = BS: it tests the model.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Hayakawa factorizes M = LS in the same way, with the SVD of M.</a:t>
            </a:r>
          </a:p>
          <a:p>
            <a:pPr marL="0" indent="0">
              <a:spcBef>
                <a:spcPts val="36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A. Shashua, “On photometric issues in 3D visual recognition from a single 2D image,” IJCV, 21(1–2):99–122, 1997.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H. Hayakawa, “Photometric stereo under a light source with arbitrary motion,” JOSA A, 11(11):3079–3089, 1994.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Geometry and Vision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17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Photometric stereo, bas-relief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Shape and lights are found only up to an invertible matrix</a:t>
            </a:r>
          </a:p>
        </p:txBody>
      </p:sp>
      <p:sp>
        <p:nvSpPr>
          <p:cNvPr id="6" name="panel 6"/>
          <p:cNvSpPr/>
          <p:nvPr/>
        </p:nvSpPr>
        <p:spPr>
          <a:xfrm>
            <a:off x="640080" y="1225296"/>
            <a:ext cx="10911535" cy="946076"/>
          </a:xfrm>
          <a:prstGeom prst="roundRect">
            <a:avLst>
              <a:gd name="adj" fmla="val 5500"/>
            </a:avLst>
          </a:prstGeom>
          <a:solidFill>
            <a:srgbClr val="F2F4F9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e_amb.png" descr="e_am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0728" y="1389888"/>
            <a:ext cx="8750239" cy="616892"/>
          </a:xfrm>
          <a:prstGeom prst="rect">
            <a:avLst/>
          </a:prstGeom>
        </p:spPr>
      </p:pic>
      <p:pic>
        <p:nvPicPr>
          <p:cNvPr id="8" name="f_ambig.png" descr="f_ambi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712" y="2281100"/>
            <a:ext cx="10880271" cy="2226129"/>
          </a:xfrm>
          <a:prstGeom prst="rect">
            <a:avLst/>
          </a:prstGeom>
        </p:spPr>
      </p:pic>
      <p:sp>
        <p:nvSpPr>
          <p:cNvPr id="9" name="body 9"/>
          <p:cNvSpPr txBox="1"/>
          <p:nvPr/>
        </p:nvSpPr>
        <p:spPr>
          <a:xfrm>
            <a:off x="640080" y="4671820"/>
            <a:ext cx="11247120" cy="1600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P and Q are fixed only up to an invertible 3 × 3 matrix A: P ↦ A^T P, Q ↦ A^-1 Q keep P^T Q.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It is inherent in the Lambertian model: b · s_μ is unchanged, so attached shadows keep it too.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It is similar to the ambiguity of structure from rigid motion solved by the SVD.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The transformed b has other normals and albedos; with the lights A^-1 s it gives the same images.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Geometry and Vision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18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Photometric stereo, bas-relief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Integrability: a surface returns to its height around a loop</a:t>
            </a:r>
          </a:p>
        </p:txBody>
      </p:sp>
      <p:sp>
        <p:nvSpPr>
          <p:cNvPr id="6" name="panel 6"/>
          <p:cNvSpPr/>
          <p:nvPr/>
        </p:nvSpPr>
        <p:spPr>
          <a:xfrm>
            <a:off x="640080" y="1225296"/>
            <a:ext cx="10911535" cy="1852414"/>
          </a:xfrm>
          <a:prstGeom prst="roundRect">
            <a:avLst>
              <a:gd name="adj" fmla="val 5500"/>
            </a:avLst>
          </a:prstGeom>
          <a:solidFill>
            <a:srgbClr val="F2F4F9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e_normal.png" descr="e_norm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6134" y="1389888"/>
            <a:ext cx="9139428" cy="777240"/>
          </a:xfrm>
          <a:prstGeom prst="rect">
            <a:avLst/>
          </a:prstGeom>
        </p:spPr>
      </p:pic>
      <p:pic>
        <p:nvPicPr>
          <p:cNvPr id="8" name="e_integrate.png" descr="e_integr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672" y="2295144"/>
            <a:ext cx="10048352" cy="617974"/>
          </a:xfrm>
          <a:prstGeom prst="rect">
            <a:avLst/>
          </a:prstGeom>
        </p:spPr>
      </p:pic>
      <p:pic>
        <p:nvPicPr>
          <p:cNvPr id="9" name="f_curl.png" descr="f_cur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55368" y="3187438"/>
            <a:ext cx="7680960" cy="1755648"/>
          </a:xfrm>
          <a:prstGeom prst="rect">
            <a:avLst/>
          </a:prstGeom>
        </p:spPr>
      </p:pic>
      <p:sp>
        <p:nvSpPr>
          <p:cNvPr id="10" name="body 10"/>
          <p:cNvSpPr txBox="1"/>
          <p:nvPr/>
        </p:nvSpPr>
        <p:spPr>
          <a:xfrm>
            <a:off x="640080" y="5107678"/>
            <a:ext cx="11247120" cy="11704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The tangents (1, 0, z_x), (0, 1, z_y) give n_1/n_3 = −z_x, n_2/n_3 = −z_y; z_xy = z_yx gives the condition.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Given the normals, depth follows by least squares; p = z_x and q = z_y are the slopes.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∂_x(n_2/n_3) − ∂_y(n_1/n_3) is zero for true and bas-relief normals, nonzero after a general A.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Geometry and Vision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19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Photometric stereo, bas-relief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Integrability leaves the generalized bas-relief ambiguity</a:t>
            </a:r>
          </a:p>
        </p:txBody>
      </p:sp>
      <p:sp>
        <p:nvSpPr>
          <p:cNvPr id="6" name="panel 6"/>
          <p:cNvSpPr/>
          <p:nvPr/>
        </p:nvSpPr>
        <p:spPr>
          <a:xfrm>
            <a:off x="640080" y="1225296"/>
            <a:ext cx="10911535" cy="1286336"/>
          </a:xfrm>
          <a:prstGeom prst="roundRect">
            <a:avLst>
              <a:gd name="adj" fmla="val 5500"/>
            </a:avLst>
          </a:prstGeom>
          <a:solidFill>
            <a:srgbClr val="F2F4F9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e_gbr23.png" descr="e_gbr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8130" y="1389888"/>
            <a:ext cx="8355435" cy="285226"/>
          </a:xfrm>
          <a:prstGeom prst="rect">
            <a:avLst/>
          </a:prstGeom>
        </p:spPr>
      </p:pic>
      <p:pic>
        <p:nvPicPr>
          <p:cNvPr id="8" name="e_gbr24.png" descr="e_gbr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2351" y="1803130"/>
            <a:ext cx="7866993" cy="543910"/>
          </a:xfrm>
          <a:prstGeom prst="rect">
            <a:avLst/>
          </a:prstGeom>
        </p:spPr>
      </p:pic>
      <p:pic>
        <p:nvPicPr>
          <p:cNvPr id="9" name="f_gbr.png" descr="f_gb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98168" y="2621360"/>
            <a:ext cx="8595360" cy="2011680"/>
          </a:xfrm>
          <a:prstGeom prst="rect">
            <a:avLst/>
          </a:prstGeom>
        </p:spPr>
      </p:pic>
      <p:sp>
        <p:nvSpPr>
          <p:cNvPr id="10" name="body 10"/>
          <p:cNvSpPr txBox="1"/>
          <p:nvPr/>
        </p:nvSpPr>
        <p:spPr>
          <a:xfrm>
            <a:off x="640080" y="4797632"/>
            <a:ext cx="11247120" cy="1472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Integrability is consistent only with a subgroup of the invertible linear transformations (top line).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On the surface, λ′z is a bas-relief transformation, and μx + νy adds a plane (μ, ν are constants here).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Generalized bas-relief (GBR): with the lights moved to G s, a flattened, tilted face gives the same images.</a:t>
            </a:r>
          </a:p>
          <a:p>
            <a:pPr marL="0" indent="0">
              <a:spcBef>
                <a:spcPts val="36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P. N. Belhumeur, D. J. Kriegman and A. L. Yuille, “The bas-relief ambiguity,” IJCV, 35(1):33–44, 1999.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Geometry and Vision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20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Photometric stereo, bas-relief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Sculptors and human vision show the bas-relief ambiguity</a:t>
            </a:r>
          </a:p>
        </p:txBody>
      </p:sp>
      <p:pic>
        <p:nvPicPr>
          <p:cNvPr id="6" name="f_relief.png" descr="f_relie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712" y="1225296"/>
            <a:ext cx="10880271" cy="2356757"/>
          </a:xfrm>
          <a:prstGeom prst="rect">
            <a:avLst/>
          </a:prstGeom>
        </p:spPr>
      </p:pic>
      <p:sp>
        <p:nvSpPr>
          <p:cNvPr id="7" name="body 7"/>
          <p:cNvSpPr txBox="1"/>
          <p:nvPr/>
        </p:nvSpPr>
        <p:spPr>
          <a:xfrm>
            <a:off x="640080" y="3746645"/>
            <a:ext cx="11247120" cy="2505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Sculptors save material by making reliefs with small changes in depth, which look like full figures.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Make-up can alter the albedo of a face and make its shape appear different, e.g. enhancing cheek bones.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Studies (Bülthoff, Koenderink, others) find biases in perceived shape, Koenderink’s like the bas-relief.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KGBR adds viewpoint to the GBR: an affine change of shape and albedo, with matching views and lights.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Their images agree up to an affine warp of the image; the GBR is the case of one viewpoint, other lights.</a:t>
            </a:r>
          </a:p>
          <a:p>
            <a:pPr marL="0" indent="0">
              <a:spcBef>
                <a:spcPts val="36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J. J. Koenderink, A. J. van Doorn, A. M. L. Kappers and J. T. Todd, “Ambiguity and the ‘mental eye’ in pictorial relief,” Perception, 30(4):431–448, 2001.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A. L. Yuille, J. M. Coughlan and S. Konishi, “The KGBR viewpoint–lighting ambiguity,” JOSA A, 20(1):24–31, 2003.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Geometry and Vision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21</a:t>
            </a:r>
          </a:p>
        </p:txBody>
      </p:sp>
      <p:sp>
        <p:nvSpPr>
          <p:cNvPr id="4" name="divnum 4"/>
          <p:cNvSpPr txBox="1"/>
          <p:nvPr/>
        </p:nvSpPr>
        <p:spPr>
          <a:xfrm>
            <a:off x="640080" y="1874520"/>
            <a:ext cx="228600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3</a:t>
            </a:r>
          </a:p>
        </p:txBody>
      </p:sp>
      <p:sp>
        <p:nvSpPr>
          <p:cNvPr id="5" name="divname 5"/>
          <p:cNvSpPr txBox="1"/>
          <p:nvPr/>
        </p:nvSpPr>
        <p:spPr>
          <a:xfrm>
            <a:off x="2880360" y="822960"/>
            <a:ext cx="9052560" cy="2212848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r>
              <a:rPr sz="44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Shape from shading</a:t>
            </a:r>
          </a:p>
        </p:txBody>
      </p:sp>
      <p:sp>
        <p:nvSpPr>
          <p:cNvPr id="6" name="divsub 6"/>
          <p:cNvSpPr txBox="1"/>
          <p:nvPr/>
        </p:nvSpPr>
        <p:spPr>
          <a:xfrm>
            <a:off x="2944368" y="3401568"/>
            <a:ext cx="8961120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900" b="0" i="0">
                <a:solidFill>
                  <a:srgbClr val="55555F"/>
                </a:solidFill>
                <a:latin typeface="Calibri"/>
                <a:ea typeface="Calibri"/>
                <a:cs typeface="Calibri"/>
              </a:rPr>
              <a:t>From one image, with a known light and constant albedo, depth solves an</a:t>
            </a:r>
            <a:br>
              <a:rPr sz="1900" b="0" i="0">
                <a:solidFill>
                  <a:srgbClr val="55555F"/>
                </a:solidFill>
                <a:latin typeface="Calibri"/>
                <a:ea typeface="Calibri"/>
                <a:cs typeface="Calibri"/>
              </a:rPr>
            </a:br>
            <a:r>
              <a:rPr sz="1900" b="0" i="0">
                <a:solidFill>
                  <a:srgbClr val="55555F"/>
                </a:solidFill>
                <a:latin typeface="Calibri"/>
                <a:ea typeface="Calibri"/>
                <a:cs typeface="Calibri"/>
              </a:rPr>
              <a:t>eikonal equation; priors make real images, such as faces, possible.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Geometry and Vision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22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Shape from shading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Shape from shading estimates shape from a single image</a:t>
            </a:r>
          </a:p>
        </p:txBody>
      </p:sp>
      <p:pic>
        <p:nvPicPr>
          <p:cNvPr id="6" name="f_sfsone.png" descr="f_sfs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25296"/>
            <a:ext cx="8503920" cy="2798064"/>
          </a:xfrm>
          <a:prstGeom prst="rect">
            <a:avLst/>
          </a:prstGeom>
        </p:spPr>
      </p:pic>
      <p:sp>
        <p:nvSpPr>
          <p:cNvPr id="7" name="panel 7"/>
          <p:cNvSpPr/>
          <p:nvPr/>
        </p:nvSpPr>
        <p:spPr>
          <a:xfrm>
            <a:off x="9509760" y="2321052"/>
            <a:ext cx="2041855" cy="606552"/>
          </a:xfrm>
          <a:prstGeom prst="roundRect">
            <a:avLst>
              <a:gd name="adj" fmla="val 5500"/>
            </a:avLst>
          </a:prstGeom>
          <a:solidFill>
            <a:srgbClr val="F2F4F9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e_sfs.png" descr="e_sf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9054" y="2485644"/>
            <a:ext cx="1763268" cy="277368"/>
          </a:xfrm>
          <a:prstGeom prst="rect">
            <a:avLst/>
          </a:prstGeom>
        </p:spPr>
      </p:pic>
      <p:sp>
        <p:nvSpPr>
          <p:cNvPr id="9" name="body 9"/>
          <p:cNvSpPr txBox="1"/>
          <p:nvPr/>
        </p:nvSpPr>
        <p:spPr>
          <a:xfrm>
            <a:off x="640080" y="4187952"/>
            <a:ext cx="11247120" cy="2075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Humans can estimate shape from shading, but from one image it is a severely ill-posed problem.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With known lighting and uniform albedo, every intensity determines a circle of possible normals.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There is only one unknown (z) for each pixel, since uniform albedo is assumed.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Classic methods (Horn) assume known light directions and a locally smooth surface.</a:t>
            </a:r>
          </a:p>
          <a:p>
            <a:pPr marL="0" indent="0">
              <a:spcBef>
                <a:spcPts val="36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B. K. P. Horn, “Obtaining shape from shading information,” in P. H. Winston (ed.), The Psychology of Computer Vision, McGraw-Hill, New York,</a:t>
            </a:r>
            <a:b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</a:b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115–155, 1975.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Geometry and Vision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23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Shape from shading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Shape from shading is a first-order nonlinear PDE</a:t>
            </a:r>
          </a:p>
        </p:txBody>
      </p:sp>
      <p:sp>
        <p:nvSpPr>
          <p:cNvPr id="6" name="panel 6"/>
          <p:cNvSpPr/>
          <p:nvPr/>
        </p:nvSpPr>
        <p:spPr>
          <a:xfrm>
            <a:off x="640080" y="1225296"/>
            <a:ext cx="10911535" cy="1655138"/>
          </a:xfrm>
          <a:prstGeom prst="roundRect">
            <a:avLst>
              <a:gd name="adj" fmla="val 5500"/>
            </a:avLst>
          </a:prstGeom>
          <a:solidFill>
            <a:srgbClr val="F2F4F9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e_sfs1.png" descr="e_sfs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3917" y="1389888"/>
            <a:ext cx="8803861" cy="662609"/>
          </a:xfrm>
          <a:prstGeom prst="rect">
            <a:avLst/>
          </a:prstGeom>
        </p:spPr>
      </p:pic>
      <p:pic>
        <p:nvPicPr>
          <p:cNvPr id="8" name="e_sfs2.png" descr="e_sfs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3624" y="2180513"/>
            <a:ext cx="5784448" cy="535329"/>
          </a:xfrm>
          <a:prstGeom prst="rect">
            <a:avLst/>
          </a:prstGeom>
        </p:spPr>
      </p:pic>
      <p:pic>
        <p:nvPicPr>
          <p:cNvPr id="9" name="f_eikonal.png" descr="f_eikon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55368" y="2990162"/>
            <a:ext cx="7680960" cy="1956816"/>
          </a:xfrm>
          <a:prstGeom prst="rect">
            <a:avLst/>
          </a:prstGeom>
        </p:spPr>
      </p:pic>
      <p:sp>
        <p:nvSpPr>
          <p:cNvPr id="10" name="body 10"/>
          <p:cNvSpPr txBox="1"/>
          <p:nvPr/>
        </p:nvSpPr>
        <p:spPr>
          <a:xfrm>
            <a:off x="640080" y="5111570"/>
            <a:ext cx="11247120" cy="11704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Here n is the normal before normalizing, E the image intensity, l the known light and I the identity.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A first-order, nonlinear partial differential equation (PDE) for z (Horn); eikonal for l = (0, 0, 1).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For l = (0, 0, 1) the image gives the slope |∇z| at each pixel; the direction of steepest ascent is free.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Geometry and Vision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24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Shape from shading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Fast marching solves the eikonal equation by shortest paths</a:t>
            </a:r>
          </a:p>
        </p:txBody>
      </p:sp>
      <p:pic>
        <p:nvPicPr>
          <p:cNvPr id="6" name="f_march.png" descr="f_m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712" y="1225296"/>
            <a:ext cx="10880271" cy="2797629"/>
          </a:xfrm>
          <a:prstGeom prst="rect">
            <a:avLst/>
          </a:prstGeom>
        </p:spPr>
      </p:pic>
      <p:sp>
        <p:nvSpPr>
          <p:cNvPr id="7" name="body 7"/>
          <p:cNvSpPr txBox="1"/>
          <p:nvPr/>
        </p:nvSpPr>
        <p:spPr>
          <a:xfrm>
            <a:off x="640080" y="4187517"/>
            <a:ext cx="11247120" cy="2075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The distance transform: the distance of each point to the boundary, posed as an eikonal equation.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On a graph, a node’s distance T is the minimum over its neighbors of their T plus the edge weight w.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Fast marching (Tsitsiklis, Sethian) updates T from two grid neighbors and the local cost f.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Nodes are fixed in increasing order of T, as in a shortest-path algorithm.</a:t>
            </a:r>
          </a:p>
          <a:p>
            <a:pPr marL="0" indent="0">
              <a:spcBef>
                <a:spcPts val="36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J. N. Tsitsiklis, “Efficient algorithms for globally optimal trajectories,” IEEE Trans. Automatic Control, 40(9):1528–1538, 1995.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J. A. Sethian, “A fast marching level set method for monotonically advancing fronts,” PNAS, 93(4):1591–1595, 1996.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Geometry and Vision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25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Shape from shading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Fast marching solves Lambertian shape from shading</a:t>
            </a:r>
          </a:p>
        </p:txBody>
      </p:sp>
      <p:sp>
        <p:nvSpPr>
          <p:cNvPr id="6" name="panel 6"/>
          <p:cNvSpPr/>
          <p:nvPr/>
        </p:nvSpPr>
        <p:spPr>
          <a:xfrm>
            <a:off x="640080" y="2101596"/>
            <a:ext cx="4272991" cy="862584"/>
          </a:xfrm>
          <a:prstGeom prst="roundRect">
            <a:avLst>
              <a:gd name="adj" fmla="val 5500"/>
            </a:avLst>
          </a:prstGeom>
          <a:solidFill>
            <a:srgbClr val="F2F4F9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e_ks.png" descr="e_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8108" y="2266188"/>
            <a:ext cx="2916936" cy="533400"/>
          </a:xfrm>
          <a:prstGeom prst="rect">
            <a:avLst/>
          </a:prstGeom>
        </p:spPr>
      </p:pic>
      <p:pic>
        <p:nvPicPr>
          <p:cNvPr id="8" name="r_mozart.png" descr="r_moz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3111" y="1225296"/>
            <a:ext cx="6318504" cy="2615184"/>
          </a:xfrm>
          <a:prstGeom prst="rect">
            <a:avLst/>
          </a:prstGeom>
        </p:spPr>
      </p:pic>
      <p:sp>
        <p:nvSpPr>
          <p:cNvPr id="9" name="body 9"/>
          <p:cNvSpPr txBox="1"/>
          <p:nvPr/>
        </p:nvSpPr>
        <p:spPr>
          <a:xfrm>
            <a:off x="640080" y="4005072"/>
            <a:ext cx="11247120" cy="22494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Lambertian shape from shading gives an eikonal equation whose right-hand side is the local cost f.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Boundary conditions: depth values at local maxima of intensity, and possibly at shape boundaries.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The case l ≠ (0, 0, 1) is handled by a change of variables.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Example: an image of a bust of Mozart and the surface recovered from it.</a:t>
            </a:r>
          </a:p>
          <a:p>
            <a:pPr marL="0" indent="0">
              <a:spcBef>
                <a:spcPts val="36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R. Kimmel and J. A. Sethian, “Optimal algorithm for shape from shading and path planning,” J. Mathematical Imaging and Vision, 14(3):237–244,</a:t>
            </a:r>
            <a:b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</a:b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2001.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R. Zhang, P.-S. Tsai, J. E. Cryer and M. Shah, “Shape from shading: a survey,” IEEE TPAMI, 21(8):690–706, 1999.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Geometry and Vision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26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Shape from shading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Assumptions or priors resolve the ambiguities of one image</a:t>
            </a:r>
          </a:p>
        </p:txBody>
      </p:sp>
      <p:pic>
        <p:nvPicPr>
          <p:cNvPr id="6" name="f_sfsamb.png" descr="f_sfsam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248" y="1225296"/>
            <a:ext cx="9601200" cy="2266749"/>
          </a:xfrm>
          <a:prstGeom prst="rect">
            <a:avLst/>
          </a:prstGeom>
        </p:spPr>
      </p:pic>
      <p:sp>
        <p:nvSpPr>
          <p:cNvPr id="7" name="body 7"/>
          <p:cNvSpPr txBox="1"/>
          <p:nvPr/>
        </p:nvSpPr>
        <p:spPr>
          <a:xfrm>
            <a:off x="640080" y="3656637"/>
            <a:ext cx="11247120" cy="2596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With constant albedo and a known light source, the solution is often unique (Oliensis).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A shape prior: Atick et al. use principal components of three-dimensional (3D) face depth maps.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Statistical shape from shading learns intensity and depth together from range data (Potetz and Lee).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Their results suggest that Lambertian models rarely apply in natural images; nearer objects look brighter.</a:t>
            </a:r>
          </a:p>
          <a:p>
            <a:pPr marL="0" indent="0">
              <a:spcBef>
                <a:spcPts val="36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J. Oliensis, “Uniqueness in shape from shading,” IJCV, 6(2):75–104, 1991.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J. J. Atick, P. A. Griffin and A. N. Redlich, “Statistical approach to shape from shading: reconstruction of three-dimensional face surfaces</a:t>
            </a:r>
            <a:b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</a:b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from single two-dimensional images,” Neural Computation, 8(6):1321–1340, 1996.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B. Potetz and T. S. Lee, “Statistical correlations between two-dimensional images and three-dimensional structures in natural scenes,”</a:t>
            </a:r>
            <a:b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</a:b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JOSA A, 20(7):1292–1303, 2003.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Geometry and Vision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27</a:t>
            </a:r>
          </a:p>
        </p:txBody>
      </p:sp>
      <p:sp>
        <p:nvSpPr>
          <p:cNvPr id="4" name="divnum 4"/>
          <p:cNvSpPr txBox="1"/>
          <p:nvPr/>
        </p:nvSpPr>
        <p:spPr>
          <a:xfrm>
            <a:off x="640080" y="1874520"/>
            <a:ext cx="228600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4</a:t>
            </a:r>
          </a:p>
        </p:txBody>
      </p:sp>
      <p:sp>
        <p:nvSpPr>
          <p:cNvPr id="5" name="divname 5"/>
          <p:cNvSpPr txBox="1"/>
          <p:nvPr/>
        </p:nvSpPr>
        <p:spPr>
          <a:xfrm>
            <a:off x="2880360" y="822960"/>
            <a:ext cx="9052560" cy="2212848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r>
              <a:rPr sz="44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Harmonic analysis of lighting</a:t>
            </a:r>
          </a:p>
        </p:txBody>
      </p:sp>
      <p:sp>
        <p:nvSpPr>
          <p:cNvPr id="6" name="divsub 6"/>
          <p:cNvSpPr txBox="1"/>
          <p:nvPr/>
        </p:nvSpPr>
        <p:spPr>
          <a:xfrm>
            <a:off x="2944368" y="3401568"/>
            <a:ext cx="8961120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900" b="0" i="0">
                <a:solidFill>
                  <a:srgbClr val="55555F"/>
                </a:solidFill>
                <a:latin typeface="Calibri"/>
                <a:ea typeface="Calibri"/>
                <a:cs typeface="Calibri"/>
              </a:rPr>
              <a:t>Lambertian reflectance smooths the lighting: nine spherical harmonic images</a:t>
            </a:r>
            <a:br>
              <a:rPr sz="1900" b="0" i="0">
                <a:solidFill>
                  <a:srgbClr val="55555F"/>
                </a:solidFill>
                <a:latin typeface="Calibri"/>
                <a:ea typeface="Calibri"/>
                <a:cs typeface="Calibri"/>
              </a:rPr>
            </a:br>
            <a:r>
              <a:rPr sz="1900" b="0" i="0">
                <a:solidFill>
                  <a:srgbClr val="55555F"/>
                </a:solidFill>
                <a:latin typeface="Calibri"/>
                <a:ea typeface="Calibri"/>
                <a:cs typeface="Calibri"/>
              </a:rPr>
              <a:t>approximate the images of a convex object closely.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Geometry and Vision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28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Harmonic analysis of lighting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The images under all lightings form a convex cone</a:t>
            </a:r>
          </a:p>
        </p:txBody>
      </p:sp>
      <p:pic>
        <p:nvPicPr>
          <p:cNvPr id="6" name="r_cone.png" descr="r_c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248" y="1225296"/>
            <a:ext cx="9601200" cy="2964581"/>
          </a:xfrm>
          <a:prstGeom prst="rect">
            <a:avLst/>
          </a:prstGeom>
        </p:spPr>
      </p:pic>
      <p:sp>
        <p:nvSpPr>
          <p:cNvPr id="7" name="body 7"/>
          <p:cNvSpPr txBox="1"/>
          <p:nvPr/>
        </p:nvSpPr>
        <p:spPr>
          <a:xfrm>
            <a:off x="640080" y="4354469"/>
            <a:ext cx="11247120" cy="19019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Images are additive and non-negative, for any number of light sources.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The set of images is therefore a convex cone in R^p, p pixels (Belhumeur and Kriegman).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The cone characterization is generic: it also holds with specularities, shadows and inter-reflections.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Representing the cone is complicated (infinite degrees of freedom); for Lambertian objects it is thin.</a:t>
            </a:r>
          </a:p>
          <a:p>
            <a:pPr marL="0" indent="0">
              <a:spcBef>
                <a:spcPts val="36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P. N. Belhumeur and D. J. Kriegman, “What is the set of images of an object under all possible illumination conditions?” IJCV, 28(3):245–260, 1998.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Geometry and Vision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29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Harmonic analysis of lighting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A few principal components capture the images of an object</a:t>
            </a:r>
          </a:p>
        </p:txBody>
      </p:sp>
      <p:sp>
        <p:nvSpPr>
          <p:cNvPr id="6" name="panel 6"/>
          <p:cNvSpPr/>
          <p:nvPr/>
        </p:nvSpPr>
        <p:spPr>
          <a:xfrm>
            <a:off x="640080" y="1225296"/>
            <a:ext cx="10911535" cy="1120401"/>
          </a:xfrm>
          <a:prstGeom prst="roundRect">
            <a:avLst>
              <a:gd name="adj" fmla="val 5500"/>
            </a:avLst>
          </a:prstGeom>
          <a:solidFill>
            <a:srgbClr val="F2F4F9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e_pca.png" descr="e_pc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9344" y="1389888"/>
            <a:ext cx="9433007" cy="791217"/>
          </a:xfrm>
          <a:prstGeom prst="rect">
            <a:avLst/>
          </a:prstGeom>
        </p:spPr>
      </p:pic>
      <p:pic>
        <p:nvPicPr>
          <p:cNvPr id="8" name="r_pcatable.png" descr="r_pcatab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8722" y="2455425"/>
            <a:ext cx="3342132" cy="1645920"/>
          </a:xfrm>
          <a:prstGeom prst="rect">
            <a:avLst/>
          </a:prstGeom>
        </p:spPr>
      </p:pic>
      <p:pic>
        <p:nvPicPr>
          <p:cNvPr id="9" name="f_pca.png" descr="f_pc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2334" y="2455425"/>
            <a:ext cx="5120640" cy="1645920"/>
          </a:xfrm>
          <a:prstGeom prst="rect">
            <a:avLst/>
          </a:prstGeom>
        </p:spPr>
      </p:pic>
      <p:sp>
        <p:nvSpPr>
          <p:cNvPr id="10" name="body 10"/>
          <p:cNvSpPr txBox="1"/>
          <p:nvPr/>
        </p:nvSpPr>
        <p:spPr>
          <a:xfrm>
            <a:off x="640080" y="4265937"/>
            <a:ext cx="11247120" cy="19933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Photograph an object under N lightings; the eigenvectors e of the correlation K are eigenimages.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Table: % of the energy (the sum of all the eigenvalues λ) in the first k eigenimages; five hold 85–98 %.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Theory: nine for convex objects; in a single view about five or six suffice (Ramamoorthi).</a:t>
            </a:r>
          </a:p>
          <a:p>
            <a:pPr marL="0" indent="0">
              <a:spcBef>
                <a:spcPts val="36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A. L. Yuille, D. Snow, R. Epstein and P. N. Belhumeur, “Determining generative models of objects under varying illumination:</a:t>
            </a:r>
            <a:b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</a:b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shape and albedo from multiple images using SVD and integrability,” IJCV, 35(3):203–222, 1999.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R. Ramamoorthi, “Analytic PCA construction for theoretical analysis of lighting variability in images of a Lambertian object,” IEEE TPAMI,</a:t>
            </a:r>
            <a:b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</a:b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24(10):1322–1333, 2002.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Geometry and Vision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30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Harmonic analysis of lighting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Reflectance is the lighting convolved with a smooth kernel</a:t>
            </a:r>
          </a:p>
        </p:txBody>
      </p:sp>
      <p:sp>
        <p:nvSpPr>
          <p:cNvPr id="6" name="panel 6"/>
          <p:cNvSpPr/>
          <p:nvPr/>
        </p:nvSpPr>
        <p:spPr>
          <a:xfrm>
            <a:off x="640080" y="1225296"/>
            <a:ext cx="10911535" cy="908464"/>
          </a:xfrm>
          <a:prstGeom prst="roundRect">
            <a:avLst>
              <a:gd name="adj" fmla="val 5500"/>
            </a:avLst>
          </a:prstGeom>
          <a:solidFill>
            <a:srgbClr val="F2F4F9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e_conv.png" descr="e_con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7563" y="1389888"/>
            <a:ext cx="9536570" cy="579280"/>
          </a:xfrm>
          <a:prstGeom prst="rect">
            <a:avLst/>
          </a:prstGeom>
        </p:spPr>
      </p:pic>
      <p:pic>
        <p:nvPicPr>
          <p:cNvPr id="8" name="f_smooth.png" descr="f_smoot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6808" y="2243488"/>
            <a:ext cx="7498080" cy="2048256"/>
          </a:xfrm>
          <a:prstGeom prst="rect">
            <a:avLst/>
          </a:prstGeom>
        </p:spPr>
      </p:pic>
      <p:sp>
        <p:nvSpPr>
          <p:cNvPr id="9" name="body 9"/>
          <p:cNvSpPr txBox="1"/>
          <p:nvPr/>
        </p:nvSpPr>
        <p:spPr>
          <a:xfrm>
            <a:off x="640080" y="4456336"/>
            <a:ext cx="11247120" cy="18196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It deals with attached shadows for convex objects (Basri and Jacobs; Ramamoorthi and Hanrahan).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l(u) is the light from direction u; k(u, v) the light reflected at a normal v per unit input; R(v) the total.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Three point lights (spikes) give a smooth reflectance: each adds its cosine, cut at zero behind the surface.</a:t>
            </a:r>
          </a:p>
          <a:p>
            <a:pPr marL="0" indent="0">
              <a:spcBef>
                <a:spcPts val="36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R. Basri and D. W. Jacobs, “Lambertian reflectance and linear subspaces,” IEEE TPAMI, 25(2):218–233, 2003.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R. Ramamoorthi and P. Hanrahan, “On the relationship between radiance and irradiance: determining the illumination from images</a:t>
            </a:r>
            <a:b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</a:b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of a convex Lambertian object,” JOSA A, 18(10):2448–2459, 2001.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Geometry and Vision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31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Harmonic analysis of lighting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Spherical harmonics are an orthonormal basis on the sphere</a:t>
            </a:r>
          </a:p>
        </p:txBody>
      </p:sp>
      <p:sp>
        <p:nvSpPr>
          <p:cNvPr id="6" name="panel 6"/>
          <p:cNvSpPr/>
          <p:nvPr/>
        </p:nvSpPr>
        <p:spPr>
          <a:xfrm>
            <a:off x="640080" y="1868228"/>
            <a:ext cx="5745175" cy="1800237"/>
          </a:xfrm>
          <a:prstGeom prst="roundRect">
            <a:avLst>
              <a:gd name="adj" fmla="val 5500"/>
            </a:avLst>
          </a:prstGeom>
          <a:solidFill>
            <a:srgbClr val="F2F4F9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e_Y.png" descr="e_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336" y="2032820"/>
            <a:ext cx="5494663" cy="757410"/>
          </a:xfrm>
          <a:prstGeom prst="rect">
            <a:avLst/>
          </a:prstGeom>
        </p:spPr>
      </p:pic>
      <p:pic>
        <p:nvPicPr>
          <p:cNvPr id="8" name="e_P.png" descr="e_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7836" y="2918245"/>
            <a:ext cx="4109663" cy="585627"/>
          </a:xfrm>
          <a:prstGeom prst="rect">
            <a:avLst/>
          </a:prstGeom>
        </p:spPr>
      </p:pic>
      <p:pic>
        <p:nvPicPr>
          <p:cNvPr id="9" name="r_sh.png" descr="r_s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3855" y="1225296"/>
            <a:ext cx="4937760" cy="3086100"/>
          </a:xfrm>
          <a:prstGeom prst="rect">
            <a:avLst/>
          </a:prstGeom>
        </p:spPr>
      </p:pic>
      <p:sp>
        <p:nvSpPr>
          <p:cNvPr id="10" name="body 10"/>
          <p:cNvSpPr txBox="1"/>
          <p:nvPr/>
        </p:nvSpPr>
        <p:spPr>
          <a:xfrm>
            <a:off x="640080" y="4475988"/>
            <a:ext cx="11247120" cy="1600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Similar to sinusoids on the plane; there is an equivalent convolution theorem (Funk-Hecke).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Order n has 2n + 1 harmonics; a rotation mixes only harmonics of the same order n.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In space coordinates these are polynomials of degree n: 1; Z, X, Y; 3Z² − 1, X² − Y², XY, XZ, YZ.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Each sphere shows one harmonic on X² + Y² + Z² = 1 (X to the left): green positive, red negative.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Geometry and Vision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32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Harmonic analysis of lighting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Nine harmonics capture 99.2 % of the Lambertian kernel</a:t>
            </a:r>
          </a:p>
        </p:txBody>
      </p:sp>
      <p:sp>
        <p:nvSpPr>
          <p:cNvPr id="6" name="panel 6"/>
          <p:cNvSpPr/>
          <p:nvPr/>
        </p:nvSpPr>
        <p:spPr>
          <a:xfrm>
            <a:off x="640080" y="1318957"/>
            <a:ext cx="7519111" cy="2830197"/>
          </a:xfrm>
          <a:prstGeom prst="roundRect">
            <a:avLst>
              <a:gd name="adj" fmla="val 5500"/>
            </a:avLst>
          </a:prstGeom>
          <a:solidFill>
            <a:srgbClr val="F2F4F9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e_harm.png" descr="e_ha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5930" y="1483549"/>
            <a:ext cx="4447410" cy="745314"/>
          </a:xfrm>
          <a:prstGeom prst="rect">
            <a:avLst/>
          </a:prstGeom>
        </p:spPr>
      </p:pic>
      <p:pic>
        <p:nvPicPr>
          <p:cNvPr id="8" name="e_harm2.png" descr="e_harm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2894" y="2356879"/>
            <a:ext cx="5973482" cy="773953"/>
          </a:xfrm>
          <a:prstGeom prst="rect">
            <a:avLst/>
          </a:prstGeom>
        </p:spPr>
      </p:pic>
      <p:pic>
        <p:nvPicPr>
          <p:cNvPr id="9" name="e_kernel.png" descr="e_kerne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064" y="3258848"/>
            <a:ext cx="7257143" cy="725714"/>
          </a:xfrm>
          <a:prstGeom prst="rect">
            <a:avLst/>
          </a:prstGeom>
        </p:spPr>
      </p:pic>
      <p:pic>
        <p:nvPicPr>
          <p:cNvPr id="10" name="f_kernel.png" descr="f_kerne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79231" y="1225296"/>
            <a:ext cx="3072384" cy="3017520"/>
          </a:xfrm>
          <a:prstGeom prst="rect">
            <a:avLst/>
          </a:prstGeom>
        </p:spPr>
      </p:pic>
      <p:sp>
        <p:nvSpPr>
          <p:cNvPr id="11" name="body 11"/>
          <p:cNvSpPr txBox="1"/>
          <p:nvPr/>
        </p:nvSpPr>
        <p:spPr>
          <a:xfrm>
            <a:off x="640080" y="4407408"/>
            <a:ext cx="11247120" cy="18196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The kernel’s coefficients k_n fall quickly: the terms with n = 0, 1, 2 carry 99.2 % of its energy.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Nine basis images: 99.2 % for a point light, at least 97.96 % for any lighting; four: 87.5 % and 75 %.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In practice, due to self-occlusions, about 98 % can be achieved with just six basis images (Ramamoorthi).</a:t>
            </a:r>
          </a:p>
          <a:p>
            <a:pPr marL="0" indent="0">
              <a:spcBef>
                <a:spcPts val="36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R. Basri and D. W. Jacobs, “Lambertian reflectance and linear subspaces,” IEEE TPAMI, 25(2):218–233, 2003.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R. Ramamoorthi, “Analytic PCA construction for theoretical analysis of lighting variability in images of a Lambertian object,” IEEE TPAMI,</a:t>
            </a:r>
            <a:b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</a:b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24(10):1322–1333, 2002.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Geometry and Vision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33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Harmonic analysis of lighting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Harmonic models suit convex Lambertian objects</a:t>
            </a:r>
          </a:p>
        </p:txBody>
      </p:sp>
      <p:pic>
        <p:nvPicPr>
          <p:cNvPr id="6" name="r_scope.png" descr="r_sco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2728" y="1225296"/>
            <a:ext cx="4206240" cy="2212848"/>
          </a:xfrm>
          <a:prstGeom prst="rect">
            <a:avLst/>
          </a:prstGeom>
        </p:spPr>
      </p:pic>
      <p:sp>
        <p:nvSpPr>
          <p:cNvPr id="7" name="body 7"/>
          <p:cNvSpPr txBox="1"/>
          <p:nvPr/>
        </p:nvSpPr>
        <p:spPr>
          <a:xfrm>
            <a:off x="640080" y="3602736"/>
            <a:ext cx="11247120" cy="26791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They handle convex Lambertian objects with multiple light sources, including attached shadows.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They do not model cast shadows and inter-reflections; specular objects may require a very large basis.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Accuracy is maintained for fairly close light sources: the plot shows orders 0 to 3 (dashed: distant light).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Non-negative light can be enforced by projecting the illumination cone onto the harmonic space.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Closed-form constraints exist at first order; higher orders use sampling or a Toeplitz matrix.</a:t>
            </a:r>
          </a:p>
          <a:p>
            <a:pPr marL="0" indent="0">
              <a:spcBef>
                <a:spcPts val="36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D. Frolova, D. Simakov and R. Basri, “Accuracy of spherical harmonic approximations for images of Lambertian objects under far and</a:t>
            </a:r>
            <a:b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</a:b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near lighting,” ECCV, LNCS 3021, 574–587, 2004.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S. Shirdhonkar and D. W. Jacobs, “Non-negative lighting and specular object recognition,” ICCV, 1323–1330, 2005.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Geometry and Vision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34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Harmonic analysis of lighting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Nine harmonic images approximate a face in any lighting</a:t>
            </a:r>
          </a:p>
        </p:txBody>
      </p:sp>
      <p:pic>
        <p:nvPicPr>
          <p:cNvPr id="6" name="r_hfaces.png" descr="r_hfa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6948" y="1225296"/>
            <a:ext cx="5257800" cy="3401568"/>
          </a:xfrm>
          <a:prstGeom prst="rect">
            <a:avLst/>
          </a:prstGeom>
        </p:spPr>
      </p:pic>
      <p:sp>
        <p:nvSpPr>
          <p:cNvPr id="7" name="body 7"/>
          <p:cNvSpPr txBox="1"/>
          <p:nvPr/>
        </p:nvSpPr>
        <p:spPr>
          <a:xfrm>
            <a:off x="640080" y="4791456"/>
            <a:ext cx="11247120" cy="1472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Each basis image is the albedo ρ times a polynomial of the normal (n_x, n_y, n_z), up to a constant.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We can use them to predict novel appearances under new lighting.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Applications: face recognition, photometric stereo, 3D reconstruction with a prior, motion analysis.</a:t>
            </a:r>
          </a:p>
          <a:p>
            <a:pPr marL="0" indent="0">
              <a:spcBef>
                <a:spcPts val="36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R. Basri and D. W. Jacobs, “Lambertian reflectance and linear subspaces,” IEEE TPAMI, 25(2):218–233, 2003.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Geometry and Vision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35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Harmonic analysis of lighting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Photometric stereo with harmonic images has rank nine</a:t>
            </a:r>
          </a:p>
        </p:txBody>
      </p:sp>
      <p:sp>
        <p:nvSpPr>
          <p:cNvPr id="6" name="panel 6"/>
          <p:cNvSpPr/>
          <p:nvPr/>
        </p:nvSpPr>
        <p:spPr>
          <a:xfrm>
            <a:off x="640080" y="1225296"/>
            <a:ext cx="10911535" cy="1411465"/>
          </a:xfrm>
          <a:prstGeom prst="roundRect">
            <a:avLst>
              <a:gd name="adj" fmla="val 5500"/>
            </a:avLst>
          </a:prstGeom>
          <a:solidFill>
            <a:srgbClr val="F2F4F9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e_ps9.png" descr="e_ps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3194" y="1389888"/>
            <a:ext cx="2845308" cy="553212"/>
          </a:xfrm>
          <a:prstGeom prst="rect">
            <a:avLst/>
          </a:prstGeom>
        </p:spPr>
      </p:pic>
      <p:pic>
        <p:nvPicPr>
          <p:cNvPr id="8" name="e_ps9b.png" descr="e_ps9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7353" y="2071116"/>
            <a:ext cx="7996989" cy="401053"/>
          </a:xfrm>
          <a:prstGeom prst="rect">
            <a:avLst/>
          </a:prstGeom>
        </p:spPr>
      </p:pic>
      <p:pic>
        <p:nvPicPr>
          <p:cNvPr id="9" name="r_ps9.png" descr="r_ps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9646" y="2746489"/>
            <a:ext cx="3232404" cy="1865376"/>
          </a:xfrm>
          <a:prstGeom prst="rect">
            <a:avLst/>
          </a:prstGeom>
        </p:spPr>
      </p:pic>
      <p:sp>
        <p:nvSpPr>
          <p:cNvPr id="10" name="body 10"/>
          <p:cNvSpPr txBox="1"/>
          <p:nvPr/>
        </p:nvSpPr>
        <p:spPr>
          <a:xfrm>
            <a:off x="640080" y="4776457"/>
            <a:ext cx="11247120" cy="1472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Photometric stereo as before, M = LS, with nine (or four) basis vectors S for shape and albedo.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SVD recovers L and S up to an r × r ambiguity (r = 9 or 4); the lights may be general and unknown.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Images of an elephant and a camel figurine, and the recovered depth (color is height).</a:t>
            </a:r>
          </a:p>
          <a:p>
            <a:pPr marL="0" indent="0">
              <a:spcBef>
                <a:spcPts val="36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R. Basri, D. Jacobs and I. Kemelmacher, “Photometric stereo with general, unknown lighting,” IJCV, 72(3):239–257, 2007.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Geometry and Vision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36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Harmonic analysis of lighting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A reference face allows reconstruction from one image</a:t>
            </a:r>
          </a:p>
        </p:txBody>
      </p:sp>
      <p:pic>
        <p:nvPicPr>
          <p:cNvPr id="6" name="r_prior.png" descr="r_pri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25296"/>
            <a:ext cx="4786884" cy="2798064"/>
          </a:xfrm>
          <a:prstGeom prst="rect">
            <a:avLst/>
          </a:prstGeom>
        </p:spPr>
      </p:pic>
      <p:sp>
        <p:nvSpPr>
          <p:cNvPr id="7" name="panel 7"/>
          <p:cNvSpPr/>
          <p:nvPr/>
        </p:nvSpPr>
        <p:spPr>
          <a:xfrm>
            <a:off x="5747004" y="1902740"/>
            <a:ext cx="5804611" cy="1443176"/>
          </a:xfrm>
          <a:prstGeom prst="roundRect">
            <a:avLst>
              <a:gd name="adj" fmla="val 5500"/>
            </a:avLst>
          </a:prstGeom>
          <a:solidFill>
            <a:srgbClr val="F2F4F9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e_prior.png" descr="e_pri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9254" y="2067332"/>
            <a:ext cx="4480112" cy="609600"/>
          </a:xfrm>
          <a:prstGeom prst="rect">
            <a:avLst/>
          </a:prstGeom>
        </p:spPr>
      </p:pic>
      <p:pic>
        <p:nvPicPr>
          <p:cNvPr id="9" name="e_prior2.png" descr="e_prior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1470" y="2804948"/>
            <a:ext cx="4815679" cy="376376"/>
          </a:xfrm>
          <a:prstGeom prst="rect">
            <a:avLst/>
          </a:prstGeom>
        </p:spPr>
      </p:pic>
      <p:sp>
        <p:nvSpPr>
          <p:cNvPr id="10" name="body 10"/>
          <p:cNvSpPr txBox="1"/>
          <p:nvPr/>
        </p:nvSpPr>
        <p:spPr>
          <a:xfrm>
            <a:off x="640080" y="4187952"/>
            <a:ext cx="11247120" cy="2075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Given just one image, shape from shading is impractical; reconstruction is possible with a prior.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D: the image against the nine harmonic images Y(n̂); S: depth Z and albedo ρ close to a reference face.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Ω: the image; Δ: the Laplacian; λ1, λ2: weights. Minimized over l, ρ and Z, it is solved as a linear PDE.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Each photograph is followed by its shape, then the shape with its albedo; red box: the reference face.</a:t>
            </a:r>
          </a:p>
          <a:p>
            <a:pPr marL="0" indent="0">
              <a:spcBef>
                <a:spcPts val="36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I. Kemelmacher-Shlizerman and R. Basri, “3D face reconstruction from a single image using a single reference face shape,” IEEE TPAMI, 33(2):394–405,</a:t>
            </a:r>
            <a:b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</a:b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2011.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Geometry and Vision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37</a:t>
            </a:r>
          </a:p>
        </p:txBody>
      </p:sp>
      <p:sp>
        <p:nvSpPr>
          <p:cNvPr id="4" name="divnum 4"/>
          <p:cNvSpPr txBox="1"/>
          <p:nvPr/>
        </p:nvSpPr>
        <p:spPr>
          <a:xfrm>
            <a:off x="640080" y="1874520"/>
            <a:ext cx="228600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5</a:t>
            </a:r>
          </a:p>
        </p:txBody>
      </p:sp>
      <p:sp>
        <p:nvSpPr>
          <p:cNvPr id="5" name="divname 5"/>
          <p:cNvSpPr txBox="1"/>
          <p:nvPr/>
        </p:nvSpPr>
        <p:spPr>
          <a:xfrm>
            <a:off x="2880360" y="822960"/>
            <a:ext cx="9052560" cy="2212848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r>
              <a:rPr sz="44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Rendering</a:t>
            </a:r>
          </a:p>
        </p:txBody>
      </p:sp>
      <p:sp>
        <p:nvSpPr>
          <p:cNvPr id="6" name="divsub 6"/>
          <p:cNvSpPr txBox="1"/>
          <p:nvPr/>
        </p:nvSpPr>
        <p:spPr>
          <a:xfrm>
            <a:off x="2944368" y="3401568"/>
            <a:ext cx="8961120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900" b="0" i="0">
                <a:solidFill>
                  <a:srgbClr val="55555F"/>
                </a:solidFill>
                <a:latin typeface="Calibri"/>
                <a:ea typeface="Calibri"/>
                <a:cs typeface="Calibri"/>
              </a:rPr>
              <a:t>Graphics computes the image from a 3D model, its lights and a camera;</a:t>
            </a:r>
            <a:br>
              <a:rPr sz="1900" b="0" i="0">
                <a:solidFill>
                  <a:srgbClr val="55555F"/>
                </a:solidFill>
                <a:latin typeface="Calibri"/>
                <a:ea typeface="Calibri"/>
                <a:cs typeface="Calibri"/>
              </a:rPr>
            </a:br>
            <a:r>
              <a:rPr sz="1900" b="0" i="0">
                <a:solidFill>
                  <a:srgbClr val="55555F"/>
                </a:solidFill>
                <a:latin typeface="Calibri"/>
                <a:ea typeface="Calibri"/>
                <a:cs typeface="Calibri"/>
              </a:rPr>
              <a:t>differentiable rendering lets vision invert it by following gradients.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Geometry and Vision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38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Rendering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Graphics renders images from 3D models; vision inverts it</a:t>
            </a:r>
          </a:p>
        </p:txBody>
      </p:sp>
      <p:pic>
        <p:nvPicPr>
          <p:cNvPr id="6" name="r_dolphin.png" descr="r_dolph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0180" y="1225296"/>
            <a:ext cx="3831336" cy="2359152"/>
          </a:xfrm>
          <a:prstGeom prst="rect">
            <a:avLst/>
          </a:prstGeom>
        </p:spPr>
      </p:pic>
      <p:sp>
        <p:nvSpPr>
          <p:cNvPr id="7" name="body 7"/>
          <p:cNvSpPr txBox="1"/>
          <p:nvPr/>
        </p:nvSpPr>
        <p:spPr>
          <a:xfrm>
            <a:off x="640080" y="3749040"/>
            <a:ext cx="11247120" cy="2505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Rendering, or image synthesis, generates an image from a 3D model by a computer program.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Classic surface models: light is reflected off surfaces; Lambert’s law dates back to the 18th century.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CAD (computer-aided design) models represent an object by a polygon mesh: vertices, edges and faces.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Graphics knows the objects and the light sources; vision addresses the harder inverse problem.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Radiosity (light bouncing between surfaces) is more realistic but hard to invert; Lambertian is easier.</a:t>
            </a:r>
          </a:p>
          <a:p>
            <a:pPr marL="0" indent="0">
              <a:spcBef>
                <a:spcPts val="36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C. M. Goral, K. E. Torrance, D. P. Greenberg and B. Battaile, “Modeling the interaction of light between diffuse surfaces,” SIGGRAPH,</a:t>
            </a:r>
            <a:b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</a:b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Computer Graphics, 18(3):213–222, 1984.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Geometry and Vision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39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Rendering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Rasterization projects triangles; ray tracing casts rays</a:t>
            </a:r>
          </a:p>
        </p:txBody>
      </p:sp>
      <p:sp>
        <p:nvSpPr>
          <p:cNvPr id="6" name="panel 6"/>
          <p:cNvSpPr/>
          <p:nvPr/>
        </p:nvSpPr>
        <p:spPr>
          <a:xfrm>
            <a:off x="640080" y="1225296"/>
            <a:ext cx="10911535" cy="1229624"/>
          </a:xfrm>
          <a:prstGeom prst="roundRect">
            <a:avLst>
              <a:gd name="adj" fmla="val 5500"/>
            </a:avLst>
          </a:prstGeom>
          <a:solidFill>
            <a:srgbClr val="F2F4F9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e_ray.png" descr="e_r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9261" y="1389888"/>
            <a:ext cx="6973173" cy="900440"/>
          </a:xfrm>
          <a:prstGeom prst="rect">
            <a:avLst/>
          </a:prstGeom>
        </p:spPr>
      </p:pic>
      <p:pic>
        <p:nvPicPr>
          <p:cNvPr id="8" name="f_rays.png" descr="f_ray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0192" y="2564648"/>
            <a:ext cx="8211312" cy="2103120"/>
          </a:xfrm>
          <a:prstGeom prst="rect">
            <a:avLst/>
          </a:prstGeom>
        </p:spPr>
      </p:pic>
      <p:sp>
        <p:nvSpPr>
          <p:cNvPr id="9" name="body 9"/>
          <p:cNvSpPr txBox="1"/>
          <p:nvPr/>
        </p:nvSpPr>
        <p:spPr>
          <a:xfrm>
            <a:off x="640080" y="4832360"/>
            <a:ext cx="11247120" cy="1472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Rasterization determines the visible triangle at each image pixel; vertex properties are interpolated.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Ray tracing casts a viewing ray through each pixel and traces the primitives that the ray meets.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o: camera location; R: its rotation; (p_x, p_y): principal point; (u, v): a pixel; f: focal length.</a:t>
            </a:r>
          </a:p>
          <a:p>
            <a:pPr marL="0" indent="0">
              <a:spcBef>
                <a:spcPts val="36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Picture: www.scratchapixel.com.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Geometry and Vision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40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Rendering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Phong shading adds ambient, diffuse and specular terms</a:t>
            </a:r>
          </a:p>
        </p:txBody>
      </p:sp>
      <p:sp>
        <p:nvSpPr>
          <p:cNvPr id="6" name="panel 6"/>
          <p:cNvSpPr/>
          <p:nvPr/>
        </p:nvSpPr>
        <p:spPr>
          <a:xfrm>
            <a:off x="640080" y="1225296"/>
            <a:ext cx="10911535" cy="1055325"/>
          </a:xfrm>
          <a:prstGeom prst="roundRect">
            <a:avLst>
              <a:gd name="adj" fmla="val 5500"/>
            </a:avLst>
          </a:prstGeom>
          <a:solidFill>
            <a:srgbClr val="F2F4F9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e_phong.png" descr="e_pho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5752" y="1389888"/>
            <a:ext cx="7680192" cy="726141"/>
          </a:xfrm>
          <a:prstGeom prst="rect">
            <a:avLst/>
          </a:prstGeom>
        </p:spPr>
      </p:pic>
      <p:pic>
        <p:nvPicPr>
          <p:cNvPr id="8" name="f_phong.png" descr="f_pho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712" y="2390349"/>
            <a:ext cx="10880271" cy="1970314"/>
          </a:xfrm>
          <a:prstGeom prst="rect">
            <a:avLst/>
          </a:prstGeom>
        </p:spPr>
      </p:pic>
      <p:sp>
        <p:nvSpPr>
          <p:cNvPr id="9" name="body 9"/>
          <p:cNvSpPr txBox="1"/>
          <p:nvPr/>
        </p:nvSpPr>
        <p:spPr>
          <a:xfrm>
            <a:off x="640080" y="4525255"/>
            <a:ext cx="11247120" cy="1472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I_p: intensity at p; L̂_m: to light m; N̂: normal; R̂_m: reflected ray; V̂: to the viewer; α: shininess.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k_a, k_d, k_s: ambient, diffuse and specular reflection constants; i_a, i_m,d, i_m,s: the light intensities.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Rasterize the mesh, find the normal at each surface point, then light it: ambient + diffuse + specular.</a:t>
            </a:r>
          </a:p>
          <a:p>
            <a:pPr marL="0" indent="0">
              <a:spcBef>
                <a:spcPts val="36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B. T. Phong, “Illumination for computer generated pictures,” Communications of the ACM, 18(6):311–317, 1975.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Geometry and Vision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41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Rendering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Differentiable rendering relates pixels back to 3D properties</a:t>
            </a:r>
          </a:p>
        </p:txBody>
      </p:sp>
      <p:sp>
        <p:nvSpPr>
          <p:cNvPr id="6" name="panel 6"/>
          <p:cNvSpPr/>
          <p:nvPr/>
        </p:nvSpPr>
        <p:spPr>
          <a:xfrm>
            <a:off x="640080" y="1225296"/>
            <a:ext cx="10911535" cy="612449"/>
          </a:xfrm>
          <a:prstGeom prst="roundRect">
            <a:avLst>
              <a:gd name="adj" fmla="val 5500"/>
            </a:avLst>
          </a:prstGeom>
          <a:solidFill>
            <a:srgbClr val="F2F4F9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e_dr.png" descr="e_d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7277" y="1389888"/>
            <a:ext cx="4957141" cy="283265"/>
          </a:xfrm>
          <a:prstGeom prst="rect">
            <a:avLst/>
          </a:prstGeom>
        </p:spPr>
      </p:pic>
      <p:pic>
        <p:nvPicPr>
          <p:cNvPr id="8" name="f_diffrender.png" descr="f_diffren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712" y="1947473"/>
            <a:ext cx="10880271" cy="1915886"/>
          </a:xfrm>
          <a:prstGeom prst="rect">
            <a:avLst/>
          </a:prstGeom>
        </p:spPr>
      </p:pic>
      <p:sp>
        <p:nvSpPr>
          <p:cNvPr id="9" name="body 9"/>
          <p:cNvSpPr txBox="1"/>
          <p:nvPr/>
        </p:nvSpPr>
        <p:spPr>
          <a:xfrm>
            <a:off x="640080" y="4027951"/>
            <a:ext cx="11247120" cy="22494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R(·) is a differentiable function: render, compare with the real image, follow the gradient of the loss.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Hard coverage has no useful gradient: the soft rasterizer softens edges and blends triangles by depth.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Classic models (Lambertian, Phong, BRDF) suit single objects; their parameters are set by hand.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For scenes, complex lighting is probably best dealt with by learning methods.</a:t>
            </a:r>
          </a:p>
          <a:p>
            <a:pPr marL="0" indent="0">
              <a:spcBef>
                <a:spcPts val="36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N. Ravi, J. Reizenstein, D. Novotny, T. Gordon, W.-Y. Lo, J. Johnson and G. Gkioxari, “Accelerating 3D deep learning with PyTorch3D,”</a:t>
            </a:r>
            <a:b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</a:b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arXiv:2007.08501, 2020.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S. Liu, T. Li, W. Chen and H. Li, “Soft rasterizer: a differentiable renderer for image-based 3D reasoning,” ICCV, 7708–7717, 2019.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Geometry and Vision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42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Rendering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Summary</a:t>
            </a:r>
          </a:p>
        </p:txBody>
      </p:sp>
      <p:sp>
        <p:nvSpPr>
          <p:cNvPr id="6" name="summary 6"/>
          <p:cNvSpPr txBox="1"/>
          <p:nvPr/>
        </p:nvSpPr>
        <p:spPr>
          <a:xfrm>
            <a:off x="640080" y="1481328"/>
            <a:ext cx="1124712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>
              <a:buNone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Smooth surfaces reflect specularly and rough ones diffusely; the BRDF describes both.</a:t>
            </a:r>
          </a:p>
          <a:p>
            <a:pPr marL="0" indent="0">
              <a:buNone/>
            </a:pPr>
            <a:endParaRPr sz="1900"/>
          </a:p>
          <a:p>
            <a:pPr marL="0" indent="0">
              <a:buNone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Lambertian model: I(x) = a(x) n(x) · s, linear in the light and independent of the viewpoint.</a:t>
            </a:r>
          </a:p>
          <a:p>
            <a:pPr marL="0" indent="0">
              <a:buNone/>
            </a:pPr>
            <a:endParaRPr sz="1900"/>
          </a:p>
          <a:p>
            <a:pPr marL="0" indent="0">
              <a:buNone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Attached and cast shadows break the linearity; a convex shape and a concave one can look alike.</a:t>
            </a:r>
          </a:p>
          <a:p>
            <a:pPr marL="0" indent="0">
              <a:buNone/>
            </a:pPr>
            <a:endParaRPr sz="1900"/>
          </a:p>
          <a:p>
            <a:pPr marL="0" indent="0">
              <a:buNone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Photometric stereo: images under several lights have rank three; the SVD finds shape and lights.</a:t>
            </a:r>
          </a:p>
          <a:p>
            <a:pPr marL="0" indent="0">
              <a:buNone/>
            </a:pPr>
            <a:endParaRPr sz="1900"/>
          </a:p>
          <a:p>
            <a:pPr marL="0" indent="0">
              <a:buNone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Shape and lights are found up to a 3 × 3 matrix; integrability leaves the generalized bas-relief ambiguity.</a:t>
            </a:r>
          </a:p>
          <a:p>
            <a:pPr marL="0" indent="0">
              <a:buNone/>
            </a:pPr>
            <a:endParaRPr sz="1900"/>
          </a:p>
          <a:p>
            <a:pPr marL="0" indent="0">
              <a:buNone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Shape from shading (known light, constant albedo) solves an eikonal equation by fast marching.</a:t>
            </a:r>
          </a:p>
          <a:p>
            <a:pPr marL="0" indent="0">
              <a:buNone/>
            </a:pPr>
            <a:endParaRPr sz="1900"/>
          </a:p>
          <a:p>
            <a:pPr marL="0" indent="0">
              <a:buNone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Lambertian reflectance smooths the lighting; nine harmonics capture at least 97.96 % of the reflectance.</a:t>
            </a:r>
          </a:p>
          <a:p>
            <a:pPr marL="0" indent="0">
              <a:buNone/>
            </a:pPr>
            <a:endParaRPr sz="1900"/>
          </a:p>
          <a:p>
            <a:pPr marL="0" indent="0">
              <a:buNone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Rendering rasterizes or ray traces a mesh and shades it; differentiable rendering fits it by gradients.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809</TotalTime>
  <Words>3779</Words>
  <Application>Microsoft Macintosh PowerPoint</Application>
  <PresentationFormat>Widescreen</PresentationFormat>
  <Paragraphs>330</Paragraphs>
  <Slides>42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7" baseType="lpstr">
      <vt:lpstr>Aptos</vt:lpstr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Lambertian Models of Reflectance and Rendering</dc:title>
  <dc:subject/>
  <dc:creator>Alan Yuille</dc:creator>
  <cp:keywords/>
  <dc:description/>
  <cp:lastModifiedBy>Jeremy Chen</cp:lastModifiedBy>
  <cp:revision>1</cp:revision>
  <dcterms:created xsi:type="dcterms:W3CDTF">2013-01-27T09:14:16Z</dcterms:created>
  <dcterms:modified xsi:type="dcterms:W3CDTF">2026-10-25T12:00:00Z</dcterms:modified>
  <cp:category/>
</cp:coreProperties>
</file>