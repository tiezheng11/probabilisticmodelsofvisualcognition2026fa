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6"/>
    <p:sldId id="294" r:id="rId5"/>
    <p:sldId id="295" r:id="rId4"/>
    <p:sldId id="296" r:id="rId3"/>
    <p:sldId id="297" r:id="rId2"/>
    <p:sldId id="298" r:id="rId49"/>
    <p:sldId id="299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532"/>
  </p:normalViewPr>
  <p:slideViewPr>
    <p:cSldViewPr snapToGrid="0" snapToObjects="1">
      <p:cViewPr varScale="1">
        <p:scale>
          <a:sx n="111" d="100"/>
          <a:sy n="111" d="100"/>
        </p:scale>
        <p:origin x="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2.xml"/><Relationship Id="rId3" Type="http://schemas.openxmlformats.org/officeDocument/2006/relationships/slide" Target="slides/slide41.xml"/><Relationship Id="rId4" Type="http://schemas.openxmlformats.org/officeDocument/2006/relationships/slide" Target="slides/slide40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9CEB0-AA0B-D145-B4E6-35C9BFEBB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D186F-95C8-254C-BBCD-188220FF3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1 2"/>
          <p:cNvSpPr/>
          <p:nvPr/>
        </p:nvSpPr>
        <p:spPr>
          <a:xfrm>
            <a:off x="-1554480" y="-2103120"/>
            <a:ext cx="6766560" cy="676656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2 3"/>
          <p:cNvSpPr/>
          <p:nvPr/>
        </p:nvSpPr>
        <p:spPr>
          <a:xfrm>
            <a:off x="8778240" y="3931920"/>
            <a:ext cx="4754880" cy="475488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title 4"/>
          <p:cNvSpPr txBox="1"/>
          <p:nvPr/>
        </p:nvSpPr>
        <p:spPr>
          <a:xfrm>
            <a:off x="1051560" y="411480"/>
            <a:ext cx="10515600" cy="34747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Transformers for Vision: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from Self-Attention to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k-means Cross-Attention</a:t>
            </a:r>
          </a:p>
        </p:txBody>
      </p:sp>
      <p:sp>
        <p:nvSpPr>
          <p:cNvPr id="5" name="tdate 5"/>
          <p:cNvSpPr txBox="1"/>
          <p:nvPr/>
        </p:nvSpPr>
        <p:spPr>
          <a:xfrm>
            <a:off x="1097280" y="4160520"/>
            <a:ext cx="10058400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15 October, 2026</a:t>
            </a:r>
          </a:p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Alan Yuille   ·   Probabilistic Models of the Visual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this lecture covers</a:t>
            </a:r>
          </a:p>
        </p:txBody>
      </p:sp>
      <p:sp>
        <p:nvSpPr>
          <p:cNvPr id="5" name="card 5"/>
          <p:cNvSpPr/>
          <p:nvPr/>
        </p:nvSpPr>
        <p:spPr>
          <a:xfrm>
            <a:off x="640080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oval 6"/>
          <p:cNvSpPr/>
          <p:nvPr/>
        </p:nvSpPr>
        <p:spPr>
          <a:xfrm>
            <a:off x="896112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num 7"/>
          <p:cNvSpPr txBox="1"/>
          <p:nvPr/>
        </p:nvSpPr>
        <p:spPr>
          <a:xfrm>
            <a:off x="896112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8" name="cardtitle 8"/>
          <p:cNvSpPr txBox="1"/>
          <p:nvPr/>
        </p:nvSpPr>
        <p:spPr>
          <a:xfrm>
            <a:off x="1572768" y="1714500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Self-attention</a:t>
            </a:r>
          </a:p>
        </p:txBody>
      </p:sp>
      <p:sp>
        <p:nvSpPr>
          <p:cNvPr id="9" name="cardsub 9"/>
          <p:cNvSpPr txBox="1"/>
          <p:nvPr/>
        </p:nvSpPr>
        <p:spPr>
          <a:xfrm>
            <a:off x="1572768" y="21122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Queries, keys, values; the transformer block</a:t>
            </a:r>
          </a:p>
        </p:txBody>
      </p:sp>
      <p:sp>
        <p:nvSpPr>
          <p:cNvPr id="10" name="card 10"/>
          <p:cNvSpPr/>
          <p:nvPr/>
        </p:nvSpPr>
        <p:spPr>
          <a:xfrm>
            <a:off x="6236208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oval 11"/>
          <p:cNvSpPr/>
          <p:nvPr/>
        </p:nvSpPr>
        <p:spPr>
          <a:xfrm>
            <a:off x="6492240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num 12"/>
          <p:cNvSpPr txBox="1"/>
          <p:nvPr/>
        </p:nvSpPr>
        <p:spPr>
          <a:xfrm>
            <a:off x="6492240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cardtitle 13"/>
          <p:cNvSpPr txBox="1"/>
          <p:nvPr/>
        </p:nvSpPr>
        <p:spPr>
          <a:xfrm>
            <a:off x="7168896" y="1714500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Cross-attention and ViT</a:t>
            </a:r>
          </a:p>
        </p:txBody>
      </p:sp>
      <p:sp>
        <p:nvSpPr>
          <p:cNvPr id="14" name="cardsub 14"/>
          <p:cNvSpPr txBox="1"/>
          <p:nvPr/>
        </p:nvSpPr>
        <p:spPr>
          <a:xfrm>
            <a:off x="7168896" y="21122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Latent queries, correspondence, patches</a:t>
            </a:r>
          </a:p>
        </p:txBody>
      </p:sp>
      <p:sp>
        <p:nvSpPr>
          <p:cNvPr id="15" name="card 15"/>
          <p:cNvSpPr/>
          <p:nvPr/>
        </p:nvSpPr>
        <p:spPr>
          <a:xfrm>
            <a:off x="640080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oval 16"/>
          <p:cNvSpPr/>
          <p:nvPr/>
        </p:nvSpPr>
        <p:spPr>
          <a:xfrm>
            <a:off x="896112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num 17"/>
          <p:cNvSpPr txBox="1"/>
          <p:nvPr/>
        </p:nvSpPr>
        <p:spPr>
          <a:xfrm>
            <a:off x="896112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cardtitle 18"/>
          <p:cNvSpPr txBox="1"/>
          <p:nvPr/>
        </p:nvSpPr>
        <p:spPr>
          <a:xfrm>
            <a:off x="1572768" y="2912364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Axial attention</a:t>
            </a:r>
          </a:p>
        </p:txBody>
      </p:sp>
      <p:sp>
        <p:nvSpPr>
          <p:cNvPr id="19" name="cardsub 19"/>
          <p:cNvSpPr txBox="1"/>
          <p:nvPr/>
        </p:nvSpPr>
        <p:spPr>
          <a:xfrm>
            <a:off x="1572768" y="33101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Axial-DeepLab: long range, position</a:t>
            </a:r>
          </a:p>
        </p:txBody>
      </p:sp>
      <p:sp>
        <p:nvSpPr>
          <p:cNvPr id="20" name="card 20"/>
          <p:cNvSpPr/>
          <p:nvPr/>
        </p:nvSpPr>
        <p:spPr>
          <a:xfrm>
            <a:off x="6236208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rdoval 21"/>
          <p:cNvSpPr/>
          <p:nvPr/>
        </p:nvSpPr>
        <p:spPr>
          <a:xfrm>
            <a:off x="6492240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dnum 22"/>
          <p:cNvSpPr txBox="1"/>
          <p:nvPr/>
        </p:nvSpPr>
        <p:spPr>
          <a:xfrm>
            <a:off x="6492240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3" name="cardtitle 23"/>
          <p:cNvSpPr txBox="1"/>
          <p:nvPr/>
        </p:nvSpPr>
        <p:spPr>
          <a:xfrm>
            <a:off x="7168896" y="2912364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Mask transformers</a:t>
            </a:r>
          </a:p>
        </p:txBody>
      </p:sp>
      <p:sp>
        <p:nvSpPr>
          <p:cNvPr id="24" name="cardsub 24"/>
          <p:cNvSpPr txBox="1"/>
          <p:nvPr/>
        </p:nvSpPr>
        <p:spPr>
          <a:xfrm>
            <a:off x="7168896" y="33101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MaX-DeepLab: masks end to end</a:t>
            </a:r>
          </a:p>
        </p:txBody>
      </p:sp>
      <p:sp>
        <p:nvSpPr>
          <p:cNvPr id="25" name="card 25"/>
          <p:cNvSpPr/>
          <p:nvPr/>
        </p:nvSpPr>
        <p:spPr>
          <a:xfrm>
            <a:off x="640080" y="3877056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ardoval 26"/>
          <p:cNvSpPr/>
          <p:nvPr/>
        </p:nvSpPr>
        <p:spPr>
          <a:xfrm>
            <a:off x="896112" y="4160520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rdnum 27"/>
          <p:cNvSpPr txBox="1"/>
          <p:nvPr/>
        </p:nvSpPr>
        <p:spPr>
          <a:xfrm>
            <a:off x="896112" y="4242816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8" name="cardtitle 28"/>
          <p:cNvSpPr txBox="1"/>
          <p:nvPr/>
        </p:nvSpPr>
        <p:spPr>
          <a:xfrm>
            <a:off x="1572768" y="4110228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Cross-attention as clustering</a:t>
            </a:r>
          </a:p>
        </p:txBody>
      </p:sp>
      <p:sp>
        <p:nvSpPr>
          <p:cNvPr id="29" name="cardsub 29"/>
          <p:cNvSpPr txBox="1"/>
          <p:nvPr/>
        </p:nvSpPr>
        <p:spPr>
          <a:xfrm>
            <a:off x="1572768" y="4507992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CMT-DeepLab: pixels choose clusters</a:t>
            </a:r>
          </a:p>
        </p:txBody>
      </p:sp>
      <p:sp>
        <p:nvSpPr>
          <p:cNvPr id="30" name="card 30"/>
          <p:cNvSpPr/>
          <p:nvPr/>
        </p:nvSpPr>
        <p:spPr>
          <a:xfrm>
            <a:off x="6236208" y="3877056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ardoval 31"/>
          <p:cNvSpPr/>
          <p:nvPr/>
        </p:nvSpPr>
        <p:spPr>
          <a:xfrm>
            <a:off x="6492240" y="4160520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ardnum 32"/>
          <p:cNvSpPr txBox="1"/>
          <p:nvPr/>
        </p:nvSpPr>
        <p:spPr>
          <a:xfrm>
            <a:off x="6492240" y="4242816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3" name="cardtitle 33"/>
          <p:cNvSpPr txBox="1"/>
          <p:nvPr/>
        </p:nvSpPr>
        <p:spPr>
          <a:xfrm>
            <a:off x="7168896" y="4110228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k-means cross-attention</a:t>
            </a:r>
          </a:p>
        </p:txBody>
      </p:sp>
      <p:sp>
        <p:nvSpPr>
          <p:cNvPr id="34" name="cardsub 34"/>
          <p:cNvSpPr txBox="1"/>
          <p:nvPr/>
        </p:nvSpPr>
        <p:spPr>
          <a:xfrm>
            <a:off x="7168896" y="4507992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kMaX-DeepLab: normalize over clusters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Self-attention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Each output is an average of values, weighted by query-key affinities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that are normalized over the keys; positions must be added.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Self-attention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Transformers were developed for text and adapted to vision</a:t>
            </a:r>
          </a:p>
        </p:txBody>
      </p:sp>
      <p:pic>
        <p:nvPicPr>
          <p:cNvPr id="6" name="f_context.png" descr="f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269392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083809"/>
            <a:ext cx="11247120" cy="2029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Transformers are the default architecture of large language models (LLMs), and of vision and speech.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language the meaning of a word depends on its context, which is adaptive and can be very long range.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success of LLMs is largely due to transformers modeling long-range and adaptive context.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vision the context is more local and less adaptive; CNNs (fixed receptive fields) capture it fairly well.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Transformers for vision are still work in progress: aspects suited to language are often copied blindly.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Self-attention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Attention computes a weighted average of feature vectors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04399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avg.png" descr="e_a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865" y="1389888"/>
            <a:ext cx="9273965" cy="714810"/>
          </a:xfrm>
          <a:prstGeom prst="rect">
            <a:avLst/>
          </a:prstGeom>
        </p:spPr>
      </p:pic>
      <p:pic>
        <p:nvPicPr>
          <p:cNvPr id="8" name="f_attnmap.png" descr="f_attn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00" y="2379018"/>
            <a:ext cx="10907095" cy="1697389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240999"/>
            <a:ext cx="11247120" cy="2029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y_o: the output at position o; x_p: the input feature at position p (patch, CNN feature, block output).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Convolution: the weight W_{p−o} depends only on the relative position p − o and is fixed after learning.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Self-attention: the weight depends on the inputs themselves and is normalized to sum to 1 over p.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Key property: the weights are highest between inputs which are similar.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Image: x_p = mean color of a 15 × 15 patch; cyan: the position o; bright: a large weight.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Self-attention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Self-attention with query, key and value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48094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qkv.png" descr="e_qk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32" y="1389888"/>
            <a:ext cx="4419231" cy="307752"/>
          </a:xfrm>
          <a:prstGeom prst="rect">
            <a:avLst/>
          </a:prstGeom>
        </p:spPr>
      </p:pic>
      <p:pic>
        <p:nvPicPr>
          <p:cNvPr id="8" name="e_sa.png" descr="e_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110" y="1825656"/>
            <a:ext cx="8613475" cy="715992"/>
          </a:xfrm>
          <a:prstGeom prst="rect">
            <a:avLst/>
          </a:prstGeom>
        </p:spPr>
      </p:pic>
      <p:pic>
        <p:nvPicPr>
          <p:cNvPr id="9" name="f_qkv.png" descr="f_qk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8" y="2815969"/>
            <a:ext cx="10058400" cy="2157176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5137736"/>
            <a:ext cx="1124712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layer learns matrices W^Q, W^K, W^V for queries, keys and values (terms from language).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dot product of q_o and k_p is the affinity of o and p; with W^Q, W^K identities, that of x_o and x_p.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features at o are updated so that they become more similar to those at the positions of high affinity.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Self-attention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Scaled dot-product attention is quadratic in the tokens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07046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scaled.png" descr="e_sca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49" y="1389888"/>
            <a:ext cx="8846598" cy="741285"/>
          </a:xfrm>
          <a:prstGeom prst="rect">
            <a:avLst/>
          </a:prstGeom>
        </p:spPr>
      </p:pic>
      <p:pic>
        <p:nvPicPr>
          <p:cNvPr id="8" name="f_amatrix.png" descr="f_a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473" y="2405493"/>
            <a:ext cx="9688749" cy="1809345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379430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Token: one input vector x_p, a word or an image patch; d: its dimension.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Dividing by √d stops the dot products of d-dimensional vectors growing with d and saturating softmax.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Every query meets every key: n tokens need n² affinities, O(n² d) operations, too many for images.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row of weights (one query o) sums to 1; here x_p = mean color of a patch, W^Q = W^K = identity.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Vaswani, N. Shazeer, N. Parmar, J. Uszkoreit, L. Jones, A. N. Gomez, Ł. Kaiser and I. Polosukhin, “Attention is all you need,” NIPS, 5998–6008, 2017.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Self-attention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transformer is a sequence of transformer blocks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937188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block.png" descr="e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594" y="1389888"/>
            <a:ext cx="9560507" cy="608004"/>
          </a:xfrm>
          <a:prstGeom prst="rect">
            <a:avLst/>
          </a:prstGeom>
        </p:spPr>
      </p:pic>
      <p:pic>
        <p:nvPicPr>
          <p:cNvPr id="8" name="f_block.png" descr="f_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92" y="2272212"/>
            <a:ext cx="10741511" cy="1737360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174164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Multi-head attention: h attentions in parallel on different projections, concatenated and projected again.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Add &amp; norm: a residual connection, then layer normalization (each vector to zero mean, unit variance).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Feedforward f: an MLP (multi-layer perceptron) with weights θ, the same at every position (1 × 1 conv).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Attention is the only interaction between positions; Vaswani et al.: 6 + 6 blocks, 8 heads, 512 dims.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Vaswani, N. Shazeer, N. Parmar, J. Uszkoreit, L. Jones, A. N. Gomez, Ł. Kaiser and I. Polosukhin, “Attention is all you need,” NIPS, 5998–6008, 2017.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L. Ba, J. R. Kiros and G. E. Hinton, “Layer normalization,” arXiv:1607.06450, 2016.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Self-attention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Positional encoding gives each feature its position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94006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pos.png" descr="e_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357" y="1389888"/>
            <a:ext cx="7660982" cy="610881"/>
          </a:xfrm>
          <a:prstGeom prst="rect">
            <a:avLst/>
          </a:prstGeom>
        </p:spPr>
      </p:pic>
      <p:pic>
        <p:nvPicPr>
          <p:cNvPr id="8" name="f_perm.png" descr="f_pe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00" y="2275089"/>
            <a:ext cx="10907095" cy="2190180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629860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Attention ignores the order of its inputs: permuting the patches permutes the outputs in the same way.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language order is crucial: “The cat sat on the mat” differs from “The mat sat on the cat”.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Appending p is simplest; e_p: a learned or sinusoidal code; relative position matters more than absolute.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inputs need not lie on a regular lattice; some positions may be missing (masked image modeling).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Cross-attention and ViT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Queries from one set attend to keys and values from another;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vision transformer (ViT) treats image patches as words.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Cross-attention and ViT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encoder uses self-attention, the decoder cross-attention</a:t>
            </a:r>
          </a:p>
        </p:txBody>
      </p:sp>
      <p:pic>
        <p:nvPicPr>
          <p:cNvPr id="6" name="f_encdec.png" descr="f_encd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2967693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357581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application was translation between languages: the encoder converts the input text into features.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decoder converts the features into text word by word; masked: it sees only the words so far.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Cross-attention specifies the correspondence between the words of the input and of the output.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vision: encoders extract pixel-level features; decoders convert them to object-level representations.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Vaswani, N. Shazeer, N. Parmar, J. Uszkoreit, L. Jones, A. N. Gomez, Ł. Kaiser and I. Polosukhin, “Attention is all you need,” NIPS, 5998–6008, 2017.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Cross-attention and ViT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Cross-attention: queries from one set, keys from another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947182"/>
            <a:ext cx="5608015" cy="150059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cross_qkv.png" descr="e_cross_qk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407" y="2111774"/>
            <a:ext cx="4387362" cy="307731"/>
          </a:xfrm>
          <a:prstGeom prst="rect">
            <a:avLst/>
          </a:prstGeom>
        </p:spPr>
      </p:pic>
      <p:pic>
        <p:nvPicPr>
          <p:cNvPr id="8" name="e_cross.png" descr="e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00" y="2547521"/>
            <a:ext cx="5170375" cy="735665"/>
          </a:xfrm>
          <a:prstGeom prst="rect">
            <a:avLst/>
          </a:prstGeom>
        </p:spPr>
      </p:pic>
      <p:pic>
        <p:nvPicPr>
          <p:cNvPr id="9" name="f_stereo.png" descr="f_ster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695" y="1225296"/>
            <a:ext cx="5074920" cy="2944368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334256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Queries come from one set, keys and values from another: here N latent variables c_g query x_p.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Orange: the weights sum to 1 over the inputs p; each latent variable looks for its match.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Stereo (context-enhanced stereo transformer, CSTR): a left-image pixel o queries the right image's row.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Cross-attention introduces latent variables that can be used as output, for example objects.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W. Guo, Z. Li, Y. Yang, Z. Wang, R. H. Taylor, M. Unberath, A. Yuille and Y. Li, “Context-enhanced stereo transformer,” ECCV, 2022.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Cross-attention and ViT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ViT: the pioneer of transformer architectures for vision</a:t>
            </a:r>
          </a:p>
        </p:txBody>
      </p:sp>
      <p:pic>
        <p:nvPicPr>
          <p:cNvPr id="6" name="f_vit.png" descr="f_v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2770577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60465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Divide the image into 16 × 16-pixel patches (196 for a 224-pixel image), treated as words in language.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 encoder only (self-attention): position embeddings, a learned class token, 12 blocks (ViT-Base).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Trained on ImageNet alone ViTs trail ResNets; pre-trained on JFT-300M (303M images), large ViTs win.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Strength: long range, scalability; weakness: quadratic cost, no locality, coarse 16 × 16 patches.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Dosovitskiy, L. Beyer, A. Kolesnikov, D. Weissenborn, X. Zhai, T. Unterthiner et al., “An image is worth 16x16 words: transformers for image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recognition at scale,” ICLR, 2021.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Cross-attention and ViT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Visual signals differ from text: scale, locality, position</a:t>
            </a:r>
          </a:p>
        </p:txBody>
      </p:sp>
      <p:pic>
        <p:nvPicPr>
          <p:cNvPr id="6" name="f_signals.png" descr="f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184522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235114"/>
            <a:ext cx="11247120" cy="2944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Multi-scale: a cat can appear at any size; a word cannot (“I am a fat fat cat cat” is invalid).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Locality: neighboring pixels are similar (grass); a sentence has no spatial smoothness.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Translation invariance: a cat is a cat anywhere; text is sensitive to absolute word positions.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Swin (shifted windows): attention in 7 × 7-patch windows, shifted between blocks, at 1/4 to 1/32 scale.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Hybrid models (MOAT, TransUNet, ViTamin) add convolutions: locality, translation invariance, hierarchy.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Example adapted from Ross Girshick and Ze Liu.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Z. Liu, Y. Lin, Y. Cao, H. Hu, Y. Wei, Z. Zhang, S. Lin and B. Guo, “Swin transformer: hierarchical vision transformer using shifted windows,”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ICCV, 10012–10022, 2021.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Yang, S. Qiao, Q. Yu, X. Yuan, Y. Zhu, A. Yuille, H. Adam and L.-C. Chen, “MOAT: alternating mobile convolution and attention brings strong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vision models,” ICLR, 2023.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Axial attention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Attention along the height axis, then the width axis, reaches the whole image;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three positional terms make it position-sensitive.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Axial 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Panoptic segmentation gives every pixel a class and instance</a:t>
            </a:r>
          </a:p>
        </p:txBody>
      </p:sp>
      <p:pic>
        <p:nvPicPr>
          <p:cNvPr id="6" name="f_panoptic.png" descr="f_panop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1916407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306295"/>
            <a:ext cx="1124712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Semantic segmentation gives each pixel a class; instance segmentation separates the objects (things).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Panoptic: every pixel gets a class, and a pixel of a thing (car, person) an instance; stuff (road, sky) not.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Panoptic quality (PQ) scores recognition and segmentation together; datasets: COCO, Cityscapes.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Four DeepLab papers by Huiyu Wang, Qihang Yu et al.: Axial, MaX (mask), CMT (clustering mask), kMaX.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Kirillov, K. He, R. Girshick, C. Rother and P. Dollár, “Panoptic segmentation,” CVPR, 9404–9413, 2019.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M. Cordts, M. Omran, S. Ramos, T. Rehfeld, M. Enzweiler, R. Benenson, U. Franke, S. Roth and B. Schiele, “The Cityscapes dataset for semantic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urban scene understanding,” CVPR, 3213–3223, 2016.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Axial 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Self-attention can be global or restricted to a local square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5928055" cy="245735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conv.png" descr="e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521" y="1389888"/>
            <a:ext cx="3887173" cy="630352"/>
          </a:xfrm>
          <a:prstGeom prst="rect">
            <a:avLst/>
          </a:prstGeom>
        </p:spPr>
      </p:pic>
      <p:pic>
        <p:nvPicPr>
          <p:cNvPr id="8" name="e_global.png" descr="e_glob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67" y="2148256"/>
            <a:ext cx="5267682" cy="611357"/>
          </a:xfrm>
          <a:prstGeom prst="rect">
            <a:avLst/>
          </a:prstGeom>
        </p:spPr>
      </p:pic>
      <p:pic>
        <p:nvPicPr>
          <p:cNvPr id="9" name="e_local.png" descr="e_lo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76" y="2887629"/>
            <a:ext cx="5676663" cy="630425"/>
          </a:xfrm>
          <a:prstGeom prst="rect">
            <a:avLst/>
          </a:prstGeom>
        </p:spPr>
      </p:pic>
      <p:pic>
        <p:nvPicPr>
          <p:cNvPr id="10" name="t_methods.png" descr="t_metho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735" y="1567003"/>
            <a:ext cx="4754880" cy="1773936"/>
          </a:xfrm>
          <a:prstGeom prst="rect">
            <a:avLst/>
          </a:prstGeom>
        </p:spPr>
      </p:pic>
      <p:sp>
        <p:nvSpPr>
          <p:cNvPr id="11" name="body 11"/>
          <p:cNvSpPr txBox="1"/>
          <p:nvPr/>
        </p:nvSpPr>
        <p:spPr>
          <a:xfrm>
            <a:off x="640080" y="3847238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Stand-alone: the layer alone can build the network, as convolution does (1 × 1 layers aside).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Convolution: a local m × m square around o; the weights W_{p−o} depend only on the relative position.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Global (non-local) self-attention: the whole image, long range but O(H²W²) for an H × W feature map.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Local self-attention: an m × m square, O(HWm²); it replaces convolution, but is not long range.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X. Wang, R. Girshick, A. Gupta and K. He, “Non-local neural networks,” CVPR, 7794–7803, 2018.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P. Ramachandran, N. Parmar, A. Vaswani, I. Bello, A. Levskaya and J. Shlens, “Stand-alone self-attention in vision models,” NeurIPS, 68–80, 2019.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Axial 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Axial attention factorizes 2D attention into height and width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95910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axial.png" descr="e_ax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442" y="1389888"/>
            <a:ext cx="5802811" cy="629920"/>
          </a:xfrm>
          <a:prstGeom prst="rect">
            <a:avLst/>
          </a:prstGeom>
        </p:spPr>
      </p:pic>
      <p:pic>
        <p:nvPicPr>
          <p:cNvPr id="8" name="f_axial.png" descr="f_ax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8" y="2294128"/>
            <a:ext cx="10058400" cy="1763125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221845"/>
            <a:ext cx="112471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N_{1×m}(o): a 1 × m segment of the row through o; a height-axis layer does this along the column.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 the span m set to the whole row and column, height then width lets every pixel reach every other.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cost falls to O(HWm): stand-alone and long range.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Ho, N. Kalchbrenner, D. Weissenborn and T. Salimans, “Axial attention in multidimensional transformers,” arXiv:1912.12180, 2019.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Z. Huang, X. Wang, L. Huang, C. Huang, Y. Wei and W. Liu, “CCNet: criss-cross attention for semantic segmentation,” ICCV, 603–612, 2019.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Wang, Y. Zhu, B. Green, H. Adam, A. Yuille and L.-C. Chen, “Axial-DeepLab: stand-alone axial-attention for panoptic segmentation,”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ECCV, LNCS 12349, 108–126, 2020.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Axial 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Position-sensitive attention adds three positional terms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05704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ps.png" descr="e_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392" y="1389888"/>
            <a:ext cx="7296912" cy="727862"/>
          </a:xfrm>
          <a:prstGeom prst="rect">
            <a:avLst/>
          </a:prstGeom>
        </p:spPr>
      </p:pic>
      <p:pic>
        <p:nvPicPr>
          <p:cNvPr id="8" name="t_position.png" descr="t_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024" y="2392070"/>
            <a:ext cx="6327648" cy="1719072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275734"/>
            <a:ext cx="112471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Query bias: q_o times a learned vector r^q for the offset p − o (from stand-alone attention).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Key bias: k_p times a learned vector r^k; the key also says where to attend.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Position retrieval: a learned vector r^v added to v_p, so the output also retrieves relative positions.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P. Shaw, J. Uszkoreit and A. Vaswani, “Self-attention with relative position representations,” NAACL-HLT, 464–468, 2018.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P. Ramachandran, N. Parmar, A. Vaswani, I. Bello, A. Levskaya and J. Shlens, “Stand-alone self-attention in vision models,” NeurIPS, 68–80, 2019.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Wang, Y. Zhu, B. Green, H. Adam, A. Yuille and L.-C. Chen, “Axial-DeepLab: stand-alone axial-attention for panoptic segmentation,”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ECCV, LNCS 12349, 108–126, 2020.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Axial 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axial block replaces the 3 × 3 convolution of a ResNet</a:t>
            </a:r>
          </a:p>
        </p:txBody>
      </p:sp>
      <p:pic>
        <p:nvPicPr>
          <p:cNvPr id="6" name="f_axblock.png" descr="f_ax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20" y="1225296"/>
            <a:ext cx="4892040" cy="2606040"/>
          </a:xfrm>
          <a:prstGeom prst="rect">
            <a:avLst/>
          </a:prstGeom>
        </p:spPr>
      </p:pic>
      <p:pic>
        <p:nvPicPr>
          <p:cNvPr id="7" name="t_imagenet.png" descr="t_image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080" y="1641348"/>
            <a:ext cx="6025896" cy="1773936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3995928"/>
            <a:ext cx="112471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Residual bottleneck: 1 × 1 conv, height-axis then width-axis attention (8 heads each), 1 × 1 conv.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Every block of a ResNet-50 made axial, the stem (first layers) included: half the parameters (params).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ImageNet classification; M-Adds: multiply-adds; top-1: the correct class is the most probable.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K. He, X. Zhang, S. Ren and J. Sun, “Deep residual learning for image recognition,” CVPR, 770–778, 2016.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P. Ramachandran, N. Parmar, A. Vaswani, I. Bello, A. Levskaya and J. Shlens, “Stand-alone self-attention in vision models,” NeurIPS, 68–80, 2019.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Wang, Y. Zhu, B. Green, H. Adam, A. Yuille and L.-C. Chen, “Axial-DeepLab: stand-alone axial-attention for panoptic segmentation,”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ECCV, LNCS 12349, 108–126, 2020.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Axial 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Long-range axial attention helps panoptic segmentation</a:t>
            </a:r>
          </a:p>
        </p:txBody>
      </p:sp>
      <p:pic>
        <p:nvPicPr>
          <p:cNvPr id="6" name="t_cityscapes.png" descr="t_citysc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76" y="1389888"/>
            <a:ext cx="5513832" cy="2267712"/>
          </a:xfrm>
          <a:prstGeom prst="rect">
            <a:avLst/>
          </a:prstGeom>
        </p:spPr>
      </p:pic>
      <p:pic>
        <p:nvPicPr>
          <p:cNvPr id="7" name="t_span.png" descr="t_sp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228" y="1225296"/>
            <a:ext cx="4279392" cy="2596896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3986784"/>
            <a:ext cx="1124712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Cityscapes validation: Axial-DeepLab-S (small) beats ResNet-50 and local attention, with fewer params.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Larger spans m (Axial-ResNet-L) improve PQ and mIoU at every step, at marginal cost.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AP: average precision of instance masks; mIoU: mean intersection over union of semantic classes.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Huiyu Wang's summary: axial attention was tested in the ViT paper and is used in AlphaFold 2.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Wang, Y. Zhu, B. Green, H. Adam, A. Yuille and L.-C. Chen, “Axial-DeepLab: stand-alone axial-attention for panoptic segmentation,”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ECCV, LNCS 12349, 108–126, 2020.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Jumper, R. Evans, A. Pritzel, T. Green, M. Figurnov et al., “Highly accurate protein structure prediction with AlphaFold,” Nature, 596:583–589, 2021.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Mask transformers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N latent vectors become N masks and N classes; Hungarian matching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assigns them to the ground truth, with no boxes or anchors.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Mask transformers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Earlier methods split panoptic segmentation into sub-tasks</a:t>
            </a:r>
          </a:p>
        </p:txBody>
      </p:sp>
      <p:pic>
        <p:nvPicPr>
          <p:cNvPr id="6" name="f_surrogate.png" descr="f_surro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3033399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423287"/>
            <a:ext cx="11247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Panoptic-FPN (feature pyramid network): a tree of surrogate (stand-in) sub-tasks, merged at the end.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Axial-DeepLab's head regresses object centers: it fails when two centers are close (dog and chair).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DetectoRS classifies boxes instead of masks: it drops the chair, whose box (brown) has low confidence.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Kirillov, R. Girshick, K. He and P. Dollár, “Panoptic feature pyramid networks,” CVPR, 6399–6408, 2019.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Wang, Y. Zhu, H. Adam, A. Yuille and L.-C. Chen, “MaX-DeepLab: end-to-end panoptic segmentation with mask transformers,”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5463–5474, 2021.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Mask transformers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MaX-DeepLab predicts N masks and N classes end to end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03611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mask.png" descr="e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357" y="1389888"/>
            <a:ext cx="7660982" cy="706931"/>
          </a:xfrm>
          <a:prstGeom prst="rect">
            <a:avLst/>
          </a:prstGeom>
        </p:spPr>
      </p:pic>
      <p:pic>
        <p:nvPicPr>
          <p:cNvPr id="8" name="f_max.png" descr="f_m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00" y="2371139"/>
            <a:ext cx="10907095" cy="2080671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616402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mask transformer outputs N = 128 masks and their classes directly: no boxes, anchors or centers.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Masks: dot products of x_p with N latent vectors c_g (the memory), normalized over the masks (teal).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pixel takes its most probable mask; the class ∅ (no object) discards the unused masks.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Wang, Y. Zhu, H. Adam, A. Yuille and L.-C. Chen, “MaX-DeepLab: end-to-end panoptic segmentation with mask transformers,”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5463–5474, 2021.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Mask transformers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dual-path transformer couples pixels and memory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691700"/>
            <a:ext cx="6751015" cy="1846967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m2p.png" descr="e_m2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49" y="1856292"/>
            <a:ext cx="6501677" cy="611769"/>
          </a:xfrm>
          <a:prstGeom prst="rect">
            <a:avLst/>
          </a:prstGeom>
        </p:spPr>
      </p:pic>
      <p:pic>
        <p:nvPicPr>
          <p:cNvPr id="8" name="e_p2m.png" descr="e_p2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147" y="2596078"/>
            <a:ext cx="5046882" cy="777998"/>
          </a:xfrm>
          <a:prstGeom prst="rect">
            <a:avLst/>
          </a:prstGeom>
        </p:spPr>
      </p:pic>
      <p:pic>
        <p:nvPicPr>
          <p:cNvPr id="9" name="f_dualpath.png" descr="f_dualpa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695" y="1225296"/>
            <a:ext cx="3931920" cy="2779776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169664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Pixel path: axial attention among pixels; memory path: N vectors c_g that store non-local information.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Memory update: memory queries attend to all pixels and memory slots, with one softmax over both.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Pixel update: each pixel's weights sum to 1 over the N memory slots (teal); this refines the pixel features.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q, k, v carry the index of their source: q_g, k_g, v_g are projections of c_g; q_p, k_p, v_p of x_p.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Wang, Y. Zhu, H. Adam, A. Yuille and L.-C. Chen, “MaX-DeepLab: end-to-end panoptic segmentation with mask transformers,”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5463–5474, 2021.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Mask transformers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Hungarian matching pairs predicted and true masks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618867"/>
            <a:ext cx="5745175" cy="182804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sim.png" descr="e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15" y="1783459"/>
            <a:ext cx="5217305" cy="616567"/>
          </a:xfrm>
          <a:prstGeom prst="rect">
            <a:avLst/>
          </a:prstGeom>
        </p:spPr>
      </p:pic>
      <p:pic>
        <p:nvPicPr>
          <p:cNvPr id="8" name="e_match.png" descr="e_m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755" y="2528042"/>
            <a:ext cx="4213825" cy="754275"/>
          </a:xfrm>
          <a:prstGeom prst="rect">
            <a:avLst/>
          </a:prstGeom>
        </p:spPr>
      </p:pic>
      <p:pic>
        <p:nvPicPr>
          <p:cNvPr id="9" name="f_match.png" descr="f_m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855" y="1225296"/>
            <a:ext cx="4937760" cy="2615184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005072"/>
            <a:ext cx="1124712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Ground truth: K masks m_i with classes ℓ_i; prediction: N &gt; K masks, each with class probabilities.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PQ = recognition quality × segmentation quality; Dice: twice the overlap divided by the total area.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Hungarian algorithm finds the one-to-one matching with the largest total similarity.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loss raises the matched similarities; the unmatched masks are trained to predict ∅ (no object).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Wang, Y. Zhu, H. Adam, A. Yuille and L.-C. Chen, “MaX-DeepLab: end-to-end panoptic segmentation with mask transformers,”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5463–5474, 2021.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W. Kuhn, “The Hungarian method for the assignment problem,” Naval Research Logistics Quarterly, 2(1–2):83–97, 1955.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Mask transformers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MaX-DeepLab outperforms box-based methods on COCO</a:t>
            </a:r>
          </a:p>
        </p:txBody>
      </p:sp>
      <p:pic>
        <p:nvPicPr>
          <p:cNvPr id="6" name="t_max_coco.png" descr="t_max_c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696" y="1225296"/>
            <a:ext cx="5129784" cy="2857500"/>
          </a:xfrm>
          <a:prstGeom prst="rect">
            <a:avLst/>
          </a:prstGeom>
        </p:spPr>
      </p:pic>
      <p:pic>
        <p:nvPicPr>
          <p:cNvPr id="7" name="f_heads.png" descr="f_h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800" y="1227582"/>
            <a:ext cx="3886200" cy="2852928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247388"/>
            <a:ext cx="112471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COCO test-dev: held-out test set; PQ of all classes, things (Th), stuff (St); TTA: test-time augmentation.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Box-free MaX-DeepLab-L has the highest PQ, above every box-based method, without augmentation.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Memory-to-pixel attention of 8 heads, for the masks of the woman, man, cake and table.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Wang, Y. Zhu, H. Adam, A. Yuille and L.-C. Chen, “MaX-DeepLab: end-to-end panoptic segmentation with mask transformers,”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5463–5474, 2021.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T.-Y. Lin, M. Maire, S. Belongie, J. Hays, P. Perona, D. Ramanan, P. Dollár and C. L. Zitnick, “Microsoft COCO: common objects in context,”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ECCV, LNCS 8693, 740–755, 2014.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Cross-attention as clustering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Object queries are cluster centers; cross-attention normalized over pixels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assigns objects to pixels, while clustering assigns pixels to objects.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Cross-attention as clustering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Mask transformers update object queries by cross-attention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473631"/>
            <a:ext cx="5836615" cy="220081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step1.png" descr="e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50" y="1638223"/>
            <a:ext cx="5234874" cy="343228"/>
          </a:xfrm>
          <a:prstGeom prst="rect">
            <a:avLst/>
          </a:prstGeom>
        </p:spPr>
      </p:pic>
      <p:pic>
        <p:nvPicPr>
          <p:cNvPr id="8" name="e_step2.png" descr="e_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30" y="2109466"/>
            <a:ext cx="5321115" cy="666472"/>
          </a:xfrm>
          <a:prstGeom prst="rect">
            <a:avLst/>
          </a:prstGeom>
        </p:spPr>
      </p:pic>
      <p:pic>
        <p:nvPicPr>
          <p:cNvPr id="9" name="e_step3.png" descr="e_ste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56" y="2903955"/>
            <a:ext cx="5558663" cy="605894"/>
          </a:xfrm>
          <a:prstGeom prst="rect">
            <a:avLst/>
          </a:prstGeom>
        </p:spPr>
      </p:pic>
      <p:pic>
        <p:nvPicPr>
          <p:cNvPr id="10" name="f_pipeline.png" descr="f_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295" y="1225296"/>
            <a:ext cx="4846320" cy="2697480"/>
          </a:xfrm>
          <a:prstGeom prst="rect">
            <a:avLst/>
          </a:prstGeom>
        </p:spPr>
      </p:pic>
      <p:sp>
        <p:nvSpPr>
          <p:cNvPr id="11" name="body 11"/>
          <p:cNvSpPr txBox="1"/>
          <p:nvPr/>
        </p:nvSpPr>
        <p:spPr>
          <a:xfrm>
            <a:off x="640080" y="4087368"/>
            <a:ext cx="112471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Common pipeline: backbone, transformer encoder (self-attention), decoder (cross-attention), matching.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latent vectors c_g are now called object queries; each gathers pixel features into a mask embedding.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softmax runs over the HW pixels (orange): each query's weights over the image sum to 1.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N. Carion, F. Massa, G. Synnaeve, N. Usunier, A. Kirillov and S. Zagoruyko, “End-to-end object detection with transformers,” ECCV, 213–229, 2020.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B. Cheng, A. Schwing and A. Kirillov, “Per-pixel classification is not all you need for semantic segmentation,” NeurIPS, 17864–17875, 2021.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Q. Yu, H. Wang, D. Kim, S. Qiao, M. Collins, Y. Zhu, H. Adam, A. Yuille and L.-C. Chen, “CMT-DeepLab: clustering mask transformers for panoptic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segmentation,” CVPR, 2560–2570, 2022.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Cross-attention as clustering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Mask prediction and query update normalize differently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037258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twoaxes.png" descr="e_two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374" y="1389888"/>
            <a:ext cx="9340948" cy="708074"/>
          </a:xfrm>
          <a:prstGeom prst="rect">
            <a:avLst/>
          </a:prstGeom>
        </p:spPr>
      </p:pic>
      <p:pic>
        <p:nvPicPr>
          <p:cNvPr id="8" name="f_sparse.png" descr="f_spa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968" y="2372282"/>
            <a:ext cx="4937760" cy="1664208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201082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Mask prediction: for each pixel, the probabilities over the N queries sum to 1 (teal).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Query update: for each query, the weights over the HW pixels sum to 1 (orange).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Similar affinities, normalized along different axes: a query can gather pixels its mask does not claim.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softmax over thousands of pixels concentrates on a few: MaX-DeepLab's person and tree queries.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Q. Yu, H. Wang, D. Kim, S. Qiao, M. Collins, Y. Zhu, H. Adam, A. Yuille and L.-C. Chen, “CMT-DeepLab: clustering mask transformers for panoptic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segmentation,” CVPR, 2560–2570, 2022.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Cross-attention as clustering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Cross-attention as clustering: each pixel chooses an object</a:t>
            </a:r>
          </a:p>
        </p:txBody>
      </p:sp>
      <p:pic>
        <p:nvPicPr>
          <p:cNvPr id="6" name="f_corr_clust.png" descr="f_corr_cl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2797954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87842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Object queries are cluster centers, the attention map an assignment, the query update a center update.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Translation: each object query (a target word) takes its update from one most affiliated source word.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Read this way, each object looks for its few best pixels; we expect many pixels in one object.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softmax over the pixels inverts the assignment; normalized over the objects, each pixel chooses one.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Q. Yu, H. Wang, D. Kim, S. Qiao, M. Collins, Y. Zhu, H. Adam, A. Yuille and L.-C. Chen, “CMT-DeepLab: clustering mask transformers for panoptic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segmentation,” CVPR, 2560–2570, 2022.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Cross-attention as clustering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CMT-DeepLab assigns pixels to clusters, then updates both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475037"/>
            <a:ext cx="5059375" cy="2518038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cmt_z.png" descr="e_cmt_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25" y="1639629"/>
            <a:ext cx="4354286" cy="722811"/>
          </a:xfrm>
          <a:prstGeom prst="rect">
            <a:avLst/>
          </a:prstGeom>
        </p:spPr>
      </p:pic>
      <p:pic>
        <p:nvPicPr>
          <p:cNvPr id="8" name="e_cmt_c.png" descr="e_cmt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18" y="2490456"/>
            <a:ext cx="4762500" cy="604838"/>
          </a:xfrm>
          <a:prstGeom prst="rect">
            <a:avLst/>
          </a:prstGeom>
        </p:spPr>
      </p:pic>
      <p:pic>
        <p:nvPicPr>
          <p:cNvPr id="9" name="e_cmt_x.png" descr="e_cmt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518" y="3223310"/>
            <a:ext cx="3788500" cy="605173"/>
          </a:xfrm>
          <a:prstGeom prst="rect">
            <a:avLst/>
          </a:prstGeom>
        </p:spPr>
      </p:pic>
      <p:pic>
        <p:nvPicPr>
          <p:cNvPr id="10" name="f_cmt.png" descr="f_cm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8055" y="1225296"/>
            <a:ext cx="5623560" cy="3017520"/>
          </a:xfrm>
          <a:prstGeom prst="rect">
            <a:avLst/>
          </a:prstGeom>
        </p:spPr>
      </p:pic>
      <p:sp>
        <p:nvSpPr>
          <p:cNvPr id="11" name="body 11"/>
          <p:cNvSpPr txBox="1"/>
          <p:nvPr/>
        </p:nvSpPr>
        <p:spPr>
          <a:xfrm>
            <a:off x="640080" y="4407408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Assignment Z: a softmax over the N clusters, the form of the mask prediction, trained with true masks.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k̃_p, q̃_g: second projections of pixels, centers; s_pg: the previous layer's logits; v^c_g: center values.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clustering term Z is added to the original cross-attention; the pixel features are updated too.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Q. Yu, H. Wang, D. Kim, S. Qiao, M. Collins, Y. Zhu, H. Adam, A. Yuille and L.-C. Chen, “CMT-DeepLab: clustering mask transformers for panoptic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segmentation,” CVPR, 2560–2570, 2022.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Cross-attention as clustering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Clustering gives denser attention and better panoptic quality</a:t>
            </a:r>
          </a:p>
        </p:txBody>
      </p:sp>
      <p:pic>
        <p:nvPicPr>
          <p:cNvPr id="6" name="f_cmt_attn.png" descr="f_cmt_att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2299689"/>
          </a:xfrm>
          <a:prstGeom prst="rect">
            <a:avLst/>
          </a:prstGeom>
        </p:spPr>
      </p:pic>
      <p:pic>
        <p:nvPicPr>
          <p:cNvPr id="7" name="t_cmt.png" descr="t_cm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624" y="3634713"/>
            <a:ext cx="8156448" cy="1170432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969737"/>
            <a:ext cx="112471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Last-layer attention for each predicted mask: sparse in MaX-DeepLab, dense in CMT-DeepLab.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CMT-DeepLab also adds location-sensitive clustering and a pixel-wise contrastive loss.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Q. Yu, H. Wang, D. Kim, S. Qiao, M. Collins, Y. Zhu, H. Adam, A. Yuille and L.-C. Chen, “CMT-DeepLab: clustering mask transformers for panoptic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segmentation,” CVPR, 2560–2570, 2022.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k-means cross-attention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Each pixel joins one cluster: an argmax over the clusters replaces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softmax over the pixels, as in k-means clustering.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k-means cross-attention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k-means alternates an assignment step and an update step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06311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km.png" descr="e_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389888"/>
            <a:ext cx="8013032" cy="733926"/>
          </a:xfrm>
          <a:prstGeom prst="rect">
            <a:avLst/>
          </a:prstGeom>
        </p:spPr>
      </p:pic>
      <p:pic>
        <p:nvPicPr>
          <p:cNvPr id="8" name="f_kmeans.png" descr="f_kme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00" y="2398134"/>
            <a:ext cx="10907095" cy="2513231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5075957"/>
            <a:ext cx="1124712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Assignment: pixel p joins the most similar center c_g (the nearest, when the centers have equal length).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Update: each center becomes the mean of its pixels; the sum is divided by the number of pixels.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Image: k-means on the pixel colors, k = 4 centers, each pixel to its nearest center.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k-means cross-attention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constraint on the assignment decides the normalization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266751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energy.png" descr="e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474" y="1389888"/>
            <a:ext cx="7118747" cy="607219"/>
          </a:xfrm>
          <a:prstGeom prst="rect">
            <a:avLst/>
          </a:prstGeom>
        </p:spPr>
      </p:pic>
      <p:pic>
        <p:nvPicPr>
          <p:cNvPr id="8" name="e_cons_g.png" descr="e_cons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174" y="2125123"/>
            <a:ext cx="7503348" cy="737541"/>
          </a:xfrm>
          <a:prstGeom prst="rect">
            <a:avLst/>
          </a:prstGeom>
        </p:spPr>
      </p:pic>
      <p:pic>
        <p:nvPicPr>
          <p:cNvPr id="9" name="e_cons_p.png" descr="e_cons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766" y="2990679"/>
            <a:ext cx="7522163" cy="737541"/>
          </a:xfrm>
          <a:prstGeom prst="rect">
            <a:avLst/>
          </a:prstGeom>
        </p:spPr>
      </p:pic>
      <p:pic>
        <p:nvPicPr>
          <p:cNvPr id="10" name="f_constraint.png" descr="f_constra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00" y="4002540"/>
            <a:ext cx="10907095" cy="892498"/>
          </a:xfrm>
          <a:prstGeom prst="rect">
            <a:avLst/>
          </a:prstGeom>
        </p:spPr>
      </p:pic>
      <p:sp>
        <p:nvSpPr>
          <p:cNvPr id="11" name="body 11"/>
          <p:cNvSpPr txBox="1"/>
          <p:nvPr/>
        </p:nvSpPr>
        <p:spPr>
          <a:xfrm>
            <a:off x="640080" y="5059630"/>
            <a:ext cx="1124712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V_pg = 1 assigns pixel p to cluster g; ⟨V_pg⟩ is its probability under the Gibbs distribution P(V).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pixel joins one cluster: normalize over clusters (teal), as in k-means and the mask prediction.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cluster takes one pixel: normalize over pixels (orange); its expected pixel is cross-attention's update.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k-means cross-attention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Normalizing over the clusters is Gaussian clustering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05906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gauss.png" descr="e_gau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801" y="1389888"/>
            <a:ext cx="8168093" cy="729880"/>
          </a:xfrm>
          <a:prstGeom prst="rect">
            <a:avLst/>
          </a:prstGeom>
        </p:spPr>
      </p:pic>
      <p:pic>
        <p:nvPicPr>
          <p:cNvPr id="8" name="f_norm.png" descr="f_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00" y="2394088"/>
            <a:ext cx="10907095" cy="2102572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661252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Gaussian mixture with equal priors and covariance σ²I: the posterior of cluster g given x_p.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|x_p|² cancels in the normalization over clusters; |c_g|² too, when all the centers have equal length.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Image: Gaussian weights of the pixel colors for three k-means color centers, normalized each way.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Over pixels, each map is a distribution over the image; over clusters, the three maps partition each pixel.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k-means cross-attention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Cross-attention and k-means clustering differ in three ways</a:t>
            </a:r>
          </a:p>
        </p:txBody>
      </p:sp>
      <p:pic>
        <p:nvPicPr>
          <p:cNvPr id="6" name="f_compare.png" descr="f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292389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313778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Linear projections: cross-attention learns W^Q, W^K, W^V; k-means has no parameters.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Residual update: cross-attention adds to the old c_g; k-means replaces c_g by the new mean.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Normalization: cross-attention takes a softmax over the pixels; k-means an argmax over the clusters.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kMaX authors consider the normalization the most significant difference.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Q. Yu, H. Wang, S. Qiao, M. Collins, Y. Zhu, H. Adam, A. Yuille and L.-C. Chen, “k-means mask transformer,” ECCV, LNCS 13689, 288–307, 2022.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k-means cross-attention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k-means cross-attention takes an argmax over the clusters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512629"/>
            <a:ext cx="5470855" cy="236970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ca.png" descr="e_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20" y="1677221"/>
            <a:ext cx="5170375" cy="735665"/>
          </a:xfrm>
          <a:prstGeom prst="rect">
            <a:avLst/>
          </a:prstGeom>
        </p:spPr>
      </p:pic>
      <p:pic>
        <p:nvPicPr>
          <p:cNvPr id="8" name="e_kmca.png" descr="e_km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901" y="2540902"/>
            <a:ext cx="4911213" cy="604684"/>
          </a:xfrm>
          <a:prstGeom prst="rect">
            <a:avLst/>
          </a:prstGeom>
        </p:spPr>
      </p:pic>
      <p:pic>
        <p:nvPicPr>
          <p:cNvPr id="9" name="e_kmca_v.png" descr="e_kmca_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852" y="3273602"/>
            <a:ext cx="4013312" cy="444137"/>
          </a:xfrm>
          <a:prstGeom prst="rect">
            <a:avLst/>
          </a:prstGeom>
        </p:spPr>
      </p:pic>
      <p:pic>
        <p:nvPicPr>
          <p:cNvPr id="10" name="f_kmax_dec.png" descr="f_kmax_d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535" y="1225296"/>
            <a:ext cx="5212080" cy="2944368"/>
          </a:xfrm>
          <a:prstGeom prst="rect">
            <a:avLst/>
          </a:prstGeom>
        </p:spPr>
      </p:pic>
      <p:sp>
        <p:nvSpPr>
          <p:cNvPr id="11" name="body 11"/>
          <p:cNvSpPr txBox="1"/>
          <p:nvPr/>
        </p:nvSpPr>
        <p:spPr>
          <a:xfrm>
            <a:off x="640080" y="4334256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change (red box): the softmax over pixels becomes an argmax over clusters: each pixel, one cluster.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values v_p of the pixels with V_pg = 1 are summed into c_g (k-means would divide by their number).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argmax has no gradient: each decoder's affinities q_g^T k_p also get a mask loss (deep supervision).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works because the attention map now has the form of the mask prediction (over clusters).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Q. Yu, H. Wang, S. Qiao, M. Collins, Y. Zhu, H. Adam, A. Yuille and L.-C. Chen, “k-means mask transformer,” ECCV, LNCS 13689, 288–307, 2022.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k-means cross-attention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simple change improves PQ at negligible extra cost</a:t>
            </a:r>
          </a:p>
        </p:txBody>
      </p:sp>
      <p:pic>
        <p:nvPicPr>
          <p:cNvPr id="6" name="t_ablation.png" descr="t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304" y="1225296"/>
            <a:ext cx="8705088" cy="259689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986784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COCO val, 100k iterations: only the module where pixels and clusters interact changes.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ResNet-50: 47.5 → 52.7 PQ (+5.2) with one change; MaX-S (ResNet-50 with axial attention): 52.0 → 56.1.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Dual-path versions, where the pixels also attend to the clusters, add little; kMaX does not use them.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Deep supervision alone does not help plain cross-attention; params, FLOPs: millions, billions.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Q. Yu, H. Wang, S. Qiao, M. Collins, Y. Zhu, H. Adam, A. Yuille and L.-C. Chen, “k-means mask transformer,” ECCV, LNCS 13689, 288–307, 2022.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k-means cross-attention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kMaX-DeepLab updates cluster centers at three resolutions</a:t>
            </a:r>
          </a:p>
        </p:txBody>
      </p:sp>
      <p:pic>
        <p:nvPicPr>
          <p:cNvPr id="6" name="f_kmax_arch.png" descr="f_kmax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940225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330113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Pixel encoder: any backbone; enhanced pixel decoder: axial blocks and upsampling to 1/4 resolution.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Six kMaX decoders, two at each of 1/32, 1/16 and 1/8 resolution, update the cluster centers.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 = 128 centers start as learned embeddings; they give each mask's embedding and class.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Masks: a softmax over the clusters of x_p^T c_g, the normalization of the k-means assignment.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Q. Yu, H. Wang, S. Qiao, M. Collins, Y. Zhu, H. Adam, A. Yuille and L.-C. Chen, “k-means mask transformer,” ECCV, LNCS 13689, 288–307, 2022.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k-means cross-attention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kMaX-DeepLab improves PQ on COCO and Cityscapes</a:t>
            </a:r>
          </a:p>
        </p:txBody>
      </p:sp>
      <p:pic>
        <p:nvPicPr>
          <p:cNvPr id="6" name="t_kmax_coco.png" descr="t_kmax_c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44" y="1225296"/>
            <a:ext cx="4910328" cy="2450592"/>
          </a:xfrm>
          <a:prstGeom prst="rect">
            <a:avLst/>
          </a:prstGeom>
        </p:spPr>
      </p:pic>
      <p:pic>
        <p:nvPicPr>
          <p:cNvPr id="7" name="t_kmax_city.png" descr="t_kmax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492" y="1408176"/>
            <a:ext cx="6309360" cy="2084832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3840480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method with its strongest backbone; FPS: frames per second; kMaX uses 256 cluster centers here.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COCO: higher PQ than earlier mask transformers, at fewer operations and a higher frame rate.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Cityscapes: one panoptic model gives the best PQ, AP and mIoU of the methods compared.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Q. Yu, H. Wang, S. Qiao, M. Collins, Y. Zhu, H. Adam, A. Yuille and L.-C. Chen, “k-means mask transformer,” ECCV, LNCS 13689, 288–307, 2022.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k-means cross-attention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Cluster assignments are refined from decoder to decoder</a:t>
            </a:r>
          </a:p>
        </p:txBody>
      </p:sp>
      <p:pic>
        <p:nvPicPr>
          <p:cNvPr id="6" name="f_kmax_vis.png" descr="f_kmax_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312648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516369"/>
            <a:ext cx="112471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argmax assignment after each of the six kMaX decoders, then the panoptic prediction and the label.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image is first divided into regions, which are gradually merged and refined into the final clusters.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Q. Yu, H. Wang, S. Qiao, M. Collins, Y. Zhu, H. Adam, A. Yuille and L.-C. Chen, “k-means mask transformer,” ECCV, LNCS 13689, 288–307, 2022.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k-means cross-attention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Summary</a:t>
            </a:r>
          </a:p>
        </p:txBody>
      </p:sp>
      <p:sp>
        <p:nvSpPr>
          <p:cNvPr id="6" name="summary 6"/>
          <p:cNvSpPr txBox="1"/>
          <p:nvPr/>
        </p:nvSpPr>
        <p:spPr>
          <a:xfrm>
            <a:off x="640080" y="1481328"/>
            <a:ext cx="112471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Self-attention averages values with query-key weights normalized over the keys; blocks add MLPs.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Vision needs position, locality and scale: positional encoding, axial attention, shifted windows, hybrids.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Cross-attention: queries from one set attend to another; in translation and stereo it finds matches.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Axial-DeepLab: position-sensitive attention along height and width is long range at O(HWm) cost.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MaX-DeepLab: a mask transformer predicts N masks and classes end to end, with Hungarian matching.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CMT-DeepLab: cross-attention read as clustering, in which each pixel should choose an object.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kMaX-DeepLab: k-means cross-attention takes an argmax over the clusters; one change, much better PQ.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normalization decides the task: over pixels it finds correspondences, over clusters it clusters.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3779</Words>
  <Application>Microsoft Macintosh PowerPoint</Application>
  <PresentationFormat>Widescreen</PresentationFormat>
  <Paragraphs>330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Transformers for Vision: from Self-Attention to k-means Cross-Attention</dc:title>
  <dc:subject/>
  <dc:creator>Alan Yuille</dc:creator>
  <cp:keywords/>
  <dc:description/>
  <cp:lastModifiedBy>Jeremy Chen</cp:lastModifiedBy>
  <cp:revision>1</cp:revision>
  <dcterms:created xsi:type="dcterms:W3CDTF">2013-01-27T09:14:16Z</dcterms:created>
  <dcterms:modified xsi:type="dcterms:W3CDTF">2026-10-11T12:00:00Z</dcterms:modified>
  <cp:category/>
</cp:coreProperties>
</file>