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3532"/>
  </p:normalViewPr>
  <p:slideViewPr>
    <p:cSldViewPr snapToGrid="0" snapToObjects="1">
      <p:cViewPr varScale="1">
        <p:scale>
          <a:sx n="111" d="100"/>
          <a:sy n="111" d="100"/>
        </p:scale>
        <p:origin x="656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slide" Target="slides/slide38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69CEB0-AA0B-D145-B4E6-35C9BFEBBA17}" type="datetimeFigureOut">
              <a:rPr lang="en-US" smtClean="0"/>
              <a:t>9/22/26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4D186F-95C8-254C-BBCD-188220FF3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164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1 2"/>
          <p:cNvSpPr/>
          <p:nvPr/>
        </p:nvSpPr>
        <p:spPr>
          <a:xfrm>
            <a:off x="-1554480" y="-2103120"/>
            <a:ext cx="6766560" cy="6766560"/>
          </a:xfrm>
          <a:prstGeom prst="ellipse">
            <a:avLst/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2 3"/>
          <p:cNvSpPr/>
          <p:nvPr/>
        </p:nvSpPr>
        <p:spPr>
          <a:xfrm>
            <a:off x="8778240" y="3931920"/>
            <a:ext cx="4754880" cy="4754880"/>
          </a:xfrm>
          <a:prstGeom prst="ellipse">
            <a:avLst/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title 4"/>
          <p:cNvSpPr txBox="1"/>
          <p:nvPr/>
        </p:nvSpPr>
        <p:spPr>
          <a:xfrm>
            <a:off x="1051560" y="411480"/>
            <a:ext cx="10515600" cy="34747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sz="48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Compositional (Semantic)</a:t>
            </a:r>
            <a:br>
              <a:rPr sz="48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</a:br>
            <a:r>
              <a:rPr sz="48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Models and Unsupervised</a:t>
            </a:r>
            <a:br>
              <a:rPr sz="48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</a:br>
            <a:r>
              <a:rPr sz="48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Graph Structure Learning</a:t>
            </a:r>
          </a:p>
        </p:txBody>
      </p:sp>
      <p:sp>
        <p:nvSpPr>
          <p:cNvPr id="5" name="tdate 5"/>
          <p:cNvSpPr txBox="1"/>
          <p:nvPr/>
        </p:nvSpPr>
        <p:spPr>
          <a:xfrm>
            <a:off x="1097280" y="4160520"/>
            <a:ext cx="10058400" cy="649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8 October, 2026</a:t>
            </a:r>
          </a:p>
          <a:p>
            <a:r>
              <a:rPr sz="21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Alan Yuille   ·   Probabilistic Models of the Visual Cortex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4" name="title 4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What this lecture covers</a:t>
            </a:r>
          </a:p>
        </p:txBody>
      </p:sp>
      <p:sp>
        <p:nvSpPr>
          <p:cNvPr id="5" name="card 5"/>
          <p:cNvSpPr/>
          <p:nvPr/>
        </p:nvSpPr>
        <p:spPr>
          <a:xfrm>
            <a:off x="640080" y="1481328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ardoval 6"/>
          <p:cNvSpPr/>
          <p:nvPr/>
        </p:nvSpPr>
        <p:spPr>
          <a:xfrm>
            <a:off x="896112" y="1764792"/>
            <a:ext cx="512064" cy="51206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ardnum 7"/>
          <p:cNvSpPr txBox="1"/>
          <p:nvPr/>
        </p:nvSpPr>
        <p:spPr>
          <a:xfrm>
            <a:off x="896112" y="1847088"/>
            <a:ext cx="5120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1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8" name="cardtitle 8"/>
          <p:cNvSpPr txBox="1"/>
          <p:nvPr/>
        </p:nvSpPr>
        <p:spPr>
          <a:xfrm>
            <a:off x="1572768" y="1714500"/>
            <a:ext cx="4343400" cy="322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Compositional models</a:t>
            </a:r>
          </a:p>
        </p:txBody>
      </p:sp>
      <p:sp>
        <p:nvSpPr>
          <p:cNvPr id="9" name="cardsub 9"/>
          <p:cNvSpPr txBox="1"/>
          <p:nvPr/>
        </p:nvSpPr>
        <p:spPr>
          <a:xfrm>
            <a:off x="1572768" y="2112264"/>
            <a:ext cx="4343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Objects, parts, subparts as a graph</a:t>
            </a:r>
          </a:p>
        </p:txBody>
      </p:sp>
      <p:sp>
        <p:nvSpPr>
          <p:cNvPr id="10" name="card 10"/>
          <p:cNvSpPr/>
          <p:nvPr/>
        </p:nvSpPr>
        <p:spPr>
          <a:xfrm>
            <a:off x="6236208" y="1481328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cardoval 11"/>
          <p:cNvSpPr/>
          <p:nvPr/>
        </p:nvSpPr>
        <p:spPr>
          <a:xfrm>
            <a:off x="6492240" y="1764792"/>
            <a:ext cx="512064" cy="51206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ardnum 12"/>
          <p:cNvSpPr txBox="1"/>
          <p:nvPr/>
        </p:nvSpPr>
        <p:spPr>
          <a:xfrm>
            <a:off x="6492240" y="1847088"/>
            <a:ext cx="5120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1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13" name="cardtitle 13"/>
          <p:cNvSpPr txBox="1"/>
          <p:nvPr/>
        </p:nvSpPr>
        <p:spPr>
          <a:xfrm>
            <a:off x="7168896" y="1714500"/>
            <a:ext cx="4343400" cy="322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AND/OR graphs</a:t>
            </a:r>
          </a:p>
        </p:txBody>
      </p:sp>
      <p:sp>
        <p:nvSpPr>
          <p:cNvPr id="14" name="cardsub 14"/>
          <p:cNvSpPr txBox="1"/>
          <p:nvPr/>
        </p:nvSpPr>
        <p:spPr>
          <a:xfrm>
            <a:off x="7168896" y="2112264"/>
            <a:ext cx="4343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ANDs compose parts, ORs switch them</a:t>
            </a:r>
          </a:p>
        </p:txBody>
      </p:sp>
      <p:sp>
        <p:nvSpPr>
          <p:cNvPr id="15" name="card 15"/>
          <p:cNvSpPr/>
          <p:nvPr/>
        </p:nvSpPr>
        <p:spPr>
          <a:xfrm>
            <a:off x="640080" y="2679192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ardoval 16"/>
          <p:cNvSpPr/>
          <p:nvPr/>
        </p:nvSpPr>
        <p:spPr>
          <a:xfrm>
            <a:off x="896112" y="2962656"/>
            <a:ext cx="512064" cy="51206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cardnum 17"/>
          <p:cNvSpPr txBox="1"/>
          <p:nvPr/>
        </p:nvSpPr>
        <p:spPr>
          <a:xfrm>
            <a:off x="896112" y="3044952"/>
            <a:ext cx="5120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1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18" name="cardtitle 18"/>
          <p:cNvSpPr txBox="1"/>
          <p:nvPr/>
        </p:nvSpPr>
        <p:spPr>
          <a:xfrm>
            <a:off x="1572768" y="2912364"/>
            <a:ext cx="4343400" cy="322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Learning from interest points</a:t>
            </a:r>
          </a:p>
        </p:txBody>
      </p:sp>
      <p:sp>
        <p:nvSpPr>
          <p:cNvPr id="19" name="cardsub 19"/>
          <p:cNvSpPr txBox="1"/>
          <p:nvPr/>
        </p:nvSpPr>
        <p:spPr>
          <a:xfrm>
            <a:off x="1572768" y="3310128"/>
            <a:ext cx="4343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PGMMs grow a grammar of triplets</a:t>
            </a:r>
          </a:p>
        </p:txBody>
      </p:sp>
      <p:sp>
        <p:nvSpPr>
          <p:cNvPr id="20" name="card 20"/>
          <p:cNvSpPr/>
          <p:nvPr/>
        </p:nvSpPr>
        <p:spPr>
          <a:xfrm>
            <a:off x="6236208" y="2679192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cardoval 21"/>
          <p:cNvSpPr/>
          <p:nvPr/>
        </p:nvSpPr>
        <p:spPr>
          <a:xfrm>
            <a:off x="6492240" y="2962656"/>
            <a:ext cx="512064" cy="51206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cardnum 22"/>
          <p:cNvSpPr txBox="1"/>
          <p:nvPr/>
        </p:nvSpPr>
        <p:spPr>
          <a:xfrm>
            <a:off x="6492240" y="3044952"/>
            <a:ext cx="5120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1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23" name="cardtitle 23"/>
          <p:cNvSpPr txBox="1"/>
          <p:nvPr/>
        </p:nvSpPr>
        <p:spPr>
          <a:xfrm>
            <a:off x="7168896" y="2912364"/>
            <a:ext cx="4343400" cy="322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Learning a hierarchy</a:t>
            </a:r>
          </a:p>
        </p:txBody>
      </p:sp>
      <p:sp>
        <p:nvSpPr>
          <p:cNvPr id="24" name="cardsub 24"/>
          <p:cNvSpPr txBox="1"/>
          <p:nvPr/>
        </p:nvSpPr>
        <p:spPr>
          <a:xfrm>
            <a:off x="7168896" y="3310128"/>
            <a:ext cx="4343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Unsupervised, level by level</a:t>
            </a:r>
          </a:p>
        </p:txBody>
      </p:sp>
      <p:sp>
        <p:nvSpPr>
          <p:cNvPr id="25" name="card 25"/>
          <p:cNvSpPr/>
          <p:nvPr/>
        </p:nvSpPr>
        <p:spPr>
          <a:xfrm>
            <a:off x="640080" y="3877056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cardoval 26"/>
          <p:cNvSpPr/>
          <p:nvPr/>
        </p:nvSpPr>
        <p:spPr>
          <a:xfrm>
            <a:off x="896112" y="4160520"/>
            <a:ext cx="512064" cy="51206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cardnum 27"/>
          <p:cNvSpPr txBox="1"/>
          <p:nvPr/>
        </p:nvSpPr>
        <p:spPr>
          <a:xfrm>
            <a:off x="896112" y="4242816"/>
            <a:ext cx="5120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1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5</a:t>
            </a:r>
          </a:p>
        </p:txBody>
      </p:sp>
      <p:sp>
        <p:nvSpPr>
          <p:cNvPr id="28" name="cardtitle 28"/>
          <p:cNvSpPr txBox="1"/>
          <p:nvPr/>
        </p:nvSpPr>
        <p:spPr>
          <a:xfrm>
            <a:off x="1572768" y="4110228"/>
            <a:ext cx="4343400" cy="322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Part sharing for many objects</a:t>
            </a:r>
          </a:p>
        </p:txBody>
      </p:sp>
      <p:sp>
        <p:nvSpPr>
          <p:cNvPr id="29" name="cardsub 29"/>
          <p:cNvSpPr txBox="1"/>
          <p:nvPr/>
        </p:nvSpPr>
        <p:spPr>
          <a:xfrm>
            <a:off x="1572768" y="4507992"/>
            <a:ext cx="4343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120 object and viewpoint models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4" name="divnum 4"/>
          <p:cNvSpPr txBox="1"/>
          <p:nvPr/>
        </p:nvSpPr>
        <p:spPr>
          <a:xfrm>
            <a:off x="640080" y="1874520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5" name="divname 5"/>
          <p:cNvSpPr txBox="1"/>
          <p:nvPr/>
        </p:nvSpPr>
        <p:spPr>
          <a:xfrm>
            <a:off x="2880360" y="822960"/>
            <a:ext cx="9052560" cy="2212848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sz="44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Compositional models</a:t>
            </a:r>
          </a:p>
        </p:txBody>
      </p:sp>
      <p:sp>
        <p:nvSpPr>
          <p:cNvPr id="6" name="divsub 6"/>
          <p:cNvSpPr txBox="1"/>
          <p:nvPr/>
        </p:nvSpPr>
        <p:spPr>
          <a:xfrm>
            <a:off x="2944368" y="3401568"/>
            <a:ext cx="89611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Objects are built from semantic parts and subparts;</a:t>
            </a:r>
            <a:b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</a:br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a probability model on a hierarchical graph.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Compositional models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Objects and semantic parts</a:t>
            </a:r>
          </a:p>
        </p:txBody>
      </p:sp>
      <p:pic>
        <p:nvPicPr>
          <p:cNvPr id="6" name="f_pictorial.png" descr="f_pictor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604" y="1225296"/>
            <a:ext cx="3867912" cy="2770632"/>
          </a:xfrm>
          <a:prstGeom prst="rect">
            <a:avLst/>
          </a:prstGeom>
        </p:spPr>
      </p:pic>
      <p:pic>
        <p:nvPicPr>
          <p:cNvPr id="7" name="s_facehier.png" descr="s_facehi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036" y="1225296"/>
            <a:ext cx="3877056" cy="2770632"/>
          </a:xfrm>
          <a:prstGeom prst="rect">
            <a:avLst/>
          </a:prstGeom>
        </p:spPr>
      </p:pic>
      <p:sp>
        <p:nvSpPr>
          <p:cNvPr id="8" name="body 8"/>
          <p:cNvSpPr txBox="1"/>
          <p:nvPr/>
        </p:nvSpPr>
        <p:spPr>
          <a:xfrm>
            <a:off x="640080" y="4160520"/>
            <a:ext cx="11247120" cy="19933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Objects can be represented by parts and their spatial relations (pictorial structures: left).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Hierarchical semantic compositional models: objects, parts, subparts (right).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Springs hold the parts in place; black arrows run bottom-up, red arrows top-down.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Semantic: the parts are interpretable (an eye or a nose, not an arbitrary patch of the object).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M. A. Fischler and R. A. Elschlager, “The representation and matching of pictorial structures,” IEEE Transactions on Computers,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C-22(1):67–92, 1973.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Compositional models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A hierarchical compositional model is a graph of parts</a:t>
            </a:r>
          </a:p>
        </p:txBody>
      </p:sp>
      <p:pic>
        <p:nvPicPr>
          <p:cNvPr id="6" name="f_hcm.png" descr="f_hc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012" y="1225296"/>
            <a:ext cx="8805672" cy="3044952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4434840"/>
            <a:ext cx="1124712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Explainable: if an object is detected, you can explain which parts and subparts are present.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Multiple tasks: detect and localize objects, parts, subparts and the object boundaries.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Inference is bottom-up and top-down, and requires sideways (lateral) reasoning.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parts, subparts and the relationships between them need to be learnt.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Compositional models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Hierarchies follow low-, middle- and high-level vision</a:t>
            </a:r>
          </a:p>
        </p:txBody>
      </p:sp>
      <p:pic>
        <p:nvPicPr>
          <p:cNvPr id="6" name="f_levels.png" descr="f_lev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710" y="1225296"/>
            <a:ext cx="10956275" cy="2726675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4116563"/>
            <a:ext cx="11247120" cy="1389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Low-level vision is ambiguous; high-level vision exploits context and is unambiguous.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Hierarchies mimic the structure of the human / primate ventral visual system.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An optimal design for representing, learning and retrieving image patterns?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Photograph: “chelsea”, scikit-image sample data (CC0).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Compositional models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A probabilistic model is defined by four elements</a:t>
            </a:r>
          </a:p>
        </p:txBody>
      </p:sp>
      <p:pic>
        <p:nvPicPr>
          <p:cNvPr id="6" name="f_elements.png" descr="f_ele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237" y="1225296"/>
            <a:ext cx="9447221" cy="3089061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4478949"/>
            <a:ext cx="11247120" cy="1563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(i) Graph structure: nodes and edges.  (ii) State variables W at the nodes: the representation.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(iii) Potentials φ and (iv) parameters (weights) λ, on the edges: the probability.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potentials and parameters also relate the model to the image I.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L. Zhu, Y. Chen and A. Yuille, “Recursive compositional models for vision: description and review of recent work,”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Journal of Mathematical Imaging and Vision, 41(1–2):122–146, 2011.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Compositional models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mathematics: an exponential model on the graph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225296"/>
            <a:ext cx="10911535" cy="1753402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graph.png" descr="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344" y="1389888"/>
            <a:ext cx="7905008" cy="304800"/>
          </a:xfrm>
          <a:prstGeom prst="rect">
            <a:avLst/>
          </a:prstGeom>
        </p:spPr>
      </p:pic>
      <p:pic>
        <p:nvPicPr>
          <p:cNvPr id="8" name="gibbs.png" descr="gibb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0060" y="1822704"/>
            <a:ext cx="9591575" cy="991402"/>
          </a:xfrm>
          <a:prstGeom prst="rect">
            <a:avLst/>
          </a:prstGeom>
        </p:spPr>
      </p:pic>
      <p:sp>
        <p:nvSpPr>
          <p:cNvPr id="9" name="body 9"/>
          <p:cNvSpPr txBox="1"/>
          <p:nvPr/>
        </p:nvSpPr>
        <p:spPr>
          <a:xfrm>
            <a:off x="640080" y="3125002"/>
            <a:ext cx="11247120" cy="19933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Each node μ has a state w; ch(μ) are its children and sib(μ) its siblings, with their states.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Vertical potentials relate a part to its subparts, horizontal ones a part to its siblings.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Data potentials relate the nodes to the image I; the weights λ say how much each term counts.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Z = Z[λ, I] normalises over all states W: a Gibbs distribution with energy E = −Σ λ · φ.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L. Zhu, Y. Chen and A. Yuille, “Recursive compositional models for vision: description and review of recent work,”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Journal of Mathematical Imaging and Vision, 41(1–2):122–146, 2011.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Compositional models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Three tasks: inference, learning and structure induction</a:t>
            </a:r>
          </a:p>
        </p:txBody>
      </p:sp>
      <p:pic>
        <p:nvPicPr>
          <p:cNvPr id="6" name="f_tasks.png" descr="f_ta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710" y="1225296"/>
            <a:ext cx="10956275" cy="2313542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3703430"/>
            <a:ext cx="1124712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(I) Inference: estimate W from I, with the graph, potentials and parameters known.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Propagate hypotheses up and validate them top-down (dynamic programming as a special case).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(II) Learning the parameters and potentials, with the graph known: easy if inference can be done.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(III) Structure induction: learn the graph structure.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4" name="divnum 4"/>
          <p:cNvSpPr txBox="1"/>
          <p:nvPr/>
        </p:nvSpPr>
        <p:spPr>
          <a:xfrm>
            <a:off x="640080" y="1874520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5" name="divname 5"/>
          <p:cNvSpPr txBox="1"/>
          <p:nvPr/>
        </p:nvSpPr>
        <p:spPr>
          <a:xfrm>
            <a:off x="2880360" y="822960"/>
            <a:ext cx="9052560" cy="2212848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sz="44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AND/OR graphs</a:t>
            </a:r>
          </a:p>
        </p:txBody>
      </p:sp>
      <p:sp>
        <p:nvSpPr>
          <p:cNvPr id="6" name="divsub 6"/>
          <p:cNvSpPr txBox="1"/>
          <p:nvPr/>
        </p:nvSpPr>
        <p:spPr>
          <a:xfrm>
            <a:off x="2944368" y="3401568"/>
            <a:ext cx="89611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AND nodes compose parts, OR nodes switch between alternatives;</a:t>
            </a:r>
            <a:b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</a:br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one graph covers many poses and viewpoints.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AND/OR graphs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Compositionality: objects are built from shared parts</a:t>
            </a:r>
          </a:p>
        </p:txBody>
      </p:sp>
      <p:pic>
        <p:nvPicPr>
          <p:cNvPr id="6" name="f_andor_ab.png" descr="f_andor_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710" y="1225296"/>
            <a:ext cx="10956275" cy="2407186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3797074"/>
            <a:ext cx="11247120" cy="2167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Objects and images are constructed by compositions of parts: ANDs (squares) and ORs (triangle).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probability models are built by combining elementary models (circles) by composition.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Sharing parts (b, teal) makes inference and learning efficient.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This relates to the stochastic grammars used in natural language processing.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L. Zhu, Y. Chen, A. Torralba, W. Freeman and A. Yuille, “Part and appearance sharing: recursive compositional models for multi-view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multi-object detection,” CVPR, 1919–1926, 2010.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S.-C. Zhu and D. Mumford, “A stochastic grammar of images,” Foundations and Trends in Computer Graphics and Vision, 2(4):259–362, 2007.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AND/OR graphs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Compositionality lets a system transfer, reason and scale up</a:t>
            </a:r>
          </a:p>
        </p:txBody>
      </p:sp>
      <p:sp>
        <p:nvSpPr>
          <p:cNvPr id="6" name="accent 6"/>
          <p:cNvSpPr/>
          <p:nvPr/>
        </p:nvSpPr>
        <p:spPr>
          <a:xfrm>
            <a:off x="640080" y="1225296"/>
            <a:ext cx="10911535" cy="932688"/>
          </a:xfrm>
          <a:prstGeom prst="roundRect">
            <a:avLst>
              <a:gd name="adj" fmla="val 8462"/>
            </a:avLst>
          </a:prstGeom>
          <a:solidFill>
            <a:srgbClr val="FBF1EC"/>
          </a:solidFill>
          <a:ln w="16510">
            <a:solidFill>
              <a:srgbClr val="F0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ccenttext 7"/>
          <p:cNvSpPr txBox="1"/>
          <p:nvPr/>
        </p:nvSpPr>
        <p:spPr>
          <a:xfrm>
            <a:off x="1051560" y="1225296"/>
            <a:ext cx="10088575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5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“An embodiment of faith that the world is knowable, that one can tease things apart,</a:t>
            </a:r>
            <a:br>
              <a:rPr sz="175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</a:br>
            <a:r>
              <a:rPr sz="175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comprehend them, and mentally recompose them at will.”</a:t>
            </a:r>
          </a:p>
        </p:txBody>
      </p:sp>
      <p:sp>
        <p:nvSpPr>
          <p:cNvPr id="8" name="body 8"/>
          <p:cNvSpPr txBox="1"/>
          <p:nvPr/>
        </p:nvSpPr>
        <p:spPr>
          <a:xfrm>
            <a:off x="640080" y="2304288"/>
            <a:ext cx="11247120" cy="22494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(1) Transfer between contexts, and generalize or extrapolate (e.g. from cow to yak).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(2) Reason about the system, intervene, do diagnostics.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(3) Answer many different questions based on the same underlying knowledge structure.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(4) Scale up to multiple objects by part sharing.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“The world is compositional or God exists.” (Stuart Geman)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A. L. Yuille and C. Liu, “Deep nets: what have they ever done for vision?,” International Journal of Computer Vision, 129(3):781–802, 2021.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AND/OR graphs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A horse model with AND nodes only</a:t>
            </a:r>
          </a:p>
        </p:txBody>
      </p:sp>
      <p:pic>
        <p:nvPicPr>
          <p:cNvPr id="6" name="f_horse_and.png" descr="f_horse_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7432" y="1225296"/>
            <a:ext cx="6656832" cy="3017520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4407408"/>
            <a:ext cx="112471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Nodes of the graph represent parts of the object; lower-level parts are edges and edge-groupings.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Parts can move and deform: each node has a state w = (position, scale, orientation).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 single topology: one model for one pose and viewpoint.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L. Zhu, Y. Chen and A. Yuille, “Learning a hierarchical deformable template for rapid deformable object parsing,”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IEEE Transactions on Pattern Analysis and Machine Intelligence, 32(6):1029–1043, 2010.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Horse silhouette: “horse”, scikit-image sample data (CC0).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AND/OR graphs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AND/OR graphs switch between parts for different poses</a:t>
            </a:r>
          </a:p>
        </p:txBody>
      </p:sp>
      <p:pic>
        <p:nvPicPr>
          <p:cNvPr id="6" name="s_horse_or.png" descr="s_horse_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752" y="1225296"/>
            <a:ext cx="6108192" cy="2107692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3497580"/>
            <a:ext cx="11247120" cy="1563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Introduce OR nodes (ellipses) and switch variables: each OR node selects one of its children.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switch variables alter the graph topology: different parts for different viewpoints and poses.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Mixtures of models, with shared parts; rectangles are AND nodes.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L. Zhu, Y. Chen, C. Lin and A. Yuille, “Max margin learning of hierarchical configural deformable templates (HCDTs) for efficient object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parsing and pose estimation,” International Journal of Computer Vision, 93(1):1–21, 2011.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AND/OR graphs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AND/OR graphs parse baseball players in 98 poses</a:t>
            </a:r>
          </a:p>
        </p:txBody>
      </p:sp>
      <p:pic>
        <p:nvPicPr>
          <p:cNvPr id="6" name="s_baseball_small.png" descr="s_baseball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350" y="1225296"/>
            <a:ext cx="6062472" cy="2692908"/>
          </a:xfrm>
          <a:prstGeom prst="rect">
            <a:avLst/>
          </a:prstGeom>
        </p:spPr>
      </p:pic>
      <p:pic>
        <p:nvPicPr>
          <p:cNvPr id="7" name="s_bbres_small.png" descr="s_bbres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5142" y="1227582"/>
            <a:ext cx="3918204" cy="2688336"/>
          </a:xfrm>
          <a:prstGeom prst="rect">
            <a:avLst/>
          </a:prstGeom>
        </p:spPr>
      </p:pic>
      <p:sp>
        <p:nvSpPr>
          <p:cNvPr id="8" name="body 8"/>
          <p:cNvSpPr txBox="1"/>
          <p:nvPr/>
        </p:nvSpPr>
        <p:spPr>
          <a:xfrm>
            <a:off x="640080" y="4082796"/>
            <a:ext cx="112471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AND/OR graphs enable recursive compositional models (RCMs) to deal with many poses and viewpoints.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Ellipses: OR nodes; rectangles: AND nodes. Inference and learning are bottom-up and top-down.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Performed well on benchmarked datasets (2008, 2010). Coloured dots: positions of body parts.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L. Zhu, Y. Chen, Y. Lu, C. Lin and A. Yuille, “Max margin AND/OR graph learning for parsing the human body,” CVPR, 1–8, 2008.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L. Zhu, Y. Chen, C. Lin and A. Yuille, “Max margin learning of hierarchical configural deformable templates (HCDTs) for efficient object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parsing and pose estimation,” International Journal of Computer Vision, 93(1):1–21, 2011.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AND/OR graphs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HCMs are hard to learn but worth pursuing</a:t>
            </a:r>
          </a:p>
        </p:txBody>
      </p:sp>
      <p:sp>
        <p:nvSpPr>
          <p:cNvPr id="6" name="body 6"/>
          <p:cNvSpPr txBox="1"/>
          <p:nvPr/>
        </p:nvSpPr>
        <p:spPr>
          <a:xfrm>
            <a:off x="640080" y="1225296"/>
            <a:ext cx="11247120" cy="20299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HCMs (hierarchical compositional models) need more complex inference and learning than deep nets.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Structure learning is particularly difficult.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Their advantages (interpretability, multi-tasking) are so strong that they should be pursued.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Potential: the ability to deal with domain transfer and with sophisticated attacks.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CompNets combine compositional models with deep network features.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sp>
        <p:nvSpPr>
          <p:cNvPr id="4" name="divnum 4"/>
          <p:cNvSpPr txBox="1"/>
          <p:nvPr/>
        </p:nvSpPr>
        <p:spPr>
          <a:xfrm>
            <a:off x="640080" y="1874520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5" name="divname 5"/>
          <p:cNvSpPr txBox="1"/>
          <p:nvPr/>
        </p:nvSpPr>
        <p:spPr>
          <a:xfrm>
            <a:off x="2880360" y="822960"/>
            <a:ext cx="9052560" cy="2212848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sz="44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Learning from interest points</a:t>
            </a:r>
          </a:p>
        </p:txBody>
      </p:sp>
      <p:sp>
        <p:nvSpPr>
          <p:cNvPr id="6" name="divsub 6"/>
          <p:cNvSpPr txBox="1"/>
          <p:nvPr/>
        </p:nvSpPr>
        <p:spPr>
          <a:xfrm>
            <a:off x="2944368" y="3401568"/>
            <a:ext cx="89611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Learn the graph itself, without labels:</a:t>
            </a:r>
            <a:b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</a:br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grow it triplet by triplet while the data are fitted better.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Learning from interest points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Learn models of simple features: interest points, edgelets</a:t>
            </a:r>
          </a:p>
        </p:txBody>
      </p:sp>
      <p:pic>
        <p:nvPicPr>
          <p:cNvPr id="6" name="f_feats.png" descr="f_fe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8600" y="1225296"/>
            <a:ext cx="6254496" cy="2642616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4032504"/>
            <a:ext cx="11247120" cy="2167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Learning generative models of entire images was too hard (2008); structure induction is very hard.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To simplify, learn models of objects (not images) on simple features: interest points (IPs) and edgelets.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IPs are sparse and capture the important parts; SIFT (scale-invariant feature transform) describes them.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Intuition for structure learning: clustering.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T. Kadir and M. Brady, “Saliency, scale and image description,” International Journal of Computer Vision, 45(2):83–105, 2001.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D. G. Lowe, “Distinctive image features from scale-invariant keypoints,” International Journal of Computer Vision, 60(2):91–110, 2004.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Photograph: “chelsea”, scikit-image sample data (CC0).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Learning from interest points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Unsupervised structure induction: everything is unknown</a:t>
            </a:r>
          </a:p>
        </p:txBody>
      </p:sp>
      <p:pic>
        <p:nvPicPr>
          <p:cNvPr id="6" name="f_corr.png" descr="f_co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3192" y="1225296"/>
            <a:ext cx="5925312" cy="2679192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4069080"/>
            <a:ext cx="112471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Unknown: the graph structure, whether an object is present, and how many types of objects there are.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Which IPs are object and which background is unknown: one voice among many at a cocktail party.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Correspondence problem: which IP belongs to which part of the object?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L. Zhu, Y. Chen and A. Yuille, “Unsupervised learning of probabilistic grammar-Markov models for object categories,”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IEEE Transactions on Pattern Analysis and Machine Intelligence, 31(1):114–128, 2009.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Photograph: “chelsea”, scikit-image sample data (CC0).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Learning from interest points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basic elements are triplets of interest points</a:t>
            </a:r>
          </a:p>
        </p:txBody>
      </p:sp>
      <p:pic>
        <p:nvPicPr>
          <p:cNvPr id="6" name="f_triplet.png" descr="f_tripl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0332" y="1225296"/>
            <a:ext cx="5971032" cy="2130552"/>
          </a:xfrm>
          <a:prstGeom prst="rect">
            <a:avLst/>
          </a:prstGeom>
        </p:spPr>
      </p:pic>
      <p:sp>
        <p:nvSpPr>
          <p:cNvPr id="7" name="panel 7"/>
          <p:cNvSpPr/>
          <p:nvPr/>
        </p:nvSpPr>
        <p:spPr>
          <a:xfrm>
            <a:off x="640080" y="3465576"/>
            <a:ext cx="10911535" cy="600384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triplet.png" descr="trip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5848" y="3630168"/>
            <a:ext cx="4800000" cy="271200"/>
          </a:xfrm>
          <a:prstGeom prst="rect">
            <a:avLst/>
          </a:prstGeom>
        </p:spPr>
      </p:pic>
      <p:sp>
        <p:nvSpPr>
          <p:cNvPr id="9" name="body 9"/>
          <p:cNvSpPr txBox="1"/>
          <p:nvPr/>
        </p:nvSpPr>
        <p:spPr>
          <a:xfrm>
            <a:off x="640080" y="4212264"/>
            <a:ext cx="11247120" cy="19933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PGMM (probabilistic grammar-Markov model): a graph grammar builds it from triplets of IPs.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Each point has a position z, a scale s and an orientation θ; three related points form a triplet T.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AND: a new triplet on two nodes of an old one. OR: a new triplet starts an aspect (a viewpoint).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triplet's shape (side ratios and angles) is invariant to scale and rotation.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L. Zhu, Y. Chen and A. Yuille, “Unsupervised learning of probabilistic grammar-Markov models for object categories,”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IEEE Transactions on Pattern Analysis and Machine Intelligence, 31(1):114–128, 2009.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Learning from interest points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PGMMs search greedily over model structures</a:t>
            </a:r>
          </a:p>
        </p:txBody>
      </p:sp>
      <p:pic>
        <p:nvPicPr>
          <p:cNvPr id="6" name="f_grow.png" descr="f_g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710" y="1225296"/>
            <a:ext cx="10956275" cy="2407186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3797074"/>
            <a:ext cx="11247120" cy="1563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Initially all the data are generated by a background model, without spatial relations.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Expand the structure with the AND/OR graph grammar; score every extension and accept the best.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Repeat until the score almost doesn't change.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L. Zhu, Y. Chen and A. Yuille, “Unsupervised learning of probabilistic grammar-Markov models for object categories,”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IEEE Transactions on Pattern Analysis and Machine Intelligence, 31(1):114–128, 2009.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Learning from interest points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Model selection scores how well a model generates the data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225296"/>
            <a:ext cx="10911535" cy="1693894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score_exact.png" descr="score_ex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3209" y="1389888"/>
            <a:ext cx="7745278" cy="654803"/>
          </a:xfrm>
          <a:prstGeom prst="rect">
            <a:avLst/>
          </a:prstGeom>
        </p:spPr>
      </p:pic>
      <p:pic>
        <p:nvPicPr>
          <p:cNvPr id="8" name="score.png" descr="sc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2602" y="2172707"/>
            <a:ext cx="6906491" cy="581891"/>
          </a:xfrm>
          <a:prstGeom prst="rect">
            <a:avLst/>
          </a:prstGeom>
        </p:spPr>
      </p:pic>
      <p:sp>
        <p:nvSpPr>
          <p:cNvPr id="9" name="body 9"/>
          <p:cNvSpPr txBox="1"/>
          <p:nvPr/>
        </p:nvSpPr>
        <p:spPr>
          <a:xfrm>
            <a:off x="640080" y="3065494"/>
            <a:ext cx="11247120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Model selection is performed by evaluating the probability that the model generates the data.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D: the interest points of all training images; H: their correspondence to the model nodes.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θ: all the parameters of the model (unrelated to the orientations of the points).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integral over θ is replaced by its value at the best θ* (Laplace would add a volume factor).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G: the graph structure; the structure with the highest score is kept.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L. Zhu, Y. Chen and A. Yuille, “Unsupervised learning of probabilistic grammar-Markov models for object categories,”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IEEE Transactions on Pattern Analysis and Machine Intelligence, 31(1):114–128, 2009.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Learning from interest points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PGMMs learn Caltech 101 categories without part labels</a:t>
            </a:r>
          </a:p>
        </p:txBody>
      </p:sp>
      <p:pic>
        <p:nvPicPr>
          <p:cNvPr id="6" name="f_caltech.png" descr="f_cal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4552" y="1225296"/>
            <a:ext cx="7022592" cy="2286000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3675888"/>
            <a:ext cx="11247120" cy="23408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Bars: % correct for 26 classes with at least 80 images; one PGMM per class, without part labels.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Could learn one, two, three or more aspects (OR nodes) if the dataset required it (e.g. plane, face, bike).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Could learn object models when the training images were a random mix with and without the object.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As good as supervised methods (2006) with enough data; unsupervised learning on Caltech is unusual.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L. Zhu, Y. Chen and A. Yuille, “Unsupervised learning of probabilistic grammar-Markov models for object categories,”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IEEE Transactions on Pattern Analysis and Machine Intelligence, 31(1):114–128, 2009.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L. Fei-Fei, R. Fergus and P. Perona, “Learning generative visual models from few training examples: an incremental Bayesian approach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tested on 101 object categories,” CVPR Workshop on Generative-Model Based Vision, 2004.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Learning from interest points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Interest-point models can teach models with more cues</a:t>
            </a:r>
          </a:p>
        </p:txBody>
      </p:sp>
      <p:pic>
        <p:nvPicPr>
          <p:cNvPr id="6" name="f_pom.png" descr="f_p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710" y="1225296"/>
            <a:ext cx="10956275" cy="1856342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3246230"/>
            <a:ext cx="11247120" cy="19933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Limitation of PGMMs: they only use image features defined at interest points.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Use the PGMM to learn a skeleton structure of the object; then use it to train a model with more cues.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Probabilistic object models (POMs): POM-IP, the PGMM, trains a mask; both train edgelet models.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Eureka moment? The simple IP model is powerful enough to train a model with more cues.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Y. Chen, L. Zhu, A. Yuille and H. Zhang, “Unsupervised learning of probabilistic object models (POMs) for object classification, segmentation,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and recognition using knowledge propagation,” IEEE Transactions on Pattern Analysis and Machine Intelligence, 31(10):1747–1761, 2009.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  <p:sp>
        <p:nvSpPr>
          <p:cNvPr id="4" name="divnum 4"/>
          <p:cNvSpPr txBox="1"/>
          <p:nvPr/>
        </p:nvSpPr>
        <p:spPr>
          <a:xfrm>
            <a:off x="640080" y="1874520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5" name="divname 5"/>
          <p:cNvSpPr txBox="1"/>
          <p:nvPr/>
        </p:nvSpPr>
        <p:spPr>
          <a:xfrm>
            <a:off x="2880360" y="822960"/>
            <a:ext cx="9052560" cy="2212848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sz="44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Learning a hierarchy</a:t>
            </a:r>
          </a:p>
        </p:txBody>
      </p:sp>
      <p:sp>
        <p:nvSpPr>
          <p:cNvPr id="6" name="divsub 6"/>
          <p:cNvSpPr txBox="1"/>
          <p:nvPr/>
        </p:nvSpPr>
        <p:spPr>
          <a:xfrm>
            <a:off x="2944368" y="3401568"/>
            <a:ext cx="89611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Compose, cluster, keep suspicious coincidences, exclude competitors;</a:t>
            </a:r>
            <a:b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</a:br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then refine the hierarchy top-down.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26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Learning a hierarchy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A hierarchy is learnt from a few unlabelled images</a:t>
            </a:r>
          </a:p>
        </p:txBody>
      </p:sp>
      <p:pic>
        <p:nvPicPr>
          <p:cNvPr id="6" name="f_learn12.png" descr="f_learn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710" y="1225296"/>
            <a:ext cx="10956275" cy="2952520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4342408"/>
            <a:ext cx="112471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Task: given a few training images (12 horses), no labelling, no alignment, highly ambiguous features.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Estimate the graph structure (nodes and edges) and the parameters.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correspondence is unknown: trying all matches is a combinatorial explosion.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L. Zhu, C. Lin, H. Huang, Y. Chen and A. Yuille, “Unsupervised structure learning: hierarchical recursive composition, suspicious coincidence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and competitive exclusion,” ECCV, LNCS 5303, 759–773, 2008.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Horse silhouette: “horse”, scikit-image sample data (CC0); photographs: Weizmann horse database (Borenstein and Ullman, ECCV 2002).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27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Learning a hierarchy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dictionary: from generic parts to object structures</a:t>
            </a:r>
          </a:p>
        </p:txBody>
      </p:sp>
      <p:pic>
        <p:nvPicPr>
          <p:cNvPr id="6" name="s_dict.png" descr="s_d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9868" y="1225296"/>
            <a:ext cx="4251960" cy="2875788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4265676"/>
            <a:ext cx="11247120" cy="1563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 unified representation (RCMs) and learning, level by level.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Bridges the gap between generic features (L0, L1) and specific object structures (L4).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Concept: a dictionary entry, a cluster of compositions of three concepts of the level below.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L. Zhu, C. Lin, H. Huang, Y. Chen and A. Yuille, “Unsupervised structure learning: hierarchical recursive composition, suspicious coincidence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and competitive exclusion,” ECCV, LNCS 5303, 759–773, 2008.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28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Learning a hierarchy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Bottom-up learning composes, clusters, prunes and excludes</a:t>
            </a:r>
          </a:p>
        </p:txBody>
      </p:sp>
      <p:pic>
        <p:nvPicPr>
          <p:cNvPr id="6" name="f_bottomup.png" descr="f_bottom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710" y="1225296"/>
            <a:ext cx="10956275" cy="2952520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4342408"/>
            <a:ext cx="11247120" cy="1563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Composition proposes candidate triplets; clustering turns them into concepts at the next level.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Suspicious coincidence: a concept is kept only if it occurs in at least 90 % of the training images.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Competitive exclusion: concepts that explain overlapping parts of the image compete; the best is kept.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L. Zhu, C. Lin, H. Huang, Y. Chen and A. Yuille, “Unsupervised structure learning: hierarchical recursive composition, suspicious coincidence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and competitive exclusion,” ECCV, LNCS 5303, 759–773, 2008.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29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Learning a hierarchy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Dictionary size, part sharing and computational complexity</a:t>
            </a:r>
          </a:p>
        </p:txBody>
      </p:sp>
      <p:pic>
        <p:nvPicPr>
          <p:cNvPr id="6" name="t_dict.png" descr="t_d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8" y="1595628"/>
            <a:ext cx="6784848" cy="2395728"/>
          </a:xfrm>
          <a:prstGeom prst="rect">
            <a:avLst/>
          </a:prstGeom>
        </p:spPr>
      </p:pic>
      <p:pic>
        <p:nvPicPr>
          <p:cNvPr id="7" name="f_concepts.png" descr="f_concep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1476" y="1225296"/>
            <a:ext cx="3867912" cy="3136392"/>
          </a:xfrm>
          <a:prstGeom prst="rect">
            <a:avLst/>
          </a:prstGeom>
        </p:spPr>
      </p:pic>
      <p:sp>
        <p:nvSpPr>
          <p:cNvPr id="8" name="body 8"/>
          <p:cNvSpPr txBox="1"/>
          <p:nvPr/>
        </p:nvSpPr>
        <p:spPr>
          <a:xfrm>
            <a:off x="640080" y="4526280"/>
            <a:ext cx="11247120" cy="1563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Each step cuts the number of proposals: up to two million compositions become 2 to 116 concepts.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chart: how many instances of each concept appear per image; low-level concepts are shared more.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Times in seconds for the 12 training images; the levels above 2 get cheaper.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L. Zhu, C. Lin, H. Huang, Y. Chen and A. Yuille, “Unsupervised structure learning: hierarchical recursive composition, suspicious coincidence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and competitive exclusion,” ECCV, LNCS 5303, 759–773, 2008.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30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Learning a hierarchy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Top-down refinement fills in missing parts</a:t>
            </a:r>
          </a:p>
        </p:txBody>
      </p:sp>
      <p:pic>
        <p:nvPicPr>
          <p:cNvPr id="6" name="s_topdown.png" descr="s_top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0412" y="1225296"/>
            <a:ext cx="4690872" cy="2770632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4160520"/>
            <a:ext cx="11247120" cy="19933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Fill in missing parts: examine every node from top to bottom.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Dashed boxes: parts learnt top-down, where clustering finds no small regularities (legs, head, back).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Coloured rectangles mark the same structures across levels; top left: the bottom-up result.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top-down process also adds a dense representation at the lowest level, for segmentation.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L. Zhu, C. Lin, H. Huang, Y. Chen and A. Yuille, “Unsupervised structure learning: hierarchical recursive composition, suspicious coincidence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and competitive exclusion,” ECCV, LNCS 5303, 759–773, 2008.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31</a:t>
            </a:r>
          </a:p>
        </p:txBody>
      </p:sp>
      <p:sp>
        <p:nvSpPr>
          <p:cNvPr id="4" name="divnum 4"/>
          <p:cNvSpPr txBox="1"/>
          <p:nvPr/>
        </p:nvSpPr>
        <p:spPr>
          <a:xfrm>
            <a:off x="640080" y="1874520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5</a:t>
            </a:r>
          </a:p>
        </p:txBody>
      </p:sp>
      <p:sp>
        <p:nvSpPr>
          <p:cNvPr id="5" name="divname 5"/>
          <p:cNvSpPr txBox="1"/>
          <p:nvPr/>
        </p:nvSpPr>
        <p:spPr>
          <a:xfrm>
            <a:off x="2880360" y="822960"/>
            <a:ext cx="9052560" cy="2212848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sz="44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Part sharing for many objects</a:t>
            </a:r>
          </a:p>
        </p:txBody>
      </p:sp>
      <p:sp>
        <p:nvSpPr>
          <p:cNvPr id="6" name="divsub 6"/>
          <p:cNvSpPr txBox="1"/>
          <p:nvPr/>
        </p:nvSpPr>
        <p:spPr>
          <a:xfrm>
            <a:off x="2944368" y="3401568"/>
            <a:ext cx="89611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Objects and viewpoints share parts:</a:t>
            </a:r>
            <a:b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</a:br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low-level parts are generic, high-level parts are specific.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32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Part sharing for many objects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Different objects and viewpoints can share parts</a:t>
            </a:r>
          </a:p>
        </p:txBody>
      </p:sp>
      <p:pic>
        <p:nvPicPr>
          <p:cNvPr id="6" name="s_carsbikes.png" descr="s_carsbik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3192" y="1225296"/>
            <a:ext cx="5925312" cy="2189988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3579876"/>
            <a:ext cx="11247120" cy="1563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Strategy: share parts between different objects and viewpoints.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Shared parts are learnt from object boundaries, without object labels.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Structure induction learns the graph structures and the parameters; masks are learnt with supervision.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L. Zhu, Y. Chen, A. Torralba, W. Freeman and A. Yuille, “Part and appearance sharing: recursive compositional models for multi-view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multi-object detection,” CVPR, 1919–1926, 2010.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33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Part sharing for many objects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120 templates cover 26 classes in several viewpoints</a:t>
            </a:r>
          </a:p>
        </p:txBody>
      </p:sp>
      <p:pic>
        <p:nvPicPr>
          <p:cNvPr id="6" name="s_silh.png" descr="s_sil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4612" y="1225296"/>
            <a:ext cx="6062472" cy="3264408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4654296"/>
            <a:ext cx="11247120" cy="1481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26 object classes from LabelMe, each from several viewpoints: 120 object / viewpoint templates.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number of viewpoints varies from class to class.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L. Zhu, Y. Chen, A. Torralba, W. Freeman and A. Yuille, “Part and appearance sharing: recursive compositional models for multi-view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multi-object detection,” CVPR, 1919–1926, 2010.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B. C. Russell, A. Torralba, K. P. Murphy and W. T. Freeman, “LabelMe: a database and web-based tool for image annotation,”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International Journal of Computer Vision, 77(1–3):157–173, 2008.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34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Part sharing for many objects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Learn a hierarchical dictionary by suspicious coincidences</a:t>
            </a:r>
          </a:p>
        </p:txBody>
      </p:sp>
      <p:pic>
        <p:nvPicPr>
          <p:cNvPr id="6" name="s_hdict.png" descr="s_hd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4622" y="1225296"/>
            <a:ext cx="5902452" cy="3593592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4983480"/>
            <a:ext cx="11247120" cy="11338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Low-level to mid-level to high-level parts, learnt by suspicious coincidences.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 5-level dictionary (L0 to L4) for the 120 templates: the mean shapes of the parts at each level.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L. Zhu, Y. Chen, A. Torralba, W. Freeman and A. Yuille, “Part and appearance sharing: recursive compositional models for multi-view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multi-object detection,” CVPR, 1919–1926, 2010.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35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Part sharing for many objects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Part sharing decreases with levels</a:t>
            </a:r>
          </a:p>
        </p:txBody>
      </p:sp>
      <p:pic>
        <p:nvPicPr>
          <p:cNvPr id="6" name="s_sharemat.png" descr="s_sharem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0312" y="1225296"/>
            <a:ext cx="6291072" cy="3671316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5061204"/>
            <a:ext cx="11247120" cy="11338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Columns: the 120 object / viewpoint models. Rows: parts of the dictionary, level 1 at the top.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Black: the part is used by the model. Low-level parts are used by almost all objects.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L. Zhu, Y. Chen, A. Torralba, W. Freeman and A. Yuille, “Part and appearance sharing: recursive compositional models for multi-view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multi-object detection,” CVPR, 1919–1926, 2010.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36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Part sharing for many objects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RCMs are comparable to the state of the art on single classes</a:t>
            </a:r>
          </a:p>
        </p:txBody>
      </p:sp>
      <p:pic>
        <p:nvPicPr>
          <p:cNvPr id="6" name="f_pr.png" descr="f_p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710" y="1225296"/>
            <a:ext cx="10956275" cy="2407186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3797074"/>
            <a:ext cx="11247120" cy="2258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RCMs (blue) against the best methods of the time, on three single-class datasets.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Precision: fraction of detections that are correct; recall: fraction of objects found; AP: average precision.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AUC: area under the curve (b). HOG + SVM: gradient histograms and a support vector machine.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L. Zhu, Y. Chen, A. Torralba, W. Freeman and A. Yuille, “Part and appearance sharing: recursive compositional models for multi-view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multi-object detection,” CVPR, 1919–1926, 2010.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A. Thomas, V. Ferrari, B. Leibe, T. Tuytelaars, B. Schiele and L. Van Gool, “Towards multi-view object class detection,” CVPR, 1589–1596, 2006.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S. Savarese and L. Fei-Fei, “3D generic object categorization, localization and pose estimation,” ICCV, 1–8, 2007.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J. Shotton, A. Blake and R. Cipolla, “Efficiently combining contour and texture cues for object recognition,” BMVC, 2008.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N. Dalal and B. Triggs, “Histograms of oriented gradients for human detection,” CVPR, 886–893, 2005.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37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Part sharing for many objects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Unsupervised structure learning is possible but very hard</a:t>
            </a:r>
          </a:p>
        </p:txBody>
      </p:sp>
      <p:sp>
        <p:nvSpPr>
          <p:cNvPr id="6" name="body 6"/>
          <p:cNvSpPr txBox="1"/>
          <p:nvPr/>
        </p:nvSpPr>
        <p:spPr>
          <a:xfrm>
            <a:off x="640080" y="1225296"/>
            <a:ext cx="11247120" cy="1170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Question: can limited extra information, e.g. one annotated example of the object, make it much easier?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How do humans learn object structure? In a life-long manner since infancy.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Infants learn by interacting with the world, touching and playing with objects, not just by seeing images.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38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Part sharing for many objects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Summary</a:t>
            </a:r>
          </a:p>
        </p:txBody>
      </p:sp>
      <p:sp>
        <p:nvSpPr>
          <p:cNvPr id="6" name="summary 6"/>
          <p:cNvSpPr txBox="1"/>
          <p:nvPr/>
        </p:nvSpPr>
        <p:spPr>
          <a:xfrm>
            <a:off x="640080" y="1481328"/>
            <a:ext cx="1124712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Objects are compositions of semantic parts and subparts: a hierarchical graph.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 probability model on it: graph, state variables, potentials and weights; an exponential (Gibbs) model.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Three tasks: inference (bottom-up and top-down), learning the weights, and structure induction.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AND/OR graphs: AND nodes compose parts, OR nodes switch them for different poses and viewpoints.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Unsupervised structure learning: PGMMs grow the graph triplet by triplet while the score improves.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Bottom-up: compose, cluster, keep suspicious coincidences, exclude competitors; then refine top-down.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Sharing parts across objects and viewpoints makes many models efficient; sharing decreases with level.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Compositional models are challenging, but multi-task, interpretable and promising for domain transfer.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809</TotalTime>
  <Words>3779</Words>
  <Application>Microsoft Macintosh PowerPoint</Application>
  <PresentationFormat>Widescreen</PresentationFormat>
  <Paragraphs>330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7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Compositional (Semantic) Models and Unsupervised Graph Structure Learning</dc:title>
  <dc:subject/>
  <dc:creator>Alan Yuille</dc:creator>
  <cp:keywords/>
  <dc:description/>
  <cp:lastModifiedBy>Jeremy Chen</cp:lastModifiedBy>
  <cp:revision>1</cp:revision>
  <dcterms:created xsi:type="dcterms:W3CDTF">2013-01-27T09:14:16Z</dcterms:created>
  <dcterms:modified xsi:type="dcterms:W3CDTF">2026-10-05T12:00:00Z</dcterms:modified>
  <cp:category/>
</cp:coreProperties>
</file>