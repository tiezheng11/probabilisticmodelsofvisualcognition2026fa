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584"/>
  </p:normalViewPr>
  <p:slideViewPr>
    <p:cSldViewPr snapToGrid="0" snapToObjects="1">
      <p:cViewPr varScale="1">
        <p:scale>
          <a:sx n="110" d="100"/>
          <a:sy n="110" d="100"/>
        </p:scale>
        <p:origin x="65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69CEB0-AA0B-D145-B4E6-35C9BFEBBA17}"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4D186F-95C8-254C-BBCD-188220FF3D3B}" type="slidenum">
              <a:rPr lang="en-US" smtClean="0"/>
              <a:t>‹#›</a:t>
            </a:fld>
            <a:endParaRPr lang="en-US"/>
          </a:p>
        </p:txBody>
      </p:sp>
    </p:spTree>
    <p:extLst>
      <p:ext uri="{BB962C8B-B14F-4D97-AF65-F5344CB8AC3E}">
        <p14:creationId xmlns:p14="http://schemas.microsoft.com/office/powerpoint/2010/main" val="4215164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of the semantic segmentation lecture and the plan of this one. Notation follows Alan's beamer notes (MeanFieldTheoryMarkovModels): z input, x output, y line processes, phi unary, psi pairwise, B(x) with pseudo-marginals b. The segmentation lecture wrote I, Q and q for z, B and b.</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section 0.2, 'Two Models'. The graphs are Alan's Figure 0.1 (the bitmap of the notes, 122 dpi at this size); the small-print legend of the original was re-set at a readable size.</a:t>
            </a:r>
          </a:p>
          <a:p>
            <a:endParaRPr/>
          </a:p>
          <a:p>
            <a:r>
              <a:t>e05_vars:</a:t>
            </a:r>
          </a:p>
          <a:p>
            <a:r>
              <a:t>$\z=\{z_i : i\in\mathcal{D}\}\ \text{input},\qquad \x=\{x_i : i\in\mathcal{D}\}\ \text{output},\qquad \y=\{y_{ij}\}\ \text{hidden line processes}$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MRF applications (1). The notes write z_i in {0,255}; the set of grey levels {0,...,255} is meant. Figure: a synthetic 64 x 64 scene (disk and rectangle, Gaussian noise of 9 grey levels); the labels are a threshold on the gradient magnitude of the smoothed image, computed pixel by pixel. MSRC: 23 object classes, of which 21 are used in the usual benchmark (the segmentation lecture quoted the 21).</a:t>
            </a:r>
          </a:p>
          <a:p>
            <a:endParaRPr/>
          </a:p>
          <a:p>
            <a:r>
              <a:t>e06_label:</a:t>
            </a:r>
          </a:p>
          <a:p>
            <a:r>
              <a:t>$\z=\{z_i : i\in\mathcal{D}\},\quad z_i\in\{0,\dots,255\};\qquad\quad \x=\{x_i : i\in\mathcal{D}\},\quad x_i\in\mathcal{L}$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MRF applications (2) and Figure 0.2 (bitmap of the notes, 106 dpi at this size). Centre: current models put a weak smoothness prior on the disparity over the lattice. Far side: earlier models assumed the disparity independent across epipolar lines, which gives chains, where inference can be done by dynamic programming.</a:t>
            </a:r>
          </a:p>
          <a:p>
            <a:endParaRPr/>
          </a:p>
          <a:p>
            <a:r>
              <a:t>e07_stereo:</a:t>
            </a:r>
          </a:p>
          <a:p>
            <a:r>
              <a:t>$\z=(\z^L,\z^R)\ \ \text{left and right images},\qquad\quad x_i=\text{disparity at pixel } 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MRF formulation and MRF summary. The sum over ij in E counts every edge once, as in the segmentation lecture.</a:t>
            </a:r>
          </a:p>
          <a:p>
            <a:endParaRPr/>
          </a:p>
          <a:p>
            <a:r>
              <a:t>e08_gibbs:</a:t>
            </a:r>
          </a:p>
          <a:p>
            <a:r>
              <a:t>$\displaystyle P(\x\mid\z)=\frac{1}{Z(\z)}\exp\Big\{-\ub{{\color{ublue}\sum_{i\in\mathcal{V}}\phi_i(x_i,\z)}}{\color{ublue}unary potentials}-\ub{{\color{uteal}\sum_{ij\in\mathcal{E}}\psi_{ij}(x_i,x_j)}}{\color{uteal}pairwise potentials}\Big\}$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potential functions. The notes write phi(x_i, z) = g(z)_i, which does not depend on the label; g is taken here to give one cost for every label at pixel i, and phi picks the entry of label x_i (for a classifier that outputs probabilities, the cost is the negative log probability). The disparity x_i is signed, position in the right image minus position in the left image, the convention kept in the stereo section. Figure: two synthetic scanlines, the right one is the left one displaced by 6 pixels plus noise; f is a window of 7 intensities; the unary potential at one pixel has its minimum at the true disparity and several shallow rivals, which is what the smoothness prior resolves.</a:t>
            </a:r>
          </a:p>
          <a:p>
            <a:endParaRPr/>
          </a:p>
          <a:p>
            <a:r>
              <a:t>e09_label:</a:t>
            </a:r>
          </a:p>
          <a:p>
            <a:r>
              <a:t>$\text{labelling:}\ \ \phi_i(x_i,\z)=g_{x_i}(\z)_i\qquad\quad \text{stereo:}\ \ \phi(x_i,\z^L,\z^R)=\big|\,f(\z^L)_i-f(\z^R)_{i+x_i}\big|$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MRF summary and goal. Figure: three binary nodes on a chain with phi = (-1.2, 0.4, -0.8) and psi_12 = psi_23 = -1 (the chain of the segmentation lecture). P = 0.016, 0.036, 0.011, 0.066, 0.054, 0.121, 0.099, 0.597 for 000 ... 111; marginals P(x_i = 1) = 0.870, 0.773, 0.820.</a:t>
            </a:r>
          </a:p>
          <a:p>
            <a:endParaRPr/>
          </a:p>
          <a:p>
            <a:r>
              <a:t>e10_goal:</a:t>
            </a:r>
          </a:p>
          <a:p>
            <a:r>
              <a:t>$\displaystyle \x^*=\arg\max_{\x}P(\x\mid\z)\ \ \text{MAP estimate},\qquad\quad p_i(x_i)=\sum_{\x/i}P(\x\mid\z),\ \ \forall i\in\mathcal{V}\ \ \text{marginals}$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weak membrane model. Figure: 60 samples of a piecewise smooth signal (levels 0.25, a slow ramp from 0.75, 0.40) plus Gaussian noise of standard deviation 0.06. The estimate is the EM solution shown later (tau = 60, A = 600, B = 6); the two line processes with b &gt; 0.5 sit at the two true discontinuities.</a:t>
            </a:r>
          </a:p>
          <a:p>
            <a:endParaRPr/>
          </a:p>
          <a:p>
            <a:r>
              <a:t>e11_lines:</a:t>
            </a:r>
          </a:p>
          <a:p>
            <a:r>
              <a:t>$\y=\{y_{ij} : (i,j)\in\mathcal{E}\},\qquad y_{ij}\in\{0,1\}$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weak membrane formulation. The intensity variables x, z are continuous and the line process variables are binary. Figure: the cost of one edge as a function of x_i - x_j for the two values of y_ij; the lower envelope min(A d^2, B) is what the model pays after the better choice of y_ij (minimising over y). Summing over y instead, as EM does, gives -log(exp{-A d^2} + exp{-B}), a smooth version of the same curve.</a:t>
            </a:r>
          </a:p>
          <a:p>
            <a:endParaRPr/>
          </a:p>
          <a:p>
            <a:r>
              <a:t>e12_gen:</a:t>
            </a:r>
          </a:p>
          <a:p>
            <a:r>
              <a:t>$\displaystyle P(\z\mid\x)=\prod_{i\in\mathcal{D}}\sqrt{\frac{\tau}{\pi}}\,\exp\big\{-\tau\,(z_i-x_i)^2\big\},\qquad\quad P(\x,\y)\propto\exp\{-E(\x,\y)\}$</a:t>
            </a:r>
          </a:p>
          <a:p>
            <a:endParaRPr/>
          </a:p>
          <a:p>
            <a:r>
              <a:t>e12_energy:</a:t>
            </a:r>
          </a:p>
          <a:p>
            <a:r>
              <a:t>$\displaystyle E(\x,\y)=\ub{{\color{uteal}A\sum_{(i,j)\in\mathcal{E}}(x_i-x_j)^2\,(1-y_{ij})}}{\color{uteal}smoothness, switched off where $y_{ij}=1$}+\ub{{\color{uorange}B\sum_{(i,j)\in\mathcal{E}}y_{ij}}}{\color{uorange}a penalty for every break}$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0.2, weak membrane inference challenge. The figure is a schematic of line processes on a pixel lattice.</a:t>
            </a:r>
          </a:p>
          <a:p>
            <a:endParaRPr/>
          </a:p>
          <a:p>
            <a:r>
              <a:t>e13_post:</a:t>
            </a:r>
          </a:p>
          <a:p>
            <a:r>
              <a:t>$P(\x,\y\mid\z)\ \propto\ P(\z\mid\x)\,P(\x,\y)$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 Figure: two binary nodes with phi = (1.0, 2.2) and psi_12 = -3.5. On the discrete side the lowest-energy configuration is (1,1); on the continuous side the contours are the mean field free energy of the same model and the path is steepest descent from b = (0.2, 0.3).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0.3.1, basic idea of MFT: specify a class of approximating distributions, a similarity measure, and an algorithm that finds the most similar member B*.</a:t>
            </a:r>
          </a:p>
          <a:p>
            <a:endParaRPr/>
          </a:p>
          <a:p>
            <a:r>
              <a:t>e16_B:</a:t>
            </a:r>
          </a:p>
          <a:p>
            <a:r>
              <a:t>$\displaystyle B(\x)=\prod_{i\in\mathcal{V}}b_i(x_i),\quad b_i(x_i)\geq 0,\quad \sum_{x_i}b_i(x_i)=1;\qquad\quad KL(B,P)=\sum_{\x}B(\x)\log\frac{B(\x)}{P(\x)}$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0.3.1, mean field free energy. For M labels the entropy term of node i is the sum over l of b_il log b_il, with b_il = b_i(x_i = l) and the b_il summing to one. Note on signs: the notes (page 13) write F = sum B E - sum B log B; the entropy enters as + sum B log B, as on page 14 and here.</a:t>
            </a:r>
          </a:p>
          <a:p>
            <a:endParaRPr/>
          </a:p>
          <a:p>
            <a:r>
              <a:t>e17_F1:</a:t>
            </a:r>
          </a:p>
          <a:p>
            <a:r>
              <a:t>$\displaystyle \mathcal{F}_{\mathrm{MFT}}(\bb)=\ub{{\color{uteal}\sum_{ij\in\mathcal{E}}\sum_{x_i,x_j}b_i(x_i)\,b_j(x_j)\,\psi_{ij}(x_i,x_j)}}{\color{uteal}expected pairwise potentials}+\ub{{\color{ublue}\sum_{i\in\mathcal{V}}\sum_{x_i}b_i(x_i)\,\phi_i(x_i,\z)}}{\color{ublue}expected unary potentials}+\ub{{\color{upurple}\sum_{i\in\mathcal{V}}\sum_{x_i}b_i(x_i)\log b_i(x_i)}}{\color{upurple}negative entropy}$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0.3.2. Note on signs: the notes write log Z &gt;= min F_MFT; from KL = F_MFT + log Z &gt;= 0 the bound is log Z &gt;= - min F_MFT, as here. Bridge to the segmentation lecture: there F[Q] was defined as the whole KL divergence, so F_L6[Q] = F_MFT(B) + log Z with B = Q; the minimiser is the same.</a:t>
            </a:r>
          </a:p>
          <a:p>
            <a:endParaRPr/>
          </a:p>
          <a:p>
            <a:r>
              <a:t>e18_KL:</a:t>
            </a:r>
          </a:p>
          <a:p>
            <a:r>
              <a:t>$\displaystyle KL(B,P)=\sum_{\x}B(\x)E(\x)+\sum_{\x}B(\x)\log B(\x)+\log Z=\mathcal{F}_{\mathrm{MFT}}(B)+\log Z$</a:t>
            </a:r>
          </a:p>
          <a:p>
            <a:endParaRPr/>
          </a:p>
          <a:p>
            <a:r>
              <a:t>e18_bound:</a:t>
            </a:r>
          </a:p>
          <a:p>
            <a:r>
              <a:t>$\displaystyle KL(B,P)\geq 0\quad\Longrightarrow\quad \log Z\ \geq\ -\min_{B}\mathcal{F}_{\mathrm{MFT}}(B)$</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0.3.1, weak membrane free energy. b_ij = b_ij(y_ij = 1). The energy is linear in each y_ij, so P(y | x, z) factorises over the edges. Exact refers to this step: for fixed x the minimum over B equals -log P(x | z) up to a constant, since F_EM(B, x) = KL(B || P(y | x, z)) - log P(x | z). It does not mean that the alternation finds the global minimum over x.</a:t>
            </a:r>
          </a:p>
          <a:p>
            <a:endParaRPr/>
          </a:p>
          <a:p>
            <a:r>
              <a:t>e19_F1:</a:t>
            </a:r>
          </a:p>
          <a:p>
            <a:r>
              <a:t>$\displaystyle \mathcal{F}_{\mathrm{MFT}}(\bb,\x)=\ub{{\color{ublue}\tau\sum_{i\in\mathcal{V}}(x_i-z_i)^2}}{\color{ublue}data}+\ub{{\color{uteal}A\sum_{ij\in\mathcal{E}}(1-b_{ij})\,(x_i-x_j)^2}}{\color{uteal}smoothness}+\ub{{\color{uorange}B\sum_{ij\in\mathcal{E}}b_{ij}}}{\color{uorange}penalty}$</a:t>
            </a:r>
          </a:p>
          <a:p>
            <a:endParaRPr/>
          </a:p>
          <a:p>
            <a:r>
              <a:t>e19_F2:</a:t>
            </a:r>
          </a:p>
          <a:p>
            <a:r>
              <a:t>$\displaystyle \phantom{\mathcal{F}_{\mathrm{MFT}}(\bb,\x)=}+\ub{{\color{upurple}\sum_{ij\in\mathcal{E}}\big\{b_{ij}\log b_{ij}+(1-b_{ij})\log(1-b_{ij})\big\}}}{\color{upurple}negative entropy of the line processes}$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0.3.2, EM free energy. The staircase is the free energy of the weak membrane example after each half-step of the alternation (computed, tau = 60, A = 600, B = 6). The second lecture of the week treats EM in depth.</a:t>
            </a:r>
          </a:p>
          <a:p>
            <a:endParaRPr/>
          </a:p>
          <a:p>
            <a:r>
              <a:t>e20_FEM:</a:t>
            </a:r>
          </a:p>
          <a:p>
            <a:r>
              <a:t>$\displaystyle \mathcal{F}_{\mathrm{EM}}(B,\x)=-\sum_{\y}B(\y)\log P(\x,\y\mid\z)+\sum_{\y}B(\y)\log B(\y)$</a:t>
            </a:r>
          </a:p>
          <a:p>
            <a:endParaRPr/>
          </a:p>
          <a:p>
            <a:r>
              <a:t>e20_min:</a:t>
            </a:r>
          </a:p>
          <a:p>
            <a:r>
              <a:t>$\displaystyle \text{global minimum:}\quad \x^*=\arg\min_{\x}\{-\log P(\x\mid\z)\},\qquad B(\y)=P(\y\mid\x^*,\z)$</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0.3.2, EM algorithm for the basic weak membrane model. Two corrections to the notes: (1) the step labels at the top of the page are interchanged with respect to the last two bullets of the same page; the update of B(y) is the E-step and the minimisation over x is the M-step, as the last two bullets say; (2) the smoothing weight is (1 - b_ij), which is what the free energy gives; the notes write b_ij. Figure: the same 60-sample signal, tau = 60, A = 600, B = 6; the M-step is a tridiagonal linear system solved exactly.</a:t>
            </a:r>
          </a:p>
          <a:p>
            <a:endParaRPr/>
          </a:p>
          <a:p>
            <a:r>
              <a:t>e21_E:</a:t>
            </a:r>
          </a:p>
          <a:p>
            <a:r>
              <a:t>$\displaystyle \text{E-step:}\quad {\color{uorange}b_{ij}=\frac{1}{1+\exp\big\{-A\,(x_i-x_j)^2+B\big\}}}$</a:t>
            </a:r>
          </a:p>
          <a:p>
            <a:endParaRPr/>
          </a:p>
          <a:p>
            <a:r>
              <a:t>e21_M:</a:t>
            </a:r>
          </a:p>
          <a:p>
            <a:r>
              <a:t>$\displaystyle \text{M-step:}\quad {\color{ublue}\x=\arg\min_{\x}\Big\{\sum_{i}\tau\,(x_i-z_i)^2+A\sum_{(i,j)\in\mathcal{E}}(1-b_{ij})\,(x_i-x_j)^2\Big\}}$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0.3.2, modified weak membrane model. E_y is the set of pairs of interacting line processes.</a:t>
            </a:r>
          </a:p>
          <a:p>
            <a:endParaRPr/>
          </a:p>
          <a:p>
            <a:r>
              <a:t>e22_F1:</a:t>
            </a:r>
          </a:p>
          <a:p>
            <a:r>
              <a:t>$\displaystyle \mathcal{F}_{\mathrm{MFT}}(\bb,\x)=\tau\sum_{i\in\mathcal{V}}(x_i-z_i)^2+A\sum_{ij\in\mathcal{E}}(1-b_{ij})\,(x_i-x_j)^2+B\sum_{ij\in\mathcal{E}}b_{ij}$</a:t>
            </a:r>
          </a:p>
          <a:p>
            <a:endParaRPr/>
          </a:p>
          <a:p>
            <a:r>
              <a:t>e22_F2:</a:t>
            </a:r>
          </a:p>
          <a:p>
            <a:r>
              <a:t>$\displaystyle \phantom{\mathcal{F}_{\mathrm{MFT}}}+\ub{{\color{uorange}C\!\!\sum_{(ij)\times(kl)\in\mathcal{E}_y}\!\!b_{ij}\,b_{kl}}}{\color{uorange}interacting line processes}+\sum_{ij\in\mathcal{E}}\big\{b_{ij}\log b_{ij}+(1-b_{ij})\log(1-b_{ij})\big\}$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0.3.3. Binary labels with bilinear potentials, as in the segmentation lecture. The notes print the gradient with a factor 2 and opposite signs; with every edge counted once in F_MFT the derivative is sum_j psi_ij b_j + phi_i + log(b_i / (1 - b_i)), which is the form that reproduces the update of the segmentation lecture. Figure: phi = (1.0, 2.2), psi_12 = -3.5, start (0.2, 0.3), time step 0.01.</a:t>
            </a:r>
          </a:p>
          <a:p>
            <a:endParaRPr/>
          </a:p>
          <a:p>
            <a:r>
              <a:t>e24_bin:</a:t>
            </a:r>
          </a:p>
          <a:p>
            <a:r>
              <a:t>$x_i\in\{0,1\},\qquad \psi_{ij}(x_i,x_j)=\psi_{ij}\,x_i x_j,\qquad \phi_i(x_i)=\phi_i\,x_i,\qquad b_i=b_i(x_i=1)$</a:t>
            </a:r>
          </a:p>
          <a:p>
            <a:endParaRPr/>
          </a:p>
          <a:p>
            <a:r>
              <a:t>e24_flow:</a:t>
            </a:r>
          </a:p>
          <a:p>
            <a:r>
              <a:t>$\displaystyle \frac{db_i}{dt}=-\frac{\partial\mathcal{F}_{\mathrm{MFT}}}{\partial b_i}=-\sum_{j}\psi_{ij}\,b_j-\phi_i-\log\frac{b_i}{1-b_i},\qquad\quad \frac{d\mathcal{F}_{\mathrm{MFT}}}{dt}=-\sum_i\Big\{\frac{\partial\mathcal{F}_{\mathrm{MFT}}}{\partial b_i}\Big\}^2\leq 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0.3.3, variants. db_i/dt = -b_i(1 - b_i) dF/db_i is the same flow as du_i/dt = -dF/db_i, because db_i/du_i = b_i(1 - b_i). The notes write du_i/dt = dF/db_i without the minus sign. Substituting the gradient of the binary free energy gives the leaky integrator on the slide.</a:t>
            </a:r>
          </a:p>
          <a:p>
            <a:endParaRPr/>
          </a:p>
          <a:p>
            <a:r>
              <a:t>e25_hop:</a:t>
            </a:r>
          </a:p>
          <a:p>
            <a:r>
              <a:t>$\displaystyle \frac{du_i}{dt}=-\frac{\partial\mathcal{F}_{\mathrm{MFT}}}{\partial b_i}=-u_i-\sum_j\psi_{ij}\,b_j-\phi_i,\qquad\quad u_i=\log\frac{b_i}{1-b_i},\quad b_i=\frac{1}{1+\exp\{-u_i\}}$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0.3.3 (practical problems) and 0.3.4. Figure: the two-node free energy, start (0.2, 0.3). Time step 0.03: 134 steps to come within 0.01 of the minimum. Time step 0.27: the iterates overshoot and leave the unit square after 6 steps. DIA (sequential sigmoid updates): 15 half-steps. Historically DIAs came from fixed-point conditions and convergence was not always guaranteed.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0.3.4 and Alan's Figure 0.3 (bitmap of the notes, 107 dpi at this size; the small print inside the two plots on the side repeats the headings). The second line is the whole argument: the next state lowers the bound, the bound lies above E, and the bound touches E at the current state. The method is useful when the bound is practical to minimise. CCCP bound: E_b(x : x^t) = E_vex(x) + E_cave(x^t) + (x - x^t) . dE_cave/dx(x^t); the next state solves dE_vex/dx(x^{t+1}) = -dE_cave/dx(x^t). Figure and CCCP: A. L. Yuille and A. Rangarajan, 'The concave-convex procedure', Neural Computation 15(4), 2003; A. L. Yuille, 'Loopy belief propagation, mean field theory, and Bethe approximations', MIT Press, 2011.</a:t>
            </a:r>
          </a:p>
          <a:p>
            <a:endParaRPr/>
          </a:p>
          <a:p>
            <a:r>
              <a:t>e27_bound:</a:t>
            </a:r>
          </a:p>
          <a:p>
            <a:r>
              <a:t>$E_b(\x^{t}:\x^{t})=E(\x^{t}),\qquad E(\x)\leq E_b(\x:\x^{t})\ \ \text{for every } \x$</a:t>
            </a:r>
          </a:p>
          <a:p>
            <a:endParaRPr/>
          </a:p>
          <a:p>
            <a:r>
              <a:t>e27_chain:</a:t>
            </a:r>
          </a:p>
          <a:p>
            <a:r>
              <a:t>$E(\x^{t+1})\ \leq\ E_b(\x^{t+1}:\x^{t})\ \leq\ E_b(\x^{t}:\x^{t})\ =\ E(\x^{t})$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0.3.4, DIA update equation. The notes use z_i as the summation variable of the denominator; it is written x_i' here because z is the input; the denominator enforces that each pseudo-marginal sums to one. What is guaranteed: F is convex in the pseudo-marginal of one node when the others are fixed (the pairwise term is linear in it), and this update is the exact minimiser, so sequential updates never increase F. Parallel updates carry no such guarantee. Example: two binary nodes with E = 10 x_1 x_2 - 5 x_1 - 5 x_2 and b = (0.1, 0.1); one parallel update gives b = (0.98, 0.98) and F rises from -1.55 to -0.36, while sequential updates go down to -5.01. CCCP and the notes: the parallel form follows from CCCP only if the energy part of F is concave in b; a pairwise term with no self-interaction never is, so the notes add and subtract alpha sum x_i^2 (zero on binary labels). With that term the CCCP update also changes, b_i &lt;- sigmoid(-phi_i - alpha - sum_j psi_ij b_j + 2 alpha b_i), a damped parallel update of a modified free energy. Figure: 48 x 48 binary scene, each pixel flipped with probability 0.22, Potts weight 1.2; one iteration updates the black pixels of a checkerboard and then the white ones, which is a sequential scheme because pixels of one colour share no edge; F decreases at every half-sweep (asserted in the code); label error 23%, 10%, 4%, 2% at iterations 0, 1, 3, 10.</a:t>
            </a:r>
          </a:p>
          <a:p>
            <a:endParaRPr/>
          </a:p>
          <a:p>
            <a:r>
              <a:t>e28_dia:</a:t>
            </a:r>
          </a:p>
          <a:p>
            <a:r>
              <a:t>$\displaystyle b_i^{t+1}(x_i)=\frac{\exp\Big\{-\sum_j\sum_{x_j}\psi_{ij}(x_i,x_j)\,b_j^{t}(x_j)-\phi_i(x_i)\Big\}}{\sum_{x_i'}\exp\Big\{-\sum_j\sum_{x_j}\psi_{ij}(x_i',x_j)\,b_j^{t}(x_j)-\phi_i(x_i')\Big\}}$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0.3.5 and the figure of page 27 (bitmap of the notes, about 200 dpi at this size). The notes write the free energy at temperature T in the expanded form of the MRF free energy; the compact form in B(x) is used here. Bridge to the segmentation lecture: there F[Q, T] = sum Q log Q + (1/T) sum Q E + log Z_T; the form here is T (F_L6 - log Z_T), so for fixed T &gt; 0 the minimising pseudo-marginals are the same.</a:t>
            </a:r>
          </a:p>
          <a:p>
            <a:endParaRPr/>
          </a:p>
          <a:p>
            <a:r>
              <a:t>e29_gibbs:</a:t>
            </a:r>
          </a:p>
          <a:p>
            <a:r>
              <a:t>$\displaystyle P(\x;T)=\frac{1}{Z(T)}\exp\{-E(\x)/T\},\qquad \mathcal{F}_{\mathrm{MFT}}(B)=\sum_{\x}B(\x)E(\x)+\ub{{\color{upurple}T\sum_{\x}B(\x)\log B(\x)}}{\color{upurple}entropy term multiplied by $T$}$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Notes 0.3.5, continuation approach and relation to simulated annealing. Figure: two coupled binary nodes with phi = 3, psi_12 = -7 on the diagonal b_1 = b_2 = b; F(b; T) = psi b^2 + 2 phi b + 2T [b log b + (1 - b) log(1 - b)]; T = 3.2, T_c = 1.75 (= -psi/4, the temperature above which F is convex), 1.25 and 0.9. The tracked minimiser moves 0.58, 0.84, 0.95, 0.99 and ends in the global minimum; the hollow marker is the local minimum near b = 0.05. Deterministic annealing is related to the continuation method of Blake and Zisserman for the weak membrane.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pages 2-3. Figure: a random dot stereogram built for this slide: 64 x 64 dots, the central 24 x 24 square displaced by 4 pixels in the right image, the uncovered strip filled with new dots. So humans can solve stereo without first recognising objects.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page 3 and the far side of Figure 1 (vector graphic of the notes, rendered at full resolution). The legend on the side re-sets the small labels of the original at a readable size.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'A cooperative stereo model (I)' and the first Motion page. The notes index the second eye by 2 (I_2, x_2, D_2); R is used here, as in Alan's figure (I_L, I_R). The notes state the disparity as x_L - x_2 in the text and use x_2 - x_L in the energy; the slides use the signed disparity x_R - x_L throughout, which also matches the unary potential of the labelling model (right window at i + x_i). x_L and x_R are positions along corresponding epipolar lines, a different use of the letter x from the output x of the labelling model. The notes also mention the Travelling Salesman Problem as another application.</a:t>
            </a:r>
          </a:p>
          <a:p>
            <a:endParaRPr/>
          </a:p>
          <a:p>
            <a:r>
              <a:t>e34_V:</a:t>
            </a:r>
          </a:p>
          <a:p>
            <a:r>
              <a:t>$f(I_L)=\{f(x_L) : x_L\in\mathcal{D}_L\},\qquad f(I_R)=\{f(x_R) : x_R\in\mathcal{D}_R\},\qquad V(x_L,x_R)\in\{0,1\}$</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'A cooperative stereo model (II) and (III)', equation (1). The notes call T the variance of the model; it plays the role of the temperature of the previous section and is called that here. The neighbourhood sums count every pair of neighbouring candidate matches in both orders, which is where the factor 2C of the update comes from. Two-dimensional images: solve the correspondence problem for each epipolar line separately. Relation to the local model (page 10 of the notes): M(f(x_L), f(x_R)) = exp{-v(D)} with v the votes of a population of neurons tuned to disparity D = (x_R - x_L)/2 at the cyclopean position x = (x_R + x_L)/2. Discrete variant (page 9): flip one V at a time and keep the change if the energy decreases.</a:t>
            </a:r>
          </a:p>
          <a:p>
            <a:endParaRPr/>
          </a:p>
          <a:p>
            <a:r>
              <a:t>e35_P:</a:t>
            </a:r>
          </a:p>
          <a:p>
            <a:r>
              <a:t>$\displaystyle P\big(V\mid f(I_L),f(I_R)\big)=\frac{1}{Z}\exp\big\{-E\big(V;f(I_L),f(I_R)\big)/T\big\}$</a:t>
            </a:r>
          </a:p>
          <a:p>
            <a:endParaRPr/>
          </a:p>
          <a:p>
            <a:r>
              <a:t>e35_E1:</a:t>
            </a:r>
          </a:p>
          <a:p>
            <a:r>
              <a:t>$\displaystyle E\big(V;f(I_L),f(I_R)\big)=\ub{{\color{ublue}\sum_{x_L,x_R}V(x_L,x_R)\,M\big(f(x_L),f(x_R)\big)}}{\color{ublue}matches between similar features}$</a:t>
            </a:r>
          </a:p>
          <a:p>
            <a:endParaRPr/>
          </a:p>
          <a:p>
            <a:r>
              <a:t>e35_E2:</a:t>
            </a:r>
          </a:p>
          <a:p>
            <a:r>
              <a:t>$\displaystyle +\ \ub{{\color{ured}A\sum_{x_L}\Big(\sum_{x_R}V(x_L,x_R)-1\Big)^2+A\sum_{x_R}\Big(\sum_{x_L}V(x_L,x_R)-1\Big)^2}}{\color{ured}every point matched once}$</a:t>
            </a:r>
          </a:p>
          <a:p>
            <a:endParaRPr/>
          </a:p>
          <a:p>
            <a:r>
              <a:t>e35_E3:</a:t>
            </a:r>
          </a:p>
          <a:p>
            <a:r>
              <a:t>$\displaystyle +\ \ub{{\color{uteal}C\sum_{x_L,x_R}\ \sum_{y_L\in N(x_L)}\ \sum_{y_R\in N(x_R)}V(x_L,x_R)\,V(y_L,y_R)\,\big\{(x_R-x_L)-(y_R-y_L)\big\}^2}}{\color{uteal}neighbouring points have similar disparities}$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'A cooperative stereo model (IV)', equation (2). q(x_L, x_R) is the pseudo-marginal of V(x_L, x_R) = 1, written q as in Alan's stereo notes (b in the earlier sections). The notes write q = 1/(1 + exp{-u}) next to u = T log q/(1 - q); the two agree for the default T = 1, and q = 1/(1 + exp{-u/T}) in general. Two departures from the notes. (1) The uniqueness terms: for binary V, E[(sum V - 1)^2] = 1 - sum q + 2 sum_{r&lt;s} q_r q_s under a factorised distribution, so the gradient is 2A(sum of the other q - 1/2); the notes have -1 in place of -1/2, which is the gradient of (sum q - 1)^2 with the self term dropped. The difference is a constant drive of A per term. (2) The last term: with C &gt; 0 it is never positive. Neighbouring matches at a different disparity suppress the unit and neighbours at the same disparity contribute zero, so matches on a smooth surface are favoured relative to their rivals; the notes call this excitation. An explicit excitatory connection, as in the Marr-Poggio network and in Alan's figure, would need a negative energy for compatible pairs. The relation of M to local disparity-tuned neurons is page 10 of the notes: M = exp{-v(D)} with v the votes for disparity D.</a:t>
            </a:r>
          </a:p>
          <a:p>
            <a:endParaRPr/>
          </a:p>
          <a:p>
            <a:r>
              <a:t>e36_u1:</a:t>
            </a:r>
          </a:p>
          <a:p>
            <a:r>
              <a:t>$\displaystyle \frac{du(x_L,x_R)}{dt}=\ub{-u(x_L,x_R)}{integration}\ \ub{{\color{ublue}-\,M\big(f(x_L),f(x_R)\big)}}{\color{ublue}feature match}$</a:t>
            </a:r>
          </a:p>
          <a:p>
            <a:endParaRPr/>
          </a:p>
          <a:p>
            <a:r>
              <a:t>e36_u1b:</a:t>
            </a:r>
          </a:p>
          <a:p>
            <a:r>
              <a:t>$\displaystyle \ub{{\color{ured}-\,2A\Big(\sum_{y_R\neq x_R}q(x_L,y_R)-\frac{1}{2}\Big)-2A\Big(\sum_{y_L\neq x_L}q(y_L,x_R)-\frac{1}{2}\Big)}}{\color{ured}inhibition between competing matches}$</a:t>
            </a:r>
          </a:p>
          <a:p>
            <a:endParaRPr/>
          </a:p>
          <a:p>
            <a:r>
              <a:t>e36_u2:</a:t>
            </a:r>
          </a:p>
          <a:p>
            <a:r>
              <a:t>$\displaystyle \ub{{\color{uteal}-\,2C\sum_{y_L\in N(x_L)}\ \sum_{y_R\in N(x_R)}q(y_L,y_R)\,\big\{(x_R-x_L)-(y_R-y_L)\big\}^2}}{\color{uteal}neighbouring matches at a different disparity are suppressed}$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Computed for this slide with the energy and the update of the two previous slides: 48 random dots, a foreground at disparity 3 over a background at disparity 0, disparities 0 to 5 allowed, M = mean absolute difference over a window of 5 dots scaled by 6, A = 1, C = 0.35, T = 1, Euler steps of 0.05. The dynamics use the corrected constant 1/2 of the previous slide; the disparity axis is x_R - x_L, so the foreground is at -3. Disparity errors out of 48 points: 14 from the features alone, 4 after the network settles (positions 14, 15, 16 and 31, at the two depth edges where points are occluded in one eye).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Stereo and Motion, pages 11-12 and Figure 2 (two bitmaps of the notes, 106 and 132 dpi at this size). The notes also cite Samonds et al. 2012; that reference could not be identified with certainty and is left off the slide. The 2013 model also accounts for anticorrelated stimuli, where the left and right images have opposite polarity. Detailed biological evidence for these models remains preliminary (summary page of the notes).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Neural Implementation notes: abstract and introduction. Multilayer perceptrons and backpropagation are chosen for convenience; the idea generalises to more biologically plausible models. The steepest descent and discrete iterative algorithms of this lecture are relaxation algorithms in this sense.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Neural Implementation notes, section 2. The network has one hidden layer. The notes call the training criterion an energy function E[omega, Lambda] that is maximised; the slide writes the arg max over the weights and leaves the letter E to the energies that are minimised. As the set of inputs grows the sum tends to sum_I P(I) log P_post(f(I; omega) | I), so P(I) never has to be known. For a Gibbs posterior log Z(I) does not depend on the weights, so training minimises the sum of E_post(f(I^mu; omega), I^mu); the prior and the likelihood are fixed in advance. If the class of networks includes the MAP estimator S*(I), E[omega] is maximised by weights with f(I; omega*) = S*(I); otherwise the result is the best approximation within the class. Stochastic training resists local minima.</a:t>
            </a:r>
          </a:p>
          <a:p>
            <a:endParaRPr/>
          </a:p>
          <a:p>
            <a:r>
              <a:t>e40_map:</a:t>
            </a:r>
          </a:p>
          <a:p>
            <a:r>
              <a:t>$\displaystyle P_{\mathrm{post}}(S\mid I)=\frac{P_{l}(I\mid S)\,P_{\mathrm{prior}}(S)}{P(I)},\qquad\quad S^*(I)=\arg\max_{S}P_{\mathrm{post}}(S\mid I)$</a:t>
            </a:r>
          </a:p>
          <a:p>
            <a:endParaRPr/>
          </a:p>
          <a:p>
            <a:r>
              <a:t>e40_E:</a:t>
            </a:r>
          </a:p>
          <a:p>
            <a:r>
              <a:t>$\displaystyle S=f(I;\omega),\qquad\quad \omega^*=\arg\max_{\omega}\sum_{\mu\in\Lambda}\log P_{\mathrm{post}}\big(f(I^{\mu};\omega)\mid I^{\mu}\big),\qquad \Lambda:\ \text{representative inputs}$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Neural Implementation notes, section 3, equation (3); the function g^p is the graduated non-convexity function of Blake and Zisserman, Visual Reconstruction, MIT Press, 1987. Graduated non-convexity is the continuation method of that book: the energy is convex in S at p = 1 (the network objective is still non-convex in the weights), and p is lowered step by step while the solution is tracked, the same idea as deterministic annealing with p in the role of T. Figure 2 of the notes compares training under this schedule (GNC) with a quadratic energy and with p fixed at 1. p = 0 is the limit of the formula, not a substitution into c = 1/(2p). The curves are computed from the formula with alpha = 0.025 and lambda = 5. At p = 0, g is min(lambda^2 t^2, alpha): the weak membrane energy after the line process is minimised out, with A = lambda^2 and B = alpha. Here q and r are break points of g, a different use of q from the stereo section.</a:t>
            </a:r>
          </a:p>
          <a:p>
            <a:endParaRPr/>
          </a:p>
          <a:p>
            <a:r>
              <a:t>e41_F:</a:t>
            </a:r>
          </a:p>
          <a:p>
            <a:r>
              <a:t>$\displaystyle F^{p}(S)=\sum_{i=0}^{N}(S_i-I_i)^2+\sum_{i=1}^{N}g^{p}(S_i-S_{i-1}),\qquad\quad g^{p}(t)=\begin{cases}\lambda^2 t^2 &amp; |t|&lt;q\\[2pt] \alpha-c\,(|t|-r)^2/2 &amp; q\leq|t|&lt;r\\[2pt] \alpha &amp; |t|\geq r\end{cases}$</a:t>
            </a:r>
          </a:p>
          <a:p>
            <a:endParaRPr/>
          </a:p>
          <a:p>
            <a:r>
              <a:t>e41_g:</a:t>
            </a:r>
          </a:p>
          <a:p>
            <a:r>
              <a:t>$\displaystyle c=\frac{1}{2p},\qquad r^2=\alpha\Big(\frac{2}{c}+\frac{1}{\lambda^2}\Big),\qquad q=\frac{\alpha}{\lambda^2 r},\qquad \alpha=0.025,\quad \lambda=5$</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Neural Implementation notes, section 3.1 and Figure 1 (a photograph of the printed page; contrast stretched, otherwise as in the notes). Piecewise constant patterns in [-0.5, 0.5] plus uniform noise in [-0.2, 0.2]. The legend of the original reads NOISY INPUT and NETWORK(25000) OUTPUT.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Neural Implementation notes, sections 3.2 and 4, Figures 3 and 4 (photographs of the printed page; contrast stretched). Figure 3, caption read from the photographed page: input to the network (I_1), output after training for 20000 iterations, output after training for 400000 iterations; the training set was 1000 randomly chosen inputs not containing I_1, and the caption adds: see Figure 4 to see that the network is not simply learning the identity map. The iteration counts are training iterations; after training each output is one feedforward pass. Figure 4: noiseless input pattern, the pattern with uniform noise of amplitude 0.1 on each pixel, and a third panel whose caption is cut off in the notes. It is labelled network output because Figure 3 says that Figure 4 shows the network is not an identity map; Alan can confirm.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63.png"/></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554480" y="-2103120"/>
            <a:ext cx="6766560" cy="676656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78240" y="3931920"/>
            <a:ext cx="4754880" cy="4754880"/>
          </a:xfrm>
          <a:prstGeom prst="ellipse">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487168"/>
            <a:ext cx="10058400" cy="1477328"/>
          </a:xfrm>
          <a:prstGeom prst="rect">
            <a:avLst/>
          </a:prstGeom>
          <a:noFill/>
        </p:spPr>
        <p:txBody>
          <a:bodyPr wrap="square" lIns="0" tIns="0" rIns="0" bIns="0">
            <a:spAutoFit/>
          </a:bodyPr>
          <a:lstStyle/>
          <a:p>
            <a:r>
              <a:rPr lang="en-US" sz="4800" b="1" i="0" dirty="0">
                <a:solidFill>
                  <a:srgbClr val="1A1A2E"/>
                </a:solidFill>
                <a:latin typeface="Cambria"/>
                <a:ea typeface="Cambria"/>
                <a:cs typeface="Cambria"/>
              </a:rPr>
              <a:t>Image Labelling, the Weak </a:t>
            </a:r>
            <a:r>
              <a:rPr lang="en-US" sz="4800" b="1" dirty="0">
                <a:solidFill>
                  <a:srgbClr val="1A1A2E"/>
                </a:solidFill>
                <a:latin typeface="Cambria"/>
                <a:ea typeface="Cambria"/>
                <a:cs typeface="Cambria"/>
              </a:rPr>
              <a:t>M</a:t>
            </a:r>
            <a:r>
              <a:rPr lang="en-US" sz="4800" b="1" i="0" dirty="0">
                <a:solidFill>
                  <a:srgbClr val="1A1A2E"/>
                </a:solidFill>
                <a:latin typeface="Cambria"/>
                <a:ea typeface="Cambria"/>
                <a:cs typeface="Cambria"/>
              </a:rPr>
              <a:t>embrane and Binocular </a:t>
            </a:r>
            <a:r>
              <a:rPr lang="en-US" sz="4800" b="1" dirty="0">
                <a:solidFill>
                  <a:srgbClr val="1A1A2E"/>
                </a:solidFill>
                <a:latin typeface="Cambria"/>
                <a:ea typeface="Cambria"/>
                <a:cs typeface="Cambria"/>
              </a:rPr>
              <a:t>S</a:t>
            </a:r>
            <a:r>
              <a:rPr lang="en-US" sz="4800" b="1" i="0" dirty="0">
                <a:solidFill>
                  <a:srgbClr val="1A1A2E"/>
                </a:solidFill>
                <a:latin typeface="Cambria"/>
                <a:ea typeface="Cambria"/>
                <a:cs typeface="Cambria"/>
              </a:rPr>
              <a:t>tereo</a:t>
            </a:r>
            <a:endParaRPr sz="4800" b="1" i="0" dirty="0">
              <a:solidFill>
                <a:srgbClr val="1A1A2E"/>
              </a:solidFill>
              <a:latin typeface="Cambria"/>
              <a:ea typeface="Cambria"/>
              <a:cs typeface="Cambria"/>
            </a:endParaRPr>
          </a:p>
        </p:txBody>
      </p:sp>
      <p:sp>
        <p:nvSpPr>
          <p:cNvPr id="5" name="TextBox 4"/>
          <p:cNvSpPr txBox="1"/>
          <p:nvPr/>
        </p:nvSpPr>
        <p:spPr>
          <a:xfrm>
            <a:off x="1097280" y="4070381"/>
            <a:ext cx="10058400" cy="649224"/>
          </a:xfrm>
          <a:prstGeom prst="rect">
            <a:avLst/>
          </a:prstGeom>
          <a:noFill/>
        </p:spPr>
        <p:txBody>
          <a:bodyPr wrap="square" lIns="0" tIns="0" rIns="0" bIns="0">
            <a:spAutoFit/>
          </a:bodyPr>
          <a:lstStyle/>
          <a:p>
            <a:r>
              <a:rPr sz="2100" b="0" i="0" dirty="0">
                <a:solidFill>
                  <a:srgbClr val="7C7C8C"/>
                </a:solidFill>
                <a:latin typeface="Calibri"/>
                <a:ea typeface="Calibri"/>
                <a:cs typeface="Calibri"/>
              </a:rPr>
              <a:t>22 September, 2026</a:t>
            </a:r>
          </a:p>
          <a:p>
            <a:r>
              <a:rPr sz="2100" b="0" i="0" dirty="0">
                <a:solidFill>
                  <a:srgbClr val="7C7C8C"/>
                </a:solidFill>
                <a:latin typeface="Calibri"/>
                <a:ea typeface="Calibri"/>
                <a:cs typeface="Calibri"/>
              </a:rPr>
              <a:t>Alan Yuille   ·   Probabilistic Models of the Visual Cortex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a:t>
            </a:r>
          </a:p>
        </p:txBody>
      </p:sp>
      <p:sp>
        <p:nvSpPr>
          <p:cNvPr id="4" name="TextBox 3"/>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What this lecture covers</a:t>
            </a:r>
          </a:p>
        </p:txBody>
      </p:sp>
      <p:sp>
        <p:nvSpPr>
          <p:cNvPr id="5" name="Rounded Rectangle 4"/>
          <p:cNvSpPr/>
          <p:nvPr/>
        </p:nvSpPr>
        <p:spPr>
          <a:xfrm>
            <a:off x="640080"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847088"/>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1</a:t>
            </a:r>
          </a:p>
        </p:txBody>
      </p:sp>
      <p:sp>
        <p:nvSpPr>
          <p:cNvPr id="8" name="TextBox 7"/>
          <p:cNvSpPr txBox="1"/>
          <p:nvPr/>
        </p:nvSpPr>
        <p:spPr>
          <a:xfrm>
            <a:off x="1572768" y="1714500"/>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Two Markov field models</a:t>
            </a:r>
          </a:p>
        </p:txBody>
      </p:sp>
      <p:sp>
        <p:nvSpPr>
          <p:cNvPr id="9" name="TextBox 8"/>
          <p:cNvSpPr txBox="1"/>
          <p:nvPr/>
        </p:nvSpPr>
        <p:spPr>
          <a:xfrm>
            <a:off x="1572768" y="2112264"/>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The pairwise model and the weak membrane</a:t>
            </a:r>
          </a:p>
        </p:txBody>
      </p:sp>
      <p:sp>
        <p:nvSpPr>
          <p:cNvPr id="10" name="Rounded Rectangle 9"/>
          <p:cNvSpPr/>
          <p:nvPr/>
        </p:nvSpPr>
        <p:spPr>
          <a:xfrm>
            <a:off x="6236208" y="1481328"/>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92240" y="1764792"/>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847088"/>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2</a:t>
            </a:r>
          </a:p>
        </p:txBody>
      </p:sp>
      <p:sp>
        <p:nvSpPr>
          <p:cNvPr id="13" name="TextBox 12"/>
          <p:cNvSpPr txBox="1"/>
          <p:nvPr/>
        </p:nvSpPr>
        <p:spPr>
          <a:xfrm>
            <a:off x="7168896" y="1714500"/>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Mean field free energies</a:t>
            </a:r>
          </a:p>
        </p:txBody>
      </p:sp>
      <p:sp>
        <p:nvSpPr>
          <p:cNvPr id="14" name="TextBox 13"/>
          <p:cNvSpPr txBox="1"/>
          <p:nvPr/>
        </p:nvSpPr>
        <p:spPr>
          <a:xfrm>
            <a:off x="7168896" y="2112264"/>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A factorisable B(x) that minimises a free energy</a:t>
            </a:r>
          </a:p>
        </p:txBody>
      </p:sp>
      <p:sp>
        <p:nvSpPr>
          <p:cNvPr id="15" name="Rounded Rectangle 14"/>
          <p:cNvSpPr/>
          <p:nvPr/>
        </p:nvSpPr>
        <p:spPr>
          <a:xfrm>
            <a:off x="640080"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96112"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044952"/>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3</a:t>
            </a:r>
          </a:p>
        </p:txBody>
      </p:sp>
      <p:sp>
        <p:nvSpPr>
          <p:cNvPr id="18" name="TextBox 17"/>
          <p:cNvSpPr txBox="1"/>
          <p:nvPr/>
        </p:nvSpPr>
        <p:spPr>
          <a:xfrm>
            <a:off x="1572768" y="2912364"/>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Minimising the free energy</a:t>
            </a:r>
          </a:p>
        </p:txBody>
      </p:sp>
      <p:sp>
        <p:nvSpPr>
          <p:cNvPr id="19" name="TextBox 18"/>
          <p:cNvSpPr txBox="1"/>
          <p:nvPr/>
        </p:nvSpPr>
        <p:spPr>
          <a:xfrm>
            <a:off x="1572768" y="3310128"/>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Steepest descent, discrete iterations, annealing</a:t>
            </a:r>
          </a:p>
        </p:txBody>
      </p:sp>
      <p:sp>
        <p:nvSpPr>
          <p:cNvPr id="20" name="Rounded Rectangle 19"/>
          <p:cNvSpPr/>
          <p:nvPr/>
        </p:nvSpPr>
        <p:spPr>
          <a:xfrm>
            <a:off x="6236208" y="2679192"/>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2962656"/>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3044952"/>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4</a:t>
            </a:r>
          </a:p>
        </p:txBody>
      </p:sp>
      <p:sp>
        <p:nvSpPr>
          <p:cNvPr id="23" name="TextBox 22"/>
          <p:cNvSpPr txBox="1"/>
          <p:nvPr/>
        </p:nvSpPr>
        <p:spPr>
          <a:xfrm>
            <a:off x="7168896" y="2912364"/>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A cooperative stereo model</a:t>
            </a:r>
          </a:p>
        </p:txBody>
      </p:sp>
      <p:sp>
        <p:nvSpPr>
          <p:cNvPr id="24" name="TextBox 23"/>
          <p:cNvSpPr txBox="1"/>
          <p:nvPr/>
        </p:nvSpPr>
        <p:spPr>
          <a:xfrm>
            <a:off x="7168896" y="3310128"/>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Excitation and inhibition between matches</a:t>
            </a:r>
          </a:p>
        </p:txBody>
      </p:sp>
      <p:sp>
        <p:nvSpPr>
          <p:cNvPr id="25" name="Rounded Rectangle 24"/>
          <p:cNvSpPr/>
          <p:nvPr/>
        </p:nvSpPr>
        <p:spPr>
          <a:xfrm>
            <a:off x="640080" y="3877056"/>
            <a:ext cx="5349240" cy="1097280"/>
          </a:xfrm>
          <a:prstGeom prst="roundRect">
            <a:avLst>
              <a:gd name="adj" fmla="val 60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96112" y="4160520"/>
            <a:ext cx="512064" cy="512064"/>
          </a:xfrm>
          <a:prstGeom prst="ellipse">
            <a:avLst/>
          </a:prstGeom>
          <a:solidFill>
            <a:srgbClr val="FFFFFF"/>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242816"/>
            <a:ext cx="512064" cy="347472"/>
          </a:xfrm>
          <a:prstGeom prst="rect">
            <a:avLst/>
          </a:prstGeom>
          <a:noFill/>
        </p:spPr>
        <p:txBody>
          <a:bodyPr wrap="square" lIns="0" tIns="0" rIns="0" bIns="0">
            <a:spAutoFit/>
          </a:bodyPr>
          <a:lstStyle/>
          <a:p>
            <a:pPr algn="ctr"/>
            <a:r>
              <a:rPr sz="2100" b="1" i="0">
                <a:solidFill>
                  <a:srgbClr val="1A1A2E"/>
                </a:solidFill>
                <a:latin typeface="Cambria"/>
                <a:ea typeface="Cambria"/>
                <a:cs typeface="Cambria"/>
              </a:rPr>
              <a:t>5</a:t>
            </a:r>
          </a:p>
        </p:txBody>
      </p:sp>
      <p:sp>
        <p:nvSpPr>
          <p:cNvPr id="28" name="TextBox 27"/>
          <p:cNvSpPr txBox="1"/>
          <p:nvPr/>
        </p:nvSpPr>
        <p:spPr>
          <a:xfrm>
            <a:off x="1572768" y="4110228"/>
            <a:ext cx="4206240" cy="322783"/>
          </a:xfrm>
          <a:prstGeom prst="rect">
            <a:avLst/>
          </a:prstGeom>
          <a:noFill/>
        </p:spPr>
        <p:txBody>
          <a:bodyPr wrap="square" lIns="0" tIns="0" rIns="0" bIns="0">
            <a:spAutoFit/>
          </a:bodyPr>
          <a:lstStyle/>
          <a:p>
            <a:r>
              <a:rPr sz="2100" b="1" i="0">
                <a:solidFill>
                  <a:srgbClr val="1A1A2E"/>
                </a:solidFill>
                <a:latin typeface="Calibri"/>
                <a:ea typeface="Calibri"/>
                <a:cs typeface="Calibri"/>
              </a:rPr>
              <a:t>Neural implementation</a:t>
            </a:r>
          </a:p>
        </p:txBody>
      </p:sp>
      <p:sp>
        <p:nvSpPr>
          <p:cNvPr id="29" name="TextBox 28"/>
          <p:cNvSpPr txBox="1"/>
          <p:nvPr/>
        </p:nvSpPr>
        <p:spPr>
          <a:xfrm>
            <a:off x="1572768" y="4507992"/>
            <a:ext cx="4206240" cy="310896"/>
          </a:xfrm>
          <a:prstGeom prst="rect">
            <a:avLst/>
          </a:prstGeom>
          <a:noFill/>
        </p:spPr>
        <p:txBody>
          <a:bodyPr wrap="square" lIns="0" tIns="0" rIns="0" bIns="0">
            <a:spAutoFit/>
          </a:bodyPr>
          <a:lstStyle/>
          <a:p>
            <a:r>
              <a:rPr sz="1600" b="0" i="0">
                <a:solidFill>
                  <a:srgbClr val="55555F"/>
                </a:solidFill>
                <a:latin typeface="Calibri"/>
                <a:ea typeface="Calibri"/>
                <a:cs typeface="Calibri"/>
              </a:rPr>
              <a:t>A feedforward network replaces the iterations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a:t>
            </a:r>
          </a:p>
        </p:txBody>
      </p:sp>
      <p:sp>
        <p:nvSpPr>
          <p:cNvPr id="4" name="TextBox 3"/>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From semantic segmentation to other Markov models</a:t>
            </a:r>
          </a:p>
        </p:txBody>
      </p:sp>
      <p:pic>
        <p:nvPicPr>
          <p:cNvPr id="5" name="Picture 4" descr="f03_recap.png"/>
          <p:cNvPicPr>
            <a:picLocks noChangeAspect="1"/>
          </p:cNvPicPr>
          <p:nvPr/>
        </p:nvPicPr>
        <p:blipFill>
          <a:blip r:embed="rId3"/>
          <a:stretch>
            <a:fillRect/>
          </a:stretch>
        </p:blipFill>
        <p:spPr>
          <a:xfrm>
            <a:off x="883919" y="1225296"/>
            <a:ext cx="10424160" cy="2330413"/>
          </a:xfrm>
          <a:prstGeom prst="rect">
            <a:avLst/>
          </a:prstGeom>
        </p:spPr>
      </p:pic>
      <p:sp>
        <p:nvSpPr>
          <p:cNvPr id="6" name="Rounded Rectangle 5"/>
          <p:cNvSpPr/>
          <p:nvPr/>
        </p:nvSpPr>
        <p:spPr>
          <a:xfrm>
            <a:off x="640080" y="3683725"/>
            <a:ext cx="10911535" cy="932688"/>
          </a:xfrm>
          <a:prstGeom prst="roundRect">
            <a:avLst>
              <a:gd name="adj" fmla="val 8462"/>
            </a:avLst>
          </a:prstGeom>
          <a:solidFill>
            <a:srgbClr val="FBF1EC"/>
          </a:solidFill>
          <a:ln w="16510">
            <a:solidFill>
              <a:srgbClr val="F0D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3683725"/>
            <a:ext cx="10088575" cy="932688"/>
          </a:xfrm>
          <a:prstGeom prst="rect">
            <a:avLst/>
          </a:prstGeom>
          <a:noFill/>
        </p:spPr>
        <p:txBody>
          <a:bodyPr wrap="square" lIns="0" tIns="0" rIns="0" bIns="0" anchor="ctr">
            <a:spAutoFit/>
          </a:bodyPr>
          <a:lstStyle/>
          <a:p>
            <a:pPr algn="ctr"/>
            <a:r>
              <a:rPr sz="1750" b="0" i="0">
                <a:solidFill>
                  <a:srgbClr val="1A1A2E"/>
                </a:solidFill>
                <a:latin typeface="Calibri"/>
                <a:ea typeface="Calibri"/>
                <a:cs typeface="Calibri"/>
              </a:rPr>
              <a:t>The new question is: how does the same machinery apply to stereo and to discontinuities, and how could neurons carry it out?</a:t>
            </a:r>
          </a:p>
        </p:txBody>
      </p:sp>
      <p:sp>
        <p:nvSpPr>
          <p:cNvPr id="8" name="TextBox 7"/>
          <p:cNvSpPr txBox="1"/>
          <p:nvPr/>
        </p:nvSpPr>
        <p:spPr>
          <a:xfrm>
            <a:off x="640080" y="476271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Markov random field (MRF) scores a labelling by an energy: unary evidence plus pairwise context.</a:t>
            </a:r>
          </a:p>
        </p:txBody>
      </p:sp>
      <p:sp>
        <p:nvSpPr>
          <p:cNvPr id="9" name="TextBox 8"/>
          <p:cNvSpPr txBox="1"/>
          <p:nvPr/>
        </p:nvSpPr>
        <p:spPr>
          <a:xfrm>
            <a:off x="640080" y="519248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Mean field theory (MFT) replaces the coupled distribution by a factorised one and minimises a free energy.</a:t>
            </a:r>
          </a:p>
        </p:txBody>
      </p:sp>
      <p:sp>
        <p:nvSpPr>
          <p:cNvPr id="10" name="TextBox 9"/>
          <p:cNvSpPr txBox="1"/>
          <p:nvPr/>
        </p:nvSpPr>
        <p:spPr>
          <a:xfrm>
            <a:off x="640080" y="562225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Notation: the image I is now the input z; the factorised Q with beliefs q is now B with pseudo-marginals 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1</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Two Markov field models</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A Markov random field with input z and output x, and the weak membrane model with hidden line processes 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5</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Two vision models: the MRF and the weak membrane</a:t>
            </a:r>
          </a:p>
        </p:txBody>
      </p:sp>
      <p:pic>
        <p:nvPicPr>
          <p:cNvPr id="6" name="Picture 5" descr="f05_models.png"/>
          <p:cNvPicPr>
            <a:picLocks noChangeAspect="1"/>
          </p:cNvPicPr>
          <p:nvPr/>
        </p:nvPicPr>
        <p:blipFill>
          <a:blip r:embed="rId3"/>
          <a:stretch>
            <a:fillRect/>
          </a:stretch>
        </p:blipFill>
        <p:spPr>
          <a:xfrm>
            <a:off x="883919" y="1225296"/>
            <a:ext cx="10424160" cy="2785001"/>
          </a:xfrm>
          <a:prstGeom prst="rect">
            <a:avLst/>
          </a:prstGeom>
        </p:spPr>
      </p:pic>
      <p:sp>
        <p:nvSpPr>
          <p:cNvPr id="7" name="Rounded Rectangle 6"/>
          <p:cNvSpPr/>
          <p:nvPr/>
        </p:nvSpPr>
        <p:spPr>
          <a:xfrm>
            <a:off x="640080" y="4138313"/>
            <a:ext cx="10911535" cy="63107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5_vars.png"/>
          <p:cNvPicPr>
            <a:picLocks noChangeAspect="1"/>
          </p:cNvPicPr>
          <p:nvPr/>
        </p:nvPicPr>
        <p:blipFill>
          <a:blip r:embed="rId4"/>
          <a:stretch>
            <a:fillRect/>
          </a:stretch>
        </p:blipFill>
        <p:spPr>
          <a:xfrm>
            <a:off x="1360544" y="4321193"/>
            <a:ext cx="9470909" cy="265318"/>
          </a:xfrm>
          <a:prstGeom prst="rect">
            <a:avLst/>
          </a:prstGeom>
        </p:spPr>
      </p:pic>
      <p:sp>
        <p:nvSpPr>
          <p:cNvPr id="9" name="TextBox 8"/>
          <p:cNvSpPr txBox="1"/>
          <p:nvPr/>
        </p:nvSpPr>
        <p:spPr>
          <a:xfrm>
            <a:off x="640080" y="491569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Markov random field has an input z and an output x: an observed and a hidden node at every pixel.</a:t>
            </a:r>
          </a:p>
        </p:txBody>
      </p:sp>
      <p:sp>
        <p:nvSpPr>
          <p:cNvPr id="10" name="TextBox 9"/>
          <p:cNvSpPr txBox="1"/>
          <p:nvPr/>
        </p:nvSpPr>
        <p:spPr>
          <a:xfrm>
            <a:off x="640080" y="534546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weak membrane model has additional hidden variables y, the line processes, one on every edge.</a:t>
            </a:r>
          </a:p>
        </p:txBody>
      </p:sp>
      <p:sp>
        <p:nvSpPr>
          <p:cNvPr id="11" name="TextBox 10"/>
          <p:cNvSpPr txBox="1"/>
          <p:nvPr/>
        </p:nvSpPr>
        <p:spPr>
          <a:xfrm>
            <a:off x="640080" y="5820951"/>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 A. L. Yuille, “Loopy belief propagation, mean field theory, and Bethe approximations,” in Markov Random Fields for Vision and Image Processing, MIT Press, 2011.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6</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Image labelling: intensity values in, a label at every pixel</a:t>
            </a:r>
          </a:p>
        </p:txBody>
      </p:sp>
      <p:pic>
        <p:nvPicPr>
          <p:cNvPr id="6" name="Picture 5" descr="f06_labelling.png"/>
          <p:cNvPicPr>
            <a:picLocks noChangeAspect="1"/>
          </p:cNvPicPr>
          <p:nvPr/>
        </p:nvPicPr>
        <p:blipFill>
          <a:blip r:embed="rId3"/>
          <a:stretch>
            <a:fillRect/>
          </a:stretch>
        </p:blipFill>
        <p:spPr>
          <a:xfrm>
            <a:off x="1066799" y="1225296"/>
            <a:ext cx="10058400" cy="2788667"/>
          </a:xfrm>
          <a:prstGeom prst="rect">
            <a:avLst/>
          </a:prstGeom>
        </p:spPr>
      </p:pic>
      <p:sp>
        <p:nvSpPr>
          <p:cNvPr id="7" name="Rounded Rectangle 6"/>
          <p:cNvSpPr/>
          <p:nvPr/>
        </p:nvSpPr>
        <p:spPr>
          <a:xfrm>
            <a:off x="640080" y="4141979"/>
            <a:ext cx="10911535" cy="62540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6_label.png"/>
          <p:cNvPicPr>
            <a:picLocks noChangeAspect="1"/>
          </p:cNvPicPr>
          <p:nvPr/>
        </p:nvPicPr>
        <p:blipFill>
          <a:blip r:embed="rId4"/>
          <a:stretch>
            <a:fillRect/>
          </a:stretch>
        </p:blipFill>
        <p:spPr>
          <a:xfrm>
            <a:off x="2340562" y="4324859"/>
            <a:ext cx="7510874" cy="259644"/>
          </a:xfrm>
          <a:prstGeom prst="rect">
            <a:avLst/>
          </a:prstGeom>
        </p:spPr>
      </p:pic>
      <p:sp>
        <p:nvSpPr>
          <p:cNvPr id="9" name="TextBox 8"/>
          <p:cNvSpPr txBox="1"/>
          <p:nvPr/>
        </p:nvSpPr>
        <p:spPr>
          <a:xfrm>
            <a:off x="640080" y="491368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input z is the set of intensity values on the image lattice D; the output x is the set of image labels.</a:t>
            </a:r>
          </a:p>
        </p:txBody>
      </p:sp>
      <p:sp>
        <p:nvSpPr>
          <p:cNvPr id="10" name="TextBox 9"/>
          <p:cNvSpPr txBox="1"/>
          <p:nvPr/>
        </p:nvSpPr>
        <p:spPr>
          <a:xfrm>
            <a:off x="640080" y="534345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Edge detection has two labels, edge and non-edge; the Microsoft Research Cambridge (MSRC) data has 23.</a:t>
            </a:r>
          </a:p>
        </p:txBody>
      </p:sp>
      <p:sp>
        <p:nvSpPr>
          <p:cNvPr id="11" name="TextBox 10"/>
          <p:cNvSpPr txBox="1"/>
          <p:nvPr/>
        </p:nvSpPr>
        <p:spPr>
          <a:xfrm>
            <a:off x="640080" y="577322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Labels estimated pixel by pixel are noisy; the pairwise potentials supply the spatial context.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7</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Binocular stereo: two images in, a disparity at every pixel</a:t>
            </a:r>
          </a:p>
        </p:txBody>
      </p:sp>
      <p:pic>
        <p:nvPicPr>
          <p:cNvPr id="6" name="Picture 5" descr="f07_stereo.png"/>
          <p:cNvPicPr>
            <a:picLocks noChangeAspect="1"/>
          </p:cNvPicPr>
          <p:nvPr/>
        </p:nvPicPr>
        <p:blipFill>
          <a:blip r:embed="rId3"/>
          <a:stretch>
            <a:fillRect/>
          </a:stretch>
        </p:blipFill>
        <p:spPr>
          <a:xfrm>
            <a:off x="1066799" y="1225296"/>
            <a:ext cx="10058400" cy="3016004"/>
          </a:xfrm>
          <a:prstGeom prst="rect">
            <a:avLst/>
          </a:prstGeom>
        </p:spPr>
      </p:pic>
      <p:sp>
        <p:nvSpPr>
          <p:cNvPr id="7" name="Rounded Rectangle 6"/>
          <p:cNvSpPr/>
          <p:nvPr/>
        </p:nvSpPr>
        <p:spPr>
          <a:xfrm>
            <a:off x="640080" y="4369316"/>
            <a:ext cx="10911535" cy="64466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7_stereo.png"/>
          <p:cNvPicPr>
            <a:picLocks noChangeAspect="1"/>
          </p:cNvPicPr>
          <p:nvPr/>
        </p:nvPicPr>
        <p:blipFill>
          <a:blip r:embed="rId4"/>
          <a:stretch>
            <a:fillRect/>
          </a:stretch>
        </p:blipFill>
        <p:spPr>
          <a:xfrm>
            <a:off x="2565497" y="4552196"/>
            <a:ext cx="7061003" cy="278909"/>
          </a:xfrm>
          <a:prstGeom prst="rect">
            <a:avLst/>
          </a:prstGeom>
        </p:spPr>
      </p:pic>
      <p:sp>
        <p:nvSpPr>
          <p:cNvPr id="9" name="TextBox 8"/>
          <p:cNvSpPr txBox="1"/>
          <p:nvPr/>
        </p:nvSpPr>
        <p:spPr>
          <a:xfrm>
            <a:off x="640080" y="516029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point P projects onto PL and PR, which lie on corresponding epipolar lines EL and ER of the two images.</a:t>
            </a:r>
          </a:p>
        </p:txBody>
      </p:sp>
      <p:sp>
        <p:nvSpPr>
          <p:cNvPr id="10" name="TextBox 9"/>
          <p:cNvSpPr txBox="1"/>
          <p:nvPr/>
        </p:nvSpPr>
        <p:spPr>
          <a:xfrm>
            <a:off x="640080" y="559005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disparity is the displacement between corresponding points; depth is roughly inverse to the disparity.</a:t>
            </a:r>
          </a:p>
        </p:txBody>
      </p:sp>
      <p:sp>
        <p:nvSpPr>
          <p:cNvPr id="11" name="TextBox 10"/>
          <p:cNvSpPr txBox="1"/>
          <p:nvPr/>
        </p:nvSpPr>
        <p:spPr>
          <a:xfrm>
            <a:off x="640080" y="6065546"/>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Figure: A. L. Yuille, “Loopy belief propagation, mean field theory, and Bethe approximations,” in Markov Random Fields for Vision and Image Processing, MIT Press, 2011.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8</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MRF is a Gibbs distribution on a graph</a:t>
            </a:r>
          </a:p>
        </p:txBody>
      </p:sp>
      <p:pic>
        <p:nvPicPr>
          <p:cNvPr id="6" name="Picture 5" descr="f08_mrf.png"/>
          <p:cNvPicPr>
            <a:picLocks noChangeAspect="1"/>
          </p:cNvPicPr>
          <p:nvPr/>
        </p:nvPicPr>
        <p:blipFill>
          <a:blip r:embed="rId3"/>
          <a:stretch>
            <a:fillRect/>
          </a:stretch>
        </p:blipFill>
        <p:spPr>
          <a:xfrm>
            <a:off x="1343024" y="1225296"/>
            <a:ext cx="9505950" cy="2514600"/>
          </a:xfrm>
          <a:prstGeom prst="rect">
            <a:avLst/>
          </a:prstGeom>
        </p:spPr>
      </p:pic>
      <p:sp>
        <p:nvSpPr>
          <p:cNvPr id="7" name="Rounded Rectangle 6"/>
          <p:cNvSpPr/>
          <p:nvPr/>
        </p:nvSpPr>
        <p:spPr>
          <a:xfrm>
            <a:off x="640080" y="3867912"/>
            <a:ext cx="10911535" cy="133241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8_gibbs.png"/>
          <p:cNvPicPr>
            <a:picLocks noChangeAspect="1"/>
          </p:cNvPicPr>
          <p:nvPr/>
        </p:nvPicPr>
        <p:blipFill>
          <a:blip r:embed="rId4"/>
          <a:stretch>
            <a:fillRect/>
          </a:stretch>
        </p:blipFill>
        <p:spPr>
          <a:xfrm>
            <a:off x="3196045" y="4050792"/>
            <a:ext cx="5799908" cy="966651"/>
          </a:xfrm>
          <a:prstGeom prst="rect">
            <a:avLst/>
          </a:prstGeom>
        </p:spPr>
      </p:pic>
      <p:sp>
        <p:nvSpPr>
          <p:cNvPr id="9" name="TextBox 8"/>
          <p:cNvSpPr txBox="1"/>
          <p:nvPr/>
        </p:nvSpPr>
        <p:spPr>
          <a:xfrm>
            <a:off x="640080" y="534662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nodes of the graph are the image pixels and the edges join neighbouring pixels.</a:t>
            </a:r>
          </a:p>
        </p:txBody>
      </p:sp>
      <p:sp>
        <p:nvSpPr>
          <p:cNvPr id="10" name="TextBox 9"/>
          <p:cNvSpPr txBox="1"/>
          <p:nvPr/>
        </p:nvSpPr>
        <p:spPr>
          <a:xfrm>
            <a:off x="640080" y="577639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P(x | z) is a posterior distribution conditioned on the input z: a conditional random field (CRF).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9</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potentials for image labelling and for stereo</a:t>
            </a:r>
          </a:p>
        </p:txBody>
      </p:sp>
      <p:pic>
        <p:nvPicPr>
          <p:cNvPr id="6" name="Picture 5" descr="f09_potentials.png"/>
          <p:cNvPicPr>
            <a:picLocks noChangeAspect="1"/>
          </p:cNvPicPr>
          <p:nvPr/>
        </p:nvPicPr>
        <p:blipFill>
          <a:blip r:embed="rId3"/>
          <a:stretch>
            <a:fillRect/>
          </a:stretch>
        </p:blipFill>
        <p:spPr>
          <a:xfrm>
            <a:off x="1066799" y="1225296"/>
            <a:ext cx="10058400" cy="2601745"/>
          </a:xfrm>
          <a:prstGeom prst="rect">
            <a:avLst/>
          </a:prstGeom>
        </p:spPr>
      </p:pic>
      <p:sp>
        <p:nvSpPr>
          <p:cNvPr id="7" name="Rounded Rectangle 6"/>
          <p:cNvSpPr/>
          <p:nvPr/>
        </p:nvSpPr>
        <p:spPr>
          <a:xfrm>
            <a:off x="640080" y="3955057"/>
            <a:ext cx="10911535" cy="67748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09_label.png"/>
          <p:cNvPicPr>
            <a:picLocks noChangeAspect="1"/>
          </p:cNvPicPr>
          <p:nvPr/>
        </p:nvPicPr>
        <p:blipFill>
          <a:blip r:embed="rId4"/>
          <a:stretch>
            <a:fillRect/>
          </a:stretch>
        </p:blipFill>
        <p:spPr>
          <a:xfrm>
            <a:off x="1950027" y="4137937"/>
            <a:ext cx="8291945" cy="311727"/>
          </a:xfrm>
          <a:prstGeom prst="rect">
            <a:avLst/>
          </a:prstGeom>
        </p:spPr>
      </p:pic>
      <p:sp>
        <p:nvSpPr>
          <p:cNvPr id="9" name="TextBox 8"/>
          <p:cNvSpPr txBox="1"/>
          <p:nvPr/>
        </p:nvSpPr>
        <p:spPr>
          <a:xfrm>
            <a:off x="640080" y="477884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For labelling, g is a non-linear filter such as AdaBoost, with one output per label, on a window at pixel i.</a:t>
            </a:r>
          </a:p>
        </p:txBody>
      </p:sp>
      <p:sp>
        <p:nvSpPr>
          <p:cNvPr id="10" name="TextBox 9"/>
          <p:cNvSpPr txBox="1"/>
          <p:nvPr/>
        </p:nvSpPr>
        <p:spPr>
          <a:xfrm>
            <a:off x="640080" y="520861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For stereo, f is a vector-valued filter and |.| the L1 norm: similar filter responses give a small potential.</a:t>
            </a:r>
          </a:p>
        </p:txBody>
      </p:sp>
      <p:sp>
        <p:nvSpPr>
          <p:cNvPr id="11" name="TextBox 10"/>
          <p:cNvSpPr txBox="1"/>
          <p:nvPr/>
        </p:nvSpPr>
        <p:spPr>
          <a:xfrm>
            <a:off x="640080" y="563838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pairwise potentials impose a smoothness prior: neighbouring pixels have similar labels or disparities.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10</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goal: the MAP estimate and the marginals</a:t>
            </a:r>
          </a:p>
        </p:txBody>
      </p:sp>
      <p:pic>
        <p:nvPicPr>
          <p:cNvPr id="6" name="Picture 5" descr="f10_goal.png"/>
          <p:cNvPicPr>
            <a:picLocks noChangeAspect="1"/>
          </p:cNvPicPr>
          <p:nvPr/>
        </p:nvPicPr>
        <p:blipFill>
          <a:blip r:embed="rId3"/>
          <a:stretch>
            <a:fillRect/>
          </a:stretch>
        </p:blipFill>
        <p:spPr>
          <a:xfrm>
            <a:off x="1066799" y="1225296"/>
            <a:ext cx="10058400" cy="2510811"/>
          </a:xfrm>
          <a:prstGeom prst="rect">
            <a:avLst/>
          </a:prstGeom>
        </p:spPr>
      </p:pic>
      <p:sp>
        <p:nvSpPr>
          <p:cNvPr id="7" name="Rounded Rectangle 6"/>
          <p:cNvSpPr/>
          <p:nvPr/>
        </p:nvSpPr>
        <p:spPr>
          <a:xfrm>
            <a:off x="640080" y="3864123"/>
            <a:ext cx="10911535" cy="98459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0_goal.png"/>
          <p:cNvPicPr>
            <a:picLocks noChangeAspect="1"/>
          </p:cNvPicPr>
          <p:nvPr/>
        </p:nvPicPr>
        <p:blipFill>
          <a:blip r:embed="rId4"/>
          <a:stretch>
            <a:fillRect/>
          </a:stretch>
        </p:blipFill>
        <p:spPr>
          <a:xfrm>
            <a:off x="1480127" y="4047003"/>
            <a:ext cx="9231745" cy="618836"/>
          </a:xfrm>
          <a:prstGeom prst="rect">
            <a:avLst/>
          </a:prstGeom>
        </p:spPr>
      </p:pic>
      <p:sp>
        <p:nvSpPr>
          <p:cNvPr id="9" name="TextBox 8"/>
          <p:cNvSpPr txBox="1"/>
          <p:nvPr/>
        </p:nvSpPr>
        <p:spPr>
          <a:xfrm>
            <a:off x="640080" y="499502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maximum a posteriori (MAP) estimate is the single most probable configuration of all the nodes.</a:t>
            </a:r>
          </a:p>
        </p:txBody>
      </p:sp>
      <p:sp>
        <p:nvSpPr>
          <p:cNvPr id="10" name="TextBox 9"/>
          <p:cNvSpPr txBox="1"/>
          <p:nvPr/>
        </p:nvSpPr>
        <p:spPr>
          <a:xfrm>
            <a:off x="640080" y="542479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marginal is the distribution of one node, obtained by summing P(x | z) over all the other nodes.</a:t>
            </a:r>
          </a:p>
        </p:txBody>
      </p:sp>
      <p:sp>
        <p:nvSpPr>
          <p:cNvPr id="11" name="TextBox 10"/>
          <p:cNvSpPr txBox="1"/>
          <p:nvPr/>
        </p:nvSpPr>
        <p:spPr>
          <a:xfrm>
            <a:off x="640080" y="585455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Computed directly, both run over exponentially many configurations, so approximate methods are used.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11</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weak membrane model labels the discontinuities</a:t>
            </a:r>
          </a:p>
        </p:txBody>
      </p:sp>
      <p:pic>
        <p:nvPicPr>
          <p:cNvPr id="6" name="Picture 5" descr="f11_weakmembrane.png"/>
          <p:cNvPicPr>
            <a:picLocks noChangeAspect="1"/>
          </p:cNvPicPr>
          <p:nvPr/>
        </p:nvPicPr>
        <p:blipFill>
          <a:blip r:embed="rId3"/>
          <a:stretch>
            <a:fillRect/>
          </a:stretch>
        </p:blipFill>
        <p:spPr>
          <a:xfrm>
            <a:off x="1066799" y="1225296"/>
            <a:ext cx="10058400" cy="2692680"/>
          </a:xfrm>
          <a:prstGeom prst="rect">
            <a:avLst/>
          </a:prstGeom>
        </p:spPr>
      </p:pic>
      <p:sp>
        <p:nvSpPr>
          <p:cNvPr id="7" name="Rounded Rectangle 6"/>
          <p:cNvSpPr/>
          <p:nvPr/>
        </p:nvSpPr>
        <p:spPr>
          <a:xfrm>
            <a:off x="640080" y="4045992"/>
            <a:ext cx="10911535" cy="63045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1_lines.png"/>
          <p:cNvPicPr>
            <a:picLocks noChangeAspect="1"/>
          </p:cNvPicPr>
          <p:nvPr/>
        </p:nvPicPr>
        <p:blipFill>
          <a:blip r:embed="rId4"/>
          <a:stretch>
            <a:fillRect/>
          </a:stretch>
        </p:blipFill>
        <p:spPr>
          <a:xfrm>
            <a:off x="4093744" y="4228872"/>
            <a:ext cx="4004510" cy="264694"/>
          </a:xfrm>
          <a:prstGeom prst="rect">
            <a:avLst/>
          </a:prstGeom>
        </p:spPr>
      </p:pic>
      <p:sp>
        <p:nvSpPr>
          <p:cNvPr id="9" name="TextBox 8"/>
          <p:cNvSpPr txBox="1"/>
          <p:nvPr/>
        </p:nvSpPr>
        <p:spPr>
          <a:xfrm>
            <a:off x="640080" y="482275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Applications: image segmentation, denoising and depth smoothing.</a:t>
            </a:r>
          </a:p>
        </p:txBody>
      </p:sp>
      <p:sp>
        <p:nvSpPr>
          <p:cNvPr id="10" name="TextBox 9"/>
          <p:cNvSpPr txBox="1"/>
          <p:nvPr/>
        </p:nvSpPr>
        <p:spPr>
          <a:xfrm>
            <a:off x="640080" y="525251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input z holds intensity or depth values; the output x is a smoothed version of z on the same lattice.</a:t>
            </a:r>
          </a:p>
        </p:txBody>
      </p:sp>
      <p:sp>
        <p:nvSpPr>
          <p:cNvPr id="11" name="TextBox 10"/>
          <p:cNvSpPr txBox="1"/>
          <p:nvPr/>
        </p:nvSpPr>
        <p:spPr>
          <a:xfrm>
            <a:off x="640080" y="568228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hidden variables y are line processes on the edges: y = 1 labels a discontinuity between two pixels.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12</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Gaussian likelihood and a piecewise smooth prior</a:t>
            </a:r>
          </a:p>
        </p:txBody>
      </p:sp>
      <p:pic>
        <p:nvPicPr>
          <p:cNvPr id="6" name="Picture 5" descr="f12_edgecost.png"/>
          <p:cNvPicPr>
            <a:picLocks noChangeAspect="1"/>
          </p:cNvPicPr>
          <p:nvPr/>
        </p:nvPicPr>
        <p:blipFill>
          <a:blip r:embed="rId3"/>
          <a:stretch>
            <a:fillRect/>
          </a:stretch>
        </p:blipFill>
        <p:spPr>
          <a:xfrm>
            <a:off x="1066799" y="1225296"/>
            <a:ext cx="10058400" cy="1919734"/>
          </a:xfrm>
          <a:prstGeom prst="rect">
            <a:avLst/>
          </a:prstGeom>
        </p:spPr>
      </p:pic>
      <p:sp>
        <p:nvSpPr>
          <p:cNvPr id="7" name="Rounded Rectangle 6"/>
          <p:cNvSpPr/>
          <p:nvPr/>
        </p:nvSpPr>
        <p:spPr>
          <a:xfrm>
            <a:off x="640080" y="3273046"/>
            <a:ext cx="10911535" cy="2141625"/>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2_gen.png"/>
          <p:cNvPicPr>
            <a:picLocks noChangeAspect="1"/>
          </p:cNvPicPr>
          <p:nvPr/>
        </p:nvPicPr>
        <p:blipFill>
          <a:blip r:embed="rId4"/>
          <a:stretch>
            <a:fillRect/>
          </a:stretch>
        </p:blipFill>
        <p:spPr>
          <a:xfrm>
            <a:off x="2216609" y="3455926"/>
            <a:ext cx="7758781" cy="696500"/>
          </a:xfrm>
          <a:prstGeom prst="rect">
            <a:avLst/>
          </a:prstGeom>
        </p:spPr>
      </p:pic>
      <p:pic>
        <p:nvPicPr>
          <p:cNvPr id="9" name="Picture 8" descr="e12_energy.png"/>
          <p:cNvPicPr>
            <a:picLocks noChangeAspect="1"/>
          </p:cNvPicPr>
          <p:nvPr/>
        </p:nvPicPr>
        <p:blipFill>
          <a:blip r:embed="rId5"/>
          <a:stretch>
            <a:fillRect/>
          </a:stretch>
        </p:blipFill>
        <p:spPr>
          <a:xfrm>
            <a:off x="2988905" y="4298731"/>
            <a:ext cx="6214187" cy="933061"/>
          </a:xfrm>
          <a:prstGeom prst="rect">
            <a:avLst/>
          </a:prstGeom>
        </p:spPr>
      </p:pic>
      <p:sp>
        <p:nvSpPr>
          <p:cNvPr id="10" name="TextBox 9"/>
          <p:cNvSpPr txBox="1"/>
          <p:nvPr/>
        </p:nvSpPr>
        <p:spPr>
          <a:xfrm>
            <a:off x="640080" y="556097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likelihood P(z | x): z is x plus independent zero-mean Gaussian noise at every pixel.</a:t>
            </a:r>
          </a:p>
        </p:txBody>
      </p:sp>
      <p:sp>
        <p:nvSpPr>
          <p:cNvPr id="11" name="TextBox 10"/>
          <p:cNvSpPr txBox="1"/>
          <p:nvPr/>
        </p:nvSpPr>
        <p:spPr>
          <a:xfrm>
            <a:off x="640080" y="599074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prior P(x, y) is piecewise smoothness: neighbouring values are similar unless y = 1 on the edge.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13</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Two Markov field models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Inference in the weak membrane model is hard</a:t>
            </a:r>
          </a:p>
        </p:txBody>
      </p:sp>
      <p:pic>
        <p:nvPicPr>
          <p:cNvPr id="6" name="Picture 5" descr="f13_lineprocess.png"/>
          <p:cNvPicPr>
            <a:picLocks noChangeAspect="1"/>
          </p:cNvPicPr>
          <p:nvPr/>
        </p:nvPicPr>
        <p:blipFill>
          <a:blip r:embed="rId3"/>
          <a:stretch>
            <a:fillRect/>
          </a:stretch>
        </p:blipFill>
        <p:spPr>
          <a:xfrm>
            <a:off x="1066799" y="1225296"/>
            <a:ext cx="10058400" cy="2556278"/>
          </a:xfrm>
          <a:prstGeom prst="rect">
            <a:avLst/>
          </a:prstGeom>
        </p:spPr>
      </p:pic>
      <p:sp>
        <p:nvSpPr>
          <p:cNvPr id="7" name="Rounded Rectangle 6"/>
          <p:cNvSpPr/>
          <p:nvPr/>
        </p:nvSpPr>
        <p:spPr>
          <a:xfrm>
            <a:off x="640080" y="3909590"/>
            <a:ext cx="10911535" cy="62283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3_post.png"/>
          <p:cNvPicPr>
            <a:picLocks noChangeAspect="1"/>
          </p:cNvPicPr>
          <p:nvPr/>
        </p:nvPicPr>
        <p:blipFill>
          <a:blip r:embed="rId4"/>
          <a:stretch>
            <a:fillRect/>
          </a:stretch>
        </p:blipFill>
        <p:spPr>
          <a:xfrm>
            <a:off x="4471394" y="4092470"/>
            <a:ext cx="3249211" cy="257073"/>
          </a:xfrm>
          <a:prstGeom prst="rect">
            <a:avLst/>
          </a:prstGeom>
        </p:spPr>
      </p:pic>
      <p:sp>
        <p:nvSpPr>
          <p:cNvPr id="9" name="TextBox 8"/>
          <p:cNvSpPr txBox="1"/>
          <p:nvPr/>
        </p:nvSpPr>
        <p:spPr>
          <a:xfrm>
            <a:off x="640080" y="467872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posterior couples the continuous variables x and the discrete variables y: a hybrid problem.</a:t>
            </a:r>
          </a:p>
        </p:txBody>
      </p:sp>
      <p:sp>
        <p:nvSpPr>
          <p:cNvPr id="10" name="TextBox 9"/>
          <p:cNvSpPr txBox="1"/>
          <p:nvPr/>
        </p:nvSpPr>
        <p:spPr>
          <a:xfrm>
            <a:off x="640080" y="510849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More advanced models add higher-order coupling terms between neighbouring line processes.</a:t>
            </a:r>
          </a:p>
        </p:txBody>
      </p:sp>
      <p:sp>
        <p:nvSpPr>
          <p:cNvPr id="11" name="TextBox 10"/>
          <p:cNvSpPr txBox="1"/>
          <p:nvPr/>
        </p:nvSpPr>
        <p:spPr>
          <a:xfrm>
            <a:off x="640080" y="553826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coupling terms encourage edges to group into longer segments and closed boundaries.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14</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2</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Mean field free energies</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Approximate P(x | z) by a factorisable B(x), chosen to minimise a free energy.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15</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strategy of mean field theory and variational methods</a:t>
            </a:r>
          </a:p>
        </p:txBody>
      </p:sp>
      <p:pic>
        <p:nvPicPr>
          <p:cNvPr id="6" name="Picture 5" descr="f15_strategy.png"/>
          <p:cNvPicPr>
            <a:picLocks noChangeAspect="1"/>
          </p:cNvPicPr>
          <p:nvPr/>
        </p:nvPicPr>
        <p:blipFill>
          <a:blip r:embed="rId3"/>
          <a:stretch>
            <a:fillRect/>
          </a:stretch>
        </p:blipFill>
        <p:spPr>
          <a:xfrm>
            <a:off x="1066799" y="1225296"/>
            <a:ext cx="10058400" cy="2692680"/>
          </a:xfrm>
          <a:prstGeom prst="rect">
            <a:avLst/>
          </a:prstGeom>
        </p:spPr>
      </p:pic>
      <p:sp>
        <p:nvSpPr>
          <p:cNvPr id="7" name="TextBox 6"/>
          <p:cNvSpPr txBox="1"/>
          <p:nvPr/>
        </p:nvSpPr>
        <p:spPr>
          <a:xfrm>
            <a:off x="640080" y="40642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Optimisation over discrete variables becomes optimisation over continuous variables, so gradients exist.</a:t>
            </a:r>
          </a:p>
        </p:txBody>
      </p:sp>
      <p:sp>
        <p:nvSpPr>
          <p:cNvPr id="8" name="TextBox 7"/>
          <p:cNvSpPr txBox="1"/>
          <p:nvPr/>
        </p:nvSpPr>
        <p:spPr>
          <a:xfrm>
            <a:off x="640080" y="449404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Hybrid problems, with discrete and continuous variables, become continuous optimisation problems.</a:t>
            </a:r>
          </a:p>
        </p:txBody>
      </p:sp>
      <p:sp>
        <p:nvSpPr>
          <p:cNvPr id="9" name="TextBox 8"/>
          <p:cNvSpPr txBox="1"/>
          <p:nvPr/>
        </p:nvSpPr>
        <p:spPr>
          <a:xfrm>
            <a:off x="640080" y="492381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Deterministic annealing solves an easier problem at large temperature T and tracks the solution to small T.</a:t>
            </a:r>
          </a:p>
        </p:txBody>
      </p:sp>
      <p:sp>
        <p:nvSpPr>
          <p:cNvPr id="10" name="TextBox 9"/>
          <p:cNvSpPr txBox="1"/>
          <p:nvPr/>
        </p:nvSpPr>
        <p:spPr>
          <a:xfrm>
            <a:off x="640080" y="535358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MFT is a fast deterministic approximation to Markov chain Monte Carlo (MCMC) stochastic sampling.</a:t>
            </a:r>
          </a:p>
        </p:txBody>
      </p:sp>
      <p:sp>
        <p:nvSpPr>
          <p:cNvPr id="11" name="TextBox 10"/>
          <p:cNvSpPr txBox="1"/>
          <p:nvPr/>
        </p:nvSpPr>
        <p:spPr>
          <a:xfrm>
            <a:off x="640080" y="578335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MFT gives bounds on quantities such as the log partition function log Z, useful for model selection.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16</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basic idea: approximate P(x | z) by a factorisable B(x)</a:t>
            </a:r>
          </a:p>
        </p:txBody>
      </p:sp>
      <p:pic>
        <p:nvPicPr>
          <p:cNvPr id="6" name="Picture 5" descr="f16_factorised.png"/>
          <p:cNvPicPr>
            <a:picLocks noChangeAspect="1"/>
          </p:cNvPicPr>
          <p:nvPr/>
        </p:nvPicPr>
        <p:blipFill>
          <a:blip r:embed="rId3"/>
          <a:stretch>
            <a:fillRect/>
          </a:stretch>
        </p:blipFill>
        <p:spPr>
          <a:xfrm>
            <a:off x="1066799" y="1225296"/>
            <a:ext cx="10058400" cy="2556278"/>
          </a:xfrm>
          <a:prstGeom prst="rect">
            <a:avLst/>
          </a:prstGeom>
        </p:spPr>
      </p:pic>
      <p:sp>
        <p:nvSpPr>
          <p:cNvPr id="7" name="Rounded Rectangle 6"/>
          <p:cNvSpPr/>
          <p:nvPr/>
        </p:nvSpPr>
        <p:spPr>
          <a:xfrm>
            <a:off x="640080" y="3909590"/>
            <a:ext cx="10911535" cy="104698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6_B.png"/>
          <p:cNvPicPr>
            <a:picLocks noChangeAspect="1"/>
          </p:cNvPicPr>
          <p:nvPr/>
        </p:nvPicPr>
        <p:blipFill>
          <a:blip r:embed="rId4"/>
          <a:stretch>
            <a:fillRect/>
          </a:stretch>
        </p:blipFill>
        <p:spPr>
          <a:xfrm>
            <a:off x="1544573" y="4092470"/>
            <a:ext cx="9102852" cy="681228"/>
          </a:xfrm>
          <a:prstGeom prst="rect">
            <a:avLst/>
          </a:prstGeom>
        </p:spPr>
      </p:pic>
      <p:sp>
        <p:nvSpPr>
          <p:cNvPr id="9" name="TextBox 8"/>
          <p:cNvSpPr txBox="1"/>
          <p:nvPr/>
        </p:nvSpPr>
        <p:spPr>
          <a:xfrm>
            <a:off x="640080" y="510288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B(x) is a product of pseudo-marginals b, one distribution for the variable at each node.</a:t>
            </a:r>
          </a:p>
        </p:txBody>
      </p:sp>
      <p:sp>
        <p:nvSpPr>
          <p:cNvPr id="10" name="TextBox 9"/>
          <p:cNvSpPr txBox="1"/>
          <p:nvPr/>
        </p:nvSpPr>
        <p:spPr>
          <a:xfrm>
            <a:off x="640080" y="553265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MAP estimate is approximated node by node: the label with the largest pseudo-marginal.</a:t>
            </a:r>
          </a:p>
        </p:txBody>
      </p:sp>
      <p:sp>
        <p:nvSpPr>
          <p:cNvPr id="11" name="TextBox 10"/>
          <p:cNvSpPr txBox="1"/>
          <p:nvPr/>
        </p:nvSpPr>
        <p:spPr>
          <a:xfrm>
            <a:off x="640080" y="596241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similarity measure between B and P is the Kullback-Leibler (KL) divergence.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17</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mean field free energy of the MRF</a:t>
            </a:r>
          </a:p>
        </p:txBody>
      </p:sp>
      <p:pic>
        <p:nvPicPr>
          <p:cNvPr id="6" name="Picture 5" descr="f17_terms.png"/>
          <p:cNvPicPr>
            <a:picLocks noChangeAspect="1"/>
          </p:cNvPicPr>
          <p:nvPr/>
        </p:nvPicPr>
        <p:blipFill>
          <a:blip r:embed="rId3"/>
          <a:stretch>
            <a:fillRect/>
          </a:stretch>
        </p:blipFill>
        <p:spPr>
          <a:xfrm>
            <a:off x="1066799" y="1225296"/>
            <a:ext cx="10058400" cy="1874267"/>
          </a:xfrm>
          <a:prstGeom prst="rect">
            <a:avLst/>
          </a:prstGeom>
        </p:spPr>
      </p:pic>
      <p:sp>
        <p:nvSpPr>
          <p:cNvPr id="7" name="Rounded Rectangle 6"/>
          <p:cNvSpPr/>
          <p:nvPr/>
        </p:nvSpPr>
        <p:spPr>
          <a:xfrm>
            <a:off x="640080" y="3227579"/>
            <a:ext cx="10911535" cy="127539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7_F1.png"/>
          <p:cNvPicPr>
            <a:picLocks noChangeAspect="1"/>
          </p:cNvPicPr>
          <p:nvPr/>
        </p:nvPicPr>
        <p:blipFill>
          <a:blip r:embed="rId4"/>
          <a:stretch>
            <a:fillRect/>
          </a:stretch>
        </p:blipFill>
        <p:spPr>
          <a:xfrm>
            <a:off x="1335881" y="3410459"/>
            <a:ext cx="9520237" cy="909637"/>
          </a:xfrm>
          <a:prstGeom prst="rect">
            <a:avLst/>
          </a:prstGeom>
        </p:spPr>
      </p:pic>
      <p:sp>
        <p:nvSpPr>
          <p:cNvPr id="9" name="TextBox 8"/>
          <p:cNvSpPr txBox="1"/>
          <p:nvPr/>
        </p:nvSpPr>
        <p:spPr>
          <a:xfrm>
            <a:off x="640080" y="46492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first two terms are the expectation of the energy E(x, z) with respect to B(x).</a:t>
            </a:r>
          </a:p>
        </p:txBody>
      </p:sp>
      <p:sp>
        <p:nvSpPr>
          <p:cNvPr id="10" name="TextBox 9"/>
          <p:cNvSpPr txBox="1"/>
          <p:nvPr/>
        </p:nvSpPr>
        <p:spPr>
          <a:xfrm>
            <a:off x="640080" y="507904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third term is the negative entropy of B(x), a sum over the nodes.</a:t>
            </a:r>
          </a:p>
        </p:txBody>
      </p:sp>
      <p:sp>
        <p:nvSpPr>
          <p:cNvPr id="11" name="TextBox 10"/>
          <p:cNvSpPr txBox="1"/>
          <p:nvPr/>
        </p:nvSpPr>
        <p:spPr>
          <a:xfrm>
            <a:off x="640080" y="550881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For binary labels the entropy term of a node is b log b + (1 - b) log(1 - b), where b is the belief in label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18</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Minimising the KL divergence minimises the free energy</a:t>
            </a:r>
          </a:p>
        </p:txBody>
      </p:sp>
      <p:pic>
        <p:nvPicPr>
          <p:cNvPr id="6" name="Picture 5" descr="f18_bound.png"/>
          <p:cNvPicPr>
            <a:picLocks noChangeAspect="1"/>
          </p:cNvPicPr>
          <p:nvPr/>
        </p:nvPicPr>
        <p:blipFill>
          <a:blip r:embed="rId3"/>
          <a:stretch>
            <a:fillRect/>
          </a:stretch>
        </p:blipFill>
        <p:spPr>
          <a:xfrm>
            <a:off x="1343024" y="1225296"/>
            <a:ext cx="9505950" cy="1714500"/>
          </a:xfrm>
          <a:prstGeom prst="rect">
            <a:avLst/>
          </a:prstGeom>
        </p:spPr>
      </p:pic>
      <p:sp>
        <p:nvSpPr>
          <p:cNvPr id="7" name="Rounded Rectangle 6"/>
          <p:cNvSpPr/>
          <p:nvPr/>
        </p:nvSpPr>
        <p:spPr>
          <a:xfrm>
            <a:off x="640080" y="3067812"/>
            <a:ext cx="10911535" cy="1444560"/>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8_KL.png"/>
          <p:cNvPicPr>
            <a:picLocks noChangeAspect="1"/>
          </p:cNvPicPr>
          <p:nvPr/>
        </p:nvPicPr>
        <p:blipFill>
          <a:blip r:embed="rId4"/>
          <a:stretch>
            <a:fillRect/>
          </a:stretch>
        </p:blipFill>
        <p:spPr>
          <a:xfrm>
            <a:off x="2110972" y="3250692"/>
            <a:ext cx="7970054" cy="563014"/>
          </a:xfrm>
          <a:prstGeom prst="rect">
            <a:avLst/>
          </a:prstGeom>
        </p:spPr>
      </p:pic>
      <p:pic>
        <p:nvPicPr>
          <p:cNvPr id="9" name="Picture 8" descr="e18_bound.png"/>
          <p:cNvPicPr>
            <a:picLocks noChangeAspect="1"/>
          </p:cNvPicPr>
          <p:nvPr/>
        </p:nvPicPr>
        <p:blipFill>
          <a:blip r:embed="rId5"/>
          <a:stretch>
            <a:fillRect/>
          </a:stretch>
        </p:blipFill>
        <p:spPr>
          <a:xfrm>
            <a:off x="3439189" y="3960010"/>
            <a:ext cx="5313620" cy="369481"/>
          </a:xfrm>
          <a:prstGeom prst="rect">
            <a:avLst/>
          </a:prstGeom>
        </p:spPr>
      </p:pic>
      <p:sp>
        <p:nvSpPr>
          <p:cNvPr id="10" name="TextBox 9"/>
          <p:cNvSpPr txBox="1"/>
          <p:nvPr/>
        </p:nvSpPr>
        <p:spPr>
          <a:xfrm>
            <a:off x="640080" y="465867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Substituting the Gibbs distribution P(x) = exp{-E(x)} / Z and the factorisable B(x) gives the first line.</a:t>
            </a:r>
          </a:p>
        </p:txBody>
      </p:sp>
      <p:sp>
        <p:nvSpPr>
          <p:cNvPr id="11" name="TextBox 10"/>
          <p:cNvSpPr txBox="1"/>
          <p:nvPr/>
        </p:nvSpPr>
        <p:spPr>
          <a:xfrm>
            <a:off x="640080" y="508844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log Z is independent of B, so minimising the free energy gives the best factorisable approximation to P(x).</a:t>
            </a:r>
          </a:p>
        </p:txBody>
      </p:sp>
      <p:sp>
        <p:nvSpPr>
          <p:cNvPr id="12" name="TextBox 11"/>
          <p:cNvSpPr txBox="1"/>
          <p:nvPr/>
        </p:nvSpPr>
        <p:spPr>
          <a:xfrm>
            <a:off x="640080" y="551821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Minus the minimum of the free energy is a lower bound on log Z, which is useful for model evidence.</a:t>
            </a:r>
          </a:p>
        </p:txBody>
      </p:sp>
      <p:sp>
        <p:nvSpPr>
          <p:cNvPr id="13" name="TextBox 12"/>
          <p:cNvSpPr txBox="1"/>
          <p:nvPr/>
        </p:nvSpPr>
        <p:spPr>
          <a:xfrm>
            <a:off x="640080" y="59479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free energy of the segmentation lecture was the whole KL divergence; F here omits the constant log Z.</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19</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weak membrane free energy is exact</a:t>
            </a:r>
          </a:p>
        </p:txBody>
      </p:sp>
      <p:pic>
        <p:nvPicPr>
          <p:cNvPr id="6" name="Picture 5" descr="f19_wm_graph.png"/>
          <p:cNvPicPr>
            <a:picLocks noChangeAspect="1"/>
          </p:cNvPicPr>
          <p:nvPr/>
        </p:nvPicPr>
        <p:blipFill>
          <a:blip r:embed="rId3"/>
          <a:stretch>
            <a:fillRect/>
          </a:stretch>
        </p:blipFill>
        <p:spPr>
          <a:xfrm>
            <a:off x="1066799" y="1225296"/>
            <a:ext cx="10058400" cy="1732813"/>
          </a:xfrm>
          <a:prstGeom prst="rect">
            <a:avLst/>
          </a:prstGeom>
        </p:spPr>
      </p:pic>
      <p:sp>
        <p:nvSpPr>
          <p:cNvPr id="7" name="Rounded Rectangle 6"/>
          <p:cNvSpPr/>
          <p:nvPr/>
        </p:nvSpPr>
        <p:spPr>
          <a:xfrm>
            <a:off x="640080" y="3086125"/>
            <a:ext cx="10911535" cy="230591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19_F1.png"/>
          <p:cNvPicPr>
            <a:picLocks noChangeAspect="1"/>
          </p:cNvPicPr>
          <p:nvPr/>
        </p:nvPicPr>
        <p:blipFill>
          <a:blip r:embed="rId4"/>
          <a:stretch>
            <a:fillRect/>
          </a:stretch>
        </p:blipFill>
        <p:spPr>
          <a:xfrm>
            <a:off x="2579076" y="3269005"/>
            <a:ext cx="7033846" cy="896815"/>
          </a:xfrm>
          <a:prstGeom prst="rect">
            <a:avLst/>
          </a:prstGeom>
        </p:spPr>
      </p:pic>
      <p:pic>
        <p:nvPicPr>
          <p:cNvPr id="9" name="Picture 8" descr="e19_F2.png"/>
          <p:cNvPicPr>
            <a:picLocks noChangeAspect="1"/>
          </p:cNvPicPr>
          <p:nvPr/>
        </p:nvPicPr>
        <p:blipFill>
          <a:blip r:embed="rId5"/>
          <a:stretch>
            <a:fillRect/>
          </a:stretch>
        </p:blipFill>
        <p:spPr>
          <a:xfrm>
            <a:off x="3208116" y="4312124"/>
            <a:ext cx="5775767" cy="897037"/>
          </a:xfrm>
          <a:prstGeom prst="rect">
            <a:avLst/>
          </a:prstGeom>
        </p:spPr>
      </p:pic>
      <p:sp>
        <p:nvSpPr>
          <p:cNvPr id="10" name="TextBox 9"/>
          <p:cNvSpPr txBox="1"/>
          <p:nvPr/>
        </p:nvSpPr>
        <p:spPr>
          <a:xfrm>
            <a:off x="640080" y="553834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Pseudo-marginals are needed for the line processes only; x stays a continuous variable.</a:t>
            </a:r>
          </a:p>
        </p:txBody>
      </p:sp>
      <p:sp>
        <p:nvSpPr>
          <p:cNvPr id="11" name="TextBox 10"/>
          <p:cNvSpPr txBox="1"/>
          <p:nvPr/>
        </p:nvSpPr>
        <p:spPr>
          <a:xfrm>
            <a:off x="640080" y="596811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Given x the line processes are independent, so the factorised B(y) is exact: there is no approximation.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20</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EM treats the line processes as nuisance variables</a:t>
            </a:r>
          </a:p>
        </p:txBody>
      </p:sp>
      <p:pic>
        <p:nvPicPr>
          <p:cNvPr id="6" name="Picture 5" descr="f20_em.png"/>
          <p:cNvPicPr>
            <a:picLocks noChangeAspect="1"/>
          </p:cNvPicPr>
          <p:nvPr/>
        </p:nvPicPr>
        <p:blipFill>
          <a:blip r:embed="rId3"/>
          <a:stretch>
            <a:fillRect/>
          </a:stretch>
        </p:blipFill>
        <p:spPr>
          <a:xfrm>
            <a:off x="1066799" y="1225296"/>
            <a:ext cx="10058400" cy="2101604"/>
          </a:xfrm>
          <a:prstGeom prst="rect">
            <a:avLst/>
          </a:prstGeom>
        </p:spPr>
      </p:pic>
      <p:sp>
        <p:nvSpPr>
          <p:cNvPr id="7" name="Rounded Rectangle 6"/>
          <p:cNvSpPr/>
          <p:nvPr/>
        </p:nvSpPr>
        <p:spPr>
          <a:xfrm>
            <a:off x="640080" y="3454916"/>
            <a:ext cx="10911535" cy="146596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0_FEM.png"/>
          <p:cNvPicPr>
            <a:picLocks noChangeAspect="1"/>
          </p:cNvPicPr>
          <p:nvPr/>
        </p:nvPicPr>
        <p:blipFill>
          <a:blip r:embed="rId4"/>
          <a:stretch>
            <a:fillRect/>
          </a:stretch>
        </p:blipFill>
        <p:spPr>
          <a:xfrm>
            <a:off x="2996338" y="3637796"/>
            <a:ext cx="6199322" cy="592035"/>
          </a:xfrm>
          <a:prstGeom prst="rect">
            <a:avLst/>
          </a:prstGeom>
        </p:spPr>
      </p:pic>
      <p:pic>
        <p:nvPicPr>
          <p:cNvPr id="9" name="Picture 8" descr="e20_min.png"/>
          <p:cNvPicPr>
            <a:picLocks noChangeAspect="1"/>
          </p:cNvPicPr>
          <p:nvPr/>
        </p:nvPicPr>
        <p:blipFill>
          <a:blip r:embed="rId5"/>
          <a:stretch>
            <a:fillRect/>
          </a:stretch>
        </p:blipFill>
        <p:spPr>
          <a:xfrm>
            <a:off x="2216609" y="4376135"/>
            <a:ext cx="7758781" cy="361868"/>
          </a:xfrm>
          <a:prstGeom prst="rect">
            <a:avLst/>
          </a:prstGeom>
        </p:spPr>
      </p:pic>
      <p:sp>
        <p:nvSpPr>
          <p:cNvPr id="10" name="TextBox 9"/>
          <p:cNvSpPr txBox="1"/>
          <p:nvPr/>
        </p:nvSpPr>
        <p:spPr>
          <a:xfrm>
            <a:off x="640080" y="506718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Expectation-maximisation (EM) estimates x from P(x | z), the sum of P(x, y | z) over the line processes y.</a:t>
            </a:r>
          </a:p>
        </p:txBody>
      </p:sp>
      <p:sp>
        <p:nvSpPr>
          <p:cNvPr id="11" name="TextBox 10"/>
          <p:cNvSpPr txBox="1"/>
          <p:nvPr/>
        </p:nvSpPr>
        <p:spPr>
          <a:xfrm>
            <a:off x="640080" y="549695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Minimising the EM free energy with respect to B and x alternately gives the two steps of the EM algorithm.</a:t>
            </a:r>
          </a:p>
        </p:txBody>
      </p:sp>
      <p:sp>
        <p:nvSpPr>
          <p:cNvPr id="12" name="TextBox 11"/>
          <p:cNvSpPr txBox="1"/>
          <p:nvPr/>
        </p:nvSpPr>
        <p:spPr>
          <a:xfrm>
            <a:off x="640080" y="5972444"/>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R. M. Neal and G. E. Hinton, “A view of the EM algorithm that justifies incremental, sparse, and other variants,” in Learning in Graphical Models, Kluwer, 1998, pp. 355–368.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21</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EM algorithm for the weak membrane</a:t>
            </a:r>
          </a:p>
        </p:txBody>
      </p:sp>
      <p:pic>
        <p:nvPicPr>
          <p:cNvPr id="6" name="Picture 5" descr="f21_em_run.png"/>
          <p:cNvPicPr>
            <a:picLocks noChangeAspect="1"/>
          </p:cNvPicPr>
          <p:nvPr/>
        </p:nvPicPr>
        <p:blipFill>
          <a:blip r:embed="rId3"/>
          <a:stretch>
            <a:fillRect/>
          </a:stretch>
        </p:blipFill>
        <p:spPr>
          <a:xfrm>
            <a:off x="883919" y="1225296"/>
            <a:ext cx="10424160" cy="2053481"/>
          </a:xfrm>
          <a:prstGeom prst="rect">
            <a:avLst/>
          </a:prstGeom>
        </p:spPr>
      </p:pic>
      <p:sp>
        <p:nvSpPr>
          <p:cNvPr id="7" name="Rounded Rectangle 6"/>
          <p:cNvSpPr/>
          <p:nvPr/>
        </p:nvSpPr>
        <p:spPr>
          <a:xfrm>
            <a:off x="640080" y="3406793"/>
            <a:ext cx="10911535" cy="1745281"/>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1_E.png"/>
          <p:cNvPicPr>
            <a:picLocks noChangeAspect="1"/>
          </p:cNvPicPr>
          <p:nvPr/>
        </p:nvPicPr>
        <p:blipFill>
          <a:blip r:embed="rId4"/>
          <a:stretch>
            <a:fillRect/>
          </a:stretch>
        </p:blipFill>
        <p:spPr>
          <a:xfrm>
            <a:off x="3670535" y="3589673"/>
            <a:ext cx="4850928" cy="594238"/>
          </a:xfrm>
          <a:prstGeom prst="rect">
            <a:avLst/>
          </a:prstGeom>
        </p:spPr>
      </p:pic>
      <p:pic>
        <p:nvPicPr>
          <p:cNvPr id="9" name="Picture 8" descr="e21_M.png"/>
          <p:cNvPicPr>
            <a:picLocks noChangeAspect="1"/>
          </p:cNvPicPr>
          <p:nvPr/>
        </p:nvPicPr>
        <p:blipFill>
          <a:blip r:embed="rId5"/>
          <a:stretch>
            <a:fillRect/>
          </a:stretch>
        </p:blipFill>
        <p:spPr>
          <a:xfrm>
            <a:off x="2423710" y="4330215"/>
            <a:ext cx="7344578" cy="638978"/>
          </a:xfrm>
          <a:prstGeom prst="rect">
            <a:avLst/>
          </a:prstGeom>
        </p:spPr>
      </p:pic>
      <p:sp>
        <p:nvSpPr>
          <p:cNvPr id="10" name="TextBox 9"/>
          <p:cNvSpPr txBox="1"/>
          <p:nvPr/>
        </p:nvSpPr>
        <p:spPr>
          <a:xfrm>
            <a:off x="640080" y="529837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E-step estimates the edge probabilities from the current x; the M-step smooths z with weights 1 - b.</a:t>
            </a:r>
          </a:p>
        </p:txBody>
      </p:sp>
      <p:sp>
        <p:nvSpPr>
          <p:cNvPr id="11" name="TextBox 10"/>
          <p:cNvSpPr txBox="1"/>
          <p:nvPr/>
        </p:nvSpPr>
        <p:spPr>
          <a:xfrm>
            <a:off x="640080" y="572814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Initialise with x = z and alternate; the EM algorithm converges to a local minimum of the free energy.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22</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Mean field free energies</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Interacting line processes need the mean field approximation</a:t>
            </a:r>
          </a:p>
        </p:txBody>
      </p:sp>
      <p:sp>
        <p:nvSpPr>
          <p:cNvPr id="6" name="Rounded Rectangle 5"/>
          <p:cNvSpPr/>
          <p:nvPr/>
        </p:nvSpPr>
        <p:spPr>
          <a:xfrm>
            <a:off x="640080" y="1371600"/>
            <a:ext cx="10911535" cy="203254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22_F1.png"/>
          <p:cNvPicPr>
            <a:picLocks noChangeAspect="1"/>
          </p:cNvPicPr>
          <p:nvPr/>
        </p:nvPicPr>
        <p:blipFill>
          <a:blip r:embed="rId3"/>
          <a:stretch>
            <a:fillRect/>
          </a:stretch>
        </p:blipFill>
        <p:spPr>
          <a:xfrm>
            <a:off x="2551813" y="1554480"/>
            <a:ext cx="7088372" cy="598967"/>
          </a:xfrm>
          <a:prstGeom prst="rect">
            <a:avLst/>
          </a:prstGeom>
        </p:spPr>
      </p:pic>
      <p:pic>
        <p:nvPicPr>
          <p:cNvPr id="8" name="Picture 7" descr="e22_F2.png"/>
          <p:cNvPicPr>
            <a:picLocks noChangeAspect="1"/>
          </p:cNvPicPr>
          <p:nvPr/>
        </p:nvPicPr>
        <p:blipFill>
          <a:blip r:embed="rId4"/>
          <a:stretch>
            <a:fillRect/>
          </a:stretch>
        </p:blipFill>
        <p:spPr>
          <a:xfrm>
            <a:off x="2548697" y="2299751"/>
            <a:ext cx="7094605" cy="921515"/>
          </a:xfrm>
          <a:prstGeom prst="rect">
            <a:avLst/>
          </a:prstGeom>
        </p:spPr>
      </p:pic>
      <p:sp>
        <p:nvSpPr>
          <p:cNvPr id="9" name="TextBox 8"/>
          <p:cNvSpPr txBox="1"/>
          <p:nvPr/>
        </p:nvSpPr>
        <p:spPr>
          <a:xfrm>
            <a:off x="640080" y="355045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modified model adds interactions between line processes; a negative C rewards continuing lines.</a:t>
            </a:r>
          </a:p>
        </p:txBody>
      </p:sp>
      <p:sp>
        <p:nvSpPr>
          <p:cNvPr id="10" name="TextBox 9"/>
          <p:cNvSpPr txBox="1"/>
          <p:nvPr/>
        </p:nvSpPr>
        <p:spPr>
          <a:xfrm>
            <a:off x="640080" y="398021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Given x the line processes are now coupled: their posterior no longer factorises, and the exact E-step is lost.</a:t>
            </a:r>
          </a:p>
        </p:txBody>
      </p:sp>
      <p:sp>
        <p:nvSpPr>
          <p:cNvPr id="11" name="TextBox 10"/>
          <p:cNvSpPr txBox="1"/>
          <p:nvPr/>
        </p:nvSpPr>
        <p:spPr>
          <a:xfrm>
            <a:off x="640080" y="440998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mean field approximation restores a factorised B(y), one pseudo-marginal for each line process.</a:t>
            </a:r>
          </a:p>
        </p:txBody>
      </p:sp>
      <p:sp>
        <p:nvSpPr>
          <p:cNvPr id="12" name="TextBox 11"/>
          <p:cNvSpPr txBox="1"/>
          <p:nvPr/>
        </p:nvSpPr>
        <p:spPr>
          <a:xfrm>
            <a:off x="640080" y="483975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free energy gains one term: the product of the pseudo-marginals of interacting line processes.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23</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3</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Minimising the free energy</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Steepest descent, discrete iterative algorithms, and deterministic annealing with a temperature 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24</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Steepest descent moves downhill on the free energy</a:t>
            </a:r>
          </a:p>
        </p:txBody>
      </p:sp>
      <p:pic>
        <p:nvPicPr>
          <p:cNvPr id="6" name="Picture 5" descr="f24_descent.png"/>
          <p:cNvPicPr>
            <a:picLocks noChangeAspect="1"/>
          </p:cNvPicPr>
          <p:nvPr/>
        </p:nvPicPr>
        <p:blipFill>
          <a:blip r:embed="rId3"/>
          <a:stretch>
            <a:fillRect/>
          </a:stretch>
        </p:blipFill>
        <p:spPr>
          <a:xfrm>
            <a:off x="1066799" y="1225296"/>
            <a:ext cx="10058400" cy="2147071"/>
          </a:xfrm>
          <a:prstGeom prst="rect">
            <a:avLst/>
          </a:prstGeom>
        </p:spPr>
      </p:pic>
      <p:sp>
        <p:nvSpPr>
          <p:cNvPr id="7" name="Rounded Rectangle 6"/>
          <p:cNvSpPr/>
          <p:nvPr/>
        </p:nvSpPr>
        <p:spPr>
          <a:xfrm>
            <a:off x="640080" y="3500383"/>
            <a:ext cx="10911535" cy="145405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4_bin.png"/>
          <p:cNvPicPr>
            <a:picLocks noChangeAspect="1"/>
          </p:cNvPicPr>
          <p:nvPr/>
        </p:nvPicPr>
        <p:blipFill>
          <a:blip r:embed="rId4"/>
          <a:stretch>
            <a:fillRect/>
          </a:stretch>
        </p:blipFill>
        <p:spPr>
          <a:xfrm>
            <a:off x="2017939" y="3683263"/>
            <a:ext cx="8156121" cy="265339"/>
          </a:xfrm>
          <a:prstGeom prst="rect">
            <a:avLst/>
          </a:prstGeom>
        </p:spPr>
      </p:pic>
      <p:pic>
        <p:nvPicPr>
          <p:cNvPr id="9" name="Picture 8" descr="e24_flow.png"/>
          <p:cNvPicPr>
            <a:picLocks noChangeAspect="1"/>
          </p:cNvPicPr>
          <p:nvPr/>
        </p:nvPicPr>
        <p:blipFill>
          <a:blip r:embed="rId5"/>
          <a:stretch>
            <a:fillRect/>
          </a:stretch>
        </p:blipFill>
        <p:spPr>
          <a:xfrm>
            <a:off x="1528571" y="4094907"/>
            <a:ext cx="9134856" cy="676656"/>
          </a:xfrm>
          <a:prstGeom prst="rect">
            <a:avLst/>
          </a:prstGeom>
        </p:spPr>
      </p:pic>
      <p:sp>
        <p:nvSpPr>
          <p:cNvPr id="10" name="TextBox 9"/>
          <p:cNvSpPr txBox="1"/>
          <p:nvPr/>
        </p:nvSpPr>
        <p:spPr>
          <a:xfrm>
            <a:off x="640080" y="510074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Mean field free energies are continuous functions of the pseudo-marginals, so gradients can be computed.</a:t>
            </a:r>
          </a:p>
        </p:txBody>
      </p:sp>
      <p:sp>
        <p:nvSpPr>
          <p:cNvPr id="11" name="TextBox 10"/>
          <p:cNvSpPr txBox="1"/>
          <p:nvPr/>
        </p:nvSpPr>
        <p:spPr>
          <a:xfrm>
            <a:off x="640080" y="553051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free energy decreases monotonically, and the negative entropy term keeps every b inside [0, 1].</a:t>
            </a:r>
          </a:p>
        </p:txBody>
      </p:sp>
      <p:sp>
        <p:nvSpPr>
          <p:cNvPr id="12" name="TextBox 11"/>
          <p:cNvSpPr txBox="1"/>
          <p:nvPr/>
        </p:nvSpPr>
        <p:spPr>
          <a:xfrm>
            <a:off x="640080" y="596028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Variants multiply the gradient by a positive function, which keeps the decrease and improves stability.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25</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Hopfield analog networks: a simplified neuroscience model</a:t>
            </a:r>
          </a:p>
        </p:txBody>
      </p:sp>
      <p:pic>
        <p:nvPicPr>
          <p:cNvPr id="6" name="Picture 5" descr="f25_hopfield.png"/>
          <p:cNvPicPr>
            <a:picLocks noChangeAspect="1"/>
          </p:cNvPicPr>
          <p:nvPr/>
        </p:nvPicPr>
        <p:blipFill>
          <a:blip r:embed="rId3"/>
          <a:stretch>
            <a:fillRect/>
          </a:stretch>
        </p:blipFill>
        <p:spPr>
          <a:xfrm>
            <a:off x="1066799" y="1225296"/>
            <a:ext cx="10058400" cy="2238006"/>
          </a:xfrm>
          <a:prstGeom prst="rect">
            <a:avLst/>
          </a:prstGeom>
        </p:spPr>
      </p:pic>
      <p:sp>
        <p:nvSpPr>
          <p:cNvPr id="7" name="Rounded Rectangle 6"/>
          <p:cNvSpPr/>
          <p:nvPr/>
        </p:nvSpPr>
        <p:spPr>
          <a:xfrm>
            <a:off x="640080" y="3591318"/>
            <a:ext cx="10911535" cy="104592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5_hop.png"/>
          <p:cNvPicPr>
            <a:picLocks noChangeAspect="1"/>
          </p:cNvPicPr>
          <p:nvPr/>
        </p:nvPicPr>
        <p:blipFill>
          <a:blip r:embed="rId4"/>
          <a:stretch>
            <a:fillRect/>
          </a:stretch>
        </p:blipFill>
        <p:spPr>
          <a:xfrm>
            <a:off x="1607331" y="3774198"/>
            <a:ext cx="8977335" cy="680169"/>
          </a:xfrm>
          <a:prstGeom prst="rect">
            <a:avLst/>
          </a:prstGeom>
        </p:spPr>
      </p:pic>
      <p:sp>
        <p:nvSpPr>
          <p:cNvPr id="9" name="TextBox 8"/>
          <p:cNvSpPr txBox="1"/>
          <p:nvPr/>
        </p:nvSpPr>
        <p:spPr>
          <a:xfrm>
            <a:off x="640080" y="478355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Multiplying the gradient by b(1 - b) gives the dynamics of a Hopfield analog network in the variable u.</a:t>
            </a:r>
          </a:p>
        </p:txBody>
      </p:sp>
      <p:sp>
        <p:nvSpPr>
          <p:cNvPr id="10" name="TextBox 9"/>
          <p:cNvSpPr txBox="1"/>
          <p:nvPr/>
        </p:nvSpPr>
        <p:spPr>
          <a:xfrm>
            <a:off x="640080" y="521332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state u integrates the weighted outputs of the other units and decays; the output b is a sigmoid of u.</a:t>
            </a:r>
          </a:p>
        </p:txBody>
      </p:sp>
      <p:sp>
        <p:nvSpPr>
          <p:cNvPr id="11" name="TextBox 10"/>
          <p:cNvSpPr txBox="1"/>
          <p:nvPr/>
        </p:nvSpPr>
        <p:spPr>
          <a:xfrm>
            <a:off x="640080" y="564308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mean field equations can therefore be read as a simplified model of a network of neurons.</a:t>
            </a:r>
          </a:p>
        </p:txBody>
      </p:sp>
      <p:sp>
        <p:nvSpPr>
          <p:cNvPr id="12" name="TextBox 11"/>
          <p:cNvSpPr txBox="1"/>
          <p:nvPr/>
        </p:nvSpPr>
        <p:spPr>
          <a:xfrm>
            <a:off x="640080" y="6118576"/>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J. J. Hopfield, “Neurons with graded response have collective computational properties like those of two-state neurons,” PNAS, 81(10):3088–3092, 1984.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26</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Discrete iterative algorithms are designed to lower the energy</a:t>
            </a:r>
          </a:p>
        </p:txBody>
      </p:sp>
      <p:pic>
        <p:nvPicPr>
          <p:cNvPr id="6" name="Picture 5" descr="f26_dia.png"/>
          <p:cNvPicPr>
            <a:picLocks noChangeAspect="1"/>
          </p:cNvPicPr>
          <p:nvPr/>
        </p:nvPicPr>
        <p:blipFill>
          <a:blip r:embed="rId3"/>
          <a:stretch>
            <a:fillRect/>
          </a:stretch>
        </p:blipFill>
        <p:spPr>
          <a:xfrm>
            <a:off x="883919" y="1225296"/>
            <a:ext cx="10424160" cy="2832027"/>
          </a:xfrm>
          <a:prstGeom prst="rect">
            <a:avLst/>
          </a:prstGeom>
        </p:spPr>
      </p:pic>
      <p:sp>
        <p:nvSpPr>
          <p:cNvPr id="7" name="TextBox 6"/>
          <p:cNvSpPr txBox="1"/>
          <p:nvPr/>
        </p:nvSpPr>
        <p:spPr>
          <a:xfrm>
            <a:off x="640080" y="420362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On a digital computer steepest descent needs a time step: too large is unstable, too small is slow.</a:t>
            </a:r>
          </a:p>
        </p:txBody>
      </p:sp>
      <p:sp>
        <p:nvSpPr>
          <p:cNvPr id="8" name="TextBox 7"/>
          <p:cNvSpPr txBox="1"/>
          <p:nvPr/>
        </p:nvSpPr>
        <p:spPr>
          <a:xfrm>
            <a:off x="640080" y="463339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Discrete iterative algorithms (DIA) are designed to decrease the energy at each iteration, with no time step.</a:t>
            </a:r>
          </a:p>
        </p:txBody>
      </p:sp>
      <p:sp>
        <p:nvSpPr>
          <p:cNvPr id="9" name="TextBox 8"/>
          <p:cNvSpPr txBox="1"/>
          <p:nvPr/>
        </p:nvSpPr>
        <p:spPr>
          <a:xfrm>
            <a:off x="640080" y="506316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DIA can make large changes of state in one iteration and avoids hugging the energy surface.</a:t>
            </a:r>
          </a:p>
        </p:txBody>
      </p:sp>
      <p:sp>
        <p:nvSpPr>
          <p:cNvPr id="10" name="TextBox 9"/>
          <p:cNvSpPr txBox="1"/>
          <p:nvPr/>
        </p:nvSpPr>
        <p:spPr>
          <a:xfrm>
            <a:off x="640080" y="549293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Two strategies give such algorithms: variational bounding and the concave-convex procedure (CCCP).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27</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Variational bounding and the concave-convex procedure</a:t>
            </a:r>
          </a:p>
        </p:txBody>
      </p:sp>
      <p:pic>
        <p:nvPicPr>
          <p:cNvPr id="6" name="Picture 5" descr="f27_bounds.png"/>
          <p:cNvPicPr>
            <a:picLocks noChangeAspect="1"/>
          </p:cNvPicPr>
          <p:nvPr/>
        </p:nvPicPr>
        <p:blipFill>
          <a:blip r:embed="rId3"/>
          <a:stretch>
            <a:fillRect/>
          </a:stretch>
        </p:blipFill>
        <p:spPr>
          <a:xfrm>
            <a:off x="1343024" y="1225296"/>
            <a:ext cx="9505950" cy="2971800"/>
          </a:xfrm>
          <a:prstGeom prst="rect">
            <a:avLst/>
          </a:prstGeom>
        </p:spPr>
      </p:pic>
      <p:sp>
        <p:nvSpPr>
          <p:cNvPr id="7" name="Rounded Rectangle 6"/>
          <p:cNvSpPr/>
          <p:nvPr/>
        </p:nvSpPr>
        <p:spPr>
          <a:xfrm>
            <a:off x="640080" y="4325112"/>
            <a:ext cx="10911535" cy="1051816"/>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7_bound.png"/>
          <p:cNvPicPr>
            <a:picLocks noChangeAspect="1"/>
          </p:cNvPicPr>
          <p:nvPr/>
        </p:nvPicPr>
        <p:blipFill>
          <a:blip r:embed="rId4"/>
          <a:stretch>
            <a:fillRect/>
          </a:stretch>
        </p:blipFill>
        <p:spPr>
          <a:xfrm>
            <a:off x="3203775" y="4507992"/>
            <a:ext cx="5784448" cy="269111"/>
          </a:xfrm>
          <a:prstGeom prst="rect">
            <a:avLst/>
          </a:prstGeom>
        </p:spPr>
      </p:pic>
      <p:pic>
        <p:nvPicPr>
          <p:cNvPr id="9" name="Picture 8" descr="e27_chain.png"/>
          <p:cNvPicPr>
            <a:picLocks noChangeAspect="1"/>
          </p:cNvPicPr>
          <p:nvPr/>
        </p:nvPicPr>
        <p:blipFill>
          <a:blip r:embed="rId5"/>
          <a:stretch>
            <a:fillRect/>
          </a:stretch>
        </p:blipFill>
        <p:spPr>
          <a:xfrm>
            <a:off x="3471041" y="4923407"/>
            <a:ext cx="5249917" cy="270641"/>
          </a:xfrm>
          <a:prstGeom prst="rect">
            <a:avLst/>
          </a:prstGeom>
        </p:spPr>
      </p:pic>
      <p:sp>
        <p:nvSpPr>
          <p:cNvPr id="10" name="TextBox 9"/>
          <p:cNvSpPr txBox="1"/>
          <p:nvPr/>
        </p:nvSpPr>
        <p:spPr>
          <a:xfrm>
            <a:off x="640080" y="552323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At iteration t the bounding function touches E at the current state and lies above E everywhere else.</a:t>
            </a:r>
          </a:p>
        </p:txBody>
      </p:sp>
      <p:sp>
        <p:nvSpPr>
          <p:cNvPr id="11" name="TextBox 10"/>
          <p:cNvSpPr txBox="1"/>
          <p:nvPr/>
        </p:nvSpPr>
        <p:spPr>
          <a:xfrm>
            <a:off x="640080" y="595300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CCCP is the special case E = convex + concave: keep the convex part and linearise the concave part.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28</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update equation of the discrete iterative algorithm</a:t>
            </a:r>
          </a:p>
        </p:txBody>
      </p:sp>
      <p:pic>
        <p:nvPicPr>
          <p:cNvPr id="6" name="Picture 5" descr="f28_labelling_iters.png"/>
          <p:cNvPicPr>
            <a:picLocks noChangeAspect="1"/>
          </p:cNvPicPr>
          <p:nvPr/>
        </p:nvPicPr>
        <p:blipFill>
          <a:blip r:embed="rId3"/>
          <a:stretch>
            <a:fillRect/>
          </a:stretch>
        </p:blipFill>
        <p:spPr>
          <a:xfrm>
            <a:off x="883919" y="1225296"/>
            <a:ext cx="10424160" cy="2330413"/>
          </a:xfrm>
          <a:prstGeom prst="rect">
            <a:avLst/>
          </a:prstGeom>
        </p:spPr>
      </p:pic>
      <p:sp>
        <p:nvSpPr>
          <p:cNvPr id="7" name="Rounded Rectangle 6"/>
          <p:cNvSpPr/>
          <p:nvPr/>
        </p:nvSpPr>
        <p:spPr>
          <a:xfrm>
            <a:off x="640080" y="3683725"/>
            <a:ext cx="10911535" cy="1289427"/>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8_dia.png"/>
          <p:cNvPicPr>
            <a:picLocks noChangeAspect="1"/>
          </p:cNvPicPr>
          <p:nvPr/>
        </p:nvPicPr>
        <p:blipFill>
          <a:blip r:embed="rId4"/>
          <a:stretch>
            <a:fillRect/>
          </a:stretch>
        </p:blipFill>
        <p:spPr>
          <a:xfrm>
            <a:off x="3012989" y="3866605"/>
            <a:ext cx="6166021" cy="923667"/>
          </a:xfrm>
          <a:prstGeom prst="rect">
            <a:avLst/>
          </a:prstGeom>
        </p:spPr>
      </p:pic>
      <p:sp>
        <p:nvSpPr>
          <p:cNvPr id="9" name="TextBox 8"/>
          <p:cNvSpPr txBox="1"/>
          <p:nvPr/>
        </p:nvSpPr>
        <p:spPr>
          <a:xfrm>
            <a:off x="640080" y="511945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With the other pseudo-marginals fixed, this update minimises the free energy with respect to node i.</a:t>
            </a:r>
          </a:p>
        </p:txBody>
      </p:sp>
      <p:sp>
        <p:nvSpPr>
          <p:cNvPr id="10" name="TextBox 9"/>
          <p:cNvSpPr txBox="1"/>
          <p:nvPr/>
        </p:nvSpPr>
        <p:spPr>
          <a:xfrm>
            <a:off x="640080" y="554922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One node at a time, the free energy never increases; with all nodes in parallel the guarantee is lost.</a:t>
            </a:r>
          </a:p>
        </p:txBody>
      </p:sp>
      <p:sp>
        <p:nvSpPr>
          <p:cNvPr id="11" name="TextBox 10"/>
          <p:cNvSpPr txBox="1"/>
          <p:nvPr/>
        </p:nvSpPr>
        <p:spPr>
          <a:xfrm>
            <a:off x="640080" y="597899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Example: binary labels from a noisy input z; alternate pixels are updated in turn from their neighbours.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29</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temperature parameter T defines a family of distributions</a:t>
            </a:r>
          </a:p>
        </p:txBody>
      </p:sp>
      <p:pic>
        <p:nvPicPr>
          <p:cNvPr id="6" name="Picture 5" descr="f29_temperature.png"/>
          <p:cNvPicPr>
            <a:picLocks noChangeAspect="1"/>
          </p:cNvPicPr>
          <p:nvPr/>
        </p:nvPicPr>
        <p:blipFill>
          <a:blip r:embed="rId3"/>
          <a:stretch>
            <a:fillRect/>
          </a:stretch>
        </p:blipFill>
        <p:spPr>
          <a:xfrm>
            <a:off x="1066799" y="1225296"/>
            <a:ext cx="10058400" cy="2283474"/>
          </a:xfrm>
          <a:prstGeom prst="rect">
            <a:avLst/>
          </a:prstGeom>
        </p:spPr>
      </p:pic>
      <p:sp>
        <p:nvSpPr>
          <p:cNvPr id="7" name="Rounded Rectangle 6"/>
          <p:cNvSpPr/>
          <p:nvPr/>
        </p:nvSpPr>
        <p:spPr>
          <a:xfrm>
            <a:off x="640080" y="3636786"/>
            <a:ext cx="10911535" cy="129408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29_gibbs.png"/>
          <p:cNvPicPr>
            <a:picLocks noChangeAspect="1"/>
          </p:cNvPicPr>
          <p:nvPr/>
        </p:nvPicPr>
        <p:blipFill>
          <a:blip r:embed="rId4"/>
          <a:stretch>
            <a:fillRect/>
          </a:stretch>
        </p:blipFill>
        <p:spPr>
          <a:xfrm>
            <a:off x="1475262" y="3819666"/>
            <a:ext cx="9241474" cy="928324"/>
          </a:xfrm>
          <a:prstGeom prst="rect">
            <a:avLst/>
          </a:prstGeom>
        </p:spPr>
      </p:pic>
      <p:sp>
        <p:nvSpPr>
          <p:cNvPr id="9" name="TextBox 8"/>
          <p:cNvSpPr txBox="1"/>
          <p:nvPr/>
        </p:nvSpPr>
        <p:spPr>
          <a:xfrm>
            <a:off x="640080" y="507717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family is proportional to P(x) to the power 1/T; T = 1 is the original distribution.</a:t>
            </a:r>
          </a:p>
        </p:txBody>
      </p:sp>
      <p:sp>
        <p:nvSpPr>
          <p:cNvPr id="10" name="TextBox 9"/>
          <p:cNvSpPr txBox="1"/>
          <p:nvPr/>
        </p:nvSpPr>
        <p:spPr>
          <a:xfrm>
            <a:off x="640080" y="550694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As T goes to 0 the distribution peaks at the minimum of E(x); as T grows it tends to the uniform distribution.</a:t>
            </a:r>
          </a:p>
        </p:txBody>
      </p:sp>
      <p:sp>
        <p:nvSpPr>
          <p:cNvPr id="11" name="TextBox 10"/>
          <p:cNvSpPr txBox="1"/>
          <p:nvPr/>
        </p:nvSpPr>
        <p:spPr>
          <a:xfrm>
            <a:off x="640080" y="593671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Dividing by T gives the form of the segmentation lecture, E/T plus negative entropy: the same minimiser.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30</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Minimising the free energy</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Deterministic annealing tracks a minimum as T decreases</a:t>
            </a:r>
          </a:p>
        </p:txBody>
      </p:sp>
      <p:pic>
        <p:nvPicPr>
          <p:cNvPr id="6" name="Picture 5" descr="f30_continuation.png"/>
          <p:cNvPicPr>
            <a:picLocks noChangeAspect="1"/>
          </p:cNvPicPr>
          <p:nvPr/>
        </p:nvPicPr>
        <p:blipFill>
          <a:blip r:embed="rId3"/>
          <a:stretch>
            <a:fillRect/>
          </a:stretch>
        </p:blipFill>
        <p:spPr>
          <a:xfrm>
            <a:off x="1066799" y="1225296"/>
            <a:ext cx="10058400" cy="2743200"/>
          </a:xfrm>
          <a:prstGeom prst="rect">
            <a:avLst/>
          </a:prstGeom>
        </p:spPr>
      </p:pic>
      <p:sp>
        <p:nvSpPr>
          <p:cNvPr id="7" name="TextBox 6"/>
          <p:cNvSpPr txBox="1"/>
          <p:nvPr/>
        </p:nvSpPr>
        <p:spPr>
          <a:xfrm>
            <a:off x="640080" y="411480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At large T the convex entropy term dominates and the free energy is convex: minimisation is easy.</a:t>
            </a:r>
          </a:p>
        </p:txBody>
      </p:sp>
      <p:sp>
        <p:nvSpPr>
          <p:cNvPr id="8" name="TextBox 7"/>
          <p:cNvSpPr txBox="1"/>
          <p:nvPr/>
        </p:nvSpPr>
        <p:spPr>
          <a:xfrm>
            <a:off x="640080" y="454456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Above a critical temperature the free energy has an obvious solution, which is the starting point.</a:t>
            </a:r>
          </a:p>
        </p:txBody>
      </p:sp>
      <p:sp>
        <p:nvSpPr>
          <p:cNvPr id="9" name="TextBox 8"/>
          <p:cNvSpPr txBox="1"/>
          <p:nvPr/>
        </p:nvSpPr>
        <p:spPr>
          <a:xfrm>
            <a:off x="640080" y="497433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Minimise at large T, use the result as the initial condition at a smaller T, and repeat down to small T.</a:t>
            </a:r>
          </a:p>
        </p:txBody>
      </p:sp>
      <p:sp>
        <p:nvSpPr>
          <p:cNvPr id="10" name="TextBox 9"/>
          <p:cNvSpPr txBox="1"/>
          <p:nvPr/>
        </p:nvSpPr>
        <p:spPr>
          <a:xfrm>
            <a:off x="640080" y="540410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Deterministic annealing has no guarantee of the global minimum; simulated annealing has one and is slow.</a:t>
            </a:r>
          </a:p>
        </p:txBody>
      </p:sp>
      <p:sp>
        <p:nvSpPr>
          <p:cNvPr id="11" name="TextBox 10"/>
          <p:cNvSpPr txBox="1"/>
          <p:nvPr/>
        </p:nvSpPr>
        <p:spPr>
          <a:xfrm>
            <a:off x="640080" y="5879592"/>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S. Geman and D. Geman, “Stochastic relaxation, Gibbs distributions, and the Bayesian restoration of images,” IEEE Trans. PAMI, 6(6):721–741, 1984.</a:t>
            </a:r>
          </a:p>
          <a:p>
            <a:r>
              <a:rPr sz="1200" b="0" i="1">
                <a:solidFill>
                  <a:srgbClr val="7C7C8C"/>
                </a:solidFill>
                <a:latin typeface="Calibri"/>
                <a:ea typeface="Calibri"/>
                <a:cs typeface="Calibri"/>
              </a:rPr>
              <a:t>A. Blake and A. Zisserman, Visual Reconstruction, MIT Press, 1987.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31</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4</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A cooperative stereo model</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Excitation between matches at similar disparities and inhibition between rival matches solve the correspondence problem.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32</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Stereo: the correspondence problem</a:t>
            </a:r>
          </a:p>
        </p:txBody>
      </p:sp>
      <p:pic>
        <p:nvPicPr>
          <p:cNvPr id="6" name="Picture 5" descr="f32_rds.png"/>
          <p:cNvPicPr>
            <a:picLocks noChangeAspect="1"/>
          </p:cNvPicPr>
          <p:nvPr/>
        </p:nvPicPr>
        <p:blipFill>
          <a:blip r:embed="rId3"/>
          <a:stretch>
            <a:fillRect/>
          </a:stretch>
        </p:blipFill>
        <p:spPr>
          <a:xfrm>
            <a:off x="1066799" y="1225296"/>
            <a:ext cx="10058400" cy="2743200"/>
          </a:xfrm>
          <a:prstGeom prst="rect">
            <a:avLst/>
          </a:prstGeom>
        </p:spPr>
      </p:pic>
      <p:sp>
        <p:nvSpPr>
          <p:cNvPr id="7" name="TextBox 6"/>
          <p:cNvSpPr txBox="1"/>
          <p:nvPr/>
        </p:nvSpPr>
        <p:spPr>
          <a:xfrm>
            <a:off x="640080" y="411480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key problem is the correspondence between the inputs in the two eyes, which gives the disparity.</a:t>
            </a:r>
          </a:p>
        </p:txBody>
      </p:sp>
      <p:sp>
        <p:nvSpPr>
          <p:cNvPr id="8" name="TextBox 7"/>
          <p:cNvSpPr txBox="1"/>
          <p:nvPr/>
        </p:nvSpPr>
        <p:spPr>
          <a:xfrm>
            <a:off x="640080" y="454456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Given the disparity, the depth of the points in space follows by trigonometry, for calibrated cameras.</a:t>
            </a:r>
          </a:p>
        </p:txBody>
      </p:sp>
      <p:sp>
        <p:nvSpPr>
          <p:cNvPr id="9" name="TextBox 8"/>
          <p:cNvSpPr txBox="1"/>
          <p:nvPr/>
        </p:nvSpPr>
        <p:spPr>
          <a:xfrm>
            <a:off x="640080" y="497433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Julesz (1971): humans see depth in random dot stereograms, which have no scene structure to recognise.</a:t>
            </a:r>
          </a:p>
        </p:txBody>
      </p:sp>
      <p:sp>
        <p:nvSpPr>
          <p:cNvPr id="10" name="TextBox 9"/>
          <p:cNvSpPr txBox="1"/>
          <p:nvPr/>
        </p:nvSpPr>
        <p:spPr>
          <a:xfrm>
            <a:off x="640080" y="5449823"/>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B. Julesz, Foundations of Cyclopean Perception, University of Chicago Press, 1971.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33</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Two assumptions: similar appearance and a smooth surface</a:t>
            </a:r>
          </a:p>
        </p:txBody>
      </p:sp>
      <p:pic>
        <p:nvPicPr>
          <p:cNvPr id="6" name="Picture 5" descr="f33_coop.png"/>
          <p:cNvPicPr>
            <a:picLocks noChangeAspect="1"/>
          </p:cNvPicPr>
          <p:nvPr/>
        </p:nvPicPr>
        <p:blipFill>
          <a:blip r:embed="rId3"/>
          <a:stretch>
            <a:fillRect/>
          </a:stretch>
        </p:blipFill>
        <p:spPr>
          <a:xfrm>
            <a:off x="1066799" y="1225296"/>
            <a:ext cx="10058400" cy="2743200"/>
          </a:xfrm>
          <a:prstGeom prst="rect">
            <a:avLst/>
          </a:prstGeom>
        </p:spPr>
      </p:pic>
      <p:sp>
        <p:nvSpPr>
          <p:cNvPr id="7" name="TextBox 6"/>
          <p:cNvSpPr txBox="1"/>
          <p:nvPr/>
        </p:nvSpPr>
        <p:spPr>
          <a:xfrm>
            <a:off x="640080" y="411480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Features in the two eyes are more likely to correspond if they have similar appearance.</a:t>
            </a:r>
          </a:p>
        </p:txBody>
      </p:sp>
      <p:sp>
        <p:nvSpPr>
          <p:cNvPr id="8" name="TextBox 7"/>
          <p:cNvSpPr txBox="1"/>
          <p:nvPr/>
        </p:nvSpPr>
        <p:spPr>
          <a:xfrm>
            <a:off x="640080" y="454456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surface obeys weak assumptions about spatial context: piecewise smooth, like the weak membrane.</a:t>
            </a:r>
          </a:p>
        </p:txBody>
      </p:sp>
      <p:sp>
        <p:nvSpPr>
          <p:cNvPr id="9" name="TextBox 8"/>
          <p:cNvSpPr txBox="1"/>
          <p:nvPr/>
        </p:nvSpPr>
        <p:spPr>
          <a:xfrm>
            <a:off x="640080" y="497433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Excitatory connections impose the smoothness; inhibitory connections prevent multiple matches.</a:t>
            </a:r>
          </a:p>
        </p:txBody>
      </p:sp>
      <p:sp>
        <p:nvSpPr>
          <p:cNvPr id="10" name="TextBox 9"/>
          <p:cNvSpPr txBox="1"/>
          <p:nvPr/>
        </p:nvSpPr>
        <p:spPr>
          <a:xfrm>
            <a:off x="640080" y="540410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resulting algorithm combines cooperation and competition (Marr and Poggio 1976, Dev 1975).</a:t>
            </a:r>
          </a:p>
        </p:txBody>
      </p:sp>
      <p:sp>
        <p:nvSpPr>
          <p:cNvPr id="11" name="TextBox 10"/>
          <p:cNvSpPr txBox="1"/>
          <p:nvPr/>
        </p:nvSpPr>
        <p:spPr>
          <a:xfrm>
            <a:off x="640080" y="5879592"/>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D. Marr and T. Poggio, “Cooperative computation of stereo disparity,” Science, 194(4262):283–287, 1976.</a:t>
            </a:r>
          </a:p>
          <a:p>
            <a:r>
              <a:rPr sz="1200" b="0" i="1">
                <a:solidFill>
                  <a:srgbClr val="7C7C8C"/>
                </a:solidFill>
                <a:latin typeface="Calibri"/>
                <a:ea typeface="Calibri"/>
                <a:cs typeface="Calibri"/>
              </a:rPr>
              <a:t>P. Dev, “Perception of depth surfaces in random-dot stereograms: a neural model,” International Journal of Man-Machine Studies, 7(4):511–528, 1975.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34</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A correspondence variable for every pair of points</a:t>
            </a:r>
          </a:p>
        </p:txBody>
      </p:sp>
      <p:pic>
        <p:nvPicPr>
          <p:cNvPr id="6" name="Picture 5" descr="f34_V.png"/>
          <p:cNvPicPr>
            <a:picLocks noChangeAspect="1"/>
          </p:cNvPicPr>
          <p:nvPr/>
        </p:nvPicPr>
        <p:blipFill>
          <a:blip r:embed="rId3"/>
          <a:stretch>
            <a:fillRect/>
          </a:stretch>
        </p:blipFill>
        <p:spPr>
          <a:xfrm>
            <a:off x="1066799" y="1225296"/>
            <a:ext cx="10058400" cy="2647213"/>
          </a:xfrm>
          <a:prstGeom prst="rect">
            <a:avLst/>
          </a:prstGeom>
        </p:spPr>
      </p:pic>
      <p:sp>
        <p:nvSpPr>
          <p:cNvPr id="7" name="Rounded Rectangle 6"/>
          <p:cNvSpPr/>
          <p:nvPr/>
        </p:nvSpPr>
        <p:spPr>
          <a:xfrm>
            <a:off x="640080" y="4000525"/>
            <a:ext cx="10911535" cy="622512"/>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34_V.png"/>
          <p:cNvPicPr>
            <a:picLocks noChangeAspect="1"/>
          </p:cNvPicPr>
          <p:nvPr/>
        </p:nvPicPr>
        <p:blipFill>
          <a:blip r:embed="rId4"/>
          <a:stretch>
            <a:fillRect/>
          </a:stretch>
        </p:blipFill>
        <p:spPr>
          <a:xfrm>
            <a:off x="1593818" y="4183405"/>
            <a:ext cx="9004362" cy="256752"/>
          </a:xfrm>
          <a:prstGeom prst="rect">
            <a:avLst/>
          </a:prstGeom>
        </p:spPr>
      </p:pic>
      <p:sp>
        <p:nvSpPr>
          <p:cNvPr id="9" name="TextBox 8"/>
          <p:cNvSpPr txBox="1"/>
          <p:nvPr/>
        </p:nvSpPr>
        <p:spPr>
          <a:xfrm>
            <a:off x="640080" y="476934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V = 1: the two features correspond and their positions give the disparity; V = 0: the features do not match.</a:t>
            </a:r>
          </a:p>
        </p:txBody>
      </p:sp>
      <p:sp>
        <p:nvSpPr>
          <p:cNvPr id="10" name="TextBox 9"/>
          <p:cNvSpPr txBox="1"/>
          <p:nvPr/>
        </p:nvSpPr>
        <p:spPr>
          <a:xfrm>
            <a:off x="640080" y="519910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Every point is encouraged to match one other point; unmatched points and multiple matches pay a penalty.</a:t>
            </a:r>
          </a:p>
        </p:txBody>
      </p:sp>
      <p:sp>
        <p:nvSpPr>
          <p:cNvPr id="11" name="TextBox 10"/>
          <p:cNvSpPr txBox="1"/>
          <p:nvPr/>
        </p:nvSpPr>
        <p:spPr>
          <a:xfrm>
            <a:off x="640080" y="562887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same formulation applies to other matching problems, for example motion between two frames.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35</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energy: feature match, uniqueness and smooth disparity</a:t>
            </a:r>
          </a:p>
        </p:txBody>
      </p:sp>
      <p:sp>
        <p:nvSpPr>
          <p:cNvPr id="6" name="Rounded Rectangle 5"/>
          <p:cNvSpPr/>
          <p:nvPr/>
        </p:nvSpPr>
        <p:spPr>
          <a:xfrm>
            <a:off x="640080" y="1371600"/>
            <a:ext cx="10911535" cy="4039289"/>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35_P.png"/>
          <p:cNvPicPr>
            <a:picLocks noChangeAspect="1"/>
          </p:cNvPicPr>
          <p:nvPr/>
        </p:nvPicPr>
        <p:blipFill>
          <a:blip r:embed="rId3"/>
          <a:stretch>
            <a:fillRect/>
          </a:stretch>
        </p:blipFill>
        <p:spPr>
          <a:xfrm>
            <a:off x="3097128" y="1554480"/>
            <a:ext cx="5997742" cy="508334"/>
          </a:xfrm>
          <a:prstGeom prst="rect">
            <a:avLst/>
          </a:prstGeom>
        </p:spPr>
      </p:pic>
      <p:pic>
        <p:nvPicPr>
          <p:cNvPr id="8" name="Picture 7" descr="e35_E1.png"/>
          <p:cNvPicPr>
            <a:picLocks noChangeAspect="1"/>
          </p:cNvPicPr>
          <p:nvPr/>
        </p:nvPicPr>
        <p:blipFill>
          <a:blip r:embed="rId4"/>
          <a:stretch>
            <a:fillRect/>
          </a:stretch>
        </p:blipFill>
        <p:spPr>
          <a:xfrm>
            <a:off x="3209563" y="2209118"/>
            <a:ext cx="5772873" cy="862313"/>
          </a:xfrm>
          <a:prstGeom prst="rect">
            <a:avLst/>
          </a:prstGeom>
        </p:spPr>
      </p:pic>
      <p:pic>
        <p:nvPicPr>
          <p:cNvPr id="9" name="Picture 8" descr="e35_E2.png"/>
          <p:cNvPicPr>
            <a:picLocks noChangeAspect="1"/>
          </p:cNvPicPr>
          <p:nvPr/>
        </p:nvPicPr>
        <p:blipFill>
          <a:blip r:embed="rId5"/>
          <a:stretch>
            <a:fillRect/>
          </a:stretch>
        </p:blipFill>
        <p:spPr>
          <a:xfrm>
            <a:off x="2901994" y="3217736"/>
            <a:ext cx="6388011" cy="949569"/>
          </a:xfrm>
          <a:prstGeom prst="rect">
            <a:avLst/>
          </a:prstGeom>
        </p:spPr>
      </p:pic>
      <p:pic>
        <p:nvPicPr>
          <p:cNvPr id="10" name="Picture 9" descr="e35_E3.png"/>
          <p:cNvPicPr>
            <a:picLocks noChangeAspect="1"/>
          </p:cNvPicPr>
          <p:nvPr/>
        </p:nvPicPr>
        <p:blipFill>
          <a:blip r:embed="rId6"/>
          <a:stretch>
            <a:fillRect/>
          </a:stretch>
        </p:blipFill>
        <p:spPr>
          <a:xfrm>
            <a:off x="2179385" y="4313609"/>
            <a:ext cx="7833229" cy="914400"/>
          </a:xfrm>
          <a:prstGeom prst="rect">
            <a:avLst/>
          </a:prstGeom>
        </p:spPr>
      </p:pic>
      <p:sp>
        <p:nvSpPr>
          <p:cNvPr id="11" name="TextBox 10"/>
          <p:cNvSpPr txBox="1"/>
          <p:nvPr/>
        </p:nvSpPr>
        <p:spPr>
          <a:xfrm>
            <a:off x="640080" y="555719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 takes small values if the two features are similar and large values if they are different.</a:t>
            </a:r>
          </a:p>
        </p:txBody>
      </p:sp>
      <p:sp>
        <p:nvSpPr>
          <p:cNvPr id="12" name="TextBox 11"/>
          <p:cNvSpPr txBox="1"/>
          <p:nvPr/>
        </p:nvSpPr>
        <p:spPr>
          <a:xfrm>
            <a:off x="640080" y="598696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N(.) is a spatial neighbourhood; T is the temperature of the model, with default value T =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36</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Mean field theory gives a neural circuit model</a:t>
            </a:r>
          </a:p>
        </p:txBody>
      </p:sp>
      <p:sp>
        <p:nvSpPr>
          <p:cNvPr id="6" name="Rounded Rectangle 5"/>
          <p:cNvSpPr/>
          <p:nvPr/>
        </p:nvSpPr>
        <p:spPr>
          <a:xfrm>
            <a:off x="640080" y="1371600"/>
            <a:ext cx="10911535" cy="3259798"/>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36_u1.png"/>
          <p:cNvPicPr>
            <a:picLocks noChangeAspect="1"/>
          </p:cNvPicPr>
          <p:nvPr/>
        </p:nvPicPr>
        <p:blipFill>
          <a:blip r:embed="rId3"/>
          <a:stretch>
            <a:fillRect/>
          </a:stretch>
        </p:blipFill>
        <p:spPr>
          <a:xfrm>
            <a:off x="3637935" y="1554480"/>
            <a:ext cx="4916129" cy="720212"/>
          </a:xfrm>
          <a:prstGeom prst="rect">
            <a:avLst/>
          </a:prstGeom>
        </p:spPr>
      </p:pic>
      <p:pic>
        <p:nvPicPr>
          <p:cNvPr id="8" name="Picture 7" descr="e36_u1b.png"/>
          <p:cNvPicPr>
            <a:picLocks noChangeAspect="1"/>
          </p:cNvPicPr>
          <p:nvPr/>
        </p:nvPicPr>
        <p:blipFill>
          <a:blip r:embed="rId4"/>
          <a:stretch>
            <a:fillRect/>
          </a:stretch>
        </p:blipFill>
        <p:spPr>
          <a:xfrm>
            <a:off x="3185353" y="2420996"/>
            <a:ext cx="5821291" cy="966817"/>
          </a:xfrm>
          <a:prstGeom prst="rect">
            <a:avLst/>
          </a:prstGeom>
        </p:spPr>
      </p:pic>
      <p:pic>
        <p:nvPicPr>
          <p:cNvPr id="9" name="Picture 8" descr="e36_u2.png"/>
          <p:cNvPicPr>
            <a:picLocks noChangeAspect="1"/>
          </p:cNvPicPr>
          <p:nvPr/>
        </p:nvPicPr>
        <p:blipFill>
          <a:blip r:embed="rId5"/>
          <a:stretch>
            <a:fillRect/>
          </a:stretch>
        </p:blipFill>
        <p:spPr>
          <a:xfrm>
            <a:off x="3032146" y="3534118"/>
            <a:ext cx="6127707" cy="914400"/>
          </a:xfrm>
          <a:prstGeom prst="rect">
            <a:avLst/>
          </a:prstGeom>
        </p:spPr>
      </p:pic>
      <p:sp>
        <p:nvSpPr>
          <p:cNvPr id="10" name="TextBox 9"/>
          <p:cNvSpPr txBox="1"/>
          <p:nvPr/>
        </p:nvSpPr>
        <p:spPr>
          <a:xfrm>
            <a:off x="640080" y="477770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Mean field theory replaces the binary V by q in [0, 1], the pseudo-marginal of V = 1; u = T log[q / (1 - q)].</a:t>
            </a:r>
          </a:p>
        </p:txBody>
      </p:sp>
      <p:sp>
        <p:nvSpPr>
          <p:cNvPr id="11" name="TextBox 10"/>
          <p:cNvSpPr txBox="1"/>
          <p:nvPr/>
        </p:nvSpPr>
        <p:spPr>
          <a:xfrm>
            <a:off x="640080" y="520747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Neighbouring matches at a different disparity are suppressed: relative to them, a smooth surface is excited.</a:t>
            </a:r>
          </a:p>
        </p:txBody>
      </p:sp>
      <p:sp>
        <p:nvSpPr>
          <p:cNvPr id="12" name="TextBox 11"/>
          <p:cNvSpPr txBox="1"/>
          <p:nvPr/>
        </p:nvSpPr>
        <p:spPr>
          <a:xfrm>
            <a:off x="640080" y="563723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feature match M can come from local neurons tuned to disparity: a strong response gives a small 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37</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Cooperation and competition sharpen the matches</a:t>
            </a:r>
          </a:p>
        </p:txBody>
      </p:sp>
      <p:pic>
        <p:nvPicPr>
          <p:cNvPr id="6" name="Picture 5" descr="f36_network.png"/>
          <p:cNvPicPr>
            <a:picLocks noChangeAspect="1"/>
          </p:cNvPicPr>
          <p:nvPr/>
        </p:nvPicPr>
        <p:blipFill>
          <a:blip r:embed="rId3"/>
          <a:stretch>
            <a:fillRect/>
          </a:stretch>
        </p:blipFill>
        <p:spPr>
          <a:xfrm>
            <a:off x="1066799" y="1225296"/>
            <a:ext cx="10058400" cy="2834134"/>
          </a:xfrm>
          <a:prstGeom prst="rect">
            <a:avLst/>
          </a:prstGeom>
        </p:spPr>
      </p:pic>
      <p:sp>
        <p:nvSpPr>
          <p:cNvPr id="7" name="TextBox 6"/>
          <p:cNvSpPr txBox="1"/>
          <p:nvPr/>
        </p:nvSpPr>
        <p:spPr>
          <a:xfrm>
            <a:off x="640080" y="420573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One epipolar line of a random dot stereogram: a surface in front of a background.</a:t>
            </a:r>
          </a:p>
        </p:txBody>
      </p:sp>
      <p:sp>
        <p:nvSpPr>
          <p:cNvPr id="8" name="TextBox 7"/>
          <p:cNvSpPr txBox="1"/>
          <p:nvPr/>
        </p:nvSpPr>
        <p:spPr>
          <a:xfrm>
            <a:off x="640080" y="463550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From the features alone every point has several candidate matches, because random dots look alike.</a:t>
            </a:r>
          </a:p>
        </p:txBody>
      </p:sp>
      <p:sp>
        <p:nvSpPr>
          <p:cNvPr id="9" name="TextBox 8"/>
          <p:cNvSpPr txBox="1"/>
          <p:nvPr/>
        </p:nvSpPr>
        <p:spPr>
          <a:xfrm>
            <a:off x="640080" y="506527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After the network settles one match survives along the true disparity; the errors left sit at the depth edges.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38</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A cooperative stereo model</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Electrophysiology is consistent with the cooperative model</a:t>
            </a:r>
          </a:p>
        </p:txBody>
      </p:sp>
      <p:pic>
        <p:nvPicPr>
          <p:cNvPr id="6" name="Picture 5" descr="f37_samonds.png"/>
          <p:cNvPicPr>
            <a:picLocks noChangeAspect="1"/>
          </p:cNvPicPr>
          <p:nvPr/>
        </p:nvPicPr>
        <p:blipFill>
          <a:blip r:embed="rId3"/>
          <a:stretch>
            <a:fillRect/>
          </a:stretch>
        </p:blipFill>
        <p:spPr>
          <a:xfrm>
            <a:off x="883919" y="1225296"/>
            <a:ext cx="10424160" cy="2879053"/>
          </a:xfrm>
          <a:prstGeom prst="rect">
            <a:avLst/>
          </a:prstGeom>
        </p:spPr>
      </p:pic>
      <p:sp>
        <p:nvSpPr>
          <p:cNvPr id="7" name="TextBox 6"/>
          <p:cNvSpPr txBox="1"/>
          <p:nvPr/>
        </p:nvSpPr>
        <p:spPr>
          <a:xfrm>
            <a:off x="640080" y="425065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Recordings in macaque primary visual cortex agree in general with the predictions of this type of algorithm.</a:t>
            </a:r>
          </a:p>
        </p:txBody>
      </p:sp>
      <p:sp>
        <p:nvSpPr>
          <p:cNvPr id="8" name="TextBox 7"/>
          <p:cNvSpPr txBox="1"/>
          <p:nvPr/>
        </p:nvSpPr>
        <p:spPr>
          <a:xfrm>
            <a:off x="640080" y="468042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Similar disparities at neighbouring positions excite each other; different disparities at one position inhibit.</a:t>
            </a:r>
          </a:p>
        </p:txBody>
      </p:sp>
      <p:sp>
        <p:nvSpPr>
          <p:cNvPr id="9" name="TextBox 8"/>
          <p:cNvSpPr txBox="1"/>
          <p:nvPr/>
        </p:nvSpPr>
        <p:spPr>
          <a:xfrm>
            <a:off x="640080" y="511018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 variant of the stereo model accounts for disparity tuning that sharpens over time (Samonds et al., 2013).</a:t>
            </a:r>
          </a:p>
        </p:txBody>
      </p:sp>
      <p:sp>
        <p:nvSpPr>
          <p:cNvPr id="10" name="TextBox 9"/>
          <p:cNvSpPr txBox="1"/>
          <p:nvPr/>
        </p:nvSpPr>
        <p:spPr>
          <a:xfrm>
            <a:off x="640080" y="5585677"/>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J. M. Samonds, B. R. Potetz and T. S. Lee, “Cooperative and competitive interactions facilitate stereo computations in macaque primary visual cortex,” J. Neurosci., 29(50), 2009.</a:t>
            </a:r>
          </a:p>
          <a:p>
            <a:r>
              <a:rPr sz="1200" b="0" i="1">
                <a:solidFill>
                  <a:srgbClr val="7C7C8C"/>
                </a:solidFill>
                <a:latin typeface="Calibri"/>
                <a:ea typeface="Calibri"/>
                <a:cs typeface="Calibri"/>
              </a:rPr>
              <a:t>J. M. Samonds, B. R. Potetz, C. W. Tyler and T. S. Lee, “Recurrent connectivity can account for the dynamics of disparity processing in V1,” J. Neurosci., 33(7), 2013.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39</a:t>
            </a:r>
          </a:p>
        </p:txBody>
      </p:sp>
      <p:sp>
        <p:nvSpPr>
          <p:cNvPr id="4" name="TextBox 3"/>
          <p:cNvSpPr txBox="1"/>
          <p:nvPr/>
        </p:nvSpPr>
        <p:spPr>
          <a:xfrm>
            <a:off x="640080" y="1874519"/>
            <a:ext cx="2286000" cy="2011680"/>
          </a:xfrm>
          <a:prstGeom prst="rect">
            <a:avLst/>
          </a:prstGeom>
          <a:noFill/>
        </p:spPr>
        <p:txBody>
          <a:bodyPr wrap="square" lIns="0" tIns="0" rIns="0" bIns="0">
            <a:spAutoFit/>
          </a:bodyPr>
          <a:lstStyle/>
          <a:p>
            <a:r>
              <a:rPr sz="11000" b="1" i="0">
                <a:solidFill>
                  <a:srgbClr val="1A1A2E"/>
                </a:solidFill>
                <a:latin typeface="Cambria"/>
                <a:ea typeface="Cambria"/>
                <a:cs typeface="Cambria"/>
              </a:rPr>
              <a:t>5</a:t>
            </a:r>
          </a:p>
        </p:txBody>
      </p:sp>
      <p:sp>
        <p:nvSpPr>
          <p:cNvPr id="5" name="TextBox 4"/>
          <p:cNvSpPr txBox="1"/>
          <p:nvPr/>
        </p:nvSpPr>
        <p:spPr>
          <a:xfrm>
            <a:off x="2880360" y="2377440"/>
            <a:ext cx="8595360" cy="1005840"/>
          </a:xfrm>
          <a:prstGeom prst="rect">
            <a:avLst/>
          </a:prstGeom>
          <a:noFill/>
        </p:spPr>
        <p:txBody>
          <a:bodyPr wrap="square" lIns="0" tIns="0" rIns="0" bIns="0">
            <a:spAutoFit/>
          </a:bodyPr>
          <a:lstStyle/>
          <a:p>
            <a:r>
              <a:rPr sz="4400" b="1" i="0">
                <a:solidFill>
                  <a:srgbClr val="1A1A2E"/>
                </a:solidFill>
                <a:latin typeface="Cambria"/>
                <a:ea typeface="Cambria"/>
                <a:cs typeface="Cambria"/>
              </a:rPr>
              <a:t>Neural implementation</a:t>
            </a:r>
          </a:p>
        </p:txBody>
      </p:sp>
      <p:sp>
        <p:nvSpPr>
          <p:cNvPr id="6" name="TextBox 5"/>
          <p:cNvSpPr txBox="1"/>
          <p:nvPr/>
        </p:nvSpPr>
        <p:spPr>
          <a:xfrm>
            <a:off x="2944368" y="3401568"/>
            <a:ext cx="8595360" cy="640080"/>
          </a:xfrm>
          <a:prstGeom prst="rect">
            <a:avLst/>
          </a:prstGeom>
          <a:noFill/>
        </p:spPr>
        <p:txBody>
          <a:bodyPr wrap="square" lIns="0" tIns="0" rIns="0" bIns="0">
            <a:spAutoFit/>
          </a:bodyPr>
          <a:lstStyle/>
          <a:p>
            <a:r>
              <a:rPr sz="1900" b="0" i="0">
                <a:solidFill>
                  <a:srgbClr val="55555F"/>
                </a:solidFill>
                <a:latin typeface="Calibri"/>
                <a:ea typeface="Calibri"/>
                <a:cs typeface="Calibri"/>
              </a:rPr>
              <a:t>A feedforward network, trained without a teacher, approximates the MAP estimator of a Bayesian theory.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40</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Bayesian theories are said to need slow relaxation algorithms</a:t>
            </a:r>
          </a:p>
        </p:txBody>
      </p:sp>
      <p:pic>
        <p:nvPicPr>
          <p:cNvPr id="6" name="Picture 5" descr="f39_feedforward.png"/>
          <p:cNvPicPr>
            <a:picLocks noChangeAspect="1"/>
          </p:cNvPicPr>
          <p:nvPr/>
        </p:nvPicPr>
        <p:blipFill>
          <a:blip r:embed="rId3"/>
          <a:stretch>
            <a:fillRect/>
          </a:stretch>
        </p:blipFill>
        <p:spPr>
          <a:xfrm>
            <a:off x="1066799" y="1225296"/>
            <a:ext cx="10058400" cy="2374408"/>
          </a:xfrm>
          <a:prstGeom prst="rect">
            <a:avLst/>
          </a:prstGeom>
        </p:spPr>
      </p:pic>
      <p:sp>
        <p:nvSpPr>
          <p:cNvPr id="7" name="TextBox 6"/>
          <p:cNvSpPr txBox="1"/>
          <p:nvPr/>
        </p:nvSpPr>
        <p:spPr>
          <a:xfrm>
            <a:off x="640080" y="3746008"/>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Bayesian vision theories are often claimed to require time-consuming, biologically implausible relaxation.</a:t>
            </a:r>
          </a:p>
        </p:txBody>
      </p:sp>
      <p:sp>
        <p:nvSpPr>
          <p:cNvPr id="8" name="TextBox 7"/>
          <p:cNvSpPr txBox="1"/>
          <p:nvPr/>
        </p:nvSpPr>
        <p:spPr>
          <a:xfrm>
            <a:off x="640080" y="417577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Bayesian theories can in fact be implemented by feedforward networks (multilayer perceptrons).</a:t>
            </a:r>
          </a:p>
        </p:txBody>
      </p:sp>
      <p:sp>
        <p:nvSpPr>
          <p:cNvPr id="9" name="TextBox 8"/>
          <p:cNvSpPr txBox="1"/>
          <p:nvPr/>
        </p:nvSpPr>
        <p:spPr>
          <a:xfrm>
            <a:off x="640080" y="460554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weights are trained by unsupervised learning with a variant of backpropagation: no teacher is needed.</a:t>
            </a:r>
          </a:p>
        </p:txBody>
      </p:sp>
      <p:sp>
        <p:nvSpPr>
          <p:cNvPr id="10" name="TextBox 9"/>
          <p:cNvSpPr txBox="1"/>
          <p:nvPr/>
        </p:nvSpPr>
        <p:spPr>
          <a:xfrm>
            <a:off x="640080" y="5035312"/>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Feedback loops are required during training only; after learning the network is feedforward.</a:t>
            </a:r>
          </a:p>
        </p:txBody>
      </p:sp>
      <p:sp>
        <p:nvSpPr>
          <p:cNvPr id="11" name="TextBox 10"/>
          <p:cNvSpPr txBox="1"/>
          <p:nvPr/>
        </p:nvSpPr>
        <p:spPr>
          <a:xfrm>
            <a:off x="640080" y="5465080"/>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Unsupervised means that no desired outputs are given; the prior and the likelihood of the theory are given.</a:t>
            </a:r>
          </a:p>
        </p:txBody>
      </p:sp>
      <p:sp>
        <p:nvSpPr>
          <p:cNvPr id="12" name="TextBox 11"/>
          <p:cNvSpPr txBox="1"/>
          <p:nvPr/>
        </p:nvSpPr>
        <p:spPr>
          <a:xfrm>
            <a:off x="640080" y="5940568"/>
            <a:ext cx="10911535" cy="310896"/>
          </a:xfrm>
          <a:prstGeom prst="rect">
            <a:avLst/>
          </a:prstGeom>
          <a:noFill/>
        </p:spPr>
        <p:txBody>
          <a:bodyPr wrap="square" lIns="0" tIns="0" rIns="0" bIns="0">
            <a:spAutoFit/>
          </a:bodyPr>
          <a:lstStyle/>
          <a:p>
            <a:r>
              <a:rPr sz="1200" b="0" i="1">
                <a:solidFill>
                  <a:srgbClr val="7C7C8C"/>
                </a:solidFill>
                <a:latin typeface="Calibri"/>
                <a:ea typeface="Calibri"/>
                <a:cs typeface="Calibri"/>
              </a:rPr>
              <a:t>S. M. Smirnakis and A. L. Yuille, “Neural implementation of Bayesian vision theories by unsupervised learning,” in The Neurobiology of Computation, Kluwer, 1995.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41</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network is trained to maximise the posterior of its output</a:t>
            </a:r>
          </a:p>
        </p:txBody>
      </p:sp>
      <p:pic>
        <p:nvPicPr>
          <p:cNvPr id="6" name="Picture 5" descr="f40_training.png"/>
          <p:cNvPicPr>
            <a:picLocks noChangeAspect="1"/>
          </p:cNvPicPr>
          <p:nvPr/>
        </p:nvPicPr>
        <p:blipFill>
          <a:blip r:embed="rId3"/>
          <a:stretch>
            <a:fillRect/>
          </a:stretch>
        </p:blipFill>
        <p:spPr>
          <a:xfrm>
            <a:off x="1066799" y="1225296"/>
            <a:ext cx="10058400" cy="2238006"/>
          </a:xfrm>
          <a:prstGeom prst="rect">
            <a:avLst/>
          </a:prstGeom>
        </p:spPr>
      </p:pic>
      <p:sp>
        <p:nvSpPr>
          <p:cNvPr id="7" name="Rounded Rectangle 6"/>
          <p:cNvSpPr/>
          <p:nvPr/>
        </p:nvSpPr>
        <p:spPr>
          <a:xfrm>
            <a:off x="640080" y="3591318"/>
            <a:ext cx="10911535" cy="1698143"/>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40_map.png"/>
          <p:cNvPicPr>
            <a:picLocks noChangeAspect="1"/>
          </p:cNvPicPr>
          <p:nvPr/>
        </p:nvPicPr>
        <p:blipFill>
          <a:blip r:embed="rId4"/>
          <a:stretch>
            <a:fillRect/>
          </a:stretch>
        </p:blipFill>
        <p:spPr>
          <a:xfrm>
            <a:off x="2478314" y="3774198"/>
            <a:ext cx="7235371" cy="587828"/>
          </a:xfrm>
          <a:prstGeom prst="rect">
            <a:avLst/>
          </a:prstGeom>
        </p:spPr>
      </p:pic>
      <p:pic>
        <p:nvPicPr>
          <p:cNvPr id="9" name="Picture 8" descr="e40_E.png"/>
          <p:cNvPicPr>
            <a:picLocks noChangeAspect="1"/>
          </p:cNvPicPr>
          <p:nvPr/>
        </p:nvPicPr>
        <p:blipFill>
          <a:blip r:embed="rId5"/>
          <a:stretch>
            <a:fillRect/>
          </a:stretch>
        </p:blipFill>
        <p:spPr>
          <a:xfrm>
            <a:off x="1254057" y="4508331"/>
            <a:ext cx="9683885" cy="598251"/>
          </a:xfrm>
          <a:prstGeom prst="rect">
            <a:avLst/>
          </a:prstGeom>
        </p:spPr>
      </p:pic>
      <p:sp>
        <p:nvSpPr>
          <p:cNvPr id="10" name="TextBox 9"/>
          <p:cNvSpPr txBox="1"/>
          <p:nvPr/>
        </p:nvSpPr>
        <p:spPr>
          <a:xfrm>
            <a:off x="640080" y="5435766"/>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S are the world properties to extract and I is the visual input: the x and z of the earlier models.</a:t>
            </a:r>
          </a:p>
        </p:txBody>
      </p:sp>
      <p:sp>
        <p:nvSpPr>
          <p:cNvPr id="11" name="TextBox 10"/>
          <p:cNvSpPr txBox="1"/>
          <p:nvPr/>
        </p:nvSpPr>
        <p:spPr>
          <a:xfrm>
            <a:off x="640080" y="5865534"/>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Backpropagation with log P as the error function: for a Gibbs posterior the network minimises the energy.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42</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Simulation example: image segmentation by the weak string</a:t>
            </a:r>
          </a:p>
        </p:txBody>
      </p:sp>
      <p:pic>
        <p:nvPicPr>
          <p:cNvPr id="6" name="Picture 5" descr="f41_gp.png"/>
          <p:cNvPicPr>
            <a:picLocks noChangeAspect="1"/>
          </p:cNvPicPr>
          <p:nvPr/>
        </p:nvPicPr>
        <p:blipFill>
          <a:blip r:embed="rId3"/>
          <a:stretch>
            <a:fillRect/>
          </a:stretch>
        </p:blipFill>
        <p:spPr>
          <a:xfrm>
            <a:off x="1066799" y="1225296"/>
            <a:ext cx="10058400" cy="1778280"/>
          </a:xfrm>
          <a:prstGeom prst="rect">
            <a:avLst/>
          </a:prstGeom>
        </p:spPr>
      </p:pic>
      <p:sp>
        <p:nvSpPr>
          <p:cNvPr id="7" name="Rounded Rectangle 6"/>
          <p:cNvSpPr/>
          <p:nvPr/>
        </p:nvSpPr>
        <p:spPr>
          <a:xfrm>
            <a:off x="640080" y="3131592"/>
            <a:ext cx="10911535" cy="2197764"/>
          </a:xfrm>
          <a:prstGeom prst="roundRect">
            <a:avLst>
              <a:gd name="adj" fmla="val 5500"/>
            </a:avLst>
          </a:prstGeom>
          <a:solidFill>
            <a:srgbClr val="F2F4F9"/>
          </a:solidFill>
          <a:ln w="16510">
            <a:solidFill>
              <a:srgbClr val="DD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41_F.png"/>
          <p:cNvPicPr>
            <a:picLocks noChangeAspect="1"/>
          </p:cNvPicPr>
          <p:nvPr/>
        </p:nvPicPr>
        <p:blipFill>
          <a:blip r:embed="rId4"/>
          <a:stretch>
            <a:fillRect/>
          </a:stretch>
        </p:blipFill>
        <p:spPr>
          <a:xfrm>
            <a:off x="1343024" y="3314472"/>
            <a:ext cx="9505950" cy="1133475"/>
          </a:xfrm>
          <a:prstGeom prst="rect">
            <a:avLst/>
          </a:prstGeom>
        </p:spPr>
      </p:pic>
      <p:pic>
        <p:nvPicPr>
          <p:cNvPr id="9" name="Picture 8" descr="e41_g.png"/>
          <p:cNvPicPr>
            <a:picLocks noChangeAspect="1"/>
          </p:cNvPicPr>
          <p:nvPr/>
        </p:nvPicPr>
        <p:blipFill>
          <a:blip r:embed="rId5"/>
          <a:stretch>
            <a:fillRect/>
          </a:stretch>
        </p:blipFill>
        <p:spPr>
          <a:xfrm>
            <a:off x="2519082" y="4594251"/>
            <a:ext cx="7153835" cy="552225"/>
          </a:xfrm>
          <a:prstGeom prst="rect">
            <a:avLst/>
          </a:prstGeom>
        </p:spPr>
      </p:pic>
      <p:sp>
        <p:nvSpPr>
          <p:cNvPr id="10" name="TextBox 9"/>
          <p:cNvSpPr txBox="1"/>
          <p:nvPr/>
        </p:nvSpPr>
        <p:spPr>
          <a:xfrm>
            <a:off x="640080" y="547566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weak string is the weak membrane in one dimension: smooth a noisy signal and preserve the edges.</a:t>
            </a:r>
          </a:p>
        </p:txBody>
      </p:sp>
      <p:sp>
        <p:nvSpPr>
          <p:cNvPr id="11" name="TextBox 10"/>
          <p:cNvSpPr txBox="1"/>
          <p:nvPr/>
        </p:nvSpPr>
        <p:spPr>
          <a:xfrm>
            <a:off x="640080" y="590542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Graduated non-convexity: start at p = 1, where the energy is convex in S, and lower p step by step to 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43</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network smooths the noise and preserves the edges</a:t>
            </a:r>
          </a:p>
        </p:txBody>
      </p:sp>
      <p:pic>
        <p:nvPicPr>
          <p:cNvPr id="6" name="Picture 5" descr="f42_result1d.png"/>
          <p:cNvPicPr>
            <a:picLocks noChangeAspect="1"/>
          </p:cNvPicPr>
          <p:nvPr/>
        </p:nvPicPr>
        <p:blipFill>
          <a:blip r:embed="rId3"/>
          <a:stretch>
            <a:fillRect/>
          </a:stretch>
        </p:blipFill>
        <p:spPr>
          <a:xfrm>
            <a:off x="1066799" y="1225296"/>
            <a:ext cx="10058400" cy="2925069"/>
          </a:xfrm>
          <a:prstGeom prst="rect">
            <a:avLst/>
          </a:prstGeom>
        </p:spPr>
      </p:pic>
      <p:sp>
        <p:nvSpPr>
          <p:cNvPr id="7" name="TextBox 6"/>
          <p:cNvSpPr txBox="1"/>
          <p:nvPr/>
        </p:nvSpPr>
        <p:spPr>
          <a:xfrm>
            <a:off x="640080" y="4296669"/>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Training in one dimension: 1000 simulated patterns of length 32, piecewise constant plus uniform noise.</a:t>
            </a:r>
          </a:p>
        </p:txBody>
      </p:sp>
      <p:sp>
        <p:nvSpPr>
          <p:cNvPr id="8" name="TextBox 7"/>
          <p:cNvSpPr txBox="1"/>
          <p:nvPr/>
        </p:nvSpPr>
        <p:spPr>
          <a:xfrm>
            <a:off x="640080" y="472643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network has three fully connected layers of 32 sigmoidal units, with outputs in [-0.5, 0.5].</a:t>
            </a:r>
          </a:p>
        </p:txBody>
      </p:sp>
      <p:sp>
        <p:nvSpPr>
          <p:cNvPr id="9" name="TextBox 8"/>
          <p:cNvSpPr txBox="1"/>
          <p:nvPr/>
        </p:nvSpPr>
        <p:spPr>
          <a:xfrm>
            <a:off x="640080" y="515620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After training the output is smooth, and the intensity edges and their locations are preserved.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44</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The two-dimensional network generalises to novel inputs</a:t>
            </a:r>
          </a:p>
        </p:txBody>
      </p:sp>
      <p:pic>
        <p:nvPicPr>
          <p:cNvPr id="6" name="Picture 5" descr="f43_result2d.png"/>
          <p:cNvPicPr>
            <a:picLocks noChangeAspect="1"/>
          </p:cNvPicPr>
          <p:nvPr/>
        </p:nvPicPr>
        <p:blipFill>
          <a:blip r:embed="rId3"/>
          <a:stretch>
            <a:fillRect/>
          </a:stretch>
        </p:blipFill>
        <p:spPr>
          <a:xfrm>
            <a:off x="883919" y="1225296"/>
            <a:ext cx="10424160" cy="3014907"/>
          </a:xfrm>
          <a:prstGeom prst="rect">
            <a:avLst/>
          </a:prstGeom>
        </p:spPr>
      </p:pic>
      <p:sp>
        <p:nvSpPr>
          <p:cNvPr id="7" name="TextBox 6"/>
          <p:cNvSpPr txBox="1"/>
          <p:nvPr/>
        </p:nvSpPr>
        <p:spPr>
          <a:xfrm>
            <a:off x="640080" y="4386507"/>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weak membrane in two dimensions: simulated 12 by 12 pixel data, 1000 random training patterns.</a:t>
            </a:r>
          </a:p>
        </p:txBody>
      </p:sp>
      <p:sp>
        <p:nvSpPr>
          <p:cNvPr id="8" name="TextBox 7"/>
          <p:cNvSpPr txBox="1"/>
          <p:nvPr/>
        </p:nvSpPr>
        <p:spPr>
          <a:xfrm>
            <a:off x="640080" y="4816275"/>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The network memorises the training set, reduces noise, and generalises to edge detection on novel inputs.</a:t>
            </a:r>
          </a:p>
        </p:txBody>
      </p:sp>
      <p:sp>
        <p:nvSpPr>
          <p:cNvPr id="9" name="TextBox 8"/>
          <p:cNvSpPr txBox="1"/>
          <p:nvPr/>
        </p:nvSpPr>
        <p:spPr>
          <a:xfrm>
            <a:off x="640080" y="5246043"/>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Conclusion: a Bayesian theory can be implemented in a feedforward manner, faster than by relaxation.</a:t>
            </a:r>
          </a:p>
        </p:txBody>
      </p:sp>
      <p:sp>
        <p:nvSpPr>
          <p:cNvPr id="10" name="TextBox 9"/>
          <p:cNvSpPr txBox="1"/>
          <p:nvPr/>
        </p:nvSpPr>
        <p:spPr>
          <a:xfrm>
            <a:off x="640080" y="5675811"/>
            <a:ext cx="10911535" cy="310896"/>
          </a:xfrm>
          <a:prstGeom prst="rect">
            <a:avLst/>
          </a:prstGeom>
          <a:noFill/>
        </p:spPr>
        <p:txBody>
          <a:bodyPr wrap="square" lIns="0" tIns="0" rIns="0" bIns="0">
            <a:spAutoFit/>
          </a:bodyPr>
          <a:lstStyle/>
          <a:p>
            <a:pPr marL="254203" indent="-254203">
              <a:lnSpc>
                <a:spcPct val="106000"/>
              </a:lnSpc>
              <a:buSzPct val="100000"/>
              <a:buChar char="•"/>
            </a:pPr>
            <a:r>
              <a:rPr sz="1900" b="0" i="0">
                <a:solidFill>
                  <a:srgbClr val="1A1A2E"/>
                </a:solidFill>
                <a:latin typeface="Calibri"/>
                <a:ea typeface="Calibri"/>
                <a:cs typeface="Calibri"/>
              </a:rPr>
              <a:t>Unsupervised learning of this kind might play a role in the development of the visual system.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0"/>
            <a:ext cx="5486400" cy="292608"/>
          </a:xfrm>
          <a:prstGeom prst="rect">
            <a:avLst/>
          </a:prstGeom>
          <a:noFill/>
        </p:spPr>
        <p:txBody>
          <a:bodyPr wrap="square" lIns="0" tIns="0" rIns="0" bIns="0">
            <a:spAutoFit/>
          </a:bodyPr>
          <a:lstStyle/>
          <a:p>
            <a:r>
              <a:rPr sz="1200" b="0" i="0">
                <a:solidFill>
                  <a:srgbClr val="7C7C8C"/>
                </a:solidFill>
                <a:latin typeface="Calibri"/>
                <a:ea typeface="Calibri"/>
                <a:cs typeface="Calibri"/>
              </a:rPr>
              <a:t>Probabilities on Graphs  ·  A. Yuille</a:t>
            </a:r>
          </a:p>
        </p:txBody>
      </p:sp>
      <p:sp>
        <p:nvSpPr>
          <p:cNvPr id="3" name="TextBox 2"/>
          <p:cNvSpPr txBox="1"/>
          <p:nvPr/>
        </p:nvSpPr>
        <p:spPr>
          <a:xfrm>
            <a:off x="11231849" y="6400800"/>
            <a:ext cx="548640" cy="292608"/>
          </a:xfrm>
          <a:prstGeom prst="rect">
            <a:avLst/>
          </a:prstGeom>
          <a:noFill/>
        </p:spPr>
        <p:txBody>
          <a:bodyPr wrap="square" lIns="0" tIns="0" rIns="0" bIns="0">
            <a:spAutoFit/>
          </a:bodyPr>
          <a:lstStyle/>
          <a:p>
            <a:pPr algn="r"/>
            <a:r>
              <a:rPr sz="1200" b="0" i="0">
                <a:solidFill>
                  <a:srgbClr val="7C7C8C"/>
                </a:solidFill>
                <a:latin typeface="Calibri"/>
                <a:ea typeface="Calibri"/>
                <a:cs typeface="Calibri"/>
              </a:rPr>
              <a:t>45</a:t>
            </a:r>
          </a:p>
        </p:txBody>
      </p:sp>
      <p:sp>
        <p:nvSpPr>
          <p:cNvPr id="4" name="TextBox 3"/>
          <p:cNvSpPr txBox="1"/>
          <p:nvPr/>
        </p:nvSpPr>
        <p:spPr>
          <a:xfrm>
            <a:off x="6705569" y="274320"/>
            <a:ext cx="4846320" cy="310896"/>
          </a:xfrm>
          <a:prstGeom prst="rect">
            <a:avLst/>
          </a:prstGeom>
          <a:noFill/>
        </p:spPr>
        <p:txBody>
          <a:bodyPr wrap="square" lIns="0" tIns="0" rIns="0" bIns="0">
            <a:spAutoFit/>
          </a:bodyPr>
          <a:lstStyle/>
          <a:p>
            <a:pPr algn="r"/>
            <a:r>
              <a:rPr sz="1300" b="0" i="0">
                <a:solidFill>
                  <a:srgbClr val="7C7C8C"/>
                </a:solidFill>
                <a:latin typeface="Calibri"/>
                <a:ea typeface="Calibri"/>
                <a:cs typeface="Calibri"/>
              </a:rPr>
              <a:t>Neural implementation</a:t>
            </a:r>
          </a:p>
        </p:txBody>
      </p:sp>
      <p:sp>
        <p:nvSpPr>
          <p:cNvPr id="5" name="TextBox 4"/>
          <p:cNvSpPr txBox="1"/>
          <p:nvPr/>
        </p:nvSpPr>
        <p:spPr>
          <a:xfrm>
            <a:off x="640080" y="530352"/>
            <a:ext cx="10911535" cy="640080"/>
          </a:xfrm>
          <a:prstGeom prst="rect">
            <a:avLst/>
          </a:prstGeom>
          <a:noFill/>
        </p:spPr>
        <p:txBody>
          <a:bodyPr wrap="square" lIns="0" tIns="0" rIns="0" bIns="0">
            <a:spAutoFit/>
          </a:bodyPr>
          <a:lstStyle/>
          <a:p>
            <a:r>
              <a:rPr sz="3000" b="1" i="0">
                <a:solidFill>
                  <a:srgbClr val="1A1A2E"/>
                </a:solidFill>
                <a:latin typeface="Cambria"/>
                <a:ea typeface="Cambria"/>
                <a:cs typeface="Cambria"/>
              </a:rPr>
              <a:t>Summary</a:t>
            </a:r>
          </a:p>
        </p:txBody>
      </p:sp>
      <p:sp>
        <p:nvSpPr>
          <p:cNvPr id="6" name="TextBox 5"/>
          <p:cNvSpPr txBox="1"/>
          <p:nvPr/>
        </p:nvSpPr>
        <p:spPr>
          <a:xfrm>
            <a:off x="640080" y="1481328"/>
            <a:ext cx="10911535" cy="4206240"/>
          </a:xfrm>
          <a:prstGeom prst="rect">
            <a:avLst/>
          </a:prstGeom>
          <a:noFill/>
        </p:spPr>
        <p:txBody>
          <a:bodyPr wrap="square" lIns="0" tIns="0" rIns="0" bIns="0">
            <a:spAutoFit/>
          </a:bodyPr>
          <a:lstStyle/>
          <a:p>
            <a:pPr marL="0" indent="0">
              <a:buNone/>
            </a:pPr>
            <a:r>
              <a:rPr sz="1900" b="0" i="0">
                <a:solidFill>
                  <a:srgbClr val="1A1A2E"/>
                </a:solidFill>
                <a:latin typeface="Calibri"/>
                <a:ea typeface="Calibri"/>
                <a:cs typeface="Calibri"/>
              </a:rPr>
              <a:t>Image labelling, binocular stereo and the weak membrane are Markov models: an energy on a graph.</a:t>
            </a:r>
          </a:p>
          <a:p>
            <a:pPr marL="0" indent="0">
              <a:buNone/>
            </a:pPr>
            <a:endParaRPr sz="1900"/>
          </a:p>
          <a:p>
            <a:pPr marL="0" indent="0">
              <a:buNone/>
            </a:pPr>
            <a:r>
              <a:rPr sz="1900" b="0" i="0">
                <a:solidFill>
                  <a:srgbClr val="1A1A2E"/>
                </a:solidFill>
                <a:latin typeface="Calibri"/>
                <a:ea typeface="Calibri"/>
                <a:cs typeface="Calibri"/>
              </a:rPr>
              <a:t>The weak membrane adds hidden line processes that switch off the smoothness at a discontinuity.</a:t>
            </a:r>
          </a:p>
          <a:p>
            <a:pPr marL="0" indent="0">
              <a:buNone/>
            </a:pPr>
            <a:endParaRPr sz="1900"/>
          </a:p>
          <a:p>
            <a:pPr marL="0" indent="0">
              <a:buNone/>
            </a:pPr>
            <a:r>
              <a:rPr sz="1900" b="0" i="0">
                <a:solidFill>
                  <a:srgbClr val="1A1A2E"/>
                </a:solidFill>
                <a:latin typeface="Calibri"/>
                <a:ea typeface="Calibri"/>
                <a:cs typeface="Calibri"/>
              </a:rPr>
              <a:t>Mean field theory approximates P(x | z) by a factorisable B(x) and minimises a free energy.</a:t>
            </a:r>
          </a:p>
          <a:p>
            <a:pPr marL="0" indent="0">
              <a:buNone/>
            </a:pPr>
            <a:endParaRPr sz="1900"/>
          </a:p>
          <a:p>
            <a:pPr marL="0" indent="0">
              <a:buNone/>
            </a:pPr>
            <a:r>
              <a:rPr sz="1900" b="0" i="0">
                <a:solidFill>
                  <a:srgbClr val="1A1A2E"/>
                </a:solidFill>
                <a:latin typeface="Calibri"/>
                <a:ea typeface="Calibri"/>
                <a:cs typeface="Calibri"/>
              </a:rPr>
              <a:t>The free energy bounds log Z; for the weak membrane the free energy is exact and leads to an EM algorithm.</a:t>
            </a:r>
          </a:p>
          <a:p>
            <a:pPr marL="0" indent="0">
              <a:buNone/>
            </a:pPr>
            <a:endParaRPr sz="1900"/>
          </a:p>
          <a:p>
            <a:pPr marL="0" indent="0">
              <a:buNone/>
            </a:pPr>
            <a:r>
              <a:rPr sz="1900" b="0" i="0">
                <a:solidFill>
                  <a:srgbClr val="1A1A2E"/>
                </a:solidFill>
                <a:latin typeface="Calibri"/>
                <a:ea typeface="Calibri"/>
                <a:cs typeface="Calibri"/>
              </a:rPr>
              <a:t>Steepest descent, discrete iterative algorithms and CCCP minimise the free energy; annealing varies T.</a:t>
            </a:r>
          </a:p>
          <a:p>
            <a:pPr marL="0" indent="0">
              <a:buNone/>
            </a:pPr>
            <a:endParaRPr sz="1900"/>
          </a:p>
          <a:p>
            <a:pPr marL="0" indent="0">
              <a:buNone/>
            </a:pPr>
            <a:r>
              <a:rPr sz="1900" b="0" i="0">
                <a:solidFill>
                  <a:srgbClr val="1A1A2E"/>
                </a:solidFill>
                <a:latin typeface="Calibri"/>
                <a:ea typeface="Calibri"/>
                <a:cs typeface="Calibri"/>
              </a:rPr>
              <a:t>Mean field theory on the stereo energy gives a network of competing and mutually supporting matches.</a:t>
            </a:r>
          </a:p>
          <a:p>
            <a:pPr marL="0" indent="0">
              <a:buNone/>
            </a:pPr>
            <a:endParaRPr sz="1900"/>
          </a:p>
          <a:p>
            <a:pPr marL="0" indent="0">
              <a:buNone/>
            </a:pPr>
            <a:r>
              <a:rPr sz="1900" b="0" i="0">
                <a:solidFill>
                  <a:srgbClr val="1A1A2E"/>
                </a:solidFill>
                <a:latin typeface="Calibri"/>
                <a:ea typeface="Calibri"/>
                <a:cs typeface="Calibri"/>
              </a:rPr>
              <a:t>Recordings in primary visual cortex are consistent with these cooperative and competitive interactions.</a:t>
            </a:r>
          </a:p>
          <a:p>
            <a:pPr marL="0" indent="0">
              <a:buNone/>
            </a:pPr>
            <a:endParaRPr sz="1900"/>
          </a:p>
          <a:p>
            <a:pPr marL="0" indent="0">
              <a:buNone/>
            </a:pPr>
            <a:r>
              <a:rPr sz="1900" b="0" i="0">
                <a:solidFill>
                  <a:srgbClr val="1A1A2E"/>
                </a:solidFill>
                <a:latin typeface="Calibri"/>
                <a:ea typeface="Calibri"/>
                <a:cs typeface="Calibri"/>
              </a:rPr>
              <a:t>A feedforward network trained without a teacher can approximate the MAP estimate in one pass.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809</TotalTime>
  <Words>10836</Words>
  <Application>Microsoft Macintosh PowerPoint</Application>
  <PresentationFormat>Widescreen</PresentationFormat>
  <Paragraphs>495</Paragraphs>
  <Slides>45</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Jeremy Chen</cp:lastModifiedBy>
  <cp:revision>3</cp:revision>
  <dcterms:created xsi:type="dcterms:W3CDTF">2013-01-27T09:14:16Z</dcterms:created>
  <dcterms:modified xsi:type="dcterms:W3CDTF">2026-09-21T19:36:16Z</dcterms:modified>
  <cp:category/>
</cp:coreProperties>
</file>