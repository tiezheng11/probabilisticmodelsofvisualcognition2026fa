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  <p:sldId id="29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ov"/><Relationship Id="rId3" Type="http://schemas.openxmlformats.org/officeDocument/2006/relationships/video" Target="../media/media1.mov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30.png"/><Relationship Id="rId6" Type="http://schemas.microsoft.com/office/2007/relationships/media" Target="../media/media3.mp4"/><Relationship Id="rId7" Type="http://schemas.openxmlformats.org/officeDocument/2006/relationships/video" Target="../media/media3.mp4"/><Relationship Id="rId8" Type="http://schemas.openxmlformats.org/officeDocument/2006/relationships/image" Target="../media/image31.png"/><Relationship Id="rId9" Type="http://schemas.microsoft.com/office/2007/relationships/media" Target="../media/media4.mp4"/><Relationship Id="rId10" Type="http://schemas.openxmlformats.org/officeDocument/2006/relationships/video" Target="../media/media4.mp4"/><Relationship Id="rId11" Type="http://schemas.openxmlformats.org/officeDocument/2006/relationships/image" Target="../media/image32.png"/><Relationship Id="rId12" Type="http://schemas.microsoft.com/office/2007/relationships/media" Target="../media/media5.mp4"/><Relationship Id="rId13" Type="http://schemas.openxmlformats.org/officeDocument/2006/relationships/video" Target="../media/media5.mp4"/><Relationship Id="rId14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1676781"/>
            <a:ext cx="10424160" cy="304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Bayes-Kalman Filters,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Physical World Models,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Dynamic Programming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and Hidden Markov Models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861941"/>
            <a:ext cx="91440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 September,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Prediction, correction, the Gaussian case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World states, physics, graphics and actions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Dynamic programming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Forward and backward passes on a chain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20624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Evaluation, decoding and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hidden variables to hidden states that change in time</a:t>
            </a:r>
          </a:p>
        </p:txBody>
      </p:sp>
      <p:pic>
        <p:nvPicPr>
          <p:cNvPr id="5" name="f00_recap.png" descr="f00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147072"/>
          </a:xfrm>
          <a:prstGeom prst="rect">
            <a:avLst/>
          </a:prstGeom>
        </p:spPr>
      </p:pic>
      <p:sp>
        <p:nvSpPr>
          <p:cNvPr id="6" name="accent 6"/>
          <p:cNvSpPr/>
          <p:nvPr/>
        </p:nvSpPr>
        <p:spPr>
          <a:xfrm>
            <a:off x="640080" y="3482096"/>
            <a:ext cx="10911535" cy="932688"/>
          </a:xfrm>
          <a:prstGeom prst="roundRect">
            <a:avLst>
              <a:gd name="adj" fmla="val 8462"/>
            </a:avLst>
          </a:prstGeom>
          <a:solidFill>
            <a:srgbClr val="FBF1EC"/>
          </a:solidFill>
          <a:ln w="16510">
            <a:solidFill>
              <a:srgbClr val="F0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centtext 7"/>
          <p:cNvSpPr txBox="1"/>
          <p:nvPr/>
        </p:nvSpPr>
        <p:spPr>
          <a:xfrm>
            <a:off x="1051560" y="3482096"/>
            <a:ext cx="10088575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new question is: how do we combine observations over</a:t>
            </a:r>
            <a:b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</a:b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time, when the state of the world changes from frame to frame?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455834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directed graph writes a distribution as a product of one conditional distribution per node.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98811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last lecture learnt hidden variables by expectation-maximisation (EM): labels, lines, neurons.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541788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a video the hidden variable is the state of the world, and it changes from frame to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2377440"/>
            <a:ext cx="9052560" cy="698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Bayes-Kalman filter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213100"/>
            <a:ext cx="9052560" cy="60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Estimate a moving state from all past observations: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predict with the motion model, correct with Bayes'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perception of motion depends on its history</a:t>
            </a:r>
          </a:p>
        </p:txBody>
      </p:sp>
      <p:pic>
        <p:nvPicPr>
          <p:cNvPr id="6" name="f01_motion.png" descr="f01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147072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351592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Motion perception is strongly influenced by its history, as well as by the change from frame to frame.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394569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Anstis and Ramachandran (1987): motion perception seems to require a temporal coherence prior.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37546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Humans detect one coherently moving dot among many random dots (Watamaniuk et al., 1995).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80523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Models with a prior on how motion changes over time adapt the Bayes-Kalman filter (Yuille et al., 1998).</a:t>
            </a:r>
          </a:p>
        </p:txBody>
      </p:sp>
      <p:sp>
        <p:nvSpPr>
          <p:cNvPr id="11" name="refs 11"/>
          <p:cNvSpPr txBox="1"/>
          <p:nvPr/>
        </p:nvSpPr>
        <p:spPr>
          <a:xfrm>
            <a:off x="640080" y="5280721"/>
            <a:ext cx="10911535" cy="937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Anstis and V. S. Ramachandran, “Visual inertia in apparent motion,” Vision Research, 27(5):755–764, 1987.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N. J. Watamaniuk, S. P. McKee and N. M. Grzywacz, “Detecting a trajectory embedded in random-direction motion noise,” Vision Research,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35(1):65–77, 1995.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L. Yuille, P.-Y. Burgi and N. M. Grzywacz, “Visual motion estimation and prediction: a probabilistic network model for temporal coherence,” ICCV,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973–978, 1998.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Bayes-Kalman filter estimates a state from observations</a:t>
            </a:r>
          </a:p>
        </p:txBody>
      </p:sp>
      <p:pic>
        <p:nvPicPr>
          <p:cNvPr id="6" name="f02_kmodel.png" descr="f02_k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73" y="1225296"/>
            <a:ext cx="9688749" cy="2329774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664798"/>
            <a:ext cx="10911535" cy="59977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k_model.png" descr="k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537" y="3829390"/>
            <a:ext cx="9302620" cy="270588"/>
          </a:xfrm>
          <a:prstGeom prst="rect">
            <a:avLst/>
          </a:prstGeom>
        </p:spPr>
      </p:pic>
      <p:sp>
        <p:nvSpPr>
          <p:cNvPr id="9" name="bullet 9"/>
          <p:cNvSpPr txBox="1"/>
          <p:nvPr/>
        </p:nvSpPr>
        <p:spPr>
          <a:xfrm>
            <a:off x="640080" y="440813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task: estimate the state x at time t from the observations up to t (Kalman, 1960; Ho and Lee, 1964).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83789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Example: x is the position of an airplane and y a noisy measurement of that position.</a:t>
            </a:r>
          </a:p>
        </p:txBody>
      </p:sp>
      <p:sp>
        <p:nvSpPr>
          <p:cNvPr id="11" name="refs 11"/>
          <p:cNvSpPr txBox="1"/>
          <p:nvPr/>
        </p:nvSpPr>
        <p:spPr>
          <a:xfrm>
            <a:off x="640080" y="5313387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E. Kalman, “A new approach to linear filtering and prediction problems,” Journal of Basic Engineering, 82(1):35–45, 1960.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C. Ho and R. C. K. Lee, “A Bayesian approach to problems in stochastic estimation and control,” IEEE Trans. Automatic Control, 9(4):333–339, 1964.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Prediction and correction update the state's distribution</a:t>
            </a:r>
          </a:p>
        </p:txBody>
      </p:sp>
      <p:pic>
        <p:nvPicPr>
          <p:cNvPr id="6" name="f03_kupdate.png" descr="f03_k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4572000" cy="269748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5349240" y="1225296"/>
            <a:ext cx="6202375" cy="269748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k_pred.png" descr="k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707" y="1586554"/>
            <a:ext cx="5739442" cy="557842"/>
          </a:xfrm>
          <a:prstGeom prst="rect">
            <a:avLst/>
          </a:prstGeom>
        </p:spPr>
      </p:pic>
      <p:pic>
        <p:nvPicPr>
          <p:cNvPr id="9" name="k_corr.png" descr="k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269" y="2254123"/>
            <a:ext cx="5742317" cy="598098"/>
          </a:xfrm>
          <a:prstGeom prst="rect">
            <a:avLst/>
          </a:prstGeom>
        </p:spPr>
      </p:pic>
      <p:pic>
        <p:nvPicPr>
          <p:cNvPr id="10" name="k_init.png" descr="k_in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491" y="2961950"/>
            <a:ext cx="4629873" cy="599569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406633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Prediction uses the motion model: it spreads the distribution and adds uncertainty about the state.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49610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Correction integrates the new observation by Bayes' rule, and reduces the uncertainty.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92587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filter starts from the prior on the first position and repeats the two steps at every frame.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With Gaussians the filter reduces to the Kalman equations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2313845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k_g1.png" descr="k_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485" y="1389888"/>
            <a:ext cx="8312727" cy="336665"/>
          </a:xfrm>
          <a:prstGeom prst="rect">
            <a:avLst/>
          </a:prstGeom>
        </p:spPr>
      </p:pic>
      <p:pic>
        <p:nvPicPr>
          <p:cNvPr id="8" name="k_g2.png" descr="k_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485" y="1836281"/>
            <a:ext cx="6744965" cy="307049"/>
          </a:xfrm>
          <a:prstGeom prst="rect">
            <a:avLst/>
          </a:prstGeom>
        </p:spPr>
      </p:pic>
      <p:pic>
        <p:nvPicPr>
          <p:cNvPr id="9" name="k_g3.png" descr="k_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485" y="2253059"/>
            <a:ext cx="4996721" cy="337279"/>
          </a:xfrm>
          <a:prstGeom prst="rect">
            <a:avLst/>
          </a:prstGeom>
        </p:spPr>
      </p:pic>
      <p:pic>
        <p:nvPicPr>
          <p:cNvPr id="10" name="k_g4.png" descr="k_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485" y="2700066"/>
            <a:ext cx="9012725" cy="674483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368270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If the prior, motion and observation models are Gaussian, so is every distribution the filter computes.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11247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filter then only has to update a mean and a variance at each step (Kalman, 1960).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54223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Prediction adds the mean step µ to the mean, and the motion variance to the variance.</a:t>
            </a:r>
          </a:p>
        </p:txBody>
      </p:sp>
      <p:sp>
        <p:nvSpPr>
          <p:cNvPr id="14" name="bullet 14"/>
          <p:cNvSpPr txBox="1"/>
          <p:nvPr/>
        </p:nvSpPr>
        <p:spPr>
          <a:xfrm>
            <a:off x="640080" y="497200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Correction moves the mean towards the new observation and makes the variance smaller.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Kalman update is a weighted average of two cues</a:t>
            </a:r>
          </a:p>
        </p:txBody>
      </p:sp>
      <p:pic>
        <p:nvPicPr>
          <p:cNvPr id="6" name="f05_track.png" descr="f05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238007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573031"/>
            <a:ext cx="10911535" cy="134379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k_avg.png" descr="k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783" y="3737623"/>
            <a:ext cx="6263014" cy="1014608"/>
          </a:xfrm>
          <a:prstGeom prst="rect">
            <a:avLst/>
          </a:prstGeom>
        </p:spPr>
      </p:pic>
      <p:pic>
        <p:nvPicPr>
          <p:cNvPr id="9" name="k_prec.png" descr="k_pr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716" y="3936317"/>
            <a:ext cx="2330196" cy="617220"/>
          </a:xfrm>
          <a:prstGeom prst="rect">
            <a:avLst/>
          </a:prstGeom>
        </p:spPr>
      </p:pic>
      <p:sp>
        <p:nvSpPr>
          <p:cNvPr id="10" name="bullet 10"/>
          <p:cNvSpPr txBox="1"/>
          <p:nvPr/>
        </p:nvSpPr>
        <p:spPr>
          <a:xfrm>
            <a:off x="640080" y="506038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update averages the predicted position and the observation, each weighted by the other's variance.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549015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the linear rule for combining two cues, prediction and measurement; the inverse variances add.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59199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Example: a target that moves by a mean step per frame, observed with noise at every frame.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Bayes-Kalman filter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Special cases show what each variance does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659575" cy="251460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k_sp1.png" descr="k_s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30" y="1625987"/>
            <a:ext cx="2462784" cy="243840"/>
          </a:xfrm>
          <a:prstGeom prst="rect">
            <a:avLst/>
          </a:prstGeom>
        </p:spPr>
      </p:pic>
      <p:pic>
        <p:nvPicPr>
          <p:cNvPr id="8" name="k_sp2.png" descr="k_s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30" y="1979555"/>
            <a:ext cx="6232276" cy="624164"/>
          </a:xfrm>
          <a:prstGeom prst="rect">
            <a:avLst/>
          </a:prstGeom>
        </p:spPr>
      </p:pic>
      <p:pic>
        <p:nvPicPr>
          <p:cNvPr id="9" name="k_sp3.png" descr="k_s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30" y="2713447"/>
            <a:ext cx="4404544" cy="625758"/>
          </a:xfrm>
          <a:prstGeom prst="rect">
            <a:avLst/>
          </a:prstGeom>
        </p:spPr>
      </p:pic>
      <p:pic>
        <p:nvPicPr>
          <p:cNvPr id="10" name="f06_static.png" descr="f06_sta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815" y="1225296"/>
            <a:ext cx="4114800" cy="2514600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388345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Noiseless observations: forget the history and use the current observation as the estimate.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31322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Perfect prediction: the estimate is a weighted average of the observation and the predicted position.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74299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static object as well: the filter is an online method for the maximum a posteriori (MAP) estimate.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2377440"/>
            <a:ext cx="9052560" cy="698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Modeling the physical world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213100"/>
            <a:ext cx="9052560" cy="60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World states evolve by physics and are rendered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by graphics: the Bayes-Kalman graph with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Bayes-Kalman extends to actions: control and world models</a:t>
            </a:r>
          </a:p>
        </p:txBody>
      </p:sp>
      <p:pic>
        <p:nvPicPr>
          <p:cNvPr id="6" name="f10_actions.png" descr="f10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5852160" cy="260604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629400" y="1225296"/>
            <a:ext cx="4922215" cy="260604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w_motion.png" descr="w_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444" y="2203704"/>
            <a:ext cx="2548128" cy="269748"/>
          </a:xfrm>
          <a:prstGeom prst="rect">
            <a:avLst/>
          </a:prstGeom>
        </p:spPr>
      </p:pic>
      <p:pic>
        <p:nvPicPr>
          <p:cNvPr id="9" name="w_obs.png" descr="w_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444" y="2583180"/>
            <a:ext cx="2462784" cy="269748"/>
          </a:xfrm>
          <a:prstGeom prst="rect">
            <a:avLst/>
          </a:prstGeom>
        </p:spPr>
      </p:pic>
      <p:sp>
        <p:nvSpPr>
          <p:cNvPr id="10" name="bullet 10"/>
          <p:cNvSpPr txBox="1"/>
          <p:nvPr/>
        </p:nvSpPr>
        <p:spPr>
          <a:xfrm>
            <a:off x="640080" y="397489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Bayes-Kalman is a directed graphical model that integrates information over time, e.g. to track objects.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440466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 decision theory (BDT) extends to control, where the system makes a series of decisions over time.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83443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1994 Dickmanns's cars drove over 1,000 km in highway traffic near Paris, largely autonomously.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526420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World models generate images from past images and actions, and imagine new views (Lu et al., 2025).</a:t>
            </a:r>
          </a:p>
        </p:txBody>
      </p:sp>
      <p:sp>
        <p:nvSpPr>
          <p:cNvPr id="14" name="refs 14"/>
          <p:cNvSpPr txBox="1"/>
          <p:nvPr/>
        </p:nvSpPr>
        <p:spPr>
          <a:xfrm>
            <a:off x="640080" y="5739689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E. D. Dickmanns, “The development of machine vision for road vehicles in the last decade,” IEEE Intelligent Vehicle Symposium, 268–281, 2002.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 Lu, T. Shu, A. Yuille, D. Khashabi and J. Chen, “GenEx: Generating an explorable world,” ICLR, 2025.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Humans recover rich physical information from a video</a:t>
            </a:r>
          </a:p>
        </p:txBody>
      </p:sp>
      <p:pic>
        <p:nvPicPr>
          <p:cNvPr id="6" name="teaser.mo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225296"/>
            <a:ext cx="4892040" cy="2751772"/>
          </a:xfrm>
          <a:prstGeom prst="rect">
            <a:avLst/>
          </a:prstGeom>
        </p:spPr>
      </p:pic>
      <p:pic>
        <p:nvPicPr>
          <p:cNvPr id="7" name="f11_events.png" descr="f11_ev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666208"/>
            <a:ext cx="4846320" cy="1869948"/>
          </a:xfrm>
          <a:prstGeom prst="rect">
            <a:avLst/>
          </a:prstGeom>
        </p:spPr>
      </p:pic>
      <p:sp>
        <p:nvSpPr>
          <p:cNvPr id="8" name="bullet 8"/>
          <p:cNvSpPr txBox="1"/>
          <p:nvPr/>
        </p:nvSpPr>
        <p:spPr>
          <a:xfrm>
            <a:off x="640080" y="412062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Geometry: 3D object shapes. Physics: object properties, such as masses and coefficients of friction.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55039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Interaction: physical events, such as collisions and rolling.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98016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Humans easily answer questions like: what will happen next? what if ...? how to ...?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540993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video is a sequence of images of a world state that changes by physics.</a:t>
            </a:r>
          </a:p>
        </p:txBody>
      </p:sp>
      <p:sp>
        <p:nvSpPr>
          <p:cNvPr id="12" name="refs 12"/>
          <p:cNvSpPr txBox="1"/>
          <p:nvPr/>
        </p:nvSpPr>
        <p:spPr>
          <a:xfrm>
            <a:off x="640080" y="5885421"/>
            <a:ext cx="10911535" cy="187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Video and figures: J. Wu, “Physical Scene Understanding” (lecture slides, MIT and Stanford).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Modeling the physical world: physics, graphics and actions</a:t>
            </a:r>
          </a:p>
        </p:txBody>
      </p:sp>
      <p:pic>
        <p:nvPicPr>
          <p:cNvPr id="6" name="f12_world.png" descr="f12_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588" y="1225296"/>
            <a:ext cx="8732520" cy="3721608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509046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world state holds object shapes, physical properties, positions, velocities, lighting and camera.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552023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Physics moves the world state forward, given an action; graphics renders the world state as an image.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595000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is the Bayes-Kalman graph: physics is the motion model, graphics the observation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Physical world representations are universal</a:t>
            </a:r>
          </a:p>
        </p:txBody>
      </p:sp>
      <p:pic>
        <p:nvPicPr>
          <p:cNvPr id="6" name="f13_universal.png" descr="f13_uni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8" y="1225296"/>
            <a:ext cx="8595360" cy="3209544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457840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same kind of world state describes a falling tower of blocks and billiard balls on a table.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500816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world state is a few objects with their shapes, positions and velocities.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543793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Physics (red) predicts the next world state; graphics (blue) predicts the image seen at that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Graphical models versus end-to-end deep learning</a:t>
            </a:r>
          </a:p>
        </p:txBody>
      </p:sp>
      <p:pic>
        <p:nvPicPr>
          <p:cNvPr id="6" name="f14_approaches.png" descr="f14_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793719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416257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Approach I, graphical models such as Bayes nets: efficient inference, limited expressiveness.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459234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Approach I, simulation engines (graphics, physics): rich representations, no general-purpose inference.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502211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Approach II, networks map images straight to states and actions: efficient, limited outside training.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545188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Causal structure combines them: conditional independence says where networks and simulators fit.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Visual de-animation: inverse graphics, physics and graphics</a:t>
            </a:r>
          </a:p>
        </p:txBody>
      </p:sp>
      <p:pic>
        <p:nvPicPr>
          <p:cNvPr id="6" name="f15_vda.png" descr="f15_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8" y="1225296"/>
            <a:ext cx="7040880" cy="3378708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474756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 de-animation (VDA): a network inverts graphics, estimating the world state of every frame.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517733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physics engine predicts future world states, and a graphics engine renders them as images.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560710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Simulation engines plus recognition networks can learn with little supervision (Wu et al., 2017).</a:t>
            </a:r>
          </a:p>
        </p:txBody>
      </p:sp>
      <p:sp>
        <p:nvSpPr>
          <p:cNvPr id="10" name="refs 10"/>
          <p:cNvSpPr txBox="1"/>
          <p:nvPr/>
        </p:nvSpPr>
        <p:spPr>
          <a:xfrm>
            <a:off x="640080" y="6082589"/>
            <a:ext cx="10911535" cy="187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Wu, E. Lu, P. Kohli, W. T. Freeman and J. B. Tenenbaum, “Learning to see physics via visual de-animation,” NIPS, 153–164, 2017.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Visual de-animation reconstructs and predicts real videos</a:t>
            </a:r>
          </a:p>
        </p:txBody>
      </p:sp>
      <p:pic>
        <p:nvPicPr>
          <p:cNvPr id="6" name="f16_vdalabels.png" descr="f16_vda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99" y="1225296"/>
            <a:ext cx="9783097" cy="383458"/>
          </a:xfrm>
          <a:prstGeom prst="rect">
            <a:avLst/>
          </a:prstGeom>
        </p:spPr>
      </p:pic>
      <p:pic>
        <p:nvPicPr>
          <p:cNvPr id="7" name="vda_0267_g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03807" y="1718482"/>
            <a:ext cx="2240280" cy="2240280"/>
          </a:xfrm>
          <a:prstGeom prst="rect">
            <a:avLst/>
          </a:prstGeom>
        </p:spPr>
      </p:pic>
      <p:pic>
        <p:nvPicPr>
          <p:cNvPr id="8" name="vda_0267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81247" y="1718482"/>
            <a:ext cx="2240280" cy="2240280"/>
          </a:xfrm>
          <a:prstGeom prst="rect">
            <a:avLst/>
          </a:prstGeom>
        </p:spPr>
      </p:pic>
      <p:pic>
        <p:nvPicPr>
          <p:cNvPr id="9" name="vda_0162_gt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370167" y="1718482"/>
            <a:ext cx="2240280" cy="2240280"/>
          </a:xfrm>
          <a:prstGeom prst="rect">
            <a:avLst/>
          </a:prstGeom>
        </p:spPr>
      </p:pic>
      <p:pic>
        <p:nvPicPr>
          <p:cNvPr id="10" name="vda_0162.mp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747607" y="1718482"/>
            <a:ext cx="2240280" cy="2240280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410232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each pair, the real video of a block tower and the rendering of its de-animation (Wu et al., 2017).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53209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first frame gives the world state; the physics engine predicts whether and how the tower falls.</a:t>
            </a:r>
          </a:p>
        </p:txBody>
      </p:sp>
      <p:sp>
        <p:nvSpPr>
          <p:cNvPr id="13" name="refs 13"/>
          <p:cNvSpPr txBox="1"/>
          <p:nvPr/>
        </p:nvSpPr>
        <p:spPr>
          <a:xfrm>
            <a:off x="640080" y="5007579"/>
            <a:ext cx="10911535" cy="187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Wu, E. Lu, P. Kohli, W. T. Freeman and J. B. Tenenbaum, “Learning to see physics via visual de-animation,” NIPS, 153–164, 2017.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Modeling the physical world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De-animation answers what-if questions about the future</a:t>
            </a:r>
          </a:p>
        </p:txBody>
      </p:sp>
      <p:pic>
        <p:nvPicPr>
          <p:cNvPr id="6" name="f17_whatif.png" descr="f17_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873" y="1225296"/>
            <a:ext cx="9505950" cy="2709862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407871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VDA: the tower rendered from the world state that the network estimates from the input image.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450848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What if: the arrows are applied forces, and the last image is the predicted outcome.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93825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Future: the predicted fall. Stabilizing force: the arrow is the force that keeps the tower 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2377440"/>
            <a:ext cx="9052560" cy="698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Dynamic programming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213100"/>
            <a:ext cx="9052560" cy="60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On a chain, minimise over one variable at a time: a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forward pass of costs, then a backward pass of states.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Dynamic programming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Dynamic programming exploits the linear structure</a:t>
            </a:r>
          </a:p>
        </p:txBody>
      </p:sp>
      <p:pic>
        <p:nvPicPr>
          <p:cNvPr id="6" name="f20_route.png" descr="f20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874267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324312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filter gives the distribution of each state; the best whole sequence of states is a search over a chain.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367289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Dynamic programming (DP; Bellman, 1957) splits a problem with linear structure into a chain of stages.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10266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shortest path from Los Angeles to Boston via Chicago joins two shortest paths.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53242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Only the shortest paths from LA to Chicago and from Chicago to Boston need to be found.</a:t>
            </a:r>
          </a:p>
        </p:txBody>
      </p:sp>
      <p:sp>
        <p:nvSpPr>
          <p:cNvPr id="11" name="refs 11"/>
          <p:cNvSpPr txBox="1"/>
          <p:nvPr/>
        </p:nvSpPr>
        <p:spPr>
          <a:xfrm>
            <a:off x="640080" y="5007916"/>
            <a:ext cx="10911535" cy="187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Bellman, Dynamic Programming, Princeton University Press, 1957.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Dynamic programming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Minimise a sum of terms that couple neighbours on a chain</a:t>
            </a:r>
          </a:p>
        </p:txBody>
      </p:sp>
      <p:pic>
        <p:nvPicPr>
          <p:cNvPr id="6" name="f21_chain.png" descr="f2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328941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663965"/>
            <a:ext cx="10911535" cy="60782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d_cost.png" descr="d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346" y="3828557"/>
            <a:ext cx="7845003" cy="278637"/>
          </a:xfrm>
          <a:prstGeom prst="rect">
            <a:avLst/>
          </a:prstGeom>
        </p:spPr>
      </p:pic>
      <p:sp>
        <p:nvSpPr>
          <p:cNvPr id="9" name="bullet 9"/>
          <p:cNvSpPr txBox="1"/>
          <p:nvPr/>
        </p:nvSpPr>
        <p:spPr>
          <a:xfrm>
            <a:off x="640080" y="441534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of the N variables takes one of k values: every configuration is a path through the grid of values.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84511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Stereo: the disparities along an epipolar line form a chain (Ohta and Kanade, 1985; Geiger et al., 1995).</a:t>
            </a:r>
          </a:p>
        </p:txBody>
      </p:sp>
      <p:sp>
        <p:nvSpPr>
          <p:cNvPr id="11" name="refs 11"/>
          <p:cNvSpPr txBox="1"/>
          <p:nvPr/>
        </p:nvSpPr>
        <p:spPr>
          <a:xfrm>
            <a:off x="640080" y="5320603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Ohta and T. Kanade, “Stereo by intra- and inter-scanline search using dynamic programming,” IEEE TPAMI, 7(2):139–154, 1985.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Geiger, B. Ladendorf and A. Yuille, “Occlusions and binocular stereo,” International Journal of Computer Vision, 14(3):211–226, 1995.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Dynamic programming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forward pass computes the shortest cost to each state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933895" cy="258490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_h2.png" descr="d_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47" y="1389888"/>
            <a:ext cx="2613660" cy="397764"/>
          </a:xfrm>
          <a:prstGeom prst="rect">
            <a:avLst/>
          </a:prstGeom>
        </p:spPr>
      </p:pic>
      <p:pic>
        <p:nvPicPr>
          <p:cNvPr id="8" name="d_h3a.png" descr="d_h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47" y="1897380"/>
            <a:ext cx="4243155" cy="405221"/>
          </a:xfrm>
          <a:prstGeom prst="rect">
            <a:avLst/>
          </a:prstGeom>
        </p:spPr>
      </p:pic>
      <p:pic>
        <p:nvPicPr>
          <p:cNvPr id="9" name="d_h3b.png" descr="d_h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47" y="2412329"/>
            <a:ext cx="3792294" cy="707617"/>
          </a:xfrm>
          <a:prstGeom prst="rect">
            <a:avLst/>
          </a:prstGeom>
        </p:spPr>
      </p:pic>
      <p:pic>
        <p:nvPicPr>
          <p:cNvPr id="10" name="d_hm.png" descr="d_h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547" y="3229674"/>
            <a:ext cx="6588962" cy="415936"/>
          </a:xfrm>
          <a:prstGeom prst="rect">
            <a:avLst/>
          </a:prstGeom>
        </p:spPr>
      </p:pic>
      <p:pic>
        <p:nvPicPr>
          <p:cNvPr id="11" name="f22_forward.png" descr="f22_for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135" y="1260449"/>
            <a:ext cx="3840480" cy="2514600"/>
          </a:xfrm>
          <a:prstGeom prst="rect">
            <a:avLst/>
          </a:prstGeom>
        </p:spPr>
      </p:pic>
      <p:sp>
        <p:nvSpPr>
          <p:cNvPr id="12" name="bullet 12"/>
          <p:cNvSpPr txBox="1"/>
          <p:nvPr/>
        </p:nvSpPr>
        <p:spPr>
          <a:xfrm>
            <a:off x="640080" y="395376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table h stores, for each value of the current variable, the cost of the best path that reaches it.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38353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minimum over the earlier variables is already inside h, so each step costs only k² operations.</a:t>
            </a:r>
          </a:p>
        </p:txBody>
      </p:sp>
      <p:sp>
        <p:nvSpPr>
          <p:cNvPr id="14" name="bullet 14"/>
          <p:cNvSpPr txBox="1"/>
          <p:nvPr/>
        </p:nvSpPr>
        <p:spPr>
          <a:xfrm>
            <a:off x="640080" y="481329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forward pass ends with the shortest cost to each value of the last variable.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Dynamic programming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backward pass recovers the states of the shortest path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572707" cy="251460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_back1.png" descr="d_bac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36" y="1821112"/>
            <a:ext cx="2351532" cy="399288"/>
          </a:xfrm>
          <a:prstGeom prst="rect">
            <a:avLst/>
          </a:prstGeom>
        </p:spPr>
      </p:pic>
      <p:pic>
        <p:nvPicPr>
          <p:cNvPr id="8" name="d_back2.png" descr="d_bac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36" y="2330128"/>
            <a:ext cx="6063596" cy="416189"/>
          </a:xfrm>
          <a:prstGeom prst="rect">
            <a:avLst/>
          </a:prstGeom>
        </p:spPr>
      </p:pic>
      <p:pic>
        <p:nvPicPr>
          <p:cNvPr id="9" name="d_costs.png" descr="d_co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36" y="2856044"/>
            <a:ext cx="2560320" cy="288036"/>
          </a:xfrm>
          <a:prstGeom prst="rect">
            <a:avLst/>
          </a:prstGeom>
        </p:spPr>
      </p:pic>
      <p:pic>
        <p:nvPicPr>
          <p:cNvPr id="10" name="f23_backward.png" descr="f23_back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947" y="1225296"/>
            <a:ext cx="4201668" cy="2514600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388345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Start from the best final value and step back, choosing each value given the value after it.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31322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recovers the states which give the shortest cost, from the last variable to the first.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74299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Advantage: about k²N operations, in place of searching all the configurations.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Dynamic programming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DP applies to any graph without closed loops</a:t>
            </a:r>
          </a:p>
        </p:txBody>
      </p:sp>
      <p:pic>
        <p:nvPicPr>
          <p:cNvPr id="6" name="f24_tree.png" descr="f24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8" y="1225296"/>
            <a:ext cx="6400800" cy="2240280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360913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DP can be applied to any graph without closed loops, such as a tree.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403890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DP also gives marginals: replace the minimum of summed costs by the sum of multiplied probabilities.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46867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Graphs with closed loops are grouped into a tree: the junction tree (Lauritzen and Spiegelhalter, 1988).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89844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many graphs, such as the image lattice, the tree is so large that computation on it is impractical.</a:t>
            </a:r>
          </a:p>
        </p:txBody>
      </p:sp>
      <p:sp>
        <p:nvSpPr>
          <p:cNvPr id="11" name="refs 11"/>
          <p:cNvSpPr txBox="1"/>
          <p:nvPr/>
        </p:nvSpPr>
        <p:spPr>
          <a:xfrm>
            <a:off x="640080" y="5373929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L. Lauritzen and D. J. Spiegelhalter, “Local computations with probabilities on graphical structures and their application to expert systems,” JRSS B,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50(2):157–224, 1988.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2377440"/>
            <a:ext cx="9052560" cy="698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Hidden Markov models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213100"/>
            <a:ext cx="9052560" cy="6032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Hidden states follow a Markov chain; DP evaluates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and decodes, and EM with DP learns the parameters.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Markov model is a probability distribution for a sequence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801307" cy="251460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h_markov.png" descr="h_mark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47" y="1707606"/>
            <a:ext cx="6303054" cy="277473"/>
          </a:xfrm>
          <a:prstGeom prst="rect">
            <a:avLst/>
          </a:prstGeom>
        </p:spPr>
      </p:pic>
      <p:pic>
        <p:nvPicPr>
          <p:cNvPr id="8" name="h_trans.png" descr="h_tr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47" y="2094807"/>
            <a:ext cx="6535174" cy="783303"/>
          </a:xfrm>
          <a:prstGeom prst="rect">
            <a:avLst/>
          </a:prstGeom>
        </p:spPr>
      </p:pic>
      <p:pic>
        <p:nvPicPr>
          <p:cNvPr id="9" name="h_pi.png" descr="h_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47" y="2987838"/>
            <a:ext cx="2566416" cy="269748"/>
          </a:xfrm>
          <a:prstGeom prst="rect">
            <a:avLst/>
          </a:prstGeom>
        </p:spPr>
      </p:pic>
      <p:pic>
        <p:nvPicPr>
          <p:cNvPr id="10" name="f30_states.png" descr="f30_sta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547" y="1225296"/>
            <a:ext cx="3973068" cy="2514600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3883457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First-order Markov: given the present state, the future is independent of the past.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31322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state q at time t is one of N states s1 to sN; the transition probability is independent of time.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74299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 cases: observable and hidden Markov models (HMMs), both in the exponential family.</a:t>
            </a:r>
          </a:p>
        </p:txBody>
      </p:sp>
      <p:sp>
        <p:nvSpPr>
          <p:cNvPr id="14" name="bullet 14"/>
          <p:cNvSpPr txBox="1"/>
          <p:nvPr/>
        </p:nvSpPr>
        <p:spPr>
          <a:xfrm>
            <a:off x="640080" y="517276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There are no closed loops, so dynamic programming can be used for inference.</a:t>
            </a:r>
          </a:p>
        </p:txBody>
      </p:sp>
      <p:sp>
        <p:nvSpPr>
          <p:cNvPr id="15" name="bullet 15"/>
          <p:cNvSpPr txBox="1"/>
          <p:nvPr/>
        </p:nvSpPr>
        <p:spPr>
          <a:xfrm>
            <a:off x="640080" y="560252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Hidden Markov models were state-of-the-art for speech recognition (Rabiner, 1989).</a:t>
            </a:r>
          </a:p>
        </p:txBody>
      </p:sp>
      <p:sp>
        <p:nvSpPr>
          <p:cNvPr id="16" name="refs 16"/>
          <p:cNvSpPr txBox="1"/>
          <p:nvPr/>
        </p:nvSpPr>
        <p:spPr>
          <a:xfrm>
            <a:off x="640080" y="6078017"/>
            <a:ext cx="10911535" cy="1874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R. Rabiner, “A tutorial on hidden Markov models and selected applications in speech recognition,” Proceedings of the IEEE, 77(2):257–286, 1989.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 observable Markov model is learnt by counting</a:t>
            </a:r>
          </a:p>
        </p:txBody>
      </p:sp>
      <p:pic>
        <p:nvPicPr>
          <p:cNvPr id="6" name="f31_count.png" descr="f31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25296"/>
            <a:ext cx="4069080" cy="1869948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4846320" y="1225296"/>
            <a:ext cx="6705295" cy="186994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_seq.png" descr="h_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463" y="1785908"/>
            <a:ext cx="6353009" cy="748725"/>
          </a:xfrm>
          <a:prstGeom prst="rect">
            <a:avLst/>
          </a:prstGeom>
        </p:spPr>
      </p:pic>
      <p:sp>
        <p:nvSpPr>
          <p:cNvPr id="9" name="panel 9"/>
          <p:cNvSpPr/>
          <p:nvPr/>
        </p:nvSpPr>
        <p:spPr>
          <a:xfrm>
            <a:off x="640080" y="3204972"/>
            <a:ext cx="10911535" cy="92739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_ml.png" descr="h_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5087" y="3369564"/>
            <a:ext cx="8541521" cy="598206"/>
          </a:xfrm>
          <a:prstGeom prst="rect">
            <a:avLst/>
          </a:prstGeom>
        </p:spPr>
      </p:pic>
      <p:sp>
        <p:nvSpPr>
          <p:cNvPr id="11" name="bullet 11"/>
          <p:cNvSpPr txBox="1"/>
          <p:nvPr/>
        </p:nvSpPr>
        <p:spPr>
          <a:xfrm>
            <a:off x="640080" y="427592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an observable Markov model we observe the states directly, which lets us learn the transitions.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70569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sequence O = Q of length T has the initial probability times T − 1 transition probabilities.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513545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Example: three urns of red, blue and green balls; the state is the urn, and the colour tells us which urn.</a:t>
            </a:r>
          </a:p>
        </p:txBody>
      </p:sp>
      <p:sp>
        <p:nvSpPr>
          <p:cNvPr id="14" name="bullet 14"/>
          <p:cNvSpPr txBox="1"/>
          <p:nvPr/>
        </p:nvSpPr>
        <p:spPr>
          <a:xfrm>
            <a:off x="640080" y="556522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counts are sufficient statistics: maximum likelihood (ML) equates empirical with model statistics.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 an HMM each hidden state emits an observation</a:t>
            </a:r>
          </a:p>
        </p:txBody>
      </p:sp>
      <p:pic>
        <p:nvPicPr>
          <p:cNvPr id="6" name="f32_urns.png" descr="f32_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8" y="1225296"/>
            <a:ext cx="5486400" cy="2212848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547872"/>
            <a:ext cx="10911535" cy="98691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_hmm1.png" descr="h_hm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106" y="3712464"/>
            <a:ext cx="7271484" cy="269584"/>
          </a:xfrm>
          <a:prstGeom prst="rect">
            <a:avLst/>
          </a:prstGeom>
        </p:spPr>
      </p:pic>
      <p:pic>
        <p:nvPicPr>
          <p:cNvPr id="9" name="h_hmm2.png" descr="h_hm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940" y="4091776"/>
            <a:ext cx="5849815" cy="278423"/>
          </a:xfrm>
          <a:prstGeom prst="rect">
            <a:avLst/>
          </a:prstGeom>
        </p:spPr>
      </p:pic>
      <p:sp>
        <p:nvSpPr>
          <p:cNvPr id="10" name="bullet 10"/>
          <p:cNvSpPr txBox="1"/>
          <p:nvPr/>
        </p:nvSpPr>
        <p:spPr>
          <a:xfrm>
            <a:off x="640080" y="467835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only observe an emission from each state; the state itself is hidden.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510812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 sources of stochasticity: the transition between states and the observation from a state.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553788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Urns: urn 1 is mostly red, urn 2 mostly blue, urn 3 mostly green, and we see only the colour of each ball.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Three basic problems: evaluation, decoding and learning</a:t>
            </a:r>
          </a:p>
        </p:txBody>
      </p:sp>
      <p:pic>
        <p:nvPicPr>
          <p:cNvPr id="6" name="f33_hchain.png" descr="f33_h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868" y="1225296"/>
            <a:ext cx="6537960" cy="1485900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2820924"/>
            <a:ext cx="10911535" cy="112729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_lambda.png" descr="h_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307" y="2985516"/>
            <a:ext cx="7495082" cy="277318"/>
          </a:xfrm>
          <a:prstGeom prst="rect">
            <a:avLst/>
          </a:prstGeom>
        </p:spPr>
      </p:pic>
      <p:pic>
        <p:nvPicPr>
          <p:cNvPr id="9" name="h_three.png" descr="h_th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449" y="3372562"/>
            <a:ext cx="8384796" cy="411061"/>
          </a:xfrm>
          <a:prstGeom prst="rect">
            <a:avLst/>
          </a:prstGeom>
        </p:spPr>
      </p:pic>
      <p:sp>
        <p:nvSpPr>
          <p:cNvPr id="10" name="bullet 10"/>
          <p:cNvSpPr txBox="1"/>
          <p:nvPr/>
        </p:nvSpPr>
        <p:spPr>
          <a:xfrm>
            <a:off x="640080" y="4091775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(1) Given a model λ, evaluate the probability P(O | λ) of any observation sequence O.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452154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(2) Given λ and O, find the most probable state sequence Q.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495131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(3) Given a training set X of sequences, find the parameters λ with the highest likelihood.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Evaluation sums over every possible state sequence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79609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h_eval1.png" descr="h_eva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837" y="1389888"/>
            <a:ext cx="6166022" cy="747584"/>
          </a:xfrm>
          <a:prstGeom prst="rect">
            <a:avLst/>
          </a:prstGeom>
        </p:spPr>
      </p:pic>
      <p:pic>
        <p:nvPicPr>
          <p:cNvPr id="8" name="h_eval2.png" descr="h_eva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18" y="2247200"/>
            <a:ext cx="9336258" cy="609600"/>
          </a:xfrm>
          <a:prstGeom prst="rect">
            <a:avLst/>
          </a:prstGeom>
        </p:spPr>
      </p:pic>
      <p:sp>
        <p:nvSpPr>
          <p:cNvPr id="9" name="bullet 9"/>
          <p:cNvSpPr txBox="1"/>
          <p:nvPr/>
        </p:nvSpPr>
        <p:spPr>
          <a:xfrm>
            <a:off x="640080" y="3164953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Given the states Q, each observation depends only on its own state.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3594721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 is unknown, so P(O | λ) sums the joint probability P(O, Q | λ) over all state sequences.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4024489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direct sum is impractical: each of the T times has N possible states.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forward algorithm computes P(O | λ) by DP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659575" cy="270739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h_fwd1.png" descr="h_fw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28" y="1389888"/>
            <a:ext cx="5505680" cy="269913"/>
          </a:xfrm>
          <a:prstGeom prst="rect">
            <a:avLst/>
          </a:prstGeom>
        </p:spPr>
      </p:pic>
      <p:pic>
        <p:nvPicPr>
          <p:cNvPr id="8" name="h_fwd1b.png" descr="h_fwd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028" y="1769529"/>
            <a:ext cx="3392950" cy="269740"/>
          </a:xfrm>
          <a:prstGeom prst="rect">
            <a:avLst/>
          </a:prstGeom>
        </p:spPr>
      </p:pic>
      <p:pic>
        <p:nvPicPr>
          <p:cNvPr id="9" name="h_fwd2.png" descr="h_fw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028" y="2148997"/>
            <a:ext cx="4737824" cy="755683"/>
          </a:xfrm>
          <a:prstGeom prst="rect">
            <a:avLst/>
          </a:prstGeom>
        </p:spPr>
      </p:pic>
      <p:pic>
        <p:nvPicPr>
          <p:cNvPr id="10" name="h_fwd2b.png" descr="h_fwd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028" y="3014408"/>
            <a:ext cx="3694545" cy="753687"/>
          </a:xfrm>
          <a:prstGeom prst="rect">
            <a:avLst/>
          </a:prstGeom>
        </p:spPr>
      </p:pic>
      <p:pic>
        <p:nvPicPr>
          <p:cNvPr id="11" name="f34_hforward.png" descr="f34_hfor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815" y="1275971"/>
            <a:ext cx="4114800" cy="2606040"/>
          </a:xfrm>
          <a:prstGeom prst="rect">
            <a:avLst/>
          </a:prstGeom>
        </p:spPr>
      </p:pic>
      <p:sp>
        <p:nvSpPr>
          <p:cNvPr id="12" name="bullet 12"/>
          <p:cNvSpPr txBox="1"/>
          <p:nvPr/>
        </p:nvSpPr>
        <p:spPr>
          <a:xfrm>
            <a:off x="640080" y="407624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forward variable α explains the first t observations and ends in state i.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50601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Sum over the states at time t, then multiply by the probability of the next observation: N²T operations.</a:t>
            </a:r>
          </a:p>
        </p:txBody>
      </p:sp>
      <p:sp>
        <p:nvSpPr>
          <p:cNvPr id="14" name="bullet 14"/>
          <p:cNvSpPr txBox="1"/>
          <p:nvPr/>
        </p:nvSpPr>
        <p:spPr>
          <a:xfrm>
            <a:off x="640080" y="493578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the forward pass of DP, with min and + on costs replaced by sum and product on probabilities.</a:t>
            </a:r>
          </a:p>
        </p:txBody>
      </p:sp>
      <p:sp>
        <p:nvSpPr>
          <p:cNvPr id="15" name="bullet 15"/>
          <p:cNvSpPr txBox="1"/>
          <p:nvPr/>
        </p:nvSpPr>
        <p:spPr>
          <a:xfrm>
            <a:off x="640080" y="536555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sum is the prediction and the factor b is the correction of the Bayes-Kalman filter.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most probable state at each time can be inconsistent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202375" cy="276245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h_bwd.png" descr="h_bw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90" y="1389888"/>
            <a:ext cx="5887556" cy="271370"/>
          </a:xfrm>
          <a:prstGeom prst="rect">
            <a:avLst/>
          </a:prstGeom>
        </p:spPr>
      </p:pic>
      <p:pic>
        <p:nvPicPr>
          <p:cNvPr id="8" name="h_bwd2.png" descr="h_bw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90" y="1770986"/>
            <a:ext cx="4830838" cy="783771"/>
          </a:xfrm>
          <a:prstGeom prst="rect">
            <a:avLst/>
          </a:prstGeom>
        </p:spPr>
      </p:pic>
      <p:pic>
        <p:nvPicPr>
          <p:cNvPr id="9" name="h_gamma.png" descr="h_gam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90" y="2664486"/>
            <a:ext cx="4606549" cy="667950"/>
          </a:xfrm>
          <a:prstGeom prst="rect">
            <a:avLst/>
          </a:prstGeom>
        </p:spPr>
      </p:pic>
      <p:pic>
        <p:nvPicPr>
          <p:cNvPr id="10" name="h_greedy.png" descr="h_gree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490" y="3442163"/>
            <a:ext cx="2912364" cy="381000"/>
          </a:xfrm>
          <a:prstGeom prst="rect">
            <a:avLst/>
          </a:prstGeom>
        </p:spPr>
      </p:pic>
      <p:pic>
        <p:nvPicPr>
          <p:cNvPr id="11" name="f35_greedy.png" descr="f35_greed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615" y="1257786"/>
            <a:ext cx="4572000" cy="2697480"/>
          </a:xfrm>
          <a:prstGeom prst="rect">
            <a:avLst/>
          </a:prstGeom>
        </p:spPr>
      </p:pic>
      <p:sp>
        <p:nvSpPr>
          <p:cNvPr id="12" name="bullet 12"/>
          <p:cNvSpPr txBox="1"/>
          <p:nvPr/>
        </p:nvSpPr>
        <p:spPr>
          <a:xfrm>
            <a:off x="640080" y="413131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α explains the observations up to t and β the rest, so γ is the probability of each state given all of O.</a:t>
            </a:r>
          </a:p>
        </p:txBody>
      </p:sp>
      <p:sp>
        <p:nvSpPr>
          <p:cNvPr id="13" name="bullet 13"/>
          <p:cNvSpPr txBox="1"/>
          <p:nvPr/>
        </p:nvSpPr>
        <p:spPr>
          <a:xfrm>
            <a:off x="640080" y="456108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Example: urns visited in the order 1, 2, 3, 1, ..., so a13 = a32 = a21 = 0; each urn mostly gives one colour.</a:t>
            </a:r>
          </a:p>
        </p:txBody>
      </p:sp>
      <p:sp>
        <p:nvSpPr>
          <p:cNvPr id="14" name="bullet 14"/>
          <p:cNvSpPr txBox="1"/>
          <p:nvPr/>
        </p:nvSpPr>
        <p:spPr>
          <a:xfrm>
            <a:off x="640080" y="499085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Choosing each state separately ignores its neighbours, and can need an impossible transition.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Viterbi algorithm finds the best state sequence by DP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6572707" cy="3010926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h_vdef.png" descr="h_v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92" y="1389888"/>
            <a:ext cx="5555883" cy="414120"/>
          </a:xfrm>
          <a:prstGeom prst="rect">
            <a:avLst/>
          </a:prstGeom>
        </p:spPr>
      </p:pic>
      <p:pic>
        <p:nvPicPr>
          <p:cNvPr id="8" name="h_v1.png" descr="h_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92" y="1913736"/>
            <a:ext cx="4176527" cy="269926"/>
          </a:xfrm>
          <a:prstGeom prst="rect">
            <a:avLst/>
          </a:prstGeom>
        </p:spPr>
      </p:pic>
      <p:pic>
        <p:nvPicPr>
          <p:cNvPr id="9" name="h_v2.png" descr="h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492" y="2293390"/>
            <a:ext cx="4286518" cy="382073"/>
          </a:xfrm>
          <a:prstGeom prst="rect">
            <a:avLst/>
          </a:prstGeom>
        </p:spPr>
      </p:pic>
      <p:pic>
        <p:nvPicPr>
          <p:cNvPr id="10" name="h_v2b.png" descr="h_v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492" y="2785191"/>
            <a:ext cx="4039949" cy="382349"/>
          </a:xfrm>
          <a:prstGeom prst="rect">
            <a:avLst/>
          </a:prstGeom>
        </p:spPr>
      </p:pic>
      <p:pic>
        <p:nvPicPr>
          <p:cNvPr id="11" name="h_v3.png" descr="h_v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492" y="3277268"/>
            <a:ext cx="5160936" cy="382292"/>
          </a:xfrm>
          <a:prstGeom prst="rect">
            <a:avLst/>
          </a:prstGeom>
        </p:spPr>
      </p:pic>
      <p:pic>
        <p:nvPicPr>
          <p:cNvPr id="12" name="h_v4.png" descr="h_v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492" y="3769288"/>
            <a:ext cx="4906297" cy="302342"/>
          </a:xfrm>
          <a:prstGeom prst="rect">
            <a:avLst/>
          </a:prstGeom>
        </p:spPr>
      </p:pic>
      <p:pic>
        <p:nvPicPr>
          <p:cNvPr id="13" name="f36_viterbi.png" descr="f36_viterb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9947" y="1382019"/>
            <a:ext cx="4201668" cy="2697480"/>
          </a:xfrm>
          <a:prstGeom prst="rect">
            <a:avLst/>
          </a:prstGeom>
        </p:spPr>
      </p:pic>
      <p:sp>
        <p:nvSpPr>
          <p:cNvPr id="14" name="bullet 14"/>
          <p:cNvSpPr txBox="1"/>
          <p:nvPr/>
        </p:nvSpPr>
        <p:spPr>
          <a:xfrm>
            <a:off x="640080" y="437978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δ is the probability of the best path that explains the first t observations and ends in state i.</a:t>
            </a:r>
          </a:p>
        </p:txBody>
      </p:sp>
      <p:sp>
        <p:nvSpPr>
          <p:cNvPr id="15" name="bullet 15"/>
          <p:cNvSpPr txBox="1"/>
          <p:nvPr/>
        </p:nvSpPr>
        <p:spPr>
          <a:xfrm>
            <a:off x="640080" y="480955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ψ keeps the best previous state; backtracking follows it from the end.</a:t>
            </a:r>
          </a:p>
        </p:txBody>
      </p:sp>
      <p:sp>
        <p:nvSpPr>
          <p:cNvPr id="16" name="bullet 16"/>
          <p:cNvSpPr txBox="1"/>
          <p:nvPr/>
        </p:nvSpPr>
        <p:spPr>
          <a:xfrm>
            <a:off x="640080" y="523931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Viterbi is DP on the chain of T times, with the N states as the values of each variable.</a:t>
            </a:r>
          </a:p>
        </p:txBody>
      </p:sp>
      <p:sp>
        <p:nvSpPr>
          <p:cNvPr id="17" name="refs 17"/>
          <p:cNvSpPr txBox="1"/>
          <p:nvPr/>
        </p:nvSpPr>
        <p:spPr>
          <a:xfrm>
            <a:off x="640080" y="5714806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J. Viterbi, “Error bounds for convolutional codes and an asymptotically optimum decoding algorithm,” IEEE Trans. Information Theory,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13(2):260–269, 1967.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Baum-Welch algorithm learns an HMM by EM</a:t>
            </a:r>
          </a:p>
        </p:txBody>
      </p:sp>
      <p:pic>
        <p:nvPicPr>
          <p:cNvPr id="6" name="f37_bw.png" descr="f37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662086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2997110"/>
            <a:ext cx="10911535" cy="146145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_bwe.png" descr="h_bw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83" y="3161702"/>
            <a:ext cx="4622929" cy="335666"/>
          </a:xfrm>
          <a:prstGeom prst="rect">
            <a:avLst/>
          </a:prstGeom>
        </p:spPr>
      </p:pic>
      <p:pic>
        <p:nvPicPr>
          <p:cNvPr id="9" name="h_bwm.png" descr="h_b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062" y="3607096"/>
            <a:ext cx="8551572" cy="686873"/>
          </a:xfrm>
          <a:prstGeom prst="rect">
            <a:avLst/>
          </a:prstGeom>
        </p:spPr>
      </p:pic>
      <p:sp>
        <p:nvSpPr>
          <p:cNvPr id="10" name="bullet 10"/>
          <p:cNvSpPr txBox="1"/>
          <p:nvPr/>
        </p:nvSpPr>
        <p:spPr>
          <a:xfrm>
            <a:off x="640080" y="460212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 is 1 if the state, or the pair of states, occurs at time t; the M-step uses these soft counts.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503189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γ and ζ come from α and β by DP; as for any EM, the likelihood never decreases (Baum et al., 1970).</a:t>
            </a:r>
          </a:p>
        </p:txBody>
      </p:sp>
      <p:sp>
        <p:nvSpPr>
          <p:cNvPr id="12" name="refs 12"/>
          <p:cNvSpPr txBox="1"/>
          <p:nvPr/>
        </p:nvSpPr>
        <p:spPr>
          <a:xfrm>
            <a:off x="640080" y="5507378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E. Baum, T. Petrie, G. Soules and N. Weiss, “A maximization technique occurring in the statistical analysis of probabilistic functions of Markov chains,”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Ann. Math. Statistics, 41(1):164–171, 1970.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HMMs detect highlights in baseball game video</a:t>
            </a:r>
          </a:p>
        </p:txBody>
      </p:sp>
      <p:pic>
        <p:nvPicPr>
          <p:cNvPr id="6" name="f38_shots.png" descr="f38_sh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1626723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2961747"/>
            <a:ext cx="10911535" cy="94731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_bbobs.png" descr="h_bb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392" y="3126339"/>
            <a:ext cx="7296912" cy="618134"/>
          </a:xfrm>
          <a:prstGeom prst="rect">
            <a:avLst/>
          </a:prstGeom>
        </p:spPr>
      </p:pic>
      <p:sp>
        <p:nvSpPr>
          <p:cNvPr id="9" name="bullet 9"/>
          <p:cNvSpPr txBox="1"/>
          <p:nvPr/>
        </p:nvSpPr>
        <p:spPr>
          <a:xfrm>
            <a:off x="640080" y="405262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video is cut into scene shots, each taken by one camera; every shot is one of seven view types.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48239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observations are cheap features: field shape, edges, grass, sand, camera motion and player height.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491216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typical home run: a pitch view, then an audience view, then a running close-up.</a:t>
            </a:r>
          </a:p>
        </p:txBody>
      </p:sp>
      <p:sp>
        <p:nvSpPr>
          <p:cNvPr id="12" name="bullet 12"/>
          <p:cNvSpPr txBox="1"/>
          <p:nvPr/>
        </p:nvSpPr>
        <p:spPr>
          <a:xfrm>
            <a:off x="640080" y="534193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HMMs model other sequences in sports video too, such as tennis strokes (Yamato et al., 1992).</a:t>
            </a:r>
          </a:p>
        </p:txBody>
      </p:sp>
      <p:sp>
        <p:nvSpPr>
          <p:cNvPr id="13" name="refs 13"/>
          <p:cNvSpPr txBox="1"/>
          <p:nvPr/>
        </p:nvSpPr>
        <p:spPr>
          <a:xfrm>
            <a:off x="640080" y="5817418"/>
            <a:ext cx="1091153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Chang, M. Han and Y. Gong, “Extract highlights from baseball game video with hidden Markov models,” ICIP, vol. 1, 609–612, 2002.</a:t>
            </a:r>
          </a:p>
          <a:p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Yamato, J. Ohya and K. Ishii, “Recognizing human action in time-sequential images using hidden Markov model,” CVPR, 379–385, 1992.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One HMM per type of highlight: the most probable wins</a:t>
            </a:r>
          </a:p>
        </p:txBody>
      </p:sp>
      <p:pic>
        <p:nvPicPr>
          <p:cNvPr id="6" name="f39_models.png" descr="f39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3309017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4644041"/>
            <a:ext cx="10911535" cy="74125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h_bbsel.png" descr="h_bbs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57" y="4808633"/>
            <a:ext cx="7825380" cy="412069"/>
          </a:xfrm>
          <a:prstGeom prst="rect">
            <a:avLst/>
          </a:prstGeom>
        </p:spPr>
      </p:pic>
      <p:sp>
        <p:nvSpPr>
          <p:cNvPr id="9" name="bullet 9"/>
          <p:cNvSpPr txBox="1"/>
          <p:nvPr/>
        </p:nvSpPr>
        <p:spPr>
          <a:xfrm>
            <a:off x="640080" y="552885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λc is the HMM of highlight type c; a highlight is detected if the best score passes a threshold.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595862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Model selection, with the Viterbi score in place of P(O | λ); speech recognition uses one HMM per word.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HMM and the Bayes-Kalman filter share one graph</a:t>
            </a:r>
          </a:p>
        </p:txBody>
      </p:sp>
      <p:pic>
        <p:nvPicPr>
          <p:cNvPr id="6" name="f40_compare.png" descr="f4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8" y="1225296"/>
            <a:ext cx="10058400" cy="2010670"/>
          </a:xfrm>
          <a:prstGeom prst="rect">
            <a:avLst/>
          </a:prstGeom>
        </p:spPr>
      </p:pic>
      <p:sp>
        <p:nvSpPr>
          <p:cNvPr id="7" name="bullet 7"/>
          <p:cNvSpPr txBox="1"/>
          <p:nvPr/>
        </p:nvSpPr>
        <p:spPr>
          <a:xfrm>
            <a:off x="640080" y="3379526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Both: hidden states form a Markov chain, and each state emits one observation.</a:t>
            </a:r>
          </a:p>
        </p:txBody>
      </p:sp>
      <p:sp>
        <p:nvSpPr>
          <p:cNvPr id="8" name="bullet 8"/>
          <p:cNvSpPr txBox="1"/>
          <p:nvPr/>
        </p:nvSpPr>
        <p:spPr>
          <a:xfrm>
            <a:off x="640080" y="3809294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Bayes-Kalman: a continuous state; with Gaussians the recursion updates a mean and a variance.</a:t>
            </a:r>
          </a:p>
        </p:txBody>
      </p:sp>
      <p:sp>
        <p:nvSpPr>
          <p:cNvPr id="9" name="bullet 9"/>
          <p:cNvSpPr txBox="1"/>
          <p:nvPr/>
        </p:nvSpPr>
        <p:spPr>
          <a:xfrm>
            <a:off x="640080" y="4239062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HMM: N discrete states; the forward recursion updates N numbers, one α for each state.</a:t>
            </a:r>
          </a:p>
        </p:txBody>
      </p:sp>
      <p:sp>
        <p:nvSpPr>
          <p:cNvPr id="10" name="bullet 10"/>
          <p:cNvSpPr txBox="1"/>
          <p:nvPr/>
        </p:nvSpPr>
        <p:spPr>
          <a:xfrm>
            <a:off x="640080" y="4668830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Both graphs are chains, so inference in both is dynamic programming.</a:t>
            </a:r>
          </a:p>
        </p:txBody>
      </p:sp>
      <p:sp>
        <p:nvSpPr>
          <p:cNvPr id="11" name="bullet 11"/>
          <p:cNvSpPr txBox="1"/>
          <p:nvPr/>
        </p:nvSpPr>
        <p:spPr>
          <a:xfrm>
            <a:off x="640080" y="5098598"/>
            <a:ext cx="11247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Markov models of words were early language models; modern language models use a long context.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Probabilities on Graphs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Hidden Markov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Bayes-Kalman filter tracks a changing state: predict with the motion model, correct with Bayes' rule.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Gaussians it keeps a mean and a variance; the update is a weighted average, as in cue combination.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Physical world models use the same graph: physics moves the world state, graphics renders it.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Visual de-animation inverts graphics with a network and predicts with a physics engine.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Dynamic programming minimises a sum of neighbour terms: a forward pass, then a backward pass.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costs about k²N operations, and applies to any graph without closed loops.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HMM has hidden states with Markov transitions, and one observation from each state.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forward algorithm evaluates and Viterbi decodes, both by DP; Baum-Welch learns by 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Jeremy Chen</cp:lastModifiedBy>
  <cp:revision>4</cp:revision>
  <dcterms:created xsi:type="dcterms:W3CDTF">2013-01-27T09:14:16Z</dcterms:created>
  <dcterms:modified xsi:type="dcterms:W3CDTF">2026-09-22T20:04:32Z</dcterms:modified>
  <cp:category/>
</cp:coreProperties>
</file>